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5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notesSlides/notesSlide8.xml" ContentType="application/vnd.openxmlformats-officedocument.presentationml.notesSlide+xml"/>
  <Override PartName="/ppt/tags/tag25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1690.xml" ContentType="application/vnd.openxmlformats-officedocument.presentationml.tags+xml"/>
  <Override PartName="/ppt/tags/tag171.xml" ContentType="application/vnd.openxmlformats-officedocument.presentationml.tags+xml"/>
  <Override PartName="/ppt/tags/tag1760.xml" ContentType="application/vnd.openxmlformats-officedocument.presentationml.tags+xml"/>
  <Override PartName="/ppt/tags/tag194.xml" ContentType="application/vnd.openxmlformats-officedocument.presentationml.tags+xml"/>
  <Override PartName="/ppt/tags/tag196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76"/>
  </p:notesMasterIdLst>
  <p:handoutMasterIdLst>
    <p:handoutMasterId r:id="rId77"/>
  </p:handoutMasterIdLst>
  <p:sldIdLst>
    <p:sldId id="316" r:id="rId2"/>
    <p:sldId id="256" r:id="rId3"/>
    <p:sldId id="257" r:id="rId4"/>
    <p:sldId id="298" r:id="rId5"/>
    <p:sldId id="258" r:id="rId6"/>
    <p:sldId id="259" r:id="rId7"/>
    <p:sldId id="267" r:id="rId8"/>
    <p:sldId id="260" r:id="rId9"/>
    <p:sldId id="402" r:id="rId10"/>
    <p:sldId id="464" r:id="rId11"/>
    <p:sldId id="263" r:id="rId12"/>
    <p:sldId id="519" r:id="rId13"/>
    <p:sldId id="334" r:id="rId14"/>
    <p:sldId id="463" r:id="rId15"/>
    <p:sldId id="265" r:id="rId16"/>
    <p:sldId id="335" r:id="rId17"/>
    <p:sldId id="266" r:id="rId18"/>
    <p:sldId id="270" r:id="rId19"/>
    <p:sldId id="271" r:id="rId20"/>
    <p:sldId id="272" r:id="rId21"/>
    <p:sldId id="574" r:id="rId22"/>
    <p:sldId id="575" r:id="rId23"/>
    <p:sldId id="623" r:id="rId24"/>
    <p:sldId id="471" r:id="rId25"/>
    <p:sldId id="465" r:id="rId26"/>
    <p:sldId id="466" r:id="rId27"/>
    <p:sldId id="467" r:id="rId28"/>
    <p:sldId id="468" r:id="rId29"/>
    <p:sldId id="470" r:id="rId30"/>
    <p:sldId id="283" r:id="rId31"/>
    <p:sldId id="285" r:id="rId32"/>
    <p:sldId id="300" r:id="rId33"/>
    <p:sldId id="625" r:id="rId34"/>
    <p:sldId id="626" r:id="rId35"/>
    <p:sldId id="627" r:id="rId36"/>
    <p:sldId id="628" r:id="rId37"/>
    <p:sldId id="629" r:id="rId38"/>
    <p:sldId id="343" r:id="rId39"/>
    <p:sldId id="344" r:id="rId40"/>
    <p:sldId id="345" r:id="rId41"/>
    <p:sldId id="346" r:id="rId42"/>
    <p:sldId id="347" r:id="rId43"/>
    <p:sldId id="348" r:id="rId44"/>
    <p:sldId id="653" r:id="rId45"/>
    <p:sldId id="630" r:id="rId46"/>
    <p:sldId id="631" r:id="rId47"/>
    <p:sldId id="632" r:id="rId48"/>
    <p:sldId id="633" r:id="rId49"/>
    <p:sldId id="634" r:id="rId50"/>
    <p:sldId id="635" r:id="rId51"/>
    <p:sldId id="636" r:id="rId52"/>
    <p:sldId id="637" r:id="rId53"/>
    <p:sldId id="638" r:id="rId54"/>
    <p:sldId id="639" r:id="rId55"/>
    <p:sldId id="640" r:id="rId56"/>
    <p:sldId id="641" r:id="rId57"/>
    <p:sldId id="642" r:id="rId58"/>
    <p:sldId id="643" r:id="rId59"/>
    <p:sldId id="644" r:id="rId60"/>
    <p:sldId id="645" r:id="rId61"/>
    <p:sldId id="646" r:id="rId62"/>
    <p:sldId id="647" r:id="rId63"/>
    <p:sldId id="648" r:id="rId64"/>
    <p:sldId id="649" r:id="rId65"/>
    <p:sldId id="650" r:id="rId66"/>
    <p:sldId id="651" r:id="rId67"/>
    <p:sldId id="652" r:id="rId68"/>
    <p:sldId id="314" r:id="rId69"/>
    <p:sldId id="292" r:id="rId70"/>
    <p:sldId id="293" r:id="rId71"/>
    <p:sldId id="294" r:id="rId72"/>
    <p:sldId id="295" r:id="rId73"/>
    <p:sldId id="315" r:id="rId74"/>
    <p:sldId id="684" r:id="rId75"/>
  </p:sldIdLst>
  <p:sldSz cx="9144000" cy="6858000" type="screen4x3"/>
  <p:notesSz cx="6858000" cy="9144000"/>
  <p:custDataLst>
    <p:tags r:id="rId7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37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509" autoAdjust="0"/>
  </p:normalViewPr>
  <p:slideViewPr>
    <p:cSldViewPr showGuides="1">
      <p:cViewPr varScale="1">
        <p:scale>
          <a:sx n="74" d="100"/>
          <a:sy n="74" d="100"/>
        </p:scale>
        <p:origin x="1952" y="36"/>
      </p:cViewPr>
      <p:guideLst>
        <p:guide orient="horz" pos="212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2916" y="-84"/>
      </p:cViewPr>
      <p:guideLst>
        <p:guide orient="horz" pos="2837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gs" Target="tags/tag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DBB7E-94B0-414B-AFBA-B90D4A3A866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DF04E4-F1C4-4BD0-9D2B-45C0600EDC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DF04E4-F1C4-4BD0-9D2B-45C0600EDC1E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DF04E4-F1C4-4BD0-9D2B-45C0600EDC1E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DF04E4-F1C4-4BD0-9D2B-45C0600EDC1E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DF04E4-F1C4-4BD0-9D2B-45C0600EDC1E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DF04E4-F1C4-4BD0-9D2B-45C0600EDC1E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DF04E4-F1C4-4BD0-9D2B-45C0600EDC1E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DF04E4-F1C4-4BD0-9D2B-45C0600EDC1E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DF04E4-F1C4-4BD0-9D2B-45C0600EDC1E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579115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4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5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672" y="2226898"/>
            <a:ext cx="6408712" cy="1780108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672" y="420427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信息与软件工程学院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7" name="Picture 1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1998298" cy="1998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" y="1654810"/>
            <a:ext cx="9120505" cy="481838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404664"/>
            <a:ext cx="7056784" cy="936104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 useBgFill="1">
          <p:nvSpPr>
            <p:cNvPr id="1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1055584"/>
            <a:ext cx="8240834" cy="507089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 dirty="0"/>
              <a:t>邓伏虎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信息与软件工程学院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5515" y="442875"/>
            <a:ext cx="7056784" cy="9293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820" y="6490335"/>
            <a:ext cx="398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邓伏虎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30" y="6490335"/>
            <a:ext cx="3968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信息与软件工程学院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49019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" y="1642110"/>
            <a:ext cx="9132570" cy="4816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pic>
        <p:nvPicPr>
          <p:cNvPr id="15" name="Picture 12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9898" y="126978"/>
            <a:ext cx="1206997" cy="1206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ectangle 101"/>
          <p:cNvSpPr>
            <a:spLocks noChangeArrowheads="1"/>
          </p:cNvSpPr>
          <p:nvPr userDrawn="1"/>
        </p:nvSpPr>
        <p:spPr bwMode="auto">
          <a:xfrm>
            <a:off x="404396" y="106154"/>
            <a:ext cx="344487" cy="132744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06"/>
          <p:cNvSpPr>
            <a:spLocks noChangeArrowheads="1"/>
          </p:cNvSpPr>
          <p:nvPr userDrawn="1"/>
        </p:nvSpPr>
        <p:spPr bwMode="auto">
          <a:xfrm>
            <a:off x="211665" y="260648"/>
            <a:ext cx="5662613" cy="7778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en-US" sz="2400" baseline="0"/>
          </a:p>
        </p:txBody>
      </p:sp>
      <p:sp>
        <p:nvSpPr>
          <p:cNvPr id="24" name="Rectangle 103"/>
          <p:cNvSpPr>
            <a:spLocks noChangeArrowheads="1"/>
          </p:cNvSpPr>
          <p:nvPr userDrawn="1"/>
        </p:nvSpPr>
        <p:spPr bwMode="auto">
          <a:xfrm>
            <a:off x="7054535" y="1372186"/>
            <a:ext cx="1474787" cy="2698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110"/>
          <p:cNvSpPr>
            <a:spLocks noChangeArrowheads="1"/>
          </p:cNvSpPr>
          <p:nvPr userDrawn="1"/>
        </p:nvSpPr>
        <p:spPr bwMode="auto">
          <a:xfrm>
            <a:off x="2909594" y="1482951"/>
            <a:ext cx="5815012" cy="76200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 autoUpdateAnimBg="0"/>
    </p:bldLst>
  </p:timing>
  <p:hf hdr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ea"/>
          <a:ea typeface="+mn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8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tags" Target="../tags/tag27.xml"/><Relationship Id="rId21" Type="http://schemas.openxmlformats.org/officeDocument/2006/relationships/tags" Target="../tags/tag22.xml"/><Relationship Id="rId34" Type="http://schemas.openxmlformats.org/officeDocument/2006/relationships/tags" Target="../tags/tag35.xml"/><Relationship Id="rId42" Type="http://schemas.openxmlformats.org/officeDocument/2006/relationships/tags" Target="../tags/tag43.xml"/><Relationship Id="rId47" Type="http://schemas.openxmlformats.org/officeDocument/2006/relationships/tags" Target="../tags/tag48.xml"/><Relationship Id="rId50" Type="http://schemas.openxmlformats.org/officeDocument/2006/relationships/tags" Target="../tags/tag51.xml"/><Relationship Id="rId55" Type="http://schemas.openxmlformats.org/officeDocument/2006/relationships/tags" Target="../tags/tag56.xml"/><Relationship Id="rId63" Type="http://schemas.openxmlformats.org/officeDocument/2006/relationships/tags" Target="../tags/tag6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9" Type="http://schemas.openxmlformats.org/officeDocument/2006/relationships/tags" Target="../tags/tag30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37" Type="http://schemas.openxmlformats.org/officeDocument/2006/relationships/tags" Target="../tags/tag38.xml"/><Relationship Id="rId40" Type="http://schemas.openxmlformats.org/officeDocument/2006/relationships/tags" Target="../tags/tag41.xml"/><Relationship Id="rId45" Type="http://schemas.openxmlformats.org/officeDocument/2006/relationships/tags" Target="../tags/tag46.xml"/><Relationship Id="rId53" Type="http://schemas.openxmlformats.org/officeDocument/2006/relationships/tags" Target="../tags/tag54.xml"/><Relationship Id="rId58" Type="http://schemas.openxmlformats.org/officeDocument/2006/relationships/tags" Target="../tags/tag59.xml"/><Relationship Id="rId5" Type="http://schemas.openxmlformats.org/officeDocument/2006/relationships/tags" Target="../tags/tag6.xml"/><Relationship Id="rId61" Type="http://schemas.openxmlformats.org/officeDocument/2006/relationships/tags" Target="../tags/tag62.xml"/><Relationship Id="rId19" Type="http://schemas.openxmlformats.org/officeDocument/2006/relationships/tags" Target="../tags/tag2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43" Type="http://schemas.openxmlformats.org/officeDocument/2006/relationships/tags" Target="../tags/tag44.xml"/><Relationship Id="rId48" Type="http://schemas.openxmlformats.org/officeDocument/2006/relationships/tags" Target="../tags/tag49.xml"/><Relationship Id="rId56" Type="http://schemas.openxmlformats.org/officeDocument/2006/relationships/tags" Target="../tags/tag57.xml"/><Relationship Id="rId64" Type="http://schemas.openxmlformats.org/officeDocument/2006/relationships/tags" Target="../tags/tag65.xml"/><Relationship Id="rId8" Type="http://schemas.openxmlformats.org/officeDocument/2006/relationships/tags" Target="../tags/tag9.xml"/><Relationship Id="rId51" Type="http://schemas.openxmlformats.org/officeDocument/2006/relationships/tags" Target="../tags/tag52.xml"/><Relationship Id="rId3" Type="http://schemas.openxmlformats.org/officeDocument/2006/relationships/tags" Target="../tags/tag4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38" Type="http://schemas.openxmlformats.org/officeDocument/2006/relationships/tags" Target="../tags/tag39.xml"/><Relationship Id="rId46" Type="http://schemas.openxmlformats.org/officeDocument/2006/relationships/tags" Target="../tags/tag47.xml"/><Relationship Id="rId59" Type="http://schemas.openxmlformats.org/officeDocument/2006/relationships/tags" Target="../tags/tag60.xml"/><Relationship Id="rId20" Type="http://schemas.openxmlformats.org/officeDocument/2006/relationships/tags" Target="../tags/tag21.xml"/><Relationship Id="rId41" Type="http://schemas.openxmlformats.org/officeDocument/2006/relationships/tags" Target="../tags/tag42.xml"/><Relationship Id="rId54" Type="http://schemas.openxmlformats.org/officeDocument/2006/relationships/tags" Target="../tags/tag55.xml"/><Relationship Id="rId62" Type="http://schemas.openxmlformats.org/officeDocument/2006/relationships/tags" Target="../tags/tag6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tags" Target="../tags/tag37.xml"/><Relationship Id="rId49" Type="http://schemas.openxmlformats.org/officeDocument/2006/relationships/tags" Target="../tags/tag50.xml"/><Relationship Id="rId57" Type="http://schemas.openxmlformats.org/officeDocument/2006/relationships/tags" Target="../tags/tag58.xml"/><Relationship Id="rId10" Type="http://schemas.openxmlformats.org/officeDocument/2006/relationships/tags" Target="../tags/tag11.xml"/><Relationship Id="rId31" Type="http://schemas.openxmlformats.org/officeDocument/2006/relationships/tags" Target="../tags/tag32.xml"/><Relationship Id="rId44" Type="http://schemas.openxmlformats.org/officeDocument/2006/relationships/tags" Target="../tags/tag45.xml"/><Relationship Id="rId52" Type="http://schemas.openxmlformats.org/officeDocument/2006/relationships/tags" Target="../tags/tag53.xml"/><Relationship Id="rId60" Type="http://schemas.openxmlformats.org/officeDocument/2006/relationships/tags" Target="../tags/tag61.xml"/><Relationship Id="rId65" Type="http://schemas.openxmlformats.org/officeDocument/2006/relationships/slideLayout" Target="../slideLayouts/slideLayout5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39" Type="http://schemas.openxmlformats.org/officeDocument/2006/relationships/tags" Target="../tags/tag4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13" Type="http://schemas.openxmlformats.org/officeDocument/2006/relationships/tags" Target="../tags/tag93.xml"/><Relationship Id="rId18" Type="http://schemas.openxmlformats.org/officeDocument/2006/relationships/tags" Target="../tags/tag98.xml"/><Relationship Id="rId3" Type="http://schemas.openxmlformats.org/officeDocument/2006/relationships/tags" Target="../tags/tag83.xml"/><Relationship Id="rId21" Type="http://schemas.openxmlformats.org/officeDocument/2006/relationships/tags" Target="../tags/tag101.xml"/><Relationship Id="rId7" Type="http://schemas.openxmlformats.org/officeDocument/2006/relationships/tags" Target="../tags/tag87.xml"/><Relationship Id="rId12" Type="http://schemas.openxmlformats.org/officeDocument/2006/relationships/tags" Target="../tags/tag92.xml"/><Relationship Id="rId17" Type="http://schemas.openxmlformats.org/officeDocument/2006/relationships/tags" Target="../tags/tag97.xml"/><Relationship Id="rId25" Type="http://schemas.openxmlformats.org/officeDocument/2006/relationships/slideLayout" Target="../slideLayouts/slideLayout2.xml"/><Relationship Id="rId2" Type="http://schemas.openxmlformats.org/officeDocument/2006/relationships/tags" Target="../tags/tag82.xml"/><Relationship Id="rId16" Type="http://schemas.openxmlformats.org/officeDocument/2006/relationships/tags" Target="../tags/tag96.xml"/><Relationship Id="rId20" Type="http://schemas.openxmlformats.org/officeDocument/2006/relationships/tags" Target="../tags/tag100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tags" Target="../tags/tag91.xml"/><Relationship Id="rId24" Type="http://schemas.openxmlformats.org/officeDocument/2006/relationships/tags" Target="../tags/tag104.xml"/><Relationship Id="rId5" Type="http://schemas.openxmlformats.org/officeDocument/2006/relationships/tags" Target="../tags/tag85.xml"/><Relationship Id="rId15" Type="http://schemas.openxmlformats.org/officeDocument/2006/relationships/tags" Target="../tags/tag95.xml"/><Relationship Id="rId23" Type="http://schemas.openxmlformats.org/officeDocument/2006/relationships/tags" Target="../tags/tag103.xml"/><Relationship Id="rId10" Type="http://schemas.openxmlformats.org/officeDocument/2006/relationships/tags" Target="../tags/tag90.xml"/><Relationship Id="rId19" Type="http://schemas.openxmlformats.org/officeDocument/2006/relationships/tags" Target="../tags/tag99.xml"/><Relationship Id="rId4" Type="http://schemas.openxmlformats.org/officeDocument/2006/relationships/tags" Target="../tags/tag84.xml"/><Relationship Id="rId9" Type="http://schemas.openxmlformats.org/officeDocument/2006/relationships/tags" Target="../tags/tag89.xml"/><Relationship Id="rId14" Type="http://schemas.openxmlformats.org/officeDocument/2006/relationships/tags" Target="../tags/tag94.xml"/><Relationship Id="rId22" Type="http://schemas.openxmlformats.org/officeDocument/2006/relationships/tags" Target="../tags/tag10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13" Type="http://schemas.openxmlformats.org/officeDocument/2006/relationships/tags" Target="../tags/tag117.xml"/><Relationship Id="rId18" Type="http://schemas.openxmlformats.org/officeDocument/2006/relationships/tags" Target="../tags/tag122.xml"/><Relationship Id="rId3" Type="http://schemas.openxmlformats.org/officeDocument/2006/relationships/tags" Target="../tags/tag107.xml"/><Relationship Id="rId21" Type="http://schemas.openxmlformats.org/officeDocument/2006/relationships/tags" Target="../tags/tag125.xml"/><Relationship Id="rId7" Type="http://schemas.openxmlformats.org/officeDocument/2006/relationships/tags" Target="../tags/tag111.xml"/><Relationship Id="rId12" Type="http://schemas.openxmlformats.org/officeDocument/2006/relationships/tags" Target="../tags/tag116.xml"/><Relationship Id="rId17" Type="http://schemas.openxmlformats.org/officeDocument/2006/relationships/tags" Target="../tags/tag121.xml"/><Relationship Id="rId25" Type="http://schemas.openxmlformats.org/officeDocument/2006/relationships/slideLayout" Target="../slideLayouts/slideLayout2.xml"/><Relationship Id="rId2" Type="http://schemas.openxmlformats.org/officeDocument/2006/relationships/tags" Target="../tags/tag106.xml"/><Relationship Id="rId16" Type="http://schemas.openxmlformats.org/officeDocument/2006/relationships/tags" Target="../tags/tag120.xml"/><Relationship Id="rId20" Type="http://schemas.openxmlformats.org/officeDocument/2006/relationships/tags" Target="../tags/tag124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11" Type="http://schemas.openxmlformats.org/officeDocument/2006/relationships/tags" Target="../tags/tag115.xml"/><Relationship Id="rId24" Type="http://schemas.openxmlformats.org/officeDocument/2006/relationships/tags" Target="../tags/tag128.xml"/><Relationship Id="rId5" Type="http://schemas.openxmlformats.org/officeDocument/2006/relationships/tags" Target="../tags/tag109.xml"/><Relationship Id="rId15" Type="http://schemas.openxmlformats.org/officeDocument/2006/relationships/tags" Target="../tags/tag119.xml"/><Relationship Id="rId23" Type="http://schemas.openxmlformats.org/officeDocument/2006/relationships/tags" Target="../tags/tag127.xml"/><Relationship Id="rId10" Type="http://schemas.openxmlformats.org/officeDocument/2006/relationships/tags" Target="../tags/tag114.xml"/><Relationship Id="rId19" Type="http://schemas.openxmlformats.org/officeDocument/2006/relationships/tags" Target="../tags/tag123.xml"/><Relationship Id="rId4" Type="http://schemas.openxmlformats.org/officeDocument/2006/relationships/tags" Target="../tags/tag108.xml"/><Relationship Id="rId9" Type="http://schemas.openxmlformats.org/officeDocument/2006/relationships/tags" Target="../tags/tag113.xml"/><Relationship Id="rId14" Type="http://schemas.openxmlformats.org/officeDocument/2006/relationships/tags" Target="../tags/tag118.xml"/><Relationship Id="rId22" Type="http://schemas.openxmlformats.org/officeDocument/2006/relationships/tags" Target="../tags/tag12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136.xml"/><Relationship Id="rId13" Type="http://schemas.openxmlformats.org/officeDocument/2006/relationships/tags" Target="../tags/tag141.xml"/><Relationship Id="rId18" Type="http://schemas.openxmlformats.org/officeDocument/2006/relationships/tags" Target="../tags/tag146.xml"/><Relationship Id="rId3" Type="http://schemas.openxmlformats.org/officeDocument/2006/relationships/tags" Target="../tags/tag131.xml"/><Relationship Id="rId21" Type="http://schemas.openxmlformats.org/officeDocument/2006/relationships/tags" Target="../tags/tag149.xml"/><Relationship Id="rId7" Type="http://schemas.openxmlformats.org/officeDocument/2006/relationships/tags" Target="../tags/tag135.xml"/><Relationship Id="rId12" Type="http://schemas.openxmlformats.org/officeDocument/2006/relationships/tags" Target="../tags/tag140.xml"/><Relationship Id="rId17" Type="http://schemas.openxmlformats.org/officeDocument/2006/relationships/tags" Target="../tags/tag145.xml"/><Relationship Id="rId2" Type="http://schemas.openxmlformats.org/officeDocument/2006/relationships/tags" Target="../tags/tag130.xml"/><Relationship Id="rId16" Type="http://schemas.openxmlformats.org/officeDocument/2006/relationships/tags" Target="../tags/tag144.xml"/><Relationship Id="rId20" Type="http://schemas.openxmlformats.org/officeDocument/2006/relationships/tags" Target="../tags/tag148.xml"/><Relationship Id="rId1" Type="http://schemas.openxmlformats.org/officeDocument/2006/relationships/tags" Target="../tags/tag129.xml"/><Relationship Id="rId6" Type="http://schemas.openxmlformats.org/officeDocument/2006/relationships/tags" Target="../tags/tag134.xml"/><Relationship Id="rId11" Type="http://schemas.openxmlformats.org/officeDocument/2006/relationships/tags" Target="../tags/tag139.xml"/><Relationship Id="rId24" Type="http://schemas.openxmlformats.org/officeDocument/2006/relationships/slideLayout" Target="../slideLayouts/slideLayout2.xml"/><Relationship Id="rId5" Type="http://schemas.openxmlformats.org/officeDocument/2006/relationships/tags" Target="../tags/tag133.xml"/><Relationship Id="rId15" Type="http://schemas.openxmlformats.org/officeDocument/2006/relationships/tags" Target="../tags/tag143.xml"/><Relationship Id="rId23" Type="http://schemas.openxmlformats.org/officeDocument/2006/relationships/tags" Target="../tags/tag151.xml"/><Relationship Id="rId10" Type="http://schemas.openxmlformats.org/officeDocument/2006/relationships/tags" Target="../tags/tag138.xml"/><Relationship Id="rId19" Type="http://schemas.openxmlformats.org/officeDocument/2006/relationships/tags" Target="../tags/tag147.xml"/><Relationship Id="rId4" Type="http://schemas.openxmlformats.org/officeDocument/2006/relationships/tags" Target="../tags/tag132.xml"/><Relationship Id="rId9" Type="http://schemas.openxmlformats.org/officeDocument/2006/relationships/tags" Target="../tags/tag137.xml"/><Relationship Id="rId14" Type="http://schemas.openxmlformats.org/officeDocument/2006/relationships/tags" Target="../tags/tag142.xml"/><Relationship Id="rId22" Type="http://schemas.openxmlformats.org/officeDocument/2006/relationships/tags" Target="../tags/tag15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4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tags" Target="../tags/tag157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4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68.xml"/><Relationship Id="rId7" Type="http://schemas.openxmlformats.org/officeDocument/2006/relationships/tags" Target="../tags/tag1690.xml"/><Relationship Id="rId2" Type="http://schemas.openxmlformats.org/officeDocument/2006/relationships/tags" Target="../tags/tag167.xml"/><Relationship Id="rId1" Type="http://schemas.openxmlformats.org/officeDocument/2006/relationships/tags" Target="../tags/tag16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70.xml"/><Relationship Id="rId10" Type="http://schemas.openxmlformats.org/officeDocument/2006/relationships/image" Target="../media/image7.png"/><Relationship Id="rId4" Type="http://schemas.openxmlformats.org/officeDocument/2006/relationships/tags" Target="../tags/tag169.xml"/><Relationship Id="rId9" Type="http://schemas.openxmlformats.org/officeDocument/2006/relationships/tags" Target="../tags/tag17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179.xml"/><Relationship Id="rId13" Type="http://schemas.openxmlformats.org/officeDocument/2006/relationships/tags" Target="../tags/tag184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174.xml"/><Relationship Id="rId7" Type="http://schemas.openxmlformats.org/officeDocument/2006/relationships/tags" Target="../tags/tag178.xml"/><Relationship Id="rId12" Type="http://schemas.openxmlformats.org/officeDocument/2006/relationships/tags" Target="../tags/tag183.xml"/><Relationship Id="rId17" Type="http://schemas.openxmlformats.org/officeDocument/2006/relationships/tags" Target="../tags/tag188.xml"/><Relationship Id="rId2" Type="http://schemas.openxmlformats.org/officeDocument/2006/relationships/tags" Target="../tags/tag173.xml"/><Relationship Id="rId16" Type="http://schemas.openxmlformats.org/officeDocument/2006/relationships/tags" Target="../tags/tag187.xml"/><Relationship Id="rId20" Type="http://schemas.openxmlformats.org/officeDocument/2006/relationships/image" Target="../media/image6.png"/><Relationship Id="rId1" Type="http://schemas.openxmlformats.org/officeDocument/2006/relationships/tags" Target="../tags/tag172.xml"/><Relationship Id="rId6" Type="http://schemas.openxmlformats.org/officeDocument/2006/relationships/tags" Target="../tags/tag177.xml"/><Relationship Id="rId11" Type="http://schemas.openxmlformats.org/officeDocument/2006/relationships/tags" Target="../tags/tag182.xml"/><Relationship Id="rId5" Type="http://schemas.openxmlformats.org/officeDocument/2006/relationships/tags" Target="../tags/tag176.xml"/><Relationship Id="rId15" Type="http://schemas.openxmlformats.org/officeDocument/2006/relationships/tags" Target="../tags/tag186.xml"/><Relationship Id="rId10" Type="http://schemas.openxmlformats.org/officeDocument/2006/relationships/tags" Target="../tags/tag181.xml"/><Relationship Id="rId19" Type="http://schemas.openxmlformats.org/officeDocument/2006/relationships/tags" Target="../tags/tag1760.xml"/><Relationship Id="rId4" Type="http://schemas.openxmlformats.org/officeDocument/2006/relationships/tags" Target="../tags/tag175.xml"/><Relationship Id="rId9" Type="http://schemas.openxmlformats.org/officeDocument/2006/relationships/tags" Target="../tags/tag180.xml"/><Relationship Id="rId14" Type="http://schemas.openxmlformats.org/officeDocument/2006/relationships/tags" Target="../tags/tag185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191.xml"/><Relationship Id="rId7" Type="http://schemas.openxmlformats.org/officeDocument/2006/relationships/tags" Target="../tags/tag194.xml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93.xml"/><Relationship Id="rId10" Type="http://schemas.openxmlformats.org/officeDocument/2006/relationships/image" Target="../media/image9.png"/><Relationship Id="rId4" Type="http://schemas.openxmlformats.org/officeDocument/2006/relationships/tags" Target="../tags/tag192.xml"/><Relationship Id="rId9" Type="http://schemas.openxmlformats.org/officeDocument/2006/relationships/tags" Target="../tags/tag196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203.xml"/><Relationship Id="rId13" Type="http://schemas.openxmlformats.org/officeDocument/2006/relationships/tags" Target="../tags/tag208.xml"/><Relationship Id="rId18" Type="http://schemas.openxmlformats.org/officeDocument/2006/relationships/tags" Target="../tags/tag213.xml"/><Relationship Id="rId26" Type="http://schemas.openxmlformats.org/officeDocument/2006/relationships/slideLayout" Target="../slideLayouts/slideLayout2.xml"/><Relationship Id="rId3" Type="http://schemas.openxmlformats.org/officeDocument/2006/relationships/tags" Target="../tags/tag198.xml"/><Relationship Id="rId21" Type="http://schemas.openxmlformats.org/officeDocument/2006/relationships/tags" Target="../tags/tag216.xml"/><Relationship Id="rId7" Type="http://schemas.openxmlformats.org/officeDocument/2006/relationships/tags" Target="../tags/tag202.xml"/><Relationship Id="rId12" Type="http://schemas.openxmlformats.org/officeDocument/2006/relationships/tags" Target="../tags/tag207.xml"/><Relationship Id="rId17" Type="http://schemas.openxmlformats.org/officeDocument/2006/relationships/tags" Target="../tags/tag212.xml"/><Relationship Id="rId25" Type="http://schemas.openxmlformats.org/officeDocument/2006/relationships/tags" Target="../tags/tag220.xml"/><Relationship Id="rId2" Type="http://schemas.openxmlformats.org/officeDocument/2006/relationships/tags" Target="../tags/tag197.xml"/><Relationship Id="rId16" Type="http://schemas.openxmlformats.org/officeDocument/2006/relationships/tags" Target="../tags/tag211.xml"/><Relationship Id="rId20" Type="http://schemas.openxmlformats.org/officeDocument/2006/relationships/tags" Target="../tags/tag215.xml"/><Relationship Id="rId1" Type="http://schemas.openxmlformats.org/officeDocument/2006/relationships/tags" Target="../tags/tag195.xml"/><Relationship Id="rId6" Type="http://schemas.openxmlformats.org/officeDocument/2006/relationships/tags" Target="../tags/tag201.xml"/><Relationship Id="rId11" Type="http://schemas.openxmlformats.org/officeDocument/2006/relationships/tags" Target="../tags/tag206.xml"/><Relationship Id="rId24" Type="http://schemas.openxmlformats.org/officeDocument/2006/relationships/tags" Target="../tags/tag219.xml"/><Relationship Id="rId5" Type="http://schemas.openxmlformats.org/officeDocument/2006/relationships/tags" Target="../tags/tag200.xml"/><Relationship Id="rId15" Type="http://schemas.openxmlformats.org/officeDocument/2006/relationships/tags" Target="../tags/tag210.xml"/><Relationship Id="rId23" Type="http://schemas.openxmlformats.org/officeDocument/2006/relationships/tags" Target="../tags/tag218.xml"/><Relationship Id="rId10" Type="http://schemas.openxmlformats.org/officeDocument/2006/relationships/tags" Target="../tags/tag205.xml"/><Relationship Id="rId19" Type="http://schemas.openxmlformats.org/officeDocument/2006/relationships/tags" Target="../tags/tag214.xml"/><Relationship Id="rId4" Type="http://schemas.openxmlformats.org/officeDocument/2006/relationships/tags" Target="../tags/tag199.xml"/><Relationship Id="rId9" Type="http://schemas.openxmlformats.org/officeDocument/2006/relationships/tags" Target="../tags/tag204.xml"/><Relationship Id="rId14" Type="http://schemas.openxmlformats.org/officeDocument/2006/relationships/tags" Target="../tags/tag209.xml"/><Relationship Id="rId22" Type="http://schemas.openxmlformats.org/officeDocument/2006/relationships/tags" Target="../tags/tag2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e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tags" Target="../tags/tag233.xml"/><Relationship Id="rId18" Type="http://schemas.openxmlformats.org/officeDocument/2006/relationships/tags" Target="../tags/tag238.xml"/><Relationship Id="rId26" Type="http://schemas.openxmlformats.org/officeDocument/2006/relationships/tags" Target="../tags/tag246.xml"/><Relationship Id="rId39" Type="http://schemas.openxmlformats.org/officeDocument/2006/relationships/slideLayout" Target="../slideLayouts/slideLayout2.xml"/><Relationship Id="rId21" Type="http://schemas.openxmlformats.org/officeDocument/2006/relationships/tags" Target="../tags/tag241.xml"/><Relationship Id="rId34" Type="http://schemas.openxmlformats.org/officeDocument/2006/relationships/tags" Target="../tags/tag254.xml"/><Relationship Id="rId7" Type="http://schemas.openxmlformats.org/officeDocument/2006/relationships/tags" Target="../tags/tag227.xml"/><Relationship Id="rId12" Type="http://schemas.openxmlformats.org/officeDocument/2006/relationships/tags" Target="../tags/tag232.xml"/><Relationship Id="rId17" Type="http://schemas.openxmlformats.org/officeDocument/2006/relationships/tags" Target="../tags/tag237.xml"/><Relationship Id="rId25" Type="http://schemas.openxmlformats.org/officeDocument/2006/relationships/tags" Target="../tags/tag245.xml"/><Relationship Id="rId33" Type="http://schemas.openxmlformats.org/officeDocument/2006/relationships/tags" Target="../tags/tag253.xml"/><Relationship Id="rId38" Type="http://schemas.openxmlformats.org/officeDocument/2006/relationships/tags" Target="../tags/tag258.xml"/><Relationship Id="rId2" Type="http://schemas.openxmlformats.org/officeDocument/2006/relationships/tags" Target="../tags/tag222.xml"/><Relationship Id="rId16" Type="http://schemas.openxmlformats.org/officeDocument/2006/relationships/tags" Target="../tags/tag236.xml"/><Relationship Id="rId20" Type="http://schemas.openxmlformats.org/officeDocument/2006/relationships/tags" Target="../tags/tag240.xml"/><Relationship Id="rId29" Type="http://schemas.openxmlformats.org/officeDocument/2006/relationships/tags" Target="../tags/tag249.xml"/><Relationship Id="rId1" Type="http://schemas.openxmlformats.org/officeDocument/2006/relationships/tags" Target="../tags/tag221.xml"/><Relationship Id="rId6" Type="http://schemas.openxmlformats.org/officeDocument/2006/relationships/tags" Target="../tags/tag226.xml"/><Relationship Id="rId11" Type="http://schemas.openxmlformats.org/officeDocument/2006/relationships/tags" Target="../tags/tag231.xml"/><Relationship Id="rId24" Type="http://schemas.openxmlformats.org/officeDocument/2006/relationships/tags" Target="../tags/tag244.xml"/><Relationship Id="rId32" Type="http://schemas.openxmlformats.org/officeDocument/2006/relationships/tags" Target="../tags/tag252.xml"/><Relationship Id="rId37" Type="http://schemas.openxmlformats.org/officeDocument/2006/relationships/tags" Target="../tags/tag257.xml"/><Relationship Id="rId40" Type="http://schemas.openxmlformats.org/officeDocument/2006/relationships/notesSlide" Target="../notesSlides/notesSlide8.xml"/><Relationship Id="rId5" Type="http://schemas.openxmlformats.org/officeDocument/2006/relationships/tags" Target="../tags/tag225.xml"/><Relationship Id="rId15" Type="http://schemas.openxmlformats.org/officeDocument/2006/relationships/tags" Target="../tags/tag235.xml"/><Relationship Id="rId23" Type="http://schemas.openxmlformats.org/officeDocument/2006/relationships/tags" Target="../tags/tag243.xml"/><Relationship Id="rId28" Type="http://schemas.openxmlformats.org/officeDocument/2006/relationships/tags" Target="../tags/tag248.xml"/><Relationship Id="rId36" Type="http://schemas.openxmlformats.org/officeDocument/2006/relationships/tags" Target="../tags/tag256.xml"/><Relationship Id="rId10" Type="http://schemas.openxmlformats.org/officeDocument/2006/relationships/tags" Target="../tags/tag230.xml"/><Relationship Id="rId19" Type="http://schemas.openxmlformats.org/officeDocument/2006/relationships/tags" Target="../tags/tag239.xml"/><Relationship Id="rId31" Type="http://schemas.openxmlformats.org/officeDocument/2006/relationships/tags" Target="../tags/tag251.xml"/><Relationship Id="rId4" Type="http://schemas.openxmlformats.org/officeDocument/2006/relationships/tags" Target="../tags/tag224.xml"/><Relationship Id="rId9" Type="http://schemas.openxmlformats.org/officeDocument/2006/relationships/tags" Target="../tags/tag229.xml"/><Relationship Id="rId14" Type="http://schemas.openxmlformats.org/officeDocument/2006/relationships/tags" Target="../tags/tag234.xml"/><Relationship Id="rId22" Type="http://schemas.openxmlformats.org/officeDocument/2006/relationships/tags" Target="../tags/tag242.xml"/><Relationship Id="rId27" Type="http://schemas.openxmlformats.org/officeDocument/2006/relationships/tags" Target="../tags/tag247.xml"/><Relationship Id="rId30" Type="http://schemas.openxmlformats.org/officeDocument/2006/relationships/tags" Target="../tags/tag250.xml"/><Relationship Id="rId35" Type="http://schemas.openxmlformats.org/officeDocument/2006/relationships/tags" Target="../tags/tag255.xml"/><Relationship Id="rId8" Type="http://schemas.openxmlformats.org/officeDocument/2006/relationships/tags" Target="../tags/tag228.xml"/><Relationship Id="rId3" Type="http://schemas.openxmlformats.org/officeDocument/2006/relationships/tags" Target="../tags/tag22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emf"/><Relationship Id="rId4" Type="http://schemas.openxmlformats.org/officeDocument/2006/relationships/image" Target="../media/image12.emf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>
                <a:solidFill>
                  <a:srgbClr val="073E87"/>
                </a:solidFill>
              </a:rPr>
              <a:t>邓伏虎</a:t>
            </a:r>
            <a:endParaRPr lang="zh-CN" altLang="en-US" dirty="0">
              <a:solidFill>
                <a:srgbClr val="073E87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73E87"/>
                </a:solidFill>
              </a:rPr>
              <a:t>信息与软件工程学院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73E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zh-CN" altLang="en-US" dirty="0">
              <a:solidFill>
                <a:srgbClr val="073E8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 idx="4294967295"/>
          </p:nvPr>
        </p:nvSpPr>
        <p:spPr>
          <a:xfrm>
            <a:off x="0" y="77470"/>
            <a:ext cx="1979295" cy="92900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编译流程</a:t>
            </a:r>
            <a:endParaRPr lang="en-US" dirty="0"/>
          </a:p>
        </p:txBody>
      </p:sp>
      <p:grpSp>
        <p:nvGrpSpPr>
          <p:cNvPr id="17" name="组合 16"/>
          <p:cNvGrpSpPr/>
          <p:nvPr/>
        </p:nvGrpSpPr>
        <p:grpSpPr>
          <a:xfrm>
            <a:off x="1065266" y="1114057"/>
            <a:ext cx="457200" cy="4752528"/>
            <a:chOff x="1043608" y="1412776"/>
            <a:chExt cx="457200" cy="4752528"/>
          </a:xfrm>
        </p:grpSpPr>
        <p:sp>
          <p:nvSpPr>
            <p:cNvPr id="7" name="矩形 6"/>
            <p:cNvSpPr/>
            <p:nvPr/>
          </p:nvSpPr>
          <p:spPr>
            <a:xfrm>
              <a:off x="1043608" y="1412776"/>
              <a:ext cx="457200" cy="475252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43608" y="2594535"/>
              <a:ext cx="457200" cy="230832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2400" dirty="0">
                  <a:solidFill>
                    <a:prstClr val="black"/>
                  </a:solidFill>
                </a:rPr>
                <a:t>信息表的管理</a:t>
              </a:r>
              <a:endParaRPr lang="en-US" sz="24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8137828" y="1141600"/>
            <a:ext cx="474486" cy="4752528"/>
            <a:chOff x="8155114" y="1372433"/>
            <a:chExt cx="474486" cy="4752528"/>
          </a:xfrm>
        </p:grpSpPr>
        <p:sp>
          <p:nvSpPr>
            <p:cNvPr id="9" name="矩形 8"/>
            <p:cNvSpPr/>
            <p:nvPr/>
          </p:nvSpPr>
          <p:spPr>
            <a:xfrm>
              <a:off x="8155114" y="1372433"/>
              <a:ext cx="457200" cy="475252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172400" y="2409869"/>
              <a:ext cx="457200" cy="26776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2400" dirty="0">
                  <a:solidFill>
                    <a:prstClr val="black"/>
                  </a:solidFill>
                </a:rPr>
                <a:t>错误诊断及处理</a:t>
              </a:r>
              <a:endParaRPr lang="en-US" sz="2400" dirty="0">
                <a:solidFill>
                  <a:prstClr val="black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275399" y="54402"/>
            <a:ext cx="1097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prstClr val="black"/>
                </a:solidFill>
              </a:rPr>
              <a:t>源程序</a:t>
            </a:r>
            <a:endParaRPr lang="en-US" sz="2400" dirty="0">
              <a:solidFill>
                <a:prstClr val="black"/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203848" y="1211923"/>
            <a:ext cx="3240360" cy="461665"/>
            <a:chOff x="1043608" y="1256391"/>
            <a:chExt cx="457200" cy="4984621"/>
          </a:xfrm>
        </p:grpSpPr>
        <p:sp>
          <p:nvSpPr>
            <p:cNvPr id="19" name="矩形 18"/>
            <p:cNvSpPr/>
            <p:nvPr/>
          </p:nvSpPr>
          <p:spPr>
            <a:xfrm>
              <a:off x="1043608" y="1412776"/>
              <a:ext cx="457200" cy="475252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43608" y="1256391"/>
              <a:ext cx="457200" cy="49846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rgbClr val="FF0000"/>
                  </a:solidFill>
                </a:rPr>
                <a:t>词法分析</a:t>
              </a:r>
              <a:endParaRPr lang="en-US" sz="2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203848" y="2092526"/>
            <a:ext cx="3240360" cy="461665"/>
            <a:chOff x="1043608" y="1256391"/>
            <a:chExt cx="457200" cy="4984621"/>
          </a:xfrm>
        </p:grpSpPr>
        <p:sp>
          <p:nvSpPr>
            <p:cNvPr id="22" name="矩形 21"/>
            <p:cNvSpPr/>
            <p:nvPr/>
          </p:nvSpPr>
          <p:spPr>
            <a:xfrm>
              <a:off x="1043608" y="1412776"/>
              <a:ext cx="457200" cy="475252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43608" y="1256391"/>
              <a:ext cx="457200" cy="49846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prstClr val="black"/>
                  </a:solidFill>
                </a:rPr>
                <a:t>语法分析</a:t>
              </a:r>
              <a:endParaRPr lang="en-US" sz="24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03848" y="3070682"/>
            <a:ext cx="3240360" cy="461665"/>
            <a:chOff x="1043608" y="1256391"/>
            <a:chExt cx="457200" cy="4984621"/>
          </a:xfrm>
        </p:grpSpPr>
        <p:sp>
          <p:nvSpPr>
            <p:cNvPr id="25" name="矩形 24"/>
            <p:cNvSpPr/>
            <p:nvPr/>
          </p:nvSpPr>
          <p:spPr>
            <a:xfrm>
              <a:off x="1043608" y="1412776"/>
              <a:ext cx="457200" cy="475252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43608" y="1256391"/>
              <a:ext cx="457200" cy="49846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prstClr val="black"/>
                  </a:solidFill>
                </a:rPr>
                <a:t>语义分析</a:t>
              </a:r>
              <a:endParaRPr lang="en-US" sz="24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202940" y="4293870"/>
            <a:ext cx="3256915" cy="460375"/>
            <a:chOff x="1043608" y="1263247"/>
            <a:chExt cx="457200" cy="4970908"/>
          </a:xfrm>
        </p:grpSpPr>
        <p:sp>
          <p:nvSpPr>
            <p:cNvPr id="28" name="矩形 27"/>
            <p:cNvSpPr/>
            <p:nvPr/>
          </p:nvSpPr>
          <p:spPr>
            <a:xfrm>
              <a:off x="1043608" y="1412776"/>
              <a:ext cx="457200" cy="475252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43608" y="1263247"/>
              <a:ext cx="457200" cy="497090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prstClr val="black"/>
                  </a:solidFill>
                </a:rPr>
                <a:t>中间代码生成</a:t>
              </a:r>
              <a:endParaRPr lang="en-US" sz="24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204210" y="5142230"/>
            <a:ext cx="3255010" cy="460375"/>
            <a:chOff x="1043608" y="1263247"/>
            <a:chExt cx="457200" cy="4970908"/>
          </a:xfrm>
        </p:grpSpPr>
        <p:sp>
          <p:nvSpPr>
            <p:cNvPr id="31" name="矩形 30"/>
            <p:cNvSpPr/>
            <p:nvPr/>
          </p:nvSpPr>
          <p:spPr>
            <a:xfrm>
              <a:off x="1043608" y="1412776"/>
              <a:ext cx="457200" cy="475252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43608" y="1263247"/>
              <a:ext cx="457200" cy="497090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prstClr val="black"/>
                  </a:solidFill>
                </a:rPr>
                <a:t>代码生成</a:t>
              </a:r>
              <a:endParaRPr lang="en-US" sz="2400" dirty="0">
                <a:solidFill>
                  <a:prstClr val="black"/>
                </a:solidFill>
              </a:endParaRPr>
            </a:p>
          </p:txBody>
        </p:sp>
      </p:grpSp>
      <p:cxnSp>
        <p:nvCxnSpPr>
          <p:cNvPr id="35" name="直接箭头连接符 34"/>
          <p:cNvCxnSpPr>
            <a:stCxn id="12" idx="2"/>
            <a:endCxn id="20" idx="0"/>
          </p:cNvCxnSpPr>
          <p:nvPr/>
        </p:nvCxnSpPr>
        <p:spPr>
          <a:xfrm>
            <a:off x="4824317" y="514797"/>
            <a:ext cx="0" cy="69723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19" idx="2"/>
            <a:endCxn id="22" idx="0"/>
          </p:cNvCxnSpPr>
          <p:nvPr/>
        </p:nvCxnSpPr>
        <p:spPr>
          <a:xfrm>
            <a:off x="4824028" y="1666576"/>
            <a:ext cx="0" cy="44043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22" idx="2"/>
            <a:endCxn id="26" idx="0"/>
          </p:cNvCxnSpPr>
          <p:nvPr/>
        </p:nvCxnSpPr>
        <p:spPr>
          <a:xfrm>
            <a:off x="4824028" y="2547179"/>
            <a:ext cx="0" cy="52387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26" idx="2"/>
            <a:endCxn id="29" idx="0"/>
          </p:cNvCxnSpPr>
          <p:nvPr/>
        </p:nvCxnSpPr>
        <p:spPr>
          <a:xfrm>
            <a:off x="4824028" y="3532320"/>
            <a:ext cx="7620" cy="76136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28" idx="2"/>
            <a:endCxn id="32" idx="0"/>
          </p:cNvCxnSpPr>
          <p:nvPr/>
        </p:nvCxnSpPr>
        <p:spPr>
          <a:xfrm>
            <a:off x="4831529" y="4747749"/>
            <a:ext cx="0" cy="39433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126562" y="5949395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prstClr val="black"/>
                </a:solidFill>
              </a:rPr>
              <a:t>机器代码</a:t>
            </a:r>
            <a:endParaRPr lang="en-US" sz="2400" dirty="0">
              <a:solidFill>
                <a:prstClr val="black"/>
              </a:solidFill>
            </a:endParaRPr>
          </a:p>
        </p:txBody>
      </p:sp>
      <p:cxnSp>
        <p:nvCxnSpPr>
          <p:cNvPr id="47" name="直接箭头连接符 46"/>
          <p:cNvCxnSpPr>
            <a:stCxn id="31" idx="2"/>
            <a:endCxn id="45" idx="0"/>
          </p:cNvCxnSpPr>
          <p:nvPr/>
        </p:nvCxnSpPr>
        <p:spPr>
          <a:xfrm flipH="1">
            <a:off x="4827843" y="5596144"/>
            <a:ext cx="3810" cy="35306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>
            <a:stCxn id="20" idx="1"/>
          </p:cNvCxnSpPr>
          <p:nvPr/>
        </p:nvCxnSpPr>
        <p:spPr>
          <a:xfrm flipH="1">
            <a:off x="1500810" y="1442756"/>
            <a:ext cx="17030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>
            <a:stCxn id="19" idx="3"/>
          </p:cNvCxnSpPr>
          <p:nvPr/>
        </p:nvCxnSpPr>
        <p:spPr>
          <a:xfrm>
            <a:off x="6444208" y="1446492"/>
            <a:ext cx="16936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>
            <a:stCxn id="22" idx="3"/>
          </p:cNvCxnSpPr>
          <p:nvPr/>
        </p:nvCxnSpPr>
        <p:spPr>
          <a:xfrm flipV="1">
            <a:off x="6444208" y="2323359"/>
            <a:ext cx="1693620" cy="37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>
            <a:stCxn id="26" idx="3"/>
          </p:cNvCxnSpPr>
          <p:nvPr/>
        </p:nvCxnSpPr>
        <p:spPr>
          <a:xfrm>
            <a:off x="6444208" y="3301515"/>
            <a:ext cx="1693620" cy="37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stCxn id="28" idx="3"/>
          </p:cNvCxnSpPr>
          <p:nvPr/>
        </p:nvCxnSpPr>
        <p:spPr>
          <a:xfrm>
            <a:off x="6459964" y="4528300"/>
            <a:ext cx="16892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stCxn id="31" idx="3"/>
          </p:cNvCxnSpPr>
          <p:nvPr/>
        </p:nvCxnSpPr>
        <p:spPr>
          <a:xfrm>
            <a:off x="6459453" y="5376695"/>
            <a:ext cx="16924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>
            <a:endCxn id="22" idx="1"/>
          </p:cNvCxnSpPr>
          <p:nvPr/>
        </p:nvCxnSpPr>
        <p:spPr>
          <a:xfrm>
            <a:off x="1522466" y="2323359"/>
            <a:ext cx="1681382" cy="37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>
            <a:endCxn id="25" idx="1"/>
          </p:cNvCxnSpPr>
          <p:nvPr/>
        </p:nvCxnSpPr>
        <p:spPr>
          <a:xfrm>
            <a:off x="1522466" y="3301514"/>
            <a:ext cx="1681382" cy="37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>
            <a:endCxn id="29" idx="1"/>
          </p:cNvCxnSpPr>
          <p:nvPr/>
        </p:nvCxnSpPr>
        <p:spPr>
          <a:xfrm flipV="1">
            <a:off x="1530835" y="4524564"/>
            <a:ext cx="1672259" cy="146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>
            <a:endCxn id="32" idx="1"/>
          </p:cNvCxnSpPr>
          <p:nvPr/>
        </p:nvCxnSpPr>
        <p:spPr>
          <a:xfrm flipV="1">
            <a:off x="1523106" y="5372959"/>
            <a:ext cx="1681382" cy="37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>
            <a:off x="7475190" y="769718"/>
            <a:ext cx="8643" cy="2875306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 flipH="1">
            <a:off x="2195736" y="3645024"/>
            <a:ext cx="5279454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flipV="1">
            <a:off x="2195736" y="769718"/>
            <a:ext cx="0" cy="2875306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2195736" y="769718"/>
            <a:ext cx="5288097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2198321" y="775398"/>
            <a:ext cx="793750" cy="46037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</a:rPr>
              <a:t>分析</a:t>
            </a:r>
            <a:endParaRPr lang="en-US" sz="2400" b="1" dirty="0">
              <a:solidFill>
                <a:prstClr val="black"/>
              </a:solidFill>
            </a:endParaRPr>
          </a:p>
        </p:txBody>
      </p:sp>
      <p:cxnSp>
        <p:nvCxnSpPr>
          <p:cNvPr id="82" name="直接连接符 81"/>
          <p:cNvCxnSpPr/>
          <p:nvPr/>
        </p:nvCxnSpPr>
        <p:spPr>
          <a:xfrm flipH="1">
            <a:off x="2217946" y="4128448"/>
            <a:ext cx="5290943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>
            <a:off x="7483833" y="4128448"/>
            <a:ext cx="0" cy="1596972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2217946" y="4128448"/>
            <a:ext cx="5249" cy="1581924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2223195" y="5710372"/>
            <a:ext cx="5260638" cy="15048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2217946" y="4128448"/>
            <a:ext cx="793750" cy="460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</a:rPr>
              <a:t>综合</a:t>
            </a:r>
            <a:endParaRPr lang="en-US" sz="2400" b="1" dirty="0">
              <a:solidFill>
                <a:prstClr val="black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901036" y="406066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prstClr val="black"/>
                </a:solidFill>
              </a:rPr>
              <a:t>字符序列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4901036" y="1702127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prstClr val="black"/>
                </a:solidFill>
              </a:rPr>
              <a:t>字符序列</a:t>
            </a: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108" name="直接连接符 107"/>
          <p:cNvCxnSpPr/>
          <p:nvPr/>
        </p:nvCxnSpPr>
        <p:spPr>
          <a:xfrm>
            <a:off x="3027090" y="863995"/>
            <a:ext cx="3506266" cy="0"/>
          </a:xfrm>
          <a:prstGeom prst="line">
            <a:avLst/>
          </a:prstGeom>
          <a:ln w="254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>
            <a:off x="6566098" y="863995"/>
            <a:ext cx="0" cy="1772917"/>
          </a:xfrm>
          <a:prstGeom prst="line">
            <a:avLst/>
          </a:prstGeom>
          <a:ln w="254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 flipH="1">
            <a:off x="3075588" y="2636912"/>
            <a:ext cx="3490510" cy="0"/>
          </a:xfrm>
          <a:prstGeom prst="line">
            <a:avLst/>
          </a:prstGeom>
          <a:ln w="254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>
            <a:off x="3059832" y="863995"/>
            <a:ext cx="7878" cy="1772917"/>
          </a:xfrm>
          <a:prstGeom prst="line">
            <a:avLst/>
          </a:prstGeom>
          <a:ln w="254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4901036" y="821564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prstClr val="black"/>
                </a:solidFill>
              </a:rPr>
              <a:t>结构分析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5016452" y="2648851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prstClr val="black"/>
                </a:solidFill>
              </a:rPr>
              <a:t>语法树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4785620" y="3746332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prstClr val="black"/>
                </a:solidFill>
              </a:rPr>
              <a:t>带语义的树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4901035" y="4775582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prstClr val="black"/>
                </a:solidFill>
              </a:rPr>
              <a:t>中间代码</a:t>
            </a:r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1619672" y="2276872"/>
            <a:ext cx="6408712" cy="1154070"/>
          </a:xfrm>
        </p:spPr>
        <p:txBody>
          <a:bodyPr>
            <a:norm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第三章 词法分析器</a:t>
            </a:r>
            <a:endParaRPr lang="en-US" b="1" dirty="0">
              <a:latin typeface="+mn-ea"/>
              <a:ea typeface="+mn-ea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en-US" sz="2800" b="1" dirty="0">
                <a:latin typeface="+mn-ea"/>
                <a:cs typeface="+mj-cs"/>
              </a:rPr>
              <a:t>信息与软件工程学院</a:t>
            </a:r>
            <a:endParaRPr lang="en-US" altLang="zh-CN" sz="2800" b="1" dirty="0">
              <a:latin typeface="+mn-ea"/>
              <a:cs typeface="+mj-cs"/>
            </a:endParaRPr>
          </a:p>
          <a:p>
            <a:pPr>
              <a:spcBef>
                <a:spcPct val="0"/>
              </a:spcBef>
            </a:pPr>
            <a:endParaRPr lang="en-US" altLang="zh-CN" sz="2800" b="1" dirty="0">
              <a:latin typeface="+mn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zh-CN" altLang="en-US" sz="2800" b="1" dirty="0">
                <a:latin typeface="+mn-ea"/>
                <a:cs typeface="+mj-cs"/>
              </a:rPr>
              <a:t>邓伏虎</a:t>
            </a:r>
            <a:endParaRPr lang="en-US" sz="2800" b="1" dirty="0">
              <a:latin typeface="+mn-ea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latin typeface="+mn-ea"/>
              </a:rPr>
              <a:t>词法分析的任务：</a:t>
            </a:r>
            <a:endParaRPr lang="en-US" altLang="zh-CN" sz="2800" b="1" dirty="0">
              <a:latin typeface="+mn-ea"/>
            </a:endParaRPr>
          </a:p>
          <a:p>
            <a:pPr marL="612140" indent="0">
              <a:buNone/>
            </a:pPr>
            <a:r>
              <a:rPr lang="zh-CN" altLang="en-US" sz="2800" dirty="0">
                <a:latin typeface="+mn-ea"/>
              </a:rPr>
              <a:t>从左至右逐个字符地对源程序进行扫描，产生一个个单词符号。</a:t>
            </a:r>
            <a:endParaRPr lang="en-US" altLang="zh-CN" sz="2800" dirty="0">
              <a:latin typeface="+mn-ea"/>
            </a:endParaRPr>
          </a:p>
          <a:p>
            <a:pPr marL="720090" indent="0">
              <a:buNone/>
            </a:pPr>
            <a:endParaRPr lang="zh-CN" altLang="en-US" sz="2800" dirty="0">
              <a:latin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800" b="1" dirty="0">
                <a:latin typeface="+mn-ea"/>
              </a:rPr>
              <a:t>词法分析器（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Analyzer</a:t>
            </a:r>
            <a:r>
              <a:rPr lang="zh-CN" altLang="en-US" sz="2800" b="1" dirty="0">
                <a:latin typeface="+mn-ea"/>
              </a:rPr>
              <a:t>）</a:t>
            </a:r>
            <a:r>
              <a:rPr lang="en-US" altLang="zh-CN" sz="2800" b="1" dirty="0">
                <a:latin typeface="+mn-ea"/>
              </a:rPr>
              <a:t>:</a:t>
            </a:r>
          </a:p>
          <a:p>
            <a:pPr marL="612140" indent="0">
              <a:buNone/>
            </a:pPr>
            <a:r>
              <a:rPr lang="zh-CN" altLang="en-US" sz="2800" dirty="0">
                <a:latin typeface="+mn-ea"/>
              </a:rPr>
              <a:t>又称扫描器，是执行词法分析的程序。</a:t>
            </a:r>
            <a:endParaRPr lang="en-US" sz="2800" dirty="0">
              <a:latin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b="1" dirty="0">
                <a:latin typeface="+mn-ea"/>
                <a:ea typeface="+mn-ea"/>
              </a:rPr>
              <a:t>第三章  词法分析</a:t>
            </a:r>
            <a:endParaRPr lang="en-US" sz="3600" b="1" dirty="0">
              <a:latin typeface="+mn-ea"/>
              <a:ea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3923665" y="6490335"/>
            <a:ext cx="1290955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词法分析器概述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单词的识别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状态转换图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3.4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正规表达式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有限状态转换机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3.6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词法分析器生成器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sz="3000" b="1" dirty="0">
                <a:latin typeface="+mn-ea"/>
              </a:rPr>
              <a:t>词法分析器的功能：</a:t>
            </a:r>
            <a:endParaRPr lang="en-US" altLang="zh-CN" sz="3000" b="1" dirty="0">
              <a:latin typeface="+mn-ea"/>
            </a:endParaRPr>
          </a:p>
          <a:p>
            <a:pPr marL="612140" indent="0">
              <a:buNone/>
            </a:pPr>
            <a:r>
              <a:rPr lang="zh-CN" altLang="en-US" sz="3000" dirty="0">
                <a:latin typeface="+mn-ea"/>
              </a:rPr>
              <a:t>输入源程序，输出单词符号的集合。</a:t>
            </a:r>
            <a:endParaRPr lang="en-US" sz="3000" dirty="0">
              <a:latin typeface="+mn-ea"/>
            </a:endParaRPr>
          </a:p>
          <a:p>
            <a:r>
              <a:rPr lang="zh-CN" altLang="en-US" sz="3000" b="1" dirty="0">
                <a:latin typeface="+mn-ea"/>
              </a:rPr>
              <a:t>单词符号的种类：</a:t>
            </a:r>
            <a:endParaRPr lang="en-US" altLang="zh-CN" sz="3000" b="1" dirty="0">
              <a:latin typeface="+mn-ea"/>
            </a:endParaRPr>
          </a:p>
          <a:p>
            <a:pPr marL="288290" indent="0">
              <a:buNone/>
            </a:pPr>
            <a:r>
              <a:rPr lang="en-US" altLang="zh-CN" sz="3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+mn-ea"/>
              </a:rPr>
              <a:t>- </a:t>
            </a:r>
            <a:r>
              <a:rPr lang="zh-CN" altLang="en-US" sz="3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+mn-ea"/>
              </a:rPr>
              <a:t>基本字</a:t>
            </a:r>
            <a:r>
              <a:rPr lang="zh-CN" altLang="en-US" sz="3000" dirty="0">
                <a:latin typeface="+mn-ea"/>
              </a:rPr>
              <a:t>：如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zh-CN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zh-CN" altLang="en-US" sz="3000" dirty="0">
                <a:latin typeface="+mn-ea"/>
              </a:rPr>
              <a:t>等</a:t>
            </a:r>
            <a:endParaRPr lang="en-US" altLang="zh-CN" sz="3000" dirty="0">
              <a:latin typeface="+mn-ea"/>
            </a:endParaRPr>
          </a:p>
          <a:p>
            <a:pPr marL="288290" indent="0">
              <a:buNone/>
            </a:pPr>
            <a:r>
              <a:rPr lang="en-US" altLang="zh-CN" sz="3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+mn-ea"/>
              </a:rPr>
              <a:t>- </a:t>
            </a:r>
            <a:r>
              <a:rPr lang="zh-CN" altLang="en-US" sz="3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+mn-ea"/>
              </a:rPr>
              <a:t>标识符</a:t>
            </a:r>
            <a:r>
              <a:rPr lang="zh-CN" altLang="en-US" sz="3000" dirty="0">
                <a:latin typeface="+mn-ea"/>
              </a:rPr>
              <a:t>：表示各种名字，如变量名、数组名及过   </a:t>
            </a:r>
            <a:endParaRPr lang="en-US" altLang="zh-CN" sz="3000" dirty="0">
              <a:latin typeface="+mn-ea"/>
            </a:endParaRPr>
          </a:p>
          <a:p>
            <a:pPr marL="288290" indent="0">
              <a:buNone/>
            </a:pPr>
            <a:r>
              <a:rPr lang="en-US" altLang="zh-CN" sz="3000" dirty="0">
                <a:latin typeface="+mn-ea"/>
              </a:rPr>
              <a:t>		  </a:t>
            </a:r>
            <a:r>
              <a:rPr lang="zh-CN" altLang="en-US" sz="3000" dirty="0">
                <a:latin typeface="+mn-ea"/>
              </a:rPr>
              <a:t>程名等</a:t>
            </a:r>
            <a:endParaRPr lang="en-US" altLang="zh-CN" sz="3000" dirty="0">
              <a:latin typeface="+mn-ea"/>
            </a:endParaRPr>
          </a:p>
          <a:p>
            <a:pPr marL="288290" indent="0">
              <a:buNone/>
            </a:pPr>
            <a:r>
              <a:rPr lang="en-US" altLang="zh-CN" sz="3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+mn-ea"/>
              </a:rPr>
              <a:t>- </a:t>
            </a:r>
            <a:r>
              <a:rPr lang="zh-CN" altLang="en-US" sz="3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+mn-ea"/>
              </a:rPr>
              <a:t>常数</a:t>
            </a:r>
            <a:r>
              <a:rPr lang="zh-CN" altLang="en-US" sz="3000" dirty="0">
                <a:latin typeface="+mn-ea"/>
              </a:rPr>
              <a:t>：各种类型的常数</a:t>
            </a:r>
            <a:endParaRPr lang="en-US" altLang="zh-CN" sz="3000" dirty="0">
              <a:latin typeface="+mn-ea"/>
            </a:endParaRPr>
          </a:p>
          <a:p>
            <a:pPr marL="288290" indent="0">
              <a:buNone/>
            </a:pPr>
            <a:r>
              <a:rPr lang="en-US" altLang="zh-CN" sz="3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+mn-ea"/>
              </a:rPr>
              <a:t>- </a:t>
            </a:r>
            <a:r>
              <a:rPr lang="zh-CN" altLang="en-US" sz="3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+mn-ea"/>
              </a:rPr>
              <a:t>运算符</a:t>
            </a:r>
            <a:r>
              <a:rPr lang="zh-CN" altLang="en-US" sz="3000" dirty="0">
                <a:latin typeface="+mn-ea"/>
              </a:rPr>
              <a:t>：</a:t>
            </a:r>
            <a:r>
              <a:rPr lang="en-US" altLang="zh-CN" sz="3000" dirty="0">
                <a:latin typeface="+mn-ea"/>
              </a:rPr>
              <a:t>+</a:t>
            </a:r>
            <a:r>
              <a:rPr lang="zh-CN" altLang="en-US" sz="3000" dirty="0">
                <a:latin typeface="+mn-ea"/>
              </a:rPr>
              <a:t>、</a:t>
            </a:r>
            <a:r>
              <a:rPr lang="en-US" altLang="zh-CN" sz="3000" dirty="0">
                <a:latin typeface="+mn-ea"/>
              </a:rPr>
              <a:t>-</a:t>
            </a:r>
            <a:r>
              <a:rPr lang="zh-CN" altLang="en-US" sz="3000" dirty="0">
                <a:latin typeface="+mn-ea"/>
              </a:rPr>
              <a:t>、*、</a:t>
            </a:r>
            <a:r>
              <a:rPr lang="en-US" altLang="zh-CN" sz="3000" dirty="0">
                <a:latin typeface="+mn-ea"/>
              </a:rPr>
              <a:t>/</a:t>
            </a:r>
            <a:r>
              <a:rPr lang="zh-CN" altLang="en-US" sz="3000" dirty="0">
                <a:latin typeface="+mn-ea"/>
              </a:rPr>
              <a:t>等</a:t>
            </a:r>
            <a:endParaRPr lang="en-US" altLang="zh-CN" sz="3000" dirty="0">
              <a:latin typeface="+mn-ea"/>
            </a:endParaRPr>
          </a:p>
          <a:p>
            <a:pPr marL="288290" indent="0">
              <a:buNone/>
            </a:pPr>
            <a:r>
              <a:rPr lang="en-US" altLang="zh-CN" sz="3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+mn-ea"/>
              </a:rPr>
              <a:t>- </a:t>
            </a:r>
            <a:r>
              <a:rPr lang="zh-CN" altLang="en-US" sz="3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+mn-ea"/>
              </a:rPr>
              <a:t>界符</a:t>
            </a:r>
            <a:r>
              <a:rPr lang="zh-CN" altLang="en-US" sz="3000" dirty="0">
                <a:latin typeface="+mn-ea"/>
              </a:rPr>
              <a:t>：分号、花括号、空格、回车等</a:t>
            </a:r>
            <a:endParaRPr lang="en-US" sz="3000" dirty="0">
              <a:latin typeface="+mn-ea"/>
            </a:endParaRPr>
          </a:p>
          <a:p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</a:t>
            </a:r>
            <a:r>
              <a:rPr lang="en-US" altLang="zh-CN" sz="3600" b="1" dirty="0">
                <a:latin typeface="+mn-ea"/>
                <a:ea typeface="+mn-ea"/>
              </a:rPr>
              <a:t> </a:t>
            </a:r>
            <a:r>
              <a:rPr lang="zh-CN" altLang="en-US" sz="3600" b="1" dirty="0">
                <a:latin typeface="+mn-ea"/>
                <a:ea typeface="+mn-ea"/>
              </a:rPr>
              <a:t>词法分析器概述</a:t>
            </a:r>
            <a:endParaRPr lang="en-US" sz="3600" b="1" dirty="0">
              <a:latin typeface="+mn-ea"/>
              <a:ea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信息与软件工程学院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04397" y="1844824"/>
            <a:ext cx="8320210" cy="4281339"/>
          </a:xfrm>
        </p:spPr>
        <p:txBody>
          <a:bodyPr>
            <a:normAutofit lnSpcReduction="10000"/>
          </a:bodyPr>
          <a:lstStyle/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输出的单词符号表示形式：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612140" indent="0">
              <a:lnSpc>
                <a:spcPct val="90000"/>
              </a:lnSpc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（单词种别，单词自身的值）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marL="612140" indent="0">
              <a:lnSpc>
                <a:spcPct val="90000"/>
              </a:lnSpc>
              <a:buNone/>
            </a:pPr>
            <a:endParaRPr lang="en-US" altLang="zh-CN" sz="2800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单词种别通常用整数编码表示，称为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种别编码、类别编码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8290" indent="0" algn="just">
              <a:lnSpc>
                <a:spcPct val="90000"/>
              </a:lnSpc>
              <a:buNone/>
            </a:pPr>
            <a:r>
              <a:rPr lang="en-US" altLang="zh-CN" sz="2800" dirty="0">
                <a:latin typeface="宋体" panose="02010600030101010101" pitchFamily="2" charset="-122"/>
              </a:rPr>
              <a:t>-</a:t>
            </a:r>
            <a:r>
              <a:rPr lang="zh-CN" altLang="en-US" sz="2800" dirty="0">
                <a:latin typeface="宋体" panose="02010600030101010101" pitchFamily="2" charset="-122"/>
              </a:rPr>
              <a:t>若一个种别只有一个单词符号，则种别编码就代表该单词符号。通常假定基本字、运算符和界符都是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一符一种</a:t>
            </a:r>
            <a:r>
              <a:rPr lang="zh-CN" altLang="en-US" sz="2800" dirty="0">
                <a:latin typeface="宋体" panose="02010600030101010101" pitchFamily="2" charset="-122"/>
              </a:rPr>
              <a:t>。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marL="288290" indent="0" algn="just">
              <a:lnSpc>
                <a:spcPct val="90000"/>
              </a:lnSpc>
              <a:buNone/>
            </a:pPr>
            <a:r>
              <a:rPr lang="en-US" altLang="zh-CN" sz="2800" dirty="0">
                <a:latin typeface="宋体" panose="02010600030101010101" pitchFamily="2" charset="-122"/>
              </a:rPr>
              <a:t>-</a:t>
            </a:r>
            <a:r>
              <a:rPr lang="zh-CN" altLang="en-US" sz="2800" dirty="0">
                <a:latin typeface="宋体" panose="02010600030101010101" pitchFamily="2" charset="-122"/>
              </a:rPr>
              <a:t>若一个种别有多个单词符号，则对每一个单词符号，分别给出种别编码和自身的值。</a:t>
            </a:r>
            <a:endParaRPr lang="en-US" altLang="zh-CN" sz="2800" dirty="0">
              <a:latin typeface="宋体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3.1 </a:t>
            </a:r>
            <a:r>
              <a:rPr lang="zh-CN" altLang="en-US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词法分析概述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</a:pPr>
            <a:r>
              <a:rPr lang="en-US" altLang="zh-CN" sz="36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3.1 </a:t>
            </a:r>
            <a:r>
              <a:rPr lang="zh-CN" alt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词法分析概述</a:t>
            </a:r>
            <a:endParaRPr lang="en-US" sz="3600" b="1" dirty="0">
              <a:solidFill>
                <a:schemeClr val="tx2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26" name="Picture 2" descr="E:\教学\教学课程\编译技术\课件\Pictures\表3-1 单词符号编码表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2" y="1772816"/>
            <a:ext cx="8078787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87500" lnSpcReduction="20000"/>
          </a:bodyPr>
          <a:lstStyle/>
          <a:p>
            <a:pPr marL="0" indent="0">
              <a:buNone/>
            </a:pPr>
            <a:r>
              <a:rPr lang="zh-CN" altLang="en-US" sz="3300" b="1" dirty="0"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例：</a:t>
            </a:r>
            <a:r>
              <a:rPr lang="zh-CN" altLang="en-US" sz="3300" dirty="0"/>
              <a:t>从以下源代码中识别单词符号</a:t>
            </a:r>
            <a:endParaRPr lang="en-US" altLang="zh-CN" sz="3300" dirty="0"/>
          </a:p>
          <a:p>
            <a:pPr marL="612140" indent="0">
              <a:lnSpc>
                <a:spcPct val="90000"/>
              </a:lnSpc>
              <a:buNone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student1_score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=90,Class_score=500;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2140" indent="0">
              <a:lnSpc>
                <a:spcPct val="90000"/>
              </a:lnSpc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的编码（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2140" indent="0">
              <a:lnSpc>
                <a:spcPct val="90000"/>
              </a:lnSpc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空格的编码（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2140" indent="0">
              <a:lnSpc>
                <a:spcPct val="90000"/>
              </a:lnSpc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标识符的编码（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），标识符的名称“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student1_score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）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2140" indent="0">
              <a:lnSpc>
                <a:spcPct val="9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的编码（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612140" indent="0">
              <a:lnSpc>
                <a:spcPct val="90000"/>
              </a:lnSpc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常数的编码（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0101 1010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2140" indent="0">
              <a:lnSpc>
                <a:spcPct val="90000"/>
              </a:lnSpc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，的编码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(23)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－ ）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2140" indent="0">
              <a:lnSpc>
                <a:spcPct val="90000"/>
              </a:lnSpc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标识符的编码（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），标识符的名称“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Class_score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</a:t>
            </a:r>
          </a:p>
          <a:p>
            <a:pPr marL="612140" indent="0">
              <a:lnSpc>
                <a:spcPct val="90000"/>
              </a:lnSpc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＝的编码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－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612140" indent="0">
              <a:lnSpc>
                <a:spcPct val="90000"/>
              </a:lnSpc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常数的编码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0001 1111 0100)</a:t>
            </a:r>
          </a:p>
          <a:p>
            <a:pPr marL="612140" indent="0">
              <a:lnSpc>
                <a:spcPct val="90000"/>
              </a:lnSpc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；的编码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(24)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－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 dirty="0"/>
              <a:t>邓伏虎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3.2 </a:t>
            </a:r>
            <a:r>
              <a:rPr lang="zh-CN" altLang="en-US" sz="3600" b="1" dirty="0">
                <a:latin typeface="+mn-ea"/>
                <a:ea typeface="+mn-ea"/>
              </a:rPr>
              <a:t>单词的识别</a:t>
            </a:r>
            <a:endParaRPr lang="en-US" sz="3600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4" name="AutoShape 4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292561" y="5321652"/>
            <a:ext cx="877252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45" name="Rectangle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95736" y="5321652"/>
            <a:ext cx="530225" cy="53975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solidFill>
                <a:srgbClr val="FFFF00"/>
              </a:solidFill>
            </a:endParaRPr>
          </a:p>
        </p:txBody>
      </p:sp>
      <p:sp>
        <p:nvSpPr>
          <p:cNvPr id="1046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25961" y="5321652"/>
            <a:ext cx="530225" cy="53975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47" name="Rectangle 8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356186" y="5321652"/>
            <a:ext cx="531813" cy="53975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48" name="Rectangle 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87999" y="5321652"/>
            <a:ext cx="528638" cy="53975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49" name="Rectangle 10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16636" y="5321652"/>
            <a:ext cx="530225" cy="53975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50" name="Rectangle 1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946861" y="5321652"/>
            <a:ext cx="528638" cy="53975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51" name="Rectangle 12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475499" y="5321652"/>
            <a:ext cx="530225" cy="53975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52" name="Rectangle 13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005724" y="5321652"/>
            <a:ext cx="530225" cy="53975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53" name="Rectangle 14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535949" y="5321652"/>
            <a:ext cx="531813" cy="53975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54" name="Rectangle 15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067761" y="5321652"/>
            <a:ext cx="528638" cy="5397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55" name="Rectangle 16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596399" y="5321652"/>
            <a:ext cx="530225" cy="5397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56" name="Rectangle 17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126624" y="5321652"/>
            <a:ext cx="530225" cy="5397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57" name="Rectangle 18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656849" y="5321652"/>
            <a:ext cx="528638" cy="5397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58" name="Rectangle 19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7185486" y="5321652"/>
            <a:ext cx="819150" cy="5397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59" name="Rectangle 20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8004636" y="5321652"/>
            <a:ext cx="528638" cy="5397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60" name="Rectangle 21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8533274" y="5321652"/>
            <a:ext cx="530225" cy="5397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61" name="Line 22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>
            <a:off x="825961" y="5315302"/>
            <a:ext cx="0" cy="55245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62" name="Line 23"/>
          <p:cNvSpPr>
            <a:spLocks noChangeShapeType="1"/>
          </p:cNvSpPr>
          <p:nvPr>
            <p:custDataLst>
              <p:tags r:id="rId19"/>
            </p:custDataLst>
          </p:nvPr>
        </p:nvSpPr>
        <p:spPr bwMode="auto">
          <a:xfrm>
            <a:off x="1356186" y="5315302"/>
            <a:ext cx="0" cy="55245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63" name="Line 24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>
            <a:off x="1887999" y="5315302"/>
            <a:ext cx="0" cy="55245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64" name="Line 25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>
            <a:off x="2416636" y="5315302"/>
            <a:ext cx="0" cy="55245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65" name="Line 26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>
            <a:off x="2946861" y="5315302"/>
            <a:ext cx="0" cy="55245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66" name="Line 27"/>
          <p:cNvSpPr>
            <a:spLocks noChangeShapeType="1"/>
          </p:cNvSpPr>
          <p:nvPr>
            <p:custDataLst>
              <p:tags r:id="rId23"/>
            </p:custDataLst>
          </p:nvPr>
        </p:nvSpPr>
        <p:spPr bwMode="auto">
          <a:xfrm>
            <a:off x="3475499" y="5315302"/>
            <a:ext cx="0" cy="55245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67" name="Line 28"/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>
            <a:off x="4005724" y="5315302"/>
            <a:ext cx="0" cy="55245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68" name="Line 29"/>
          <p:cNvSpPr>
            <a:spLocks noChangeShapeType="1"/>
          </p:cNvSpPr>
          <p:nvPr>
            <p:custDataLst>
              <p:tags r:id="rId25"/>
            </p:custDataLst>
          </p:nvPr>
        </p:nvSpPr>
        <p:spPr bwMode="auto">
          <a:xfrm>
            <a:off x="4535949" y="5315302"/>
            <a:ext cx="0" cy="55245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69" name="Line 30"/>
          <p:cNvSpPr>
            <a:spLocks noChangeShapeType="1"/>
          </p:cNvSpPr>
          <p:nvPr>
            <p:custDataLst>
              <p:tags r:id="rId26"/>
            </p:custDataLst>
          </p:nvPr>
        </p:nvSpPr>
        <p:spPr bwMode="auto">
          <a:xfrm>
            <a:off x="5067761" y="5315302"/>
            <a:ext cx="0" cy="55245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70" name="Line 31"/>
          <p:cNvSpPr>
            <a:spLocks noChangeShapeType="1"/>
          </p:cNvSpPr>
          <p:nvPr>
            <p:custDataLst>
              <p:tags r:id="rId27"/>
            </p:custDataLst>
          </p:nvPr>
        </p:nvSpPr>
        <p:spPr bwMode="auto">
          <a:xfrm>
            <a:off x="5596399" y="5315302"/>
            <a:ext cx="0" cy="55245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71" name="Line 32"/>
          <p:cNvSpPr>
            <a:spLocks noChangeShapeType="1"/>
          </p:cNvSpPr>
          <p:nvPr>
            <p:custDataLst>
              <p:tags r:id="rId28"/>
            </p:custDataLst>
          </p:nvPr>
        </p:nvSpPr>
        <p:spPr bwMode="auto">
          <a:xfrm>
            <a:off x="6126624" y="5315302"/>
            <a:ext cx="0" cy="55245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72" name="Line 33"/>
          <p:cNvSpPr>
            <a:spLocks noChangeShapeType="1"/>
          </p:cNvSpPr>
          <p:nvPr>
            <p:custDataLst>
              <p:tags r:id="rId29"/>
            </p:custDataLst>
          </p:nvPr>
        </p:nvSpPr>
        <p:spPr bwMode="auto">
          <a:xfrm>
            <a:off x="6656849" y="5315302"/>
            <a:ext cx="0" cy="55245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73" name="Line 34"/>
          <p:cNvSpPr>
            <a:spLocks noChangeShapeType="1"/>
          </p:cNvSpPr>
          <p:nvPr>
            <p:custDataLst>
              <p:tags r:id="rId30"/>
            </p:custDataLst>
          </p:nvPr>
        </p:nvSpPr>
        <p:spPr bwMode="auto">
          <a:xfrm>
            <a:off x="7185486" y="5315302"/>
            <a:ext cx="0" cy="55245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74" name="Line 35"/>
          <p:cNvSpPr>
            <a:spLocks noChangeShapeType="1"/>
          </p:cNvSpPr>
          <p:nvPr>
            <p:custDataLst>
              <p:tags r:id="rId31"/>
            </p:custDataLst>
          </p:nvPr>
        </p:nvSpPr>
        <p:spPr bwMode="auto">
          <a:xfrm>
            <a:off x="8004636" y="5315302"/>
            <a:ext cx="0" cy="55245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75" name="Line 36"/>
          <p:cNvSpPr>
            <a:spLocks noChangeShapeType="1"/>
          </p:cNvSpPr>
          <p:nvPr>
            <p:custDataLst>
              <p:tags r:id="rId32"/>
            </p:custDataLst>
          </p:nvPr>
        </p:nvSpPr>
        <p:spPr bwMode="auto">
          <a:xfrm>
            <a:off x="8533274" y="5315302"/>
            <a:ext cx="0" cy="55245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76" name="Line 37"/>
          <p:cNvSpPr>
            <a:spLocks noChangeShapeType="1"/>
          </p:cNvSpPr>
          <p:nvPr>
            <p:custDataLst>
              <p:tags r:id="rId33"/>
            </p:custDataLst>
          </p:nvPr>
        </p:nvSpPr>
        <p:spPr bwMode="auto">
          <a:xfrm>
            <a:off x="295736" y="5315302"/>
            <a:ext cx="0" cy="55245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77" name="Line 38"/>
          <p:cNvSpPr>
            <a:spLocks noChangeShapeType="1"/>
          </p:cNvSpPr>
          <p:nvPr>
            <p:custDataLst>
              <p:tags r:id="rId34"/>
            </p:custDataLst>
          </p:nvPr>
        </p:nvSpPr>
        <p:spPr bwMode="auto">
          <a:xfrm>
            <a:off x="9063499" y="5315302"/>
            <a:ext cx="0" cy="55245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78" name="Line 39"/>
          <p:cNvSpPr>
            <a:spLocks noChangeShapeType="1"/>
          </p:cNvSpPr>
          <p:nvPr>
            <p:custDataLst>
              <p:tags r:id="rId35"/>
            </p:custDataLst>
          </p:nvPr>
        </p:nvSpPr>
        <p:spPr bwMode="auto">
          <a:xfrm>
            <a:off x="289386" y="5321652"/>
            <a:ext cx="8780463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79" name="Line 40"/>
          <p:cNvSpPr>
            <a:spLocks noChangeShapeType="1"/>
          </p:cNvSpPr>
          <p:nvPr>
            <p:custDataLst>
              <p:tags r:id="rId36"/>
            </p:custDataLst>
          </p:nvPr>
        </p:nvSpPr>
        <p:spPr bwMode="auto">
          <a:xfrm>
            <a:off x="289386" y="5861402"/>
            <a:ext cx="8780463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80" name="Rectangle 41"/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468774" y="5451827"/>
            <a:ext cx="3048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Arial" panose="020B0604020202020204" pitchFamily="34" charset="0"/>
              </a:rPr>
              <a:t>w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1" name="Rectangle 42"/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1018049" y="5451827"/>
            <a:ext cx="2667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Arial" panose="020B0604020202020204" pitchFamily="34" charset="0"/>
              </a:rPr>
              <a:t>h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2" name="Rectangle 43"/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1584786" y="5451827"/>
            <a:ext cx="1905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3" name="Rectangle 44"/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2116599" y="5451827"/>
            <a:ext cx="1905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Arial" panose="020B0604020202020204" pitchFamily="34" charset="0"/>
              </a:rPr>
              <a:t>l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4" name="Rectangle 45"/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2627774" y="5451827"/>
            <a:ext cx="2381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Arial" panose="020B0604020202020204" pitchFamily="34" charset="0"/>
              </a:rPr>
              <a:t>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5" name="Rectangle 46"/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3696161" y="5451827"/>
            <a:ext cx="2000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6" name="Rectangle 47"/>
          <p:cNvSpPr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4173354" y="5451827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7" name="Rectangle 48"/>
          <p:cNvSpPr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4735974" y="5451827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Rectangle 49"/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5258261" y="5451827"/>
            <a:ext cx="14587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ctangle 50"/>
          <p:cNvSpPr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5817061" y="5451827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ectangle 52"/>
          <p:cNvSpPr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6356811" y="5451827"/>
            <a:ext cx="769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8" name="Rectangle 53"/>
          <p:cNvSpPr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6837824" y="5451827"/>
            <a:ext cx="1905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Arial" panose="020B0604020202020204" pitchFamily="34" charset="0"/>
              </a:rPr>
              <a:t>\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Rectangle 54"/>
          <p:cNvSpPr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6914024" y="5451827"/>
            <a:ext cx="14266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Rectangle 55"/>
          <p:cNvSpPr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7453774" y="5451827"/>
            <a:ext cx="4191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Arial" panose="020B0604020202020204" pitchFamily="34" charset="0"/>
              </a:rPr>
              <a:t>++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Rectangle 56"/>
          <p:cNvSpPr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8204661" y="5451827"/>
            <a:ext cx="246063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Arial" panose="020B0604020202020204" pitchFamily="34" charset="0"/>
              </a:rPr>
              <a:t>a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Rectangle 57"/>
          <p:cNvSpPr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8753936" y="5451827"/>
            <a:ext cx="2000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Arial" panose="020B0604020202020204" pitchFamily="34" charset="0"/>
              </a:rPr>
              <a:t>;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0" name="组合 89"/>
          <p:cNvGrpSpPr/>
          <p:nvPr/>
        </p:nvGrpSpPr>
        <p:grpSpPr>
          <a:xfrm>
            <a:off x="321488" y="3521452"/>
            <a:ext cx="1835642" cy="966639"/>
            <a:chOff x="1005809" y="2811463"/>
            <a:chExt cx="3379788" cy="1440160"/>
          </a:xfrm>
        </p:grpSpPr>
        <p:sp>
          <p:nvSpPr>
            <p:cNvPr id="89" name="椭圆形标注 88"/>
            <p:cNvSpPr/>
            <p:nvPr>
              <p:custDataLst>
                <p:tags r:id="rId63"/>
              </p:custDataLst>
            </p:nvPr>
          </p:nvSpPr>
          <p:spPr>
            <a:xfrm>
              <a:off x="1005809" y="2811463"/>
              <a:ext cx="3379788" cy="1440160"/>
            </a:xfrm>
            <a:prstGeom prst="wedgeEllipseCallout">
              <a:avLst>
                <a:gd name="adj1" fmla="val -51045"/>
                <a:gd name="adj2" fmla="val 13657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TextBox 36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1523680" y="3165404"/>
              <a:ext cx="2206211" cy="6858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1pPr>
              <a:lvl2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2pPr>
              <a:lvl3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3pPr>
              <a:lvl4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4pPr>
              <a:lvl5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5pPr>
              <a:lvl6pPr marL="2514600" indent="-228600" defTabSz="449580" fontAlgn="base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6pPr>
              <a:lvl7pPr marL="2971800" indent="-228600" defTabSz="449580" fontAlgn="base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7pPr>
              <a:lvl8pPr marL="3429000" indent="-228600" defTabSz="449580" fontAlgn="base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8pPr>
              <a:lvl9pPr marL="3886200" indent="-228600" defTabSz="449580" fontAlgn="base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9pPr>
            </a:lstStyle>
            <a:p>
              <a:pPr hangingPunct="0"/>
              <a:r>
                <a:rPr lang="en-US" altLang="zh-CN" sz="2400" dirty="0" err="1">
                  <a:latin typeface="Times New Roman" panose="02020603050405020304" pitchFamily="18" charset="0"/>
                  <a:ea typeface="楷体_GB2312" pitchFamily="1" charset="-122"/>
                  <a:cs typeface="Times New Roman" panose="02020603050405020304" pitchFamily="18" charset="0"/>
                </a:rPr>
                <a:t>T_while</a:t>
              </a:r>
              <a:endPara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91" name="矩形 90"/>
          <p:cNvSpPr/>
          <p:nvPr>
            <p:custDataLst>
              <p:tags r:id="rId53"/>
            </p:custDataLst>
          </p:nvPr>
        </p:nvSpPr>
        <p:spPr>
          <a:xfrm>
            <a:off x="2627774" y="960240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hangingPunct="0"/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源程序中的一个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独立单位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95" name="组合 94"/>
          <p:cNvGrpSpPr/>
          <p:nvPr/>
        </p:nvGrpSpPr>
        <p:grpSpPr>
          <a:xfrm>
            <a:off x="353681" y="764650"/>
            <a:ext cx="2062956" cy="914400"/>
            <a:chOff x="4763120" y="2811463"/>
            <a:chExt cx="2062956" cy="914400"/>
          </a:xfrm>
        </p:grpSpPr>
        <p:sp>
          <p:nvSpPr>
            <p:cNvPr id="94" name="椭圆 93"/>
            <p:cNvSpPr/>
            <p:nvPr>
              <p:custDataLst>
                <p:tags r:id="rId61"/>
              </p:custDataLst>
            </p:nvPr>
          </p:nvSpPr>
          <p:spPr>
            <a:xfrm>
              <a:off x="4763120" y="2811463"/>
              <a:ext cx="2062956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TextBox 91"/>
            <p:cNvSpPr txBox="1"/>
            <p:nvPr>
              <p:custDataLst>
                <p:tags r:id="rId62"/>
              </p:custDataLst>
            </p:nvPr>
          </p:nvSpPr>
          <p:spPr>
            <a:xfrm>
              <a:off x="5148064" y="2988241"/>
              <a:ext cx="1192530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Token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7" name="组合 166"/>
          <p:cNvGrpSpPr/>
          <p:nvPr/>
        </p:nvGrpSpPr>
        <p:grpSpPr>
          <a:xfrm>
            <a:off x="2946861" y="1937276"/>
            <a:ext cx="2047081" cy="799710"/>
            <a:chOff x="1005809" y="2115154"/>
            <a:chExt cx="3379788" cy="2136469"/>
          </a:xfrm>
        </p:grpSpPr>
        <p:sp>
          <p:nvSpPr>
            <p:cNvPr id="168" name="椭圆形标注 167"/>
            <p:cNvSpPr/>
            <p:nvPr>
              <p:custDataLst>
                <p:tags r:id="rId59"/>
              </p:custDataLst>
            </p:nvPr>
          </p:nvSpPr>
          <p:spPr>
            <a:xfrm>
              <a:off x="1005809" y="2115154"/>
              <a:ext cx="3379788" cy="2136469"/>
            </a:xfrm>
            <a:prstGeom prst="wedgeEllipseCallout">
              <a:avLst>
                <a:gd name="adj1" fmla="val -11588"/>
                <a:gd name="adj2" fmla="val 37020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TextBox 36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2098859" y="2640932"/>
              <a:ext cx="813037" cy="628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1pPr>
              <a:lvl2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2pPr>
              <a:lvl3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3pPr>
              <a:lvl4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4pPr>
              <a:lvl5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5pPr>
              <a:lvl6pPr marL="2514600" indent="-228600" defTabSz="449580" fontAlgn="base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6pPr>
              <a:lvl7pPr marL="2971800" indent="-228600" defTabSz="449580" fontAlgn="base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7pPr>
              <a:lvl8pPr marL="3429000" indent="-228600" defTabSz="449580" fontAlgn="base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8pPr>
              <a:lvl9pPr marL="3886200" indent="-228600" defTabSz="449580" fontAlgn="base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9pPr>
            </a:lstStyle>
            <a:p>
              <a:pPr hangingPunct="0"/>
              <a:r>
                <a:rPr lang="zh-CN" altLang="en-US" sz="2400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（</a:t>
              </a:r>
              <a:endParaRPr lang="en-US" altLang="zh-CN" sz="4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pSp>
        <p:nvGrpSpPr>
          <p:cNvPr id="164" name="组合 163"/>
          <p:cNvGrpSpPr/>
          <p:nvPr/>
        </p:nvGrpSpPr>
        <p:grpSpPr>
          <a:xfrm>
            <a:off x="2229138" y="3521452"/>
            <a:ext cx="2047081" cy="1057936"/>
            <a:chOff x="1005809" y="2811463"/>
            <a:chExt cx="3379788" cy="1440160"/>
          </a:xfrm>
        </p:grpSpPr>
        <p:sp>
          <p:nvSpPr>
            <p:cNvPr id="165" name="椭圆形标注 164"/>
            <p:cNvSpPr/>
            <p:nvPr>
              <p:custDataLst>
                <p:tags r:id="rId57"/>
              </p:custDataLst>
            </p:nvPr>
          </p:nvSpPr>
          <p:spPr>
            <a:xfrm>
              <a:off x="1005809" y="2811463"/>
              <a:ext cx="3379788" cy="1440160"/>
            </a:xfrm>
            <a:prstGeom prst="wedgeEllipseCallout">
              <a:avLst>
                <a:gd name="adj1" fmla="val -3399"/>
                <a:gd name="adj2" fmla="val 12217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TextBox 36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1600245" y="3203559"/>
              <a:ext cx="1837272" cy="628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1pPr>
              <a:lvl2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2pPr>
              <a:lvl3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3pPr>
              <a:lvl4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4pPr>
              <a:lvl5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5pPr>
              <a:lvl6pPr marL="2514600" indent="-228600" defTabSz="449580" fontAlgn="base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6pPr>
              <a:lvl7pPr marL="2971800" indent="-228600" defTabSz="449580" fontAlgn="base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7pPr>
              <a:lvl8pPr marL="3429000" indent="-228600" defTabSz="449580" fontAlgn="base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8pPr>
              <a:lvl9pPr marL="3886200" indent="-228600" defTabSz="449580" fontAlgn="base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9pPr>
            </a:lstStyle>
            <a:p>
              <a:pPr hangingPunct="0"/>
              <a:r>
                <a:rPr lang="zh-CN" altLang="en-US" sz="2400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不记录</a:t>
              </a:r>
              <a:endParaRPr lang="en-US" altLang="zh-CN" sz="4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pSp>
        <p:nvGrpSpPr>
          <p:cNvPr id="170" name="组合 169"/>
          <p:cNvGrpSpPr/>
          <p:nvPr/>
        </p:nvGrpSpPr>
        <p:grpSpPr>
          <a:xfrm>
            <a:off x="4893532" y="3006900"/>
            <a:ext cx="2047081" cy="1057936"/>
            <a:chOff x="1005809" y="2811463"/>
            <a:chExt cx="3379788" cy="1440160"/>
          </a:xfrm>
        </p:grpSpPr>
        <p:sp>
          <p:nvSpPr>
            <p:cNvPr id="171" name="椭圆形标注 170"/>
            <p:cNvSpPr/>
            <p:nvPr>
              <p:custDataLst>
                <p:tags r:id="rId55"/>
              </p:custDataLst>
            </p:nvPr>
          </p:nvSpPr>
          <p:spPr>
            <a:xfrm>
              <a:off x="1005809" y="2811463"/>
              <a:ext cx="3379788" cy="1440160"/>
            </a:xfrm>
            <a:prstGeom prst="wedgeEllipseCallout">
              <a:avLst>
                <a:gd name="adj1" fmla="val -77102"/>
                <a:gd name="adj2" fmla="val 16394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TextBox 36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1600245" y="3203559"/>
              <a:ext cx="2593748" cy="626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1pPr>
              <a:lvl2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2pPr>
              <a:lvl3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3pPr>
              <a:lvl4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4pPr>
              <a:lvl5pPr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5pPr>
              <a:lvl6pPr marL="2514600" indent="-228600" defTabSz="449580" fontAlgn="base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6pPr>
              <a:lvl7pPr marL="2971800" indent="-228600" defTabSz="449580" fontAlgn="base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7pPr>
              <a:lvl8pPr marL="3429000" indent="-228600" defTabSz="449580" fontAlgn="base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8pPr>
              <a:lvl9pPr marL="3886200" indent="-228600" defTabSz="449580" fontAlgn="base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SzPct val="100000"/>
                <a:buFont typeface="Times New Roman" panose="02020603050405020304" pitchFamily="18" charset="0"/>
                <a:defRPr>
                  <a:solidFill>
                    <a:srgbClr val="000000"/>
                  </a:solidFill>
                  <a:latin typeface="Arial" panose="020B0604020202020204" pitchFamily="34" charset="0"/>
                  <a:ea typeface="方正书宋_GBK" charset="-122"/>
                </a:defRPr>
              </a:lvl9pPr>
            </a:lstStyle>
            <a:p>
              <a:pPr hangingPunct="0"/>
              <a:r>
                <a:rPr lang="en-US" altLang="zh-CN" sz="2400" dirty="0" err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T_IntConst</a:t>
              </a:r>
              <a:endPara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73" name="矩形 172"/>
          <p:cNvSpPr/>
          <p:nvPr>
            <p:custDataLst>
              <p:tags r:id="rId54"/>
            </p:custDataLst>
          </p:nvPr>
        </p:nvSpPr>
        <p:spPr>
          <a:xfrm>
            <a:off x="6706185" y="2475376"/>
            <a:ext cx="21379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属性    数值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200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BD078"/>
                                      </p:to>
                                    </p:animClr>
                                    <p:set>
                                      <p:cBhvr>
                                        <p:cTn id="32" dur="200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200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BD078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20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BD078"/>
                                      </p:to>
                                    </p:animClr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20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20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BD078"/>
                                      </p:to>
                                    </p:animClr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2000" fill="hold"/>
                                        <p:tgtEl>
                                          <p:spTgt spid="10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BD078"/>
                                      </p:to>
                                    </p:animClr>
                                    <p:set>
                                      <p:cBhvr>
                                        <p:cTn id="48" dur="2000" fill="hold"/>
                                        <p:tgtEl>
                                          <p:spTgt spid="10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10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4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2000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BD078"/>
                                      </p:to>
                                    </p:animClr>
                                    <p:set>
                                      <p:cBhvr>
                                        <p:cTn id="84" dur="2000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2000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0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200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BD078"/>
                                      </p:to>
                                    </p:animClr>
                                    <p:set>
                                      <p:cBhvr>
                                        <p:cTn id="105" dur="200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" dur="200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2000" fill="hold"/>
                                        <p:tgtEl>
                                          <p:spTgt spid="10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BD078"/>
                                      </p:to>
                                    </p:animClr>
                                    <p:set>
                                      <p:cBhvr>
                                        <p:cTn id="109" dur="2000" fill="hold"/>
                                        <p:tgtEl>
                                          <p:spTgt spid="10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" dur="2000" fill="hold"/>
                                        <p:tgtEl>
                                          <p:spTgt spid="10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5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5" grpId="0" bldLvl="0" animBg="1"/>
      <p:bldP spid="1045" grpId="1" bldLvl="0" animBg="1"/>
      <p:bldP spid="1046" grpId="0" bldLvl="0" animBg="1"/>
      <p:bldP spid="1046" grpId="1" bldLvl="0" animBg="1"/>
      <p:bldP spid="1047" grpId="0" bldLvl="0" animBg="1"/>
      <p:bldP spid="1047" grpId="1" bldLvl="0" animBg="1"/>
      <p:bldP spid="1048" grpId="0" bldLvl="0" animBg="1"/>
      <p:bldP spid="1048" grpId="1" bldLvl="0" animBg="1"/>
      <p:bldP spid="1049" grpId="0" bldLvl="0" animBg="1"/>
      <p:bldP spid="1049" grpId="1" bldLvl="0" animBg="1"/>
      <p:bldP spid="1050" grpId="0" bldLvl="0" animBg="1"/>
      <p:bldP spid="1051" grpId="0" bldLvl="0" animBg="1"/>
      <p:bldP spid="1051" grpId="1" bldLvl="0" animBg="1"/>
      <p:bldP spid="1052" grpId="0" bldLvl="0" animBg="1"/>
      <p:bldP spid="1052" grpId="1" bldLvl="0" animBg="1"/>
      <p:bldP spid="1053" grpId="0" bldLvl="0" animBg="1"/>
      <p:bldP spid="1053" grpId="1" bldLvl="0" animBg="1"/>
      <p:bldP spid="91" grpId="0"/>
      <p:bldP spid="17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95000"/>
              </a:lnSpc>
              <a:spcAft>
                <a:spcPts val="1415"/>
              </a:spcAft>
              <a:buNone/>
            </a:pPr>
            <a:r>
              <a:rPr lang="zh-CN" altLang="en-US" dirty="0">
                <a:latin typeface="+mn-ea"/>
              </a:rPr>
              <a:t>难点</a:t>
            </a:r>
            <a:endParaRPr lang="en-US" altLang="zh-CN" dirty="0">
              <a:latin typeface="+mn-ea"/>
            </a:endParaRPr>
          </a:p>
          <a:p>
            <a:pPr marL="0" indent="0">
              <a:lnSpc>
                <a:spcPct val="95000"/>
              </a:lnSpc>
              <a:spcAft>
                <a:spcPts val="1415"/>
              </a:spcAft>
              <a:buNone/>
            </a:pPr>
            <a:r>
              <a:rPr lang="en-US" altLang="zh-CN" sz="2400" dirty="0">
                <a:latin typeface="+mn-ea"/>
              </a:rPr>
              <a:t>C++</a:t>
            </a:r>
            <a:r>
              <a:rPr lang="zh-CN" altLang="en-US" sz="2400" dirty="0">
                <a:latin typeface="+mn-ea"/>
              </a:rPr>
              <a:t>中的嵌套的模板声明</a:t>
            </a:r>
            <a:endParaRPr lang="en-US" altLang="zh-CN" sz="2400" dirty="0">
              <a:latin typeface="+mn-ea"/>
            </a:endParaRPr>
          </a:p>
          <a:p>
            <a:pPr marL="0" indent="0">
              <a:lnSpc>
                <a:spcPct val="95000"/>
              </a:lnSpc>
              <a:spcAft>
                <a:spcPts val="1415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vector</a:t>
            </a:r>
            <a:r>
              <a:rPr lang="en-US" altLang="zh-CN" sz="2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4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myVector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Aft>
                <a:spcPts val="1415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vector&lt; vector&lt;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&gt;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myVector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95000"/>
              </a:lnSpc>
              <a:spcAft>
                <a:spcPts val="1415"/>
              </a:spcAft>
              <a:buNone/>
            </a:pPr>
            <a:r>
              <a:rPr lang="en-US" altLang="zh-CN" sz="2400" dirty="0">
                <a:latin typeface="+mn-ea"/>
              </a:rPr>
              <a:t>PL/1</a:t>
            </a:r>
            <a:r>
              <a:rPr lang="zh-CN" altLang="en-US" sz="2400" dirty="0">
                <a:latin typeface="+mn-ea"/>
              </a:rPr>
              <a:t>中关键字可被用作标识符</a:t>
            </a:r>
            <a:endParaRPr lang="en-US" altLang="zh-CN" sz="2400" dirty="0">
              <a:latin typeface="+mn-ea"/>
            </a:endParaRPr>
          </a:p>
          <a:p>
            <a:pPr marL="0" indent="0">
              <a:lnSpc>
                <a:spcPct val="95000"/>
              </a:lnSpc>
              <a:spcAft>
                <a:spcPts val="1415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IF THEN THEN THEN = ELSE; ELSE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IF</a:t>
            </a:r>
          </a:p>
          <a:p>
            <a:pPr marL="0" indent="0">
              <a:lnSpc>
                <a:spcPct val="95000"/>
              </a:lnSpc>
              <a:spcAft>
                <a:spcPts val="1415"/>
              </a:spcAft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THEN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THEN = ELSE;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IF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 </a:t>
            </a:r>
            <a:r>
              <a:rPr lang="zh-CN" altLang="en-US" dirty="0"/>
              <a:t>单词的识别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词法分析作为一个独立的阶段，是否应当将其处理为一遍呢？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b="1" dirty="0">
                <a:latin typeface="+mn-ea"/>
                <a:ea typeface="+mn-ea"/>
              </a:rPr>
              <a:t>思考</a:t>
            </a:r>
            <a:endParaRPr lang="en-US" sz="3600" b="1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词法分析作为一个独立的阶段，是否应当将其处理为一遍呢？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636905" lvl="1" indent="-457200"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宋体" panose="02010600030101010101" pitchFamily="2" charset="-122"/>
              </a:rPr>
              <a:t>作为独立阶段的优点：结构简洁、清晰和条理化，有利于集中考虑词法分析一些枝节问题。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marL="673100" lvl="1" indent="-457200">
              <a:lnSpc>
                <a:spcPct val="70000"/>
              </a:lnSpc>
              <a:buFont typeface="Wingdings" panose="05000000000000000000" pitchFamily="2" charset="2"/>
              <a:buChar char="Ø"/>
            </a:pPr>
            <a:endParaRPr lang="zh-CN" altLang="en-US" sz="2800" dirty="0">
              <a:latin typeface="宋体" panose="02010600030101010101" pitchFamily="2" charset="-122"/>
            </a:endParaRPr>
          </a:p>
          <a:p>
            <a:pPr marL="673100" lvl="1" indent="-457200">
              <a:lnSpc>
                <a:spcPct val="7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宋体" panose="02010600030101010101" pitchFamily="2" charset="-122"/>
              </a:rPr>
              <a:t>不作为一遍，将其处理为一个子程序。</a:t>
            </a:r>
          </a:p>
          <a:p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b="1" dirty="0">
                <a:latin typeface="+mn-ea"/>
                <a:ea typeface="+mn-ea"/>
              </a:rPr>
              <a:t>思考</a:t>
            </a:r>
            <a:endParaRPr lang="en-US" sz="3600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>
                <a:solidFill>
                  <a:srgbClr val="073E87"/>
                </a:solidFill>
              </a:rPr>
              <a:t>邓伏虎</a:t>
            </a:r>
            <a:endParaRPr lang="zh-CN" altLang="en-US" dirty="0">
              <a:solidFill>
                <a:srgbClr val="073E87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>
                <a:solidFill>
                  <a:srgbClr val="073E87"/>
                </a:solidFill>
              </a:rPr>
              <a:t>信息与软件工程学院</a:t>
            </a:r>
            <a:endParaRPr lang="zh-CN" altLang="en-US" dirty="0">
              <a:solidFill>
                <a:srgbClr val="073E87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73E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zh-CN" altLang="en-US">
              <a:solidFill>
                <a:srgbClr val="073E8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b="1" dirty="0">
                <a:latin typeface="+mn-ea"/>
                <a:ea typeface="+mn-ea"/>
              </a:rPr>
              <a:t>词法分析器与语法分析器</a:t>
            </a:r>
            <a:endParaRPr lang="en-US" sz="3600" b="1" dirty="0">
              <a:latin typeface="+mn-ea"/>
              <a:ea typeface="+mn-ea"/>
            </a:endParaRPr>
          </a:p>
        </p:txBody>
      </p:sp>
      <p:grpSp>
        <p:nvGrpSpPr>
          <p:cNvPr id="8" name="Group 18"/>
          <p:cNvGrpSpPr/>
          <p:nvPr/>
        </p:nvGrpSpPr>
        <p:grpSpPr bwMode="auto">
          <a:xfrm>
            <a:off x="2231818" y="2352649"/>
            <a:ext cx="5428267" cy="3258360"/>
            <a:chOff x="1344" y="1392"/>
            <a:chExt cx="3102" cy="1862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344" y="1392"/>
              <a:ext cx="912" cy="76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9208" tIns="51588" rIns="99208" bIns="51588" anchor="ctr"/>
            <a:lstStyle/>
            <a:p>
              <a:pPr algn="ctr"/>
              <a:r>
                <a:rPr kumimoji="1" lang="zh-CN" altLang="en-US" sz="2800" b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词法分</a:t>
              </a:r>
            </a:p>
            <a:p>
              <a:pPr algn="ctr"/>
              <a:r>
                <a:rPr kumimoji="1" lang="zh-CN" altLang="en-US" sz="2800" b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析器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3534" y="1440"/>
              <a:ext cx="912" cy="76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9208" tIns="51588" rIns="99208" bIns="51588" anchor="ctr"/>
            <a:lstStyle/>
            <a:p>
              <a:pPr algn="ctr"/>
              <a:r>
                <a:rPr kumimoji="1" lang="zh-CN" altLang="en-US" sz="2800" b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语法分</a:t>
              </a:r>
            </a:p>
            <a:p>
              <a:pPr algn="ctr"/>
              <a:r>
                <a:rPr kumimoji="1" lang="zh-CN" altLang="en-US" sz="2800" b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析器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2311" y="2774"/>
              <a:ext cx="1344" cy="480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9208" tIns="51588" rIns="99208" bIns="51588" anchor="ctr"/>
            <a:lstStyle/>
            <a:p>
              <a:pPr algn="ctr"/>
              <a:r>
                <a:rPr kumimoji="1" lang="zh-CN" altLang="en-US" sz="2800" b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符号表</a:t>
              </a:r>
            </a:p>
          </p:txBody>
        </p:sp>
      </p:grp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552450" y="2229485"/>
            <a:ext cx="1680210" cy="756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208" tIns="51588" rIns="99208" bIns="51588" anchor="ctr"/>
          <a:lstStyle/>
          <a:p>
            <a:pPr algn="ctr"/>
            <a:r>
              <a:rPr kumimoji="1" lang="zh-CN" altLang="en-US" sz="28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源程序</a:t>
            </a: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720090" y="3068955"/>
            <a:ext cx="1511935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208" tIns="51588" rIns="99208" bIns="51588" anchor="ctr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4231640" y="2184400"/>
            <a:ext cx="1441450" cy="784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208" tIns="51588" rIns="99208" bIns="51588" anchor="ctr"/>
          <a:lstStyle/>
          <a:p>
            <a:pPr algn="ctr"/>
            <a:r>
              <a:rPr kumimoji="1" lang="zh-CN" altLang="en-US" sz="28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单词流</a:t>
            </a:r>
          </a:p>
        </p:txBody>
      </p:sp>
      <p:sp>
        <p:nvSpPr>
          <p:cNvPr id="17" name="Line 12"/>
          <p:cNvSpPr>
            <a:spLocks noChangeShapeType="1"/>
          </p:cNvSpPr>
          <p:nvPr/>
        </p:nvSpPr>
        <p:spPr bwMode="auto">
          <a:xfrm flipV="1">
            <a:off x="3815715" y="2986405"/>
            <a:ext cx="2240915" cy="63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208" tIns="51588" rIns="99208" bIns="51588" anchor="ctr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2" name="Line 14"/>
          <p:cNvSpPr>
            <a:spLocks noChangeShapeType="1"/>
          </p:cNvSpPr>
          <p:nvPr/>
        </p:nvSpPr>
        <p:spPr bwMode="auto">
          <a:xfrm>
            <a:off x="2927350" y="3696335"/>
            <a:ext cx="996315" cy="149796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208" tIns="51588" rIns="99208" bIns="51588" anchor="ctr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3" name="Line 15"/>
          <p:cNvSpPr>
            <a:spLocks noChangeShapeType="1"/>
          </p:cNvSpPr>
          <p:nvPr/>
        </p:nvSpPr>
        <p:spPr bwMode="auto">
          <a:xfrm flipH="1">
            <a:off x="6275070" y="3787775"/>
            <a:ext cx="631825" cy="140716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208" tIns="51588" rIns="99208" bIns="51588" anchor="ctr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5" name="Line 16"/>
          <p:cNvSpPr>
            <a:spLocks noChangeShapeType="1"/>
          </p:cNvSpPr>
          <p:nvPr/>
        </p:nvSpPr>
        <p:spPr bwMode="auto">
          <a:xfrm>
            <a:off x="7668260" y="3024505"/>
            <a:ext cx="840105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208" tIns="51588" rIns="99208" bIns="51588" anchor="ctr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6" name="Rectangle 17"/>
          <p:cNvSpPr>
            <a:spLocks noChangeArrowheads="1"/>
          </p:cNvSpPr>
          <p:nvPr/>
        </p:nvSpPr>
        <p:spPr bwMode="auto">
          <a:xfrm>
            <a:off x="8413115" y="2493010"/>
            <a:ext cx="923925" cy="756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9208" tIns="51588" rIns="99208" bIns="51588" anchor="ctr"/>
          <a:lstStyle/>
          <a:p>
            <a:pPr algn="ctr"/>
            <a:r>
              <a:rPr kumimoji="1" lang="en-US" altLang="zh-CN" sz="3525" b="1">
                <a:solidFill>
                  <a:prstClr val="black"/>
                </a:solidFill>
                <a:latin typeface="Times New Roman" panose="02020603050405020304" pitchFamily="18" charset="0"/>
              </a:rPr>
              <a:t>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>
                <a:solidFill>
                  <a:srgbClr val="073E87"/>
                </a:solidFill>
              </a:rPr>
              <a:t>邓伏虎</a:t>
            </a:r>
            <a:endParaRPr lang="zh-CN" altLang="en-US" dirty="0">
              <a:solidFill>
                <a:srgbClr val="073E87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>
                <a:solidFill>
                  <a:srgbClr val="073E87"/>
                </a:solidFill>
              </a:rPr>
              <a:t>信息与软件工程学院</a:t>
            </a:r>
            <a:endParaRPr lang="zh-CN" altLang="en-US" dirty="0">
              <a:solidFill>
                <a:srgbClr val="073E87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73E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zh-CN" altLang="en-US">
              <a:solidFill>
                <a:srgbClr val="073E8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b="1" dirty="0">
                <a:latin typeface="+mn-ea"/>
                <a:ea typeface="+mn-ea"/>
              </a:rPr>
              <a:t>词法分析器与语法分析器</a:t>
            </a:r>
            <a:endParaRPr lang="en-US" sz="3600" b="1" dirty="0">
              <a:latin typeface="+mn-ea"/>
              <a:ea typeface="+mn-ea"/>
            </a:endParaRPr>
          </a:p>
        </p:txBody>
      </p:sp>
      <p:grpSp>
        <p:nvGrpSpPr>
          <p:cNvPr id="8" name="Group 18"/>
          <p:cNvGrpSpPr/>
          <p:nvPr/>
        </p:nvGrpSpPr>
        <p:grpSpPr bwMode="auto">
          <a:xfrm>
            <a:off x="1878123" y="2558389"/>
            <a:ext cx="5795751" cy="3443852"/>
            <a:chOff x="1344" y="1392"/>
            <a:chExt cx="3312" cy="1968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344" y="1392"/>
              <a:ext cx="912" cy="76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9208" tIns="51588" rIns="99208" bIns="51588" anchor="ctr"/>
            <a:lstStyle/>
            <a:p>
              <a:pPr algn="ctr"/>
              <a:r>
                <a:rPr kumimoji="1" lang="zh-CN" altLang="en-US" sz="2800" b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词法分</a:t>
              </a:r>
            </a:p>
            <a:p>
              <a:pPr algn="ctr"/>
              <a:r>
                <a:rPr kumimoji="1" lang="zh-CN" altLang="en-US" sz="2800" b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析器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3744" y="1440"/>
              <a:ext cx="912" cy="768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9208" tIns="51588" rIns="99208" bIns="51588" anchor="ctr"/>
            <a:lstStyle/>
            <a:p>
              <a:pPr algn="ctr"/>
              <a:r>
                <a:rPr kumimoji="1" lang="zh-CN" altLang="en-US" sz="2800" b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语法分</a:t>
              </a:r>
            </a:p>
            <a:p>
              <a:pPr algn="ctr"/>
              <a:r>
                <a:rPr kumimoji="1" lang="zh-CN" altLang="en-US" sz="2800" b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析器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2352" y="2880"/>
              <a:ext cx="1344" cy="480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9208" tIns="51588" rIns="99208" bIns="51588" anchor="ctr"/>
            <a:lstStyle/>
            <a:p>
              <a:pPr algn="ctr"/>
              <a:r>
                <a:rPr kumimoji="1" lang="zh-CN" altLang="en-US" sz="2800" b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符号表</a:t>
              </a:r>
            </a:p>
          </p:txBody>
        </p:sp>
      </p:grpSp>
      <p:grpSp>
        <p:nvGrpSpPr>
          <p:cNvPr id="12" name="Group 19"/>
          <p:cNvGrpSpPr/>
          <p:nvPr/>
        </p:nvGrpSpPr>
        <p:grpSpPr bwMode="auto">
          <a:xfrm>
            <a:off x="208695" y="2603888"/>
            <a:ext cx="1679928" cy="839964"/>
            <a:chOff x="384" y="1392"/>
            <a:chExt cx="960" cy="480"/>
          </a:xfrm>
        </p:grpSpPr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384" y="1392"/>
              <a:ext cx="960" cy="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9208" tIns="51588" rIns="99208" bIns="51588" anchor="ctr"/>
            <a:lstStyle/>
            <a:p>
              <a:pPr algn="ctr"/>
              <a:r>
                <a:rPr kumimoji="1" lang="zh-CN" altLang="en-US" sz="2800" b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源程序</a:t>
              </a:r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480" y="1872"/>
              <a:ext cx="86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9208" tIns="51588" rIns="99208" bIns="51588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5" name="Group 21"/>
          <p:cNvGrpSpPr/>
          <p:nvPr/>
        </p:nvGrpSpPr>
        <p:grpSpPr bwMode="auto">
          <a:xfrm>
            <a:off x="3484554" y="2183906"/>
            <a:ext cx="2603888" cy="839964"/>
            <a:chOff x="2256" y="1152"/>
            <a:chExt cx="1488" cy="480"/>
          </a:xfrm>
        </p:grpSpPr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2496" y="1152"/>
              <a:ext cx="960" cy="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9208" tIns="51588" rIns="99208" bIns="51588" anchor="ctr"/>
            <a:lstStyle/>
            <a:p>
              <a:pPr algn="ctr"/>
              <a:r>
                <a:rPr kumimoji="1" lang="zh-CN" altLang="en-US" sz="2800" b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返回一个单词</a:t>
              </a:r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2256" y="1632"/>
              <a:ext cx="148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9208" tIns="51588" rIns="99208" bIns="51588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8" name="Group 20"/>
          <p:cNvGrpSpPr/>
          <p:nvPr/>
        </p:nvGrpSpPr>
        <p:grpSpPr bwMode="auto">
          <a:xfrm>
            <a:off x="3484554" y="3611844"/>
            <a:ext cx="2603888" cy="755968"/>
            <a:chOff x="2256" y="1968"/>
            <a:chExt cx="1488" cy="432"/>
          </a:xfrm>
        </p:grpSpPr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2304" y="1968"/>
              <a:ext cx="1440" cy="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9208" tIns="51588" rIns="99208" bIns="51588" anchor="ctr"/>
            <a:lstStyle/>
            <a:p>
              <a:pPr algn="ctr"/>
              <a:r>
                <a:rPr kumimoji="1" lang="zh-CN" altLang="en-US" sz="2800" b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取下一单词</a:t>
              </a:r>
            </a:p>
          </p:txBody>
        </p:sp>
        <p:sp>
          <p:nvSpPr>
            <p:cNvPr id="20" name="Line 13"/>
            <p:cNvSpPr>
              <a:spLocks noChangeShapeType="1"/>
            </p:cNvSpPr>
            <p:nvPr/>
          </p:nvSpPr>
          <p:spPr bwMode="auto">
            <a:xfrm flipH="1">
              <a:off x="2256" y="1968"/>
              <a:ext cx="148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9208" tIns="51588" rIns="99208" bIns="51588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1" name="Group 22"/>
          <p:cNvGrpSpPr/>
          <p:nvPr/>
        </p:nvGrpSpPr>
        <p:grpSpPr bwMode="auto">
          <a:xfrm>
            <a:off x="2644590" y="3947830"/>
            <a:ext cx="4367812" cy="1595931"/>
            <a:chOff x="1776" y="2160"/>
            <a:chExt cx="2496" cy="912"/>
          </a:xfrm>
        </p:grpSpPr>
        <p:sp>
          <p:nvSpPr>
            <p:cNvPr id="22" name="Line 14"/>
            <p:cNvSpPr>
              <a:spLocks noChangeShapeType="1"/>
            </p:cNvSpPr>
            <p:nvPr/>
          </p:nvSpPr>
          <p:spPr bwMode="auto">
            <a:xfrm>
              <a:off x="1776" y="2160"/>
              <a:ext cx="576" cy="91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stealth" w="lg" len="lg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9208" tIns="51588" rIns="99208" bIns="51588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3" name="Line 15"/>
            <p:cNvSpPr>
              <a:spLocks noChangeShapeType="1"/>
            </p:cNvSpPr>
            <p:nvPr/>
          </p:nvSpPr>
          <p:spPr bwMode="auto">
            <a:xfrm flipH="1">
              <a:off x="3696" y="2208"/>
              <a:ext cx="576" cy="86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stealth" w="lg" len="lg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9208" tIns="51588" rIns="99208" bIns="51588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4" name="Group 23"/>
          <p:cNvGrpSpPr/>
          <p:nvPr/>
        </p:nvGrpSpPr>
        <p:grpSpPr bwMode="auto">
          <a:xfrm>
            <a:off x="7684374" y="2939873"/>
            <a:ext cx="1595931" cy="755968"/>
            <a:chOff x="4656" y="1584"/>
            <a:chExt cx="912" cy="432"/>
          </a:xfrm>
        </p:grpSpPr>
        <p:sp>
          <p:nvSpPr>
            <p:cNvPr id="25" name="Line 16"/>
            <p:cNvSpPr>
              <a:spLocks noChangeShapeType="1"/>
            </p:cNvSpPr>
            <p:nvPr/>
          </p:nvSpPr>
          <p:spPr bwMode="auto">
            <a:xfrm>
              <a:off x="4656" y="1824"/>
              <a:ext cx="48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9208" tIns="51588" rIns="99208" bIns="51588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6" name="Rectangle 17"/>
            <p:cNvSpPr>
              <a:spLocks noChangeArrowheads="1"/>
            </p:cNvSpPr>
            <p:nvPr/>
          </p:nvSpPr>
          <p:spPr bwMode="auto">
            <a:xfrm>
              <a:off x="5040" y="1584"/>
              <a:ext cx="528" cy="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9208" tIns="51588" rIns="99208" bIns="51588" anchor="ctr"/>
            <a:lstStyle/>
            <a:p>
              <a:pPr algn="ctr"/>
              <a:r>
                <a:rPr kumimoji="1" lang="en-US" altLang="zh-CN" sz="3525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...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600" b="1" noProof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3.3 </a:t>
            </a:r>
            <a:r>
              <a:rPr lang="zh-CN" altLang="en-US" sz="3600" b="1" noProof="1">
                <a:latin typeface="华文楷体" panose="02010600040101010101" pitchFamily="2" charset="-122"/>
                <a:ea typeface="华文楷体" panose="02010600040101010101" pitchFamily="2" charset="-122"/>
              </a:rPr>
              <a:t>状态转换图</a:t>
            </a:r>
            <a:endParaRPr lang="en-US" sz="3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Rectangle 3"/>
          <p:cNvSpPr>
            <a:spLocks noGrp="1" noChangeArrowheads="1"/>
          </p:cNvSpPr>
          <p:nvPr>
            <p:ph idx="1"/>
          </p:nvPr>
        </p:nvSpPr>
        <p:spPr>
          <a:xfrm>
            <a:off x="503239" y="1916833"/>
            <a:ext cx="8271880" cy="4188508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b="1" noProof="1">
                <a:latin typeface="宋体" panose="02010600030101010101" pitchFamily="2" charset="-122"/>
              </a:rPr>
              <a:t>状态转换图是一张</a:t>
            </a:r>
            <a:r>
              <a:rPr lang="zh-CN" altLang="en-US" sz="2800" b="1" noProof="1">
                <a:solidFill>
                  <a:schemeClr val="accent2"/>
                </a:solidFill>
                <a:latin typeface="宋体" panose="02010600030101010101" pitchFamily="2" charset="-122"/>
              </a:rPr>
              <a:t>有限方向图</a:t>
            </a:r>
            <a:r>
              <a:rPr lang="zh-CN" altLang="en-US" sz="2800" b="1" noProof="1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30" name="Text Box 12"/>
          <p:cNvSpPr txBox="1">
            <a:spLocks noChangeArrowheads="1"/>
          </p:cNvSpPr>
          <p:nvPr/>
        </p:nvSpPr>
        <p:spPr bwMode="auto">
          <a:xfrm>
            <a:off x="468787" y="2847742"/>
            <a:ext cx="6257732" cy="535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9208" tIns="51588" rIns="99208" bIns="51588" anchor="ctr">
            <a:spAutoFit/>
          </a:bodyPr>
          <a:lstStyle/>
          <a:p>
            <a:pPr lvl="1" indent="-457200" eaLnBrk="0" hangingPunct="0">
              <a:spcBef>
                <a:spcPct val="4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</a:pPr>
            <a:r>
              <a:rPr kumimoji="1" lang="zh-CN" altLang="en-US" sz="2800" noProof="1">
                <a:solidFill>
                  <a:schemeClr val="tx2"/>
                </a:solidFill>
                <a:latin typeface="宋体" panose="02010600030101010101" pitchFamily="2" charset="-122"/>
              </a:rPr>
              <a:t>结点代表状态，用圆圈表示</a:t>
            </a:r>
            <a:r>
              <a:rPr kumimoji="1" lang="zh-CN" altLang="zh-CN" sz="2800" noProof="1">
                <a:solidFill>
                  <a:schemeClr val="tx2"/>
                </a:solidFill>
                <a:latin typeface="宋体" panose="02010600030101010101" pitchFamily="2" charset="-122"/>
              </a:rPr>
              <a:t>。</a:t>
            </a:r>
            <a:endParaRPr kumimoji="1" lang="zh-CN" altLang="en-US" sz="2800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31" name="Text Box 13"/>
          <p:cNvSpPr txBox="1">
            <a:spLocks noChangeArrowheads="1"/>
          </p:cNvSpPr>
          <p:nvPr/>
        </p:nvSpPr>
        <p:spPr bwMode="auto">
          <a:xfrm>
            <a:off x="468787" y="3678608"/>
            <a:ext cx="5795751" cy="1396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9208" tIns="51588" rIns="99208" bIns="51588" anchor="ctr">
            <a:spAutoFit/>
          </a:bodyPr>
          <a:lstStyle>
            <a:lvl1pPr marL="288925" indent="-28892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7942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lvl="1" indent="-457200">
              <a:spcBef>
                <a:spcPct val="4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800" noProof="1">
                <a:solidFill>
                  <a:schemeClr val="tx2"/>
                </a:solidFill>
                <a:latin typeface="宋体" panose="02010600030101010101" pitchFamily="2" charset="-122"/>
                <a:ea typeface="+mn-ea"/>
              </a:rPr>
              <a:t>状态之间用箭弧连结，箭弧上的标记(字符)代表射出结状态下可能出现的输入字符或字符类。</a:t>
            </a:r>
            <a:endParaRPr lang="zh-CN" altLang="en-US" sz="2800" dirty="0">
              <a:solidFill>
                <a:schemeClr val="tx2"/>
              </a:solidFill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32" name="Text Box 14"/>
          <p:cNvSpPr txBox="1">
            <a:spLocks noChangeArrowheads="1"/>
          </p:cNvSpPr>
          <p:nvPr/>
        </p:nvSpPr>
        <p:spPr bwMode="auto">
          <a:xfrm>
            <a:off x="468787" y="5139382"/>
            <a:ext cx="7391682" cy="96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9208" tIns="51588" rIns="99208" bIns="51588" anchor="ctr">
            <a:spAutoFit/>
          </a:bodyPr>
          <a:lstStyle>
            <a:lvl1pPr marL="288925" indent="-28892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7942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lvl="1" indent="-457200">
              <a:spcBef>
                <a:spcPct val="4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800" noProof="1">
                <a:solidFill>
                  <a:schemeClr val="tx2"/>
                </a:solidFill>
                <a:latin typeface="宋体" panose="02010600030101010101" pitchFamily="2" charset="-122"/>
                <a:ea typeface="+mn-ea"/>
              </a:rPr>
              <a:t>一张转换图只包含有限个状态，其中有一个为初态，至少要有一个终态。</a:t>
            </a:r>
            <a:endParaRPr lang="zh-CN" altLang="en-US" sz="2800" dirty="0">
              <a:solidFill>
                <a:schemeClr val="tx2"/>
              </a:solidFill>
              <a:latin typeface="宋体" panose="02010600030101010101" pitchFamily="2" charset="-122"/>
              <a:ea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6082858" y="3125104"/>
            <a:ext cx="2687884" cy="1728926"/>
            <a:chOff x="6082858" y="3125104"/>
            <a:chExt cx="2687884" cy="1728926"/>
          </a:xfrm>
        </p:grpSpPr>
        <p:sp>
          <p:nvSpPr>
            <p:cNvPr id="22" name="Oval 5"/>
            <p:cNvSpPr>
              <a:spLocks noChangeArrowheads="1"/>
            </p:cNvSpPr>
            <p:nvPr/>
          </p:nvSpPr>
          <p:spPr bwMode="auto">
            <a:xfrm>
              <a:off x="8065522" y="3125104"/>
              <a:ext cx="691220" cy="67197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58733" tIns="119050" rIns="119050" bIns="119050"/>
            <a:lstStyle/>
            <a:p>
              <a:pPr algn="just" eaLnBrk="0" hangingPunct="0"/>
              <a:r>
                <a:rPr kumimoji="1" lang="en-US" altLang="zh-CN" sz="2000" b="1" dirty="0">
                  <a:latin typeface="Times New Roman" panose="02020603050405020304" pitchFamily="18" charset="0"/>
                </a:rPr>
                <a:t>2</a:t>
              </a:r>
              <a:endParaRPr kumimoji="1" lang="en-US" altLang="zh-CN" sz="1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3" name="Oval 6"/>
            <p:cNvSpPr>
              <a:spLocks noChangeArrowheads="1"/>
            </p:cNvSpPr>
            <p:nvPr/>
          </p:nvSpPr>
          <p:spPr bwMode="auto">
            <a:xfrm>
              <a:off x="6082858" y="3125104"/>
              <a:ext cx="645722" cy="67197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58733" tIns="119050" rIns="119050" bIns="119050"/>
            <a:lstStyle/>
            <a:p>
              <a:pPr algn="just" eaLnBrk="0" hangingPunct="0"/>
              <a:r>
                <a:rPr kumimoji="1" lang="en-US" altLang="zh-CN" sz="2000" b="1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4" name="Oval 7"/>
            <p:cNvSpPr>
              <a:spLocks noChangeArrowheads="1"/>
            </p:cNvSpPr>
            <p:nvPr/>
          </p:nvSpPr>
          <p:spPr bwMode="auto">
            <a:xfrm>
              <a:off x="8079522" y="4180309"/>
              <a:ext cx="691220" cy="67372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58733" tIns="119050" rIns="119050" bIns="119050"/>
            <a:lstStyle/>
            <a:p>
              <a:pPr algn="just" eaLnBrk="0" hangingPunct="0"/>
              <a:r>
                <a:rPr kumimoji="1" lang="en-US" altLang="zh-CN" sz="2000" b="1" dirty="0">
                  <a:latin typeface="Times New Roman" panose="02020603050405020304" pitchFamily="18" charset="0"/>
                </a:rPr>
                <a:t>3</a:t>
              </a:r>
              <a:endParaRPr kumimoji="1" lang="en-US" altLang="zh-CN" sz="1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728582" y="2831119"/>
            <a:ext cx="1336943" cy="1651930"/>
            <a:chOff x="6728582" y="2831119"/>
            <a:chExt cx="1336943" cy="1651930"/>
          </a:xfrm>
        </p:grpSpPr>
        <p:sp>
          <p:nvSpPr>
            <p:cNvPr id="26" name="Line 8"/>
            <p:cNvSpPr>
              <a:spLocks noChangeShapeType="1"/>
            </p:cNvSpPr>
            <p:nvPr/>
          </p:nvSpPr>
          <p:spPr bwMode="auto">
            <a:xfrm>
              <a:off x="6728582" y="3385845"/>
              <a:ext cx="1336943" cy="17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58733" tIns="119050" rIns="119050" bIns="119050"/>
            <a:lstStyle/>
            <a:p>
              <a:endParaRPr lang="zh-CN" altLang="en-US" sz="1400"/>
            </a:p>
          </p:txBody>
        </p:sp>
        <p:sp>
          <p:nvSpPr>
            <p:cNvPr id="27" name="Line 9"/>
            <p:cNvSpPr>
              <a:spLocks noChangeShapeType="1"/>
            </p:cNvSpPr>
            <p:nvPr/>
          </p:nvSpPr>
          <p:spPr bwMode="auto">
            <a:xfrm>
              <a:off x="6728582" y="3515340"/>
              <a:ext cx="1336943" cy="8609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58733" tIns="119050" rIns="119050" bIns="119050"/>
            <a:lstStyle/>
            <a:p>
              <a:endParaRPr lang="zh-CN" altLang="en-US" sz="1400"/>
            </a:p>
          </p:txBody>
        </p:sp>
        <p:sp>
          <p:nvSpPr>
            <p:cNvPr id="28" name="Rectangle 10"/>
            <p:cNvSpPr>
              <a:spLocks noChangeArrowheads="1"/>
            </p:cNvSpPr>
            <p:nvPr/>
          </p:nvSpPr>
          <p:spPr bwMode="auto">
            <a:xfrm>
              <a:off x="7020820" y="2831119"/>
              <a:ext cx="839964" cy="587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000" b="1" dirty="0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9" name="Rectangle 11"/>
            <p:cNvSpPr>
              <a:spLocks noChangeArrowheads="1"/>
            </p:cNvSpPr>
            <p:nvPr/>
          </p:nvSpPr>
          <p:spPr bwMode="auto">
            <a:xfrm>
              <a:off x="7020820" y="3895074"/>
              <a:ext cx="839964" cy="587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000" b="1" dirty="0">
                  <a:latin typeface="Times New Roman" panose="02020603050405020304" pitchFamily="18" charset="0"/>
                </a:rPr>
                <a:t>Y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634017" y="3701948"/>
            <a:ext cx="2365092" cy="2257217"/>
            <a:chOff x="6634017" y="3701948"/>
            <a:chExt cx="2365092" cy="2257217"/>
          </a:xfrm>
        </p:grpSpPr>
        <p:sp>
          <p:nvSpPr>
            <p:cNvPr id="19" name="Oval 20"/>
            <p:cNvSpPr>
              <a:spLocks noChangeArrowheads="1"/>
            </p:cNvSpPr>
            <p:nvPr/>
          </p:nvSpPr>
          <p:spPr bwMode="auto">
            <a:xfrm>
              <a:off x="8075148" y="5327443"/>
              <a:ext cx="699970" cy="631722"/>
            </a:xfrm>
            <a:prstGeom prst="ellipse">
              <a:avLst/>
            </a:prstGeom>
            <a:noFill/>
            <a:ln w="92075" cmpd="dbl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58733" tIns="0" rIns="158733" bIns="0"/>
            <a:lstStyle/>
            <a:p>
              <a:pPr algn="just" eaLnBrk="0" hangingPunct="0"/>
              <a:r>
                <a:rPr kumimoji="1" lang="en-US" altLang="zh-CN" sz="2000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3" name="Rectangle 41"/>
            <p:cNvSpPr>
              <a:spLocks noChangeArrowheads="1"/>
            </p:cNvSpPr>
            <p:nvPr/>
          </p:nvSpPr>
          <p:spPr bwMode="auto">
            <a:xfrm>
              <a:off x="8411134" y="5075453"/>
              <a:ext cx="587975" cy="4199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400" b="1">
                  <a:latin typeface="Times New Roman" panose="02020603050405020304" pitchFamily="18" charset="0"/>
                </a:rPr>
                <a:t>*</a:t>
              </a:r>
            </a:p>
          </p:txBody>
        </p:sp>
        <p:cxnSp>
          <p:nvCxnSpPr>
            <p:cNvPr id="7" name="直接箭头连接符 6"/>
            <p:cNvCxnSpPr/>
            <p:nvPr/>
          </p:nvCxnSpPr>
          <p:spPr>
            <a:xfrm>
              <a:off x="6634017" y="3701948"/>
              <a:ext cx="1450756" cy="162877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7138445" y="4677717"/>
              <a:ext cx="6047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000" b="1" dirty="0">
                  <a:latin typeface="Times New Roman" panose="02020603050405020304" pitchFamily="18" charset="0"/>
                </a:rPr>
                <a:t>Z</a:t>
              </a:r>
              <a:endParaRPr kumimoji="1" lang="en-US" sz="2000" b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6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3.3 </a:t>
            </a:r>
            <a:r>
              <a:rPr lang="zh-CN" altLang="en-US" sz="36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状态转换图</a:t>
            </a:r>
          </a:p>
        </p:txBody>
      </p:sp>
      <p:sp>
        <p:nvSpPr>
          <p:cNvPr id="24" name="Line 36"/>
          <p:cNvSpPr>
            <a:spLocks noChangeShapeType="1"/>
          </p:cNvSpPr>
          <p:nvPr/>
        </p:nvSpPr>
        <p:spPr bwMode="auto">
          <a:xfrm>
            <a:off x="4926566" y="4843085"/>
            <a:ext cx="1336943" cy="1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58733" tIns="119050" rIns="119050" bIns="119050"/>
          <a:lstStyle/>
          <a:p>
            <a:endParaRPr lang="zh-CN" altLang="en-US" sz="1600">
              <a:solidFill>
                <a:prstClr val="black"/>
              </a:solidFill>
            </a:endParaRPr>
          </a:p>
        </p:txBody>
      </p:sp>
      <p:sp>
        <p:nvSpPr>
          <p:cNvPr id="23" name="Line 35"/>
          <p:cNvSpPr>
            <a:spLocks noChangeShapeType="1"/>
          </p:cNvSpPr>
          <p:nvPr/>
        </p:nvSpPr>
        <p:spPr bwMode="auto">
          <a:xfrm>
            <a:off x="2910653" y="4843085"/>
            <a:ext cx="1336943" cy="1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58733" tIns="119050" rIns="119050" bIns="119050"/>
          <a:lstStyle/>
          <a:p>
            <a:endParaRPr lang="zh-CN" altLang="en-US" sz="1600">
              <a:solidFill>
                <a:prstClr val="black"/>
              </a:solidFill>
            </a:endParaRPr>
          </a:p>
        </p:txBody>
      </p:sp>
      <p:sp>
        <p:nvSpPr>
          <p:cNvPr id="25" name="Rectangle 37"/>
          <p:cNvSpPr>
            <a:spLocks noChangeArrowheads="1"/>
          </p:cNvSpPr>
          <p:nvPr/>
        </p:nvSpPr>
        <p:spPr bwMode="auto">
          <a:xfrm>
            <a:off x="3078645" y="4255110"/>
            <a:ext cx="839964" cy="58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字母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/_</a:t>
            </a:r>
            <a:endParaRPr kumimoji="1" lang="zh-CN" altLang="en-US" sz="2400" b="1" dirty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Rectangle 38"/>
          <p:cNvSpPr>
            <a:spLocks noChangeArrowheads="1"/>
          </p:cNvSpPr>
          <p:nvPr/>
        </p:nvSpPr>
        <p:spPr bwMode="auto">
          <a:xfrm>
            <a:off x="5178555" y="4255110"/>
            <a:ext cx="839964" cy="58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其他</a:t>
            </a:r>
          </a:p>
        </p:txBody>
      </p:sp>
      <p:sp>
        <p:nvSpPr>
          <p:cNvPr id="20" name="Freeform 32"/>
          <p:cNvSpPr/>
          <p:nvPr/>
        </p:nvSpPr>
        <p:spPr bwMode="auto">
          <a:xfrm>
            <a:off x="4338591" y="3835128"/>
            <a:ext cx="503978" cy="671971"/>
          </a:xfrm>
          <a:custGeom>
            <a:avLst/>
            <a:gdLst>
              <a:gd name="T0" fmla="*/ 480 w 480"/>
              <a:gd name="T1" fmla="*/ 720 h 720"/>
              <a:gd name="T2" fmla="*/ 240 w 480"/>
              <a:gd name="T3" fmla="*/ 0 h 720"/>
              <a:gd name="T4" fmla="*/ 0 w 480"/>
              <a:gd name="T5" fmla="*/ 72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80" h="720">
                <a:moveTo>
                  <a:pt x="480" y="720"/>
                </a:moveTo>
                <a:cubicBezTo>
                  <a:pt x="400" y="360"/>
                  <a:pt x="320" y="0"/>
                  <a:pt x="240" y="0"/>
                </a:cubicBezTo>
                <a:cubicBezTo>
                  <a:pt x="160" y="0"/>
                  <a:pt x="80" y="360"/>
                  <a:pt x="0" y="72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367" tIns="0" rIns="0" bIns="0"/>
          <a:lstStyle/>
          <a:p>
            <a:endParaRPr lang="zh-CN" altLang="en-US" sz="1600">
              <a:solidFill>
                <a:prstClr val="black"/>
              </a:solidFill>
            </a:endParaRPr>
          </a:p>
        </p:txBody>
      </p:sp>
      <p:sp>
        <p:nvSpPr>
          <p:cNvPr id="27" name="Rectangle 39"/>
          <p:cNvSpPr>
            <a:spLocks noChangeArrowheads="1"/>
          </p:cNvSpPr>
          <p:nvPr/>
        </p:nvSpPr>
        <p:spPr bwMode="auto">
          <a:xfrm>
            <a:off x="3750616" y="3247153"/>
            <a:ext cx="1595931" cy="58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数字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/</a:t>
            </a:r>
            <a:r>
              <a:rPr kumimoji="1"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字母</a:t>
            </a:r>
            <a:r>
              <a:rPr kumimoji="1"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/_</a:t>
            </a:r>
            <a:endParaRPr kumimoji="1" lang="zh-CN" altLang="en-US" sz="2400" b="1" dirty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2154685" y="4339106"/>
            <a:ext cx="5123780" cy="799716"/>
            <a:chOff x="1986693" y="3691117"/>
            <a:chExt cx="5123780" cy="799716"/>
          </a:xfrm>
        </p:grpSpPr>
        <p:sp>
          <p:nvSpPr>
            <p:cNvPr id="19" name="Oval 31"/>
            <p:cNvSpPr>
              <a:spLocks noChangeArrowheads="1"/>
            </p:cNvSpPr>
            <p:nvPr/>
          </p:nvSpPr>
          <p:spPr bwMode="auto">
            <a:xfrm>
              <a:off x="1986693" y="3859110"/>
              <a:ext cx="699970" cy="63172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58733" tIns="0" rIns="158733" bIns="0"/>
            <a:lstStyle/>
            <a:p>
              <a:pPr algn="just" eaLnBrk="0" hangingPunct="0"/>
              <a:r>
                <a:rPr kumimoji="1"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Oval 33"/>
            <p:cNvSpPr>
              <a:spLocks noChangeArrowheads="1"/>
            </p:cNvSpPr>
            <p:nvPr/>
          </p:nvSpPr>
          <p:spPr bwMode="auto">
            <a:xfrm>
              <a:off x="4086603" y="3859110"/>
              <a:ext cx="699970" cy="63172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58733" tIns="0" rIns="158733" bIns="0"/>
            <a:lstStyle/>
            <a:p>
              <a:pPr algn="just" eaLnBrk="0" hangingPunct="0"/>
              <a:r>
                <a:rPr kumimoji="1"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Oval 34"/>
            <p:cNvSpPr>
              <a:spLocks noChangeArrowheads="1"/>
            </p:cNvSpPr>
            <p:nvPr/>
          </p:nvSpPr>
          <p:spPr bwMode="auto">
            <a:xfrm>
              <a:off x="6102516" y="3859110"/>
              <a:ext cx="699970" cy="631723"/>
            </a:xfrm>
            <a:prstGeom prst="ellipse">
              <a:avLst/>
            </a:prstGeom>
            <a:noFill/>
            <a:ln w="92075" cmpd="dbl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58733" tIns="0" rIns="158733" bIns="0"/>
            <a:lstStyle/>
            <a:p>
              <a:pPr algn="just" eaLnBrk="0" hangingPunct="0"/>
              <a:r>
                <a:rPr kumimoji="1" lang="en-US" altLang="zh-CN" sz="24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3</a:t>
              </a:r>
              <a:endParaRPr kumimoji="1" lang="en-US" altLang="zh-CN" sz="1600" b="1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" name="Rectangle 42"/>
            <p:cNvSpPr>
              <a:spLocks noChangeArrowheads="1"/>
            </p:cNvSpPr>
            <p:nvPr/>
          </p:nvSpPr>
          <p:spPr bwMode="auto">
            <a:xfrm>
              <a:off x="6522498" y="3691117"/>
              <a:ext cx="587975" cy="4199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4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</p:grpSp>
      <p:sp>
        <p:nvSpPr>
          <p:cNvPr id="29" name="AutoShape 49"/>
          <p:cNvSpPr>
            <a:spLocks noChangeArrowheads="1"/>
          </p:cNvSpPr>
          <p:nvPr/>
        </p:nvSpPr>
        <p:spPr bwMode="auto">
          <a:xfrm>
            <a:off x="1678705" y="4684716"/>
            <a:ext cx="475980" cy="316737"/>
          </a:xfrm>
          <a:prstGeom prst="rightArrow">
            <a:avLst>
              <a:gd name="adj1" fmla="val 50000"/>
              <a:gd name="adj2" fmla="val 37569"/>
            </a:avLst>
          </a:prstGeom>
          <a:noFill/>
          <a:ln w="12700">
            <a:solidFill>
              <a:schemeClr val="tx1"/>
            </a:solidFill>
            <a:miter lim="800000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solidFill>
                <a:prstClr val="black"/>
              </a:solidFill>
            </a:endParaRPr>
          </a:p>
        </p:txBody>
      </p:sp>
      <p:sp>
        <p:nvSpPr>
          <p:cNvPr id="30" name="内容占位符 1"/>
          <p:cNvSpPr>
            <a:spLocks noGrp="1"/>
          </p:cNvSpPr>
          <p:nvPr>
            <p:ph idx="1"/>
          </p:nvPr>
        </p:nvSpPr>
        <p:spPr>
          <a:xfrm>
            <a:off x="404397" y="2020823"/>
            <a:ext cx="2799451" cy="6160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标识符格式</a:t>
            </a:r>
            <a:r>
              <a:rPr lang="zh-CN" altLang="en-US" sz="3200" b="1" dirty="0">
                <a:latin typeface="宋体" panose="02010600030101010101" pitchFamily="2" charset="-122"/>
              </a:rPr>
              <a:t>：</a:t>
            </a:r>
            <a:endParaRPr lang="en-US" altLang="zh-CN" dirty="0">
              <a:latin typeface="宋体" panose="02010600030101010101" pitchFamily="2" charset="-122"/>
            </a:endParaRPr>
          </a:p>
        </p:txBody>
      </p:sp>
      <p:sp>
        <p:nvSpPr>
          <p:cNvPr id="31" name="内容占位符 1"/>
          <p:cNvSpPr txBox="1"/>
          <p:nvPr/>
        </p:nvSpPr>
        <p:spPr>
          <a:xfrm>
            <a:off x="251521" y="2725689"/>
            <a:ext cx="1224136" cy="495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zh-CN" altLang="en-US" dirty="0">
                <a:solidFill>
                  <a:srgbClr val="073E87"/>
                </a:solidFill>
                <a:latin typeface="宋体" panose="02010600030101010101" pitchFamily="2" charset="-122"/>
              </a:rPr>
              <a:t>字母</a:t>
            </a:r>
            <a:r>
              <a:rPr lang="en-US" altLang="zh-CN" dirty="0">
                <a:solidFill>
                  <a:srgbClr val="073E87"/>
                </a:solidFill>
                <a:latin typeface="宋体" panose="02010600030101010101" pitchFamily="2" charset="-122"/>
              </a:rPr>
              <a:t>/_</a:t>
            </a:r>
            <a:endParaRPr lang="en-US" dirty="0">
              <a:solidFill>
                <a:srgbClr val="073E87"/>
              </a:solidFill>
              <a:latin typeface="宋体" panose="02010600030101010101" pitchFamily="2" charset="-122"/>
            </a:endParaRPr>
          </a:p>
        </p:txBody>
      </p:sp>
      <p:sp>
        <p:nvSpPr>
          <p:cNvPr id="35" name="内容占位符 1"/>
          <p:cNvSpPr txBox="1"/>
          <p:nvPr/>
        </p:nvSpPr>
        <p:spPr>
          <a:xfrm>
            <a:off x="6561842" y="2725687"/>
            <a:ext cx="1545601" cy="495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zh-CN" altLang="en-US" dirty="0">
                <a:solidFill>
                  <a:srgbClr val="073E87"/>
                </a:solidFill>
                <a:latin typeface="宋体" panose="02010600030101010101" pitchFamily="2" charset="-122"/>
              </a:rPr>
              <a:t>其他字符</a:t>
            </a:r>
            <a:endParaRPr lang="en-US" dirty="0">
              <a:solidFill>
                <a:srgbClr val="073E87"/>
              </a:solidFill>
              <a:latin typeface="宋体" panose="02010600030101010101" pitchFamily="2" charset="-122"/>
            </a:endParaRPr>
          </a:p>
        </p:txBody>
      </p:sp>
      <p:sp>
        <p:nvSpPr>
          <p:cNvPr id="36" name="内容占位符 1"/>
          <p:cNvSpPr txBox="1"/>
          <p:nvPr/>
        </p:nvSpPr>
        <p:spPr>
          <a:xfrm>
            <a:off x="1678705" y="2708920"/>
            <a:ext cx="5651021" cy="4956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Clr>
                <a:srgbClr val="31B6FD"/>
              </a:buClr>
              <a:buNone/>
            </a:pPr>
            <a:r>
              <a:rPr lang="zh-CN" altLang="en-US" dirty="0">
                <a:solidFill>
                  <a:srgbClr val="073E87"/>
                </a:solidFill>
                <a:latin typeface="宋体" panose="02010600030101010101" pitchFamily="2" charset="-122"/>
              </a:rPr>
              <a:t>数字</a:t>
            </a:r>
            <a:r>
              <a:rPr lang="en-US" altLang="zh-CN" dirty="0">
                <a:solidFill>
                  <a:srgbClr val="073E87"/>
                </a:solidFill>
                <a:latin typeface="宋体" panose="02010600030101010101" pitchFamily="2" charset="-122"/>
              </a:rPr>
              <a:t>/</a:t>
            </a:r>
            <a:r>
              <a:rPr lang="zh-CN" altLang="en-US" dirty="0">
                <a:solidFill>
                  <a:srgbClr val="073E87"/>
                </a:solidFill>
                <a:latin typeface="宋体" panose="02010600030101010101" pitchFamily="2" charset="-122"/>
              </a:rPr>
              <a:t>字母</a:t>
            </a:r>
            <a:r>
              <a:rPr lang="en-US" altLang="zh-CN" dirty="0">
                <a:solidFill>
                  <a:srgbClr val="073E87"/>
                </a:solidFill>
                <a:latin typeface="宋体" panose="02010600030101010101" pitchFamily="2" charset="-122"/>
              </a:rPr>
              <a:t>/_</a:t>
            </a:r>
            <a:r>
              <a:rPr lang="zh-CN" altLang="en-US" dirty="0">
                <a:solidFill>
                  <a:srgbClr val="073E87"/>
                </a:solidFill>
                <a:latin typeface="宋体" panose="02010600030101010101" pitchFamily="2" charset="-122"/>
              </a:rPr>
              <a:t> </a:t>
            </a:r>
            <a:r>
              <a:rPr lang="en-US" dirty="0">
                <a:solidFill>
                  <a:srgbClr val="073E87"/>
                </a:solidFill>
                <a:latin typeface="宋体" panose="02010600030101010101" pitchFamily="2" charset="-122"/>
              </a:rPr>
              <a:t>…… </a:t>
            </a:r>
            <a:r>
              <a:rPr lang="zh-CN" altLang="en-US" dirty="0">
                <a:solidFill>
                  <a:srgbClr val="073E87"/>
                </a:solidFill>
                <a:latin typeface="宋体" panose="02010600030101010101" pitchFamily="2" charset="-122"/>
              </a:rPr>
              <a:t>数字</a:t>
            </a:r>
            <a:r>
              <a:rPr lang="en-US" altLang="zh-CN" dirty="0">
                <a:solidFill>
                  <a:srgbClr val="073E87"/>
                </a:solidFill>
                <a:latin typeface="宋体" panose="02010600030101010101" pitchFamily="2" charset="-122"/>
              </a:rPr>
              <a:t>/</a:t>
            </a:r>
            <a:r>
              <a:rPr lang="zh-CN" altLang="en-US" dirty="0">
                <a:solidFill>
                  <a:srgbClr val="073E87"/>
                </a:solidFill>
                <a:latin typeface="宋体" panose="02010600030101010101" pitchFamily="2" charset="-122"/>
              </a:rPr>
              <a:t>字母</a:t>
            </a:r>
            <a:r>
              <a:rPr lang="en-US" altLang="zh-CN" dirty="0">
                <a:solidFill>
                  <a:srgbClr val="073E87"/>
                </a:solidFill>
                <a:latin typeface="宋体" panose="02010600030101010101" pitchFamily="2" charset="-122"/>
              </a:rPr>
              <a:t>/_</a:t>
            </a:r>
            <a:endParaRPr lang="en-US" dirty="0">
              <a:solidFill>
                <a:srgbClr val="073E87"/>
              </a:solidFill>
              <a:latin typeface="宋体" panose="02010600030101010101" pitchFamily="2" charset="-122"/>
            </a:endParaRPr>
          </a:p>
        </p:txBody>
      </p:sp>
      <p:sp>
        <p:nvSpPr>
          <p:cNvPr id="33" name="内容占位符 1"/>
          <p:cNvSpPr txBox="1"/>
          <p:nvPr/>
        </p:nvSpPr>
        <p:spPr>
          <a:xfrm>
            <a:off x="760782" y="5517232"/>
            <a:ext cx="7843666" cy="495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zh-CN" altLang="en-US" sz="2800" dirty="0">
                <a:solidFill>
                  <a:srgbClr val="073E87"/>
                </a:solidFill>
                <a:latin typeface="宋体" panose="02010600030101010101" pitchFamily="2" charset="-122"/>
              </a:rPr>
              <a:t>问题：如何识别保留字？ </a:t>
            </a:r>
            <a:endParaRPr lang="en-US" sz="2800" dirty="0">
              <a:solidFill>
                <a:srgbClr val="073E87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rgbClr val="073E87"/>
                </a:solidFill>
              </a:rPr>
              <a:t>邓伏虎</a:t>
            </a:r>
            <a:endParaRPr lang="zh-CN" altLang="en-US" dirty="0">
              <a:solidFill>
                <a:srgbClr val="073E87"/>
              </a:solidFill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73E87"/>
                </a:solidFill>
              </a:rPr>
              <a:t>信息与软件工程学院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73E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zh-CN" altLang="en-US" dirty="0">
              <a:solidFill>
                <a:srgbClr val="073E8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3" grpId="0" animBg="1"/>
      <p:bldP spid="25" grpId="0"/>
      <p:bldP spid="26" grpId="0"/>
      <p:bldP spid="20" grpId="0" animBg="1"/>
      <p:bldP spid="20" grpId="1" animBg="1"/>
      <p:bldP spid="20" grpId="2" animBg="1"/>
      <p:bldP spid="20" grpId="3" animBg="1"/>
      <p:bldP spid="20" grpId="4" animBg="1"/>
      <p:bldP spid="27" grpId="0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3.3 </a:t>
            </a:r>
            <a:r>
              <a:rPr lang="zh-CN" altLang="en-US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状态转换图</a:t>
            </a:r>
          </a:p>
        </p:txBody>
      </p:sp>
      <p:sp>
        <p:nvSpPr>
          <p:cNvPr id="24" name="Line 36"/>
          <p:cNvSpPr>
            <a:spLocks noChangeShapeType="1"/>
          </p:cNvSpPr>
          <p:nvPr/>
        </p:nvSpPr>
        <p:spPr bwMode="auto">
          <a:xfrm>
            <a:off x="4881140" y="4833052"/>
            <a:ext cx="1336943" cy="1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58733" tIns="119050" rIns="119050" bIns="119050"/>
          <a:lstStyle/>
          <a:p>
            <a:endParaRPr lang="zh-CN" altLang="en-US" sz="1600"/>
          </a:p>
        </p:txBody>
      </p:sp>
      <p:sp>
        <p:nvSpPr>
          <p:cNvPr id="23" name="Line 35"/>
          <p:cNvSpPr>
            <a:spLocks noChangeShapeType="1"/>
          </p:cNvSpPr>
          <p:nvPr/>
        </p:nvSpPr>
        <p:spPr bwMode="auto">
          <a:xfrm>
            <a:off x="2865227" y="4833052"/>
            <a:ext cx="1336943" cy="1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58733" tIns="119050" rIns="119050" bIns="119050"/>
          <a:lstStyle/>
          <a:p>
            <a:endParaRPr lang="zh-CN" altLang="en-US" sz="1600"/>
          </a:p>
        </p:txBody>
      </p:sp>
      <p:sp>
        <p:nvSpPr>
          <p:cNvPr id="25" name="Rectangle 37"/>
          <p:cNvSpPr>
            <a:spLocks noChangeArrowheads="1"/>
          </p:cNvSpPr>
          <p:nvPr/>
        </p:nvSpPr>
        <p:spPr bwMode="auto">
          <a:xfrm>
            <a:off x="3033219" y="4245077"/>
            <a:ext cx="839964" cy="58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400" b="1" dirty="0">
                <a:latin typeface="Times New Roman" panose="02020603050405020304" pitchFamily="18" charset="0"/>
              </a:rPr>
              <a:t>数字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  <a:p>
            <a:pPr algn="ctr"/>
            <a:r>
              <a:rPr kumimoji="1" lang="en-US" altLang="zh-CN" sz="2400" b="1" dirty="0">
                <a:latin typeface="Times New Roman" panose="02020603050405020304" pitchFamily="18" charset="0"/>
              </a:rPr>
              <a:t>1-9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6" name="Rectangle 38"/>
          <p:cNvSpPr>
            <a:spLocks noChangeArrowheads="1"/>
          </p:cNvSpPr>
          <p:nvPr/>
        </p:nvSpPr>
        <p:spPr bwMode="auto">
          <a:xfrm>
            <a:off x="5133129" y="4245077"/>
            <a:ext cx="839964" cy="58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400" b="1" dirty="0">
                <a:latin typeface="Times New Roman" panose="02020603050405020304" pitchFamily="18" charset="0"/>
              </a:rPr>
              <a:t>其他</a:t>
            </a:r>
          </a:p>
        </p:txBody>
      </p:sp>
      <p:sp>
        <p:nvSpPr>
          <p:cNvPr id="20" name="Freeform 32"/>
          <p:cNvSpPr/>
          <p:nvPr/>
        </p:nvSpPr>
        <p:spPr bwMode="auto">
          <a:xfrm>
            <a:off x="4293165" y="3825095"/>
            <a:ext cx="503978" cy="671971"/>
          </a:xfrm>
          <a:custGeom>
            <a:avLst/>
            <a:gdLst>
              <a:gd name="T0" fmla="*/ 480 w 480"/>
              <a:gd name="T1" fmla="*/ 720 h 720"/>
              <a:gd name="T2" fmla="*/ 240 w 480"/>
              <a:gd name="T3" fmla="*/ 0 h 720"/>
              <a:gd name="T4" fmla="*/ 0 w 480"/>
              <a:gd name="T5" fmla="*/ 72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80" h="720">
                <a:moveTo>
                  <a:pt x="480" y="720"/>
                </a:moveTo>
                <a:cubicBezTo>
                  <a:pt x="400" y="360"/>
                  <a:pt x="320" y="0"/>
                  <a:pt x="240" y="0"/>
                </a:cubicBezTo>
                <a:cubicBezTo>
                  <a:pt x="160" y="0"/>
                  <a:pt x="80" y="360"/>
                  <a:pt x="0" y="72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367" tIns="0" rIns="0" bIns="0"/>
          <a:lstStyle/>
          <a:p>
            <a:endParaRPr lang="zh-CN" altLang="en-US" sz="1600"/>
          </a:p>
        </p:txBody>
      </p:sp>
      <p:sp>
        <p:nvSpPr>
          <p:cNvPr id="27" name="Rectangle 39"/>
          <p:cNvSpPr>
            <a:spLocks noChangeArrowheads="1"/>
          </p:cNvSpPr>
          <p:nvPr/>
        </p:nvSpPr>
        <p:spPr bwMode="auto">
          <a:xfrm>
            <a:off x="3705190" y="3237120"/>
            <a:ext cx="1595931" cy="58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400" b="1" dirty="0">
                <a:latin typeface="Times New Roman" panose="02020603050405020304" pitchFamily="18" charset="0"/>
              </a:rPr>
              <a:t>数字</a:t>
            </a:r>
          </a:p>
        </p:txBody>
      </p:sp>
      <p:sp>
        <p:nvSpPr>
          <p:cNvPr id="19" name="Oval 31"/>
          <p:cNvSpPr>
            <a:spLocks noChangeArrowheads="1"/>
          </p:cNvSpPr>
          <p:nvPr/>
        </p:nvSpPr>
        <p:spPr bwMode="auto">
          <a:xfrm>
            <a:off x="2109259" y="4497066"/>
            <a:ext cx="699970" cy="63172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58733" tIns="0" rIns="158733" bIns="0"/>
          <a:lstStyle/>
          <a:p>
            <a:pPr algn="just" eaLnBrk="0" hangingPunct="0"/>
            <a:r>
              <a:rPr kumimoji="1" lang="en-US" altLang="zh-CN" sz="2400" b="1" dirty="0">
                <a:latin typeface="Times New Roman" panose="02020603050405020304" pitchFamily="18" charset="0"/>
              </a:rPr>
              <a:t>1</a:t>
            </a:r>
            <a:endParaRPr kumimoji="1" lang="en-US" altLang="zh-CN" sz="1600" b="1" dirty="0">
              <a:latin typeface="Times New Roman" panose="02020603050405020304" pitchFamily="18" charset="0"/>
            </a:endParaRPr>
          </a:p>
        </p:txBody>
      </p:sp>
      <p:sp>
        <p:nvSpPr>
          <p:cNvPr id="21" name="Oval 33"/>
          <p:cNvSpPr>
            <a:spLocks noChangeArrowheads="1"/>
          </p:cNvSpPr>
          <p:nvPr/>
        </p:nvSpPr>
        <p:spPr bwMode="auto">
          <a:xfrm>
            <a:off x="4209169" y="4497066"/>
            <a:ext cx="699970" cy="63172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58733" tIns="0" rIns="158733" bIns="0"/>
          <a:lstStyle/>
          <a:p>
            <a:pPr algn="just" eaLnBrk="0" hangingPunct="0"/>
            <a:r>
              <a:rPr kumimoji="1" lang="en-US" altLang="zh-CN" sz="2400" b="1" dirty="0">
                <a:latin typeface="Times New Roman" panose="02020603050405020304" pitchFamily="18" charset="0"/>
              </a:rPr>
              <a:t>2</a:t>
            </a:r>
            <a:endParaRPr kumimoji="1" lang="en-US" altLang="zh-CN" sz="1600" b="1" dirty="0">
              <a:latin typeface="Times New Roman" panose="02020603050405020304" pitchFamily="18" charset="0"/>
            </a:endParaRPr>
          </a:p>
        </p:txBody>
      </p:sp>
      <p:sp>
        <p:nvSpPr>
          <p:cNvPr id="22" name="Oval 34"/>
          <p:cNvSpPr>
            <a:spLocks noChangeArrowheads="1"/>
          </p:cNvSpPr>
          <p:nvPr/>
        </p:nvSpPr>
        <p:spPr bwMode="auto">
          <a:xfrm>
            <a:off x="6225082" y="4497066"/>
            <a:ext cx="699970" cy="631723"/>
          </a:xfrm>
          <a:prstGeom prst="ellipse">
            <a:avLst/>
          </a:prstGeom>
          <a:noFill/>
          <a:ln w="92075" cmpd="dbl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58733" tIns="0" rIns="158733" bIns="0"/>
          <a:lstStyle/>
          <a:p>
            <a:pPr algn="just" eaLnBrk="0" hangingPunct="0"/>
            <a:r>
              <a:rPr kumimoji="1" lang="en-US" altLang="zh-CN" sz="2400" b="1">
                <a:latin typeface="Times New Roman" panose="02020603050405020304" pitchFamily="18" charset="0"/>
              </a:rPr>
              <a:t>3</a:t>
            </a:r>
            <a:endParaRPr kumimoji="1" lang="en-US" altLang="zh-CN" sz="1600" b="1">
              <a:latin typeface="Times New Roman" panose="02020603050405020304" pitchFamily="18" charset="0"/>
            </a:endParaRPr>
          </a:p>
        </p:txBody>
      </p:sp>
      <p:sp>
        <p:nvSpPr>
          <p:cNvPr id="28" name="Rectangle 42"/>
          <p:cNvSpPr>
            <a:spLocks noChangeArrowheads="1"/>
          </p:cNvSpPr>
          <p:nvPr/>
        </p:nvSpPr>
        <p:spPr bwMode="auto">
          <a:xfrm>
            <a:off x="6645064" y="4329073"/>
            <a:ext cx="587975" cy="419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2400" b="1" dirty="0">
                <a:latin typeface="Times New Roman" panose="02020603050405020304" pitchFamily="18" charset="0"/>
              </a:rPr>
              <a:t>*</a:t>
            </a:r>
          </a:p>
        </p:txBody>
      </p:sp>
      <p:sp>
        <p:nvSpPr>
          <p:cNvPr id="29" name="AutoShape 49"/>
          <p:cNvSpPr>
            <a:spLocks noChangeArrowheads="1"/>
          </p:cNvSpPr>
          <p:nvPr/>
        </p:nvSpPr>
        <p:spPr bwMode="auto">
          <a:xfrm>
            <a:off x="1633279" y="4674683"/>
            <a:ext cx="475980" cy="316737"/>
          </a:xfrm>
          <a:prstGeom prst="rightArrow">
            <a:avLst>
              <a:gd name="adj1" fmla="val 50000"/>
              <a:gd name="adj2" fmla="val 37569"/>
            </a:avLst>
          </a:prstGeom>
          <a:noFill/>
          <a:ln w="12700">
            <a:solidFill>
              <a:schemeClr val="tx1"/>
            </a:solidFill>
            <a:miter lim="800000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30" name="内容占位符 1"/>
          <p:cNvSpPr>
            <a:spLocks noGrp="1"/>
          </p:cNvSpPr>
          <p:nvPr>
            <p:ph idx="1"/>
          </p:nvPr>
        </p:nvSpPr>
        <p:spPr>
          <a:xfrm>
            <a:off x="404397" y="2020823"/>
            <a:ext cx="2799451" cy="6160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正整常数格式</a:t>
            </a:r>
            <a:r>
              <a:rPr lang="zh-CN" altLang="en-US" sz="3200" b="1" dirty="0">
                <a:latin typeface="宋体" panose="02010600030101010101" pitchFamily="2" charset="-122"/>
              </a:rPr>
              <a:t>：</a:t>
            </a:r>
            <a:endParaRPr lang="en-US" altLang="zh-CN" dirty="0">
              <a:latin typeface="宋体" panose="02010600030101010101" pitchFamily="2" charset="-122"/>
            </a:endParaRPr>
          </a:p>
        </p:txBody>
      </p:sp>
      <p:sp>
        <p:nvSpPr>
          <p:cNvPr id="31" name="内容占位符 1"/>
          <p:cNvSpPr txBox="1"/>
          <p:nvPr/>
        </p:nvSpPr>
        <p:spPr>
          <a:xfrm>
            <a:off x="583229" y="2725689"/>
            <a:ext cx="748411" cy="495671"/>
          </a:xfrm>
          <a:prstGeom prst="rect">
            <a:avLst/>
          </a:prstGeom>
        </p:spPr>
        <p:txBody>
          <a:bodyPr vert="horz" lIns="91440" tIns="45720" rIns="91440" bIns="45720" rtlCol="0">
            <a:normAutofit fontScale="52500"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Font typeface="Symbol" panose="05050102010706020507" pitchFamily="18" charset="2"/>
              <a:buNone/>
            </a:pPr>
            <a:r>
              <a:rPr lang="zh-CN" altLang="en-US" dirty="0">
                <a:latin typeface="宋体" panose="02010600030101010101" pitchFamily="2" charset="-122"/>
              </a:rPr>
              <a:t>数字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0" indent="0">
              <a:lnSpc>
                <a:spcPct val="70000"/>
              </a:lnSpc>
              <a:buFont typeface="Symbol" panose="05050102010706020507" pitchFamily="18" charset="2"/>
              <a:buNone/>
            </a:pPr>
            <a:r>
              <a:rPr lang="en-US" altLang="zh-CN" dirty="0">
                <a:latin typeface="宋体" panose="02010600030101010101" pitchFamily="2" charset="-122"/>
              </a:rPr>
              <a:t>1-9</a:t>
            </a:r>
            <a:endParaRPr lang="en-US" dirty="0">
              <a:latin typeface="宋体" panose="02010600030101010101" pitchFamily="2" charset="-122"/>
            </a:endParaRPr>
          </a:p>
        </p:txBody>
      </p:sp>
      <p:sp>
        <p:nvSpPr>
          <p:cNvPr id="35" name="内容占位符 1"/>
          <p:cNvSpPr txBox="1"/>
          <p:nvPr/>
        </p:nvSpPr>
        <p:spPr>
          <a:xfrm>
            <a:off x="5346548" y="2725689"/>
            <a:ext cx="1545601" cy="495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Font typeface="Symbol" panose="05050102010706020507" pitchFamily="18" charset="2"/>
              <a:buNone/>
            </a:pPr>
            <a:r>
              <a:rPr lang="zh-CN" altLang="en-US" dirty="0">
                <a:latin typeface="宋体" panose="02010600030101010101" pitchFamily="2" charset="-122"/>
              </a:rPr>
              <a:t>其他字符</a:t>
            </a:r>
            <a:endParaRPr lang="en-US" dirty="0">
              <a:latin typeface="宋体" panose="02010600030101010101" pitchFamily="2" charset="-122"/>
            </a:endParaRPr>
          </a:p>
        </p:txBody>
      </p:sp>
      <p:sp>
        <p:nvSpPr>
          <p:cNvPr id="36" name="内容占位符 1"/>
          <p:cNvSpPr txBox="1"/>
          <p:nvPr/>
        </p:nvSpPr>
        <p:spPr>
          <a:xfrm>
            <a:off x="1633279" y="2725688"/>
            <a:ext cx="4486069" cy="4956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zh-CN" altLang="en-US" dirty="0">
                <a:latin typeface="宋体" panose="02010600030101010101" pitchFamily="2" charset="-122"/>
              </a:rPr>
              <a:t>数字 数字 数字 </a:t>
            </a:r>
            <a:r>
              <a:rPr lang="en-US" dirty="0">
                <a:latin typeface="宋体" panose="02010600030101010101" pitchFamily="2" charset="-122"/>
              </a:rPr>
              <a:t>…… </a:t>
            </a:r>
            <a:r>
              <a:rPr lang="zh-CN" altLang="en-US" dirty="0">
                <a:latin typeface="宋体" panose="02010600030101010101" pitchFamily="2" charset="-122"/>
              </a:rPr>
              <a:t>数字</a:t>
            </a:r>
            <a:endParaRPr lang="en-US" dirty="0">
              <a:latin typeface="宋体" panose="02010600030101010101" pitchFamily="2" charset="-122"/>
            </a:endParaRPr>
          </a:p>
        </p:txBody>
      </p:sp>
      <p:sp>
        <p:nvSpPr>
          <p:cNvPr id="37" name="内容占位符 1"/>
          <p:cNvSpPr txBox="1"/>
          <p:nvPr/>
        </p:nvSpPr>
        <p:spPr>
          <a:xfrm>
            <a:off x="583229" y="5517232"/>
            <a:ext cx="4763319" cy="616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常数的状态转换图？</a:t>
            </a:r>
            <a:endParaRPr lang="en-US" altLang="zh-CN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rgbClr val="073E87"/>
                </a:solidFill>
              </a:rPr>
              <a:t>邓伏虎</a:t>
            </a:r>
            <a:endParaRPr lang="zh-CN" altLang="en-US" dirty="0">
              <a:solidFill>
                <a:srgbClr val="073E87"/>
              </a:solidFill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73E87"/>
                </a:solidFill>
              </a:rPr>
              <a:t>信息与软件工程学院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73E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zh-CN" altLang="en-US" dirty="0">
              <a:solidFill>
                <a:srgbClr val="073E8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3" grpId="0" animBg="1"/>
      <p:bldP spid="25" grpId="0"/>
      <p:bldP spid="26" grpId="0"/>
      <p:bldP spid="20" grpId="0" animBg="1"/>
      <p:bldP spid="20" grpId="1" animBg="1"/>
      <p:bldP spid="20" grpId="2" animBg="1"/>
      <p:bldP spid="20" grpId="3" animBg="1"/>
      <p:bldP spid="20" grpId="4" animBg="1"/>
      <p:bldP spid="27" grpId="0"/>
      <p:bldP spid="19" grpId="0" animBg="1"/>
      <p:bldP spid="21" grpId="0" animBg="1"/>
      <p:bldP spid="22" grpId="0" animBg="1"/>
      <p:bldP spid="28" grpId="0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800" dirty="0"/>
              <a:t>问题：状态转换图与程序的关系？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猜想：每一个状态结对应一小段程序。</a:t>
            </a:r>
            <a:endParaRPr lang="en-US" altLang="zh-CN" sz="2800" dirty="0"/>
          </a:p>
          <a:p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3.3 </a:t>
            </a:r>
            <a:r>
              <a:rPr lang="zh-CN" altLang="en-US" sz="36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状态转换图</a:t>
            </a:r>
            <a:endParaRPr lang="en-US" sz="36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" name="Group 3"/>
          <p:cNvGrpSpPr/>
          <p:nvPr/>
        </p:nvGrpSpPr>
        <p:grpSpPr bwMode="auto">
          <a:xfrm>
            <a:off x="0" y="3423728"/>
            <a:ext cx="2460394" cy="2700133"/>
            <a:chOff x="340" y="1978"/>
            <a:chExt cx="1406" cy="1543"/>
          </a:xfrm>
        </p:grpSpPr>
        <p:sp>
          <p:nvSpPr>
            <p:cNvPr id="8" name="Oval 4"/>
            <p:cNvSpPr>
              <a:spLocks noChangeArrowheads="1"/>
            </p:cNvSpPr>
            <p:nvPr/>
          </p:nvSpPr>
          <p:spPr bwMode="auto">
            <a:xfrm>
              <a:off x="340" y="2614"/>
              <a:ext cx="317" cy="31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 dirty="0" err="1"/>
                <a:t>i</a:t>
              </a:r>
              <a:endParaRPr lang="en-US" altLang="zh-CN" sz="2400" b="1" dirty="0"/>
            </a:p>
          </p:txBody>
        </p:sp>
        <p:sp>
          <p:nvSpPr>
            <p:cNvPr id="9" name="Oval 5"/>
            <p:cNvSpPr>
              <a:spLocks noChangeArrowheads="1"/>
            </p:cNvSpPr>
            <p:nvPr/>
          </p:nvSpPr>
          <p:spPr bwMode="auto">
            <a:xfrm>
              <a:off x="1429" y="2024"/>
              <a:ext cx="317" cy="31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 dirty="0"/>
                <a:t>j</a:t>
              </a:r>
            </a:p>
          </p:txBody>
        </p:sp>
        <p:sp>
          <p:nvSpPr>
            <p:cNvPr id="10" name="Oval 6"/>
            <p:cNvSpPr>
              <a:spLocks noChangeArrowheads="1"/>
            </p:cNvSpPr>
            <p:nvPr/>
          </p:nvSpPr>
          <p:spPr bwMode="auto">
            <a:xfrm>
              <a:off x="1429" y="2614"/>
              <a:ext cx="317" cy="31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 dirty="0"/>
                <a:t>k</a:t>
              </a:r>
            </a:p>
          </p:txBody>
        </p:sp>
        <p:sp>
          <p:nvSpPr>
            <p:cNvPr id="11" name="Oval 7"/>
            <p:cNvSpPr>
              <a:spLocks noChangeArrowheads="1"/>
            </p:cNvSpPr>
            <p:nvPr/>
          </p:nvSpPr>
          <p:spPr bwMode="auto">
            <a:xfrm>
              <a:off x="1429" y="3203"/>
              <a:ext cx="317" cy="31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 dirty="0"/>
                <a:t>l</a:t>
              </a:r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657" y="2795"/>
              <a:ext cx="7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9"/>
            <p:cNvSpPr/>
            <p:nvPr/>
          </p:nvSpPr>
          <p:spPr bwMode="auto">
            <a:xfrm>
              <a:off x="461" y="2160"/>
              <a:ext cx="968" cy="454"/>
            </a:xfrm>
            <a:custGeom>
              <a:avLst/>
              <a:gdLst>
                <a:gd name="T0" fmla="*/ 60 w 968"/>
                <a:gd name="T1" fmla="*/ 454 h 454"/>
                <a:gd name="T2" fmla="*/ 151 w 968"/>
                <a:gd name="T3" fmla="*/ 136 h 454"/>
                <a:gd name="T4" fmla="*/ 968 w 968"/>
                <a:gd name="T5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8" h="454">
                  <a:moveTo>
                    <a:pt x="60" y="454"/>
                  </a:moveTo>
                  <a:cubicBezTo>
                    <a:pt x="30" y="333"/>
                    <a:pt x="0" y="212"/>
                    <a:pt x="151" y="136"/>
                  </a:cubicBezTo>
                  <a:cubicBezTo>
                    <a:pt x="302" y="60"/>
                    <a:pt x="635" y="30"/>
                    <a:pt x="968" y="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0"/>
            <p:cNvSpPr/>
            <p:nvPr/>
          </p:nvSpPr>
          <p:spPr bwMode="auto">
            <a:xfrm>
              <a:off x="461" y="2931"/>
              <a:ext cx="968" cy="408"/>
            </a:xfrm>
            <a:custGeom>
              <a:avLst/>
              <a:gdLst>
                <a:gd name="T0" fmla="*/ 60 w 968"/>
                <a:gd name="T1" fmla="*/ 0 h 408"/>
                <a:gd name="T2" fmla="*/ 151 w 968"/>
                <a:gd name="T3" fmla="*/ 272 h 408"/>
                <a:gd name="T4" fmla="*/ 968 w 968"/>
                <a:gd name="T5" fmla="*/ 408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8" h="408">
                  <a:moveTo>
                    <a:pt x="60" y="0"/>
                  </a:moveTo>
                  <a:cubicBezTo>
                    <a:pt x="30" y="102"/>
                    <a:pt x="0" y="204"/>
                    <a:pt x="151" y="272"/>
                  </a:cubicBezTo>
                  <a:cubicBezTo>
                    <a:pt x="302" y="340"/>
                    <a:pt x="635" y="374"/>
                    <a:pt x="968" y="408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690" y="1978"/>
              <a:ext cx="457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/>
                <a:t>字母</a:t>
              </a:r>
            </a:p>
          </p:txBody>
        </p:sp>
        <p:sp>
          <p:nvSpPr>
            <p:cNvPr id="16" name="Text Box 12"/>
            <p:cNvSpPr txBox="1">
              <a:spLocks noChangeArrowheads="1"/>
            </p:cNvSpPr>
            <p:nvPr/>
          </p:nvSpPr>
          <p:spPr bwMode="auto">
            <a:xfrm>
              <a:off x="793" y="2519"/>
              <a:ext cx="457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/>
                <a:t>数字</a:t>
              </a:r>
              <a:endParaRPr lang="zh-CN" altLang="en-US" sz="2645" b="1" dirty="0"/>
            </a:p>
          </p:txBody>
        </p:sp>
        <p:sp>
          <p:nvSpPr>
            <p:cNvPr id="17" name="Text Box 13"/>
            <p:cNvSpPr txBox="1">
              <a:spLocks noChangeArrowheads="1"/>
            </p:cNvSpPr>
            <p:nvPr/>
          </p:nvSpPr>
          <p:spPr bwMode="auto">
            <a:xfrm>
              <a:off x="793" y="2976"/>
              <a:ext cx="152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 dirty="0"/>
                <a:t>\</a:t>
              </a:r>
              <a:endParaRPr lang="en-US" altLang="zh-CN" sz="2000" b="1" dirty="0"/>
            </a:p>
          </p:txBody>
        </p:sp>
      </p:grpSp>
      <p:sp>
        <p:nvSpPr>
          <p:cNvPr id="18" name="矩形 17"/>
          <p:cNvSpPr/>
          <p:nvPr/>
        </p:nvSpPr>
        <p:spPr>
          <a:xfrm>
            <a:off x="2843808" y="3125660"/>
            <a:ext cx="5616624" cy="108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1" indent="-27432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</a:pP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对不含回路的分叉结，可用一组</a:t>
            </a:r>
            <a:r>
              <a:rPr lang="en-US" altLang="zh-CN" sz="2400" noProof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IF-THEN-ELSE</a:t>
            </a: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语句或一个</a:t>
            </a:r>
            <a:r>
              <a:rPr lang="en-US" altLang="zh-CN" sz="2400" noProof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zh-CN" altLang="en-US" sz="2400" noProof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语句实现</a:t>
            </a:r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2555776" y="3894621"/>
            <a:ext cx="6480720" cy="1938992"/>
          </a:xfrm>
          <a:prstGeom prst="rect">
            <a:avLst/>
          </a:prstGeom>
          <a:solidFill>
            <a:srgbClr val="FFFF99"/>
          </a:solidFill>
          <a:ln w="12700">
            <a:solidFill>
              <a:srgbClr val="FF3300"/>
            </a:solidFill>
            <a:miter lim="800000"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987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 err="1">
                <a:solidFill>
                  <a:schemeClr val="accent2"/>
                </a:solidFill>
              </a:rPr>
              <a:t>getChar</a:t>
            </a:r>
            <a:r>
              <a:rPr lang="en-US" altLang="zh-CN" b="1" dirty="0">
                <a:solidFill>
                  <a:schemeClr val="accent2"/>
                </a:solidFill>
              </a:rPr>
              <a:t>( )</a:t>
            </a:r>
            <a:r>
              <a:rPr lang="en-US" altLang="zh-CN" b="1" dirty="0"/>
              <a:t>;</a:t>
            </a:r>
          </a:p>
          <a:p>
            <a:pPr eaLnBrk="1" hangingPunct="1"/>
            <a:r>
              <a:rPr lang="en-US" altLang="zh-CN" b="1" dirty="0"/>
              <a:t>if (</a:t>
            </a:r>
            <a:r>
              <a:rPr lang="en-US" altLang="zh-CN" b="1" dirty="0">
                <a:solidFill>
                  <a:schemeClr val="accent2"/>
                </a:solidFill>
              </a:rPr>
              <a:t>letter( )</a:t>
            </a:r>
            <a:r>
              <a:rPr lang="en-US" altLang="zh-CN" b="1" dirty="0"/>
              <a:t>) {…</a:t>
            </a:r>
            <a:r>
              <a:rPr lang="zh-CN" altLang="en-US" b="1" dirty="0"/>
              <a:t>状态</a:t>
            </a:r>
            <a:r>
              <a:rPr lang="en-US" altLang="zh-CN" b="1" dirty="0"/>
              <a:t>j</a:t>
            </a:r>
            <a:r>
              <a:rPr lang="zh-CN" altLang="en-US" b="1" dirty="0"/>
              <a:t>的对应程序段</a:t>
            </a:r>
            <a:r>
              <a:rPr lang="en-US" altLang="zh-CN" b="1" dirty="0"/>
              <a:t>…;}</a:t>
            </a:r>
          </a:p>
          <a:p>
            <a:pPr eaLnBrk="1" hangingPunct="1"/>
            <a:r>
              <a:rPr lang="en-US" altLang="zh-CN" b="1" dirty="0"/>
              <a:t>else if (</a:t>
            </a:r>
            <a:r>
              <a:rPr lang="en-US" altLang="zh-CN" b="1" dirty="0">
                <a:solidFill>
                  <a:schemeClr val="accent2"/>
                </a:solidFill>
              </a:rPr>
              <a:t>digit( )</a:t>
            </a:r>
            <a:r>
              <a:rPr lang="en-US" altLang="zh-CN" b="1" dirty="0"/>
              <a:t>) {…</a:t>
            </a:r>
            <a:r>
              <a:rPr lang="zh-CN" altLang="en-US" b="1" dirty="0"/>
              <a:t>状态</a:t>
            </a:r>
            <a:r>
              <a:rPr lang="en-US" altLang="zh-CN" b="1" dirty="0"/>
              <a:t>k</a:t>
            </a:r>
            <a:r>
              <a:rPr lang="zh-CN" altLang="en-US" b="1" dirty="0"/>
              <a:t>的对应程序段</a:t>
            </a:r>
            <a:r>
              <a:rPr lang="en-US" altLang="zh-CN" b="1" dirty="0"/>
              <a:t>…;}</a:t>
            </a:r>
          </a:p>
          <a:p>
            <a:pPr eaLnBrk="1" hangingPunct="1"/>
            <a:r>
              <a:rPr lang="en-US" altLang="zh-CN" b="1" dirty="0"/>
              <a:t>else if (</a:t>
            </a:r>
            <a:r>
              <a:rPr lang="en-US" altLang="zh-CN" b="1" dirty="0" err="1">
                <a:solidFill>
                  <a:schemeClr val="accent2"/>
                </a:solidFill>
              </a:rPr>
              <a:t>ch</a:t>
            </a:r>
            <a:r>
              <a:rPr lang="en-US" altLang="zh-CN" b="1" dirty="0">
                <a:solidFill>
                  <a:schemeClr val="accent2"/>
                </a:solidFill>
              </a:rPr>
              <a:t>=‘\’</a:t>
            </a:r>
            <a:r>
              <a:rPr lang="en-US" altLang="zh-CN" b="1" dirty="0"/>
              <a:t>) {…</a:t>
            </a:r>
            <a:r>
              <a:rPr lang="zh-CN" altLang="en-US" b="1" dirty="0"/>
              <a:t>状态</a:t>
            </a:r>
            <a:r>
              <a:rPr lang="en-US" altLang="zh-CN" b="1" dirty="0"/>
              <a:t>l</a:t>
            </a:r>
            <a:r>
              <a:rPr lang="zh-CN" altLang="en-US" b="1" dirty="0"/>
              <a:t>的对应程序段</a:t>
            </a:r>
            <a:r>
              <a:rPr lang="en-US" altLang="zh-CN" b="1" dirty="0"/>
              <a:t>…;}</a:t>
            </a:r>
          </a:p>
          <a:p>
            <a:pPr eaLnBrk="1" hangingPunct="1"/>
            <a:r>
              <a:rPr lang="en-US" altLang="zh-CN" b="1" dirty="0"/>
              <a:t>else {…</a:t>
            </a:r>
            <a:r>
              <a:rPr lang="zh-CN" altLang="en-US" b="1" dirty="0"/>
              <a:t>错误处理</a:t>
            </a:r>
            <a:r>
              <a:rPr lang="en-US" altLang="zh-CN" b="1" dirty="0"/>
              <a:t>…;}</a:t>
            </a:r>
          </a:p>
        </p:txBody>
      </p:sp>
      <p:sp>
        <p:nvSpPr>
          <p:cNvPr id="20" name="日期占位符 19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rgbClr val="073E87"/>
                </a:solidFill>
              </a:rPr>
              <a:t>邓伏虎</a:t>
            </a:r>
            <a:endParaRPr lang="zh-CN" altLang="en-US" dirty="0">
              <a:solidFill>
                <a:srgbClr val="073E87"/>
              </a:solidFill>
            </a:endParaRPr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73E87"/>
                </a:solidFill>
              </a:rPr>
              <a:t>信息与软件工程学院</a:t>
            </a:r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73E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zh-CN" altLang="en-US" dirty="0">
              <a:solidFill>
                <a:srgbClr val="073E8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41278" y="1937120"/>
            <a:ext cx="8320210" cy="576064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dirty="0"/>
              <a:t>对含有回路的状态结，对应的程序又是怎么样的呢？</a:t>
            </a:r>
            <a:endParaRPr lang="en-US" altLang="zh-CN" sz="2800" dirty="0"/>
          </a:p>
          <a:p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3.3 </a:t>
            </a:r>
            <a:r>
              <a:rPr lang="zh-CN" altLang="en-US" sz="36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状态转换图</a:t>
            </a:r>
            <a:endParaRPr lang="en-US" sz="36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" name="Group 3"/>
          <p:cNvGrpSpPr/>
          <p:nvPr/>
        </p:nvGrpSpPr>
        <p:grpSpPr bwMode="auto">
          <a:xfrm>
            <a:off x="452766" y="2623480"/>
            <a:ext cx="3095616" cy="1748174"/>
            <a:chOff x="2426" y="1933"/>
            <a:chExt cx="1769" cy="999"/>
          </a:xfrm>
        </p:grpSpPr>
        <p:sp>
          <p:nvSpPr>
            <p:cNvPr id="8" name="Oval 4"/>
            <p:cNvSpPr>
              <a:spLocks noChangeArrowheads="1"/>
            </p:cNvSpPr>
            <p:nvPr/>
          </p:nvSpPr>
          <p:spPr bwMode="auto">
            <a:xfrm>
              <a:off x="2789" y="2614"/>
              <a:ext cx="317" cy="31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 dirty="0" err="1"/>
                <a:t>i</a:t>
              </a:r>
              <a:endParaRPr lang="en-US" altLang="zh-CN" sz="2400" b="1" dirty="0"/>
            </a:p>
          </p:txBody>
        </p:sp>
        <p:sp>
          <p:nvSpPr>
            <p:cNvPr id="9" name="Freeform 5"/>
            <p:cNvSpPr/>
            <p:nvPr/>
          </p:nvSpPr>
          <p:spPr bwMode="auto">
            <a:xfrm>
              <a:off x="2835" y="2251"/>
              <a:ext cx="226" cy="408"/>
            </a:xfrm>
            <a:custGeom>
              <a:avLst/>
              <a:gdLst>
                <a:gd name="T0" fmla="*/ 226 w 226"/>
                <a:gd name="T1" fmla="*/ 408 h 408"/>
                <a:gd name="T2" fmla="*/ 136 w 226"/>
                <a:gd name="T3" fmla="*/ 0 h 408"/>
                <a:gd name="T4" fmla="*/ 0 w 226"/>
                <a:gd name="T5" fmla="*/ 408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6" h="408">
                  <a:moveTo>
                    <a:pt x="226" y="408"/>
                  </a:moveTo>
                  <a:cubicBezTo>
                    <a:pt x="200" y="204"/>
                    <a:pt x="174" y="0"/>
                    <a:pt x="136" y="0"/>
                  </a:cubicBezTo>
                  <a:cubicBezTo>
                    <a:pt x="98" y="0"/>
                    <a:pt x="49" y="204"/>
                    <a:pt x="0" y="408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2426" y="1933"/>
              <a:ext cx="113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400" b="1" dirty="0"/>
                <a:t>字母或数字</a:t>
              </a:r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3107" y="2795"/>
              <a:ext cx="77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3243" y="2523"/>
              <a:ext cx="457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/>
                <a:t>其它</a:t>
              </a:r>
            </a:p>
          </p:txBody>
        </p:sp>
        <p:sp>
          <p:nvSpPr>
            <p:cNvPr id="13" name="Oval 9"/>
            <p:cNvSpPr>
              <a:spLocks noChangeArrowheads="1"/>
            </p:cNvSpPr>
            <p:nvPr/>
          </p:nvSpPr>
          <p:spPr bwMode="auto">
            <a:xfrm>
              <a:off x="3878" y="2614"/>
              <a:ext cx="317" cy="31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 dirty="0"/>
                <a:t>j</a:t>
              </a:r>
              <a:endParaRPr lang="en-US" altLang="zh-CN" sz="3085" b="1" dirty="0"/>
            </a:p>
          </p:txBody>
        </p:sp>
      </p:grpSp>
      <p:sp>
        <p:nvSpPr>
          <p:cNvPr id="14" name="矩形 13"/>
          <p:cNvSpPr/>
          <p:nvPr/>
        </p:nvSpPr>
        <p:spPr>
          <a:xfrm>
            <a:off x="674250" y="4797152"/>
            <a:ext cx="7138109" cy="1353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spcBef>
                <a:spcPct val="20000"/>
              </a:spcBef>
              <a:buClr>
                <a:schemeClr val="accent1"/>
              </a:buClr>
              <a:buSzPct val="100000"/>
              <a:buNone/>
            </a:pPr>
            <a:r>
              <a:rPr lang="zh-CN" altLang="en-US" sz="2800" noProof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一段由</a:t>
            </a:r>
            <a:r>
              <a:rPr lang="en-US" altLang="zh-CN" sz="2800" noProof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zh-CN" altLang="en-US" sz="2800" noProof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结构和</a:t>
            </a:r>
            <a:r>
              <a:rPr lang="en-US" altLang="zh-CN" sz="2800" noProof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zh-CN" altLang="en-US" sz="2800" noProof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语句构成的程序</a:t>
            </a:r>
            <a:endParaRPr lang="en-US" altLang="zh-CN" sz="2800" noProof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noProof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b="1" noProof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dirty="0"/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3563888" y="2567930"/>
            <a:ext cx="5178028" cy="1938020"/>
          </a:xfrm>
          <a:prstGeom prst="rect">
            <a:avLst/>
          </a:prstGeom>
          <a:solidFill>
            <a:srgbClr val="FFFF99"/>
          </a:solidFill>
          <a:ln w="12700" algn="ctr">
            <a:solidFill>
              <a:srgbClr val="FF3300"/>
            </a:solidFill>
            <a:miter lim="800000"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9875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 err="1">
                <a:ea typeface="华文楷体" panose="02010600040101010101" pitchFamily="2" charset="-122"/>
                <a:cs typeface="Times New Roman" panose="02020603050405020304" pitchFamily="18" charset="0"/>
              </a:rPr>
              <a:t>getChar</a:t>
            </a:r>
            <a:r>
              <a:rPr lang="en-US" altLang="zh-CN" b="1" dirty="0">
                <a:ea typeface="华文楷体" panose="02010600040101010101" pitchFamily="2" charset="-122"/>
                <a:cs typeface="Times New Roman" panose="02020603050405020304" pitchFamily="18" charset="0"/>
              </a:rPr>
              <a:t>( );</a:t>
            </a:r>
          </a:p>
          <a:p>
            <a:pPr eaLnBrk="1" hangingPunct="1"/>
            <a:r>
              <a:rPr lang="en-US" altLang="zh-CN" b="1" dirty="0">
                <a:ea typeface="华文楷体" panose="02010600040101010101" pitchFamily="2" charset="-122"/>
                <a:cs typeface="Times New Roman" panose="02020603050405020304" pitchFamily="18" charset="0"/>
              </a:rPr>
              <a:t>while (letter( ) or digit( )){</a:t>
            </a:r>
          </a:p>
          <a:p>
            <a:pPr eaLnBrk="1" hangingPunct="1"/>
            <a:r>
              <a:rPr lang="en-US" altLang="zh-CN" b="1" dirty="0">
                <a:ea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 err="1">
                <a:ea typeface="华文楷体" panose="02010600040101010101" pitchFamily="2" charset="-122"/>
                <a:cs typeface="Times New Roman" panose="02020603050405020304" pitchFamily="18" charset="0"/>
              </a:rPr>
              <a:t>getChar</a:t>
            </a:r>
            <a:r>
              <a:rPr lang="en-US" altLang="zh-CN" b="1" dirty="0">
                <a:ea typeface="华文楷体" panose="02010600040101010101" pitchFamily="2" charset="-122"/>
                <a:cs typeface="Times New Roman" panose="02020603050405020304" pitchFamily="18" charset="0"/>
              </a:rPr>
              <a:t>( );</a:t>
            </a:r>
          </a:p>
          <a:p>
            <a:pPr eaLnBrk="1" hangingPunct="1"/>
            <a:r>
              <a:rPr lang="en-US" altLang="zh-CN" b="1" dirty="0">
                <a:ea typeface="华文楷体" panose="02010600040101010101" pitchFamily="2" charset="-122"/>
                <a:cs typeface="Times New Roman" panose="02020603050405020304" pitchFamily="18" charset="0"/>
              </a:rPr>
              <a:t>	if(</a:t>
            </a:r>
            <a:r>
              <a:rPr lang="zh-CN" altLang="en-US" b="1" dirty="0">
                <a:ea typeface="华文楷体" panose="02010600040101010101" pitchFamily="2" charset="-122"/>
                <a:cs typeface="Times New Roman" panose="02020603050405020304" pitchFamily="18" charset="0"/>
              </a:rPr>
              <a:t>其他</a:t>
            </a:r>
            <a:r>
              <a:rPr lang="en-US" altLang="zh-CN" b="1" dirty="0"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</a:p>
          <a:p>
            <a:pPr eaLnBrk="1" hangingPunct="1"/>
            <a:r>
              <a:rPr lang="en-US" altLang="zh-CN" b="1" dirty="0">
                <a:ea typeface="华文楷体" panose="02010600040101010101" pitchFamily="2" charset="-122"/>
                <a:cs typeface="Times New Roman" panose="02020603050405020304" pitchFamily="18" charset="0"/>
              </a:rPr>
              <a:t>	…</a:t>
            </a:r>
            <a:r>
              <a:rPr lang="zh-CN" altLang="en-US" b="1" dirty="0">
                <a:ea typeface="华文楷体" panose="02010600040101010101" pitchFamily="2" charset="-122"/>
                <a:cs typeface="Times New Roman" panose="02020603050405020304" pitchFamily="18" charset="0"/>
              </a:rPr>
              <a:t>状态</a:t>
            </a:r>
            <a:r>
              <a:rPr lang="en-US" altLang="zh-CN" b="1" dirty="0">
                <a:ea typeface="华文楷体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en-US" b="1" dirty="0">
                <a:ea typeface="华文楷体" panose="02010600040101010101" pitchFamily="2" charset="-122"/>
                <a:cs typeface="Times New Roman" panose="02020603050405020304" pitchFamily="18" charset="0"/>
              </a:rPr>
              <a:t>的对应程序段</a:t>
            </a:r>
            <a:r>
              <a:rPr lang="en-US" altLang="zh-CN" b="1" dirty="0">
                <a:ea typeface="华文楷体" panose="02010600040101010101" pitchFamily="2" charset="-122"/>
                <a:cs typeface="Times New Roman" panose="02020603050405020304" pitchFamily="18" charset="0"/>
              </a:rPr>
              <a:t>…}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rgbClr val="073E87"/>
                </a:solidFill>
              </a:rPr>
              <a:t>邓伏虎</a:t>
            </a:r>
            <a:endParaRPr lang="zh-CN" altLang="en-US" dirty="0">
              <a:solidFill>
                <a:srgbClr val="073E87"/>
              </a:solidFill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73E87"/>
                </a:solidFill>
              </a:rPr>
              <a:t>信息与软件工程学院</a:t>
            </a: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73E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zh-CN" altLang="en-US" dirty="0">
              <a:solidFill>
                <a:srgbClr val="073E8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sz="2800" dirty="0"/>
              <a:t>终态结点对应的程序</a:t>
            </a:r>
            <a:endParaRPr lang="en-US" altLang="zh-CN" sz="2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终态表示识别出某种单词符号，因此，对应的语句为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 algn="ctr">
              <a:lnSpc>
                <a:spcPct val="90000"/>
              </a:lnSpc>
              <a:spcAft>
                <a:spcPts val="600"/>
              </a:spcAft>
              <a:buNone/>
            </a:pPr>
            <a:r>
              <a:rPr lang="zh-CN" altLang="en-US" sz="2800" noProof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noProof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(C，VAL);</a:t>
            </a:r>
          </a:p>
          <a:p>
            <a:pPr marL="0" lvl="1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altLang="zh-CN" sz="2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其中，</a:t>
            </a:r>
            <a:r>
              <a:rPr lang="en-US" altLang="zh-CN" sz="2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为单词种别，</a:t>
            </a:r>
            <a:r>
              <a:rPr lang="en-US" altLang="zh-CN" sz="2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zh-CN" altLang="en-US" sz="2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为单词属性值.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3.3 </a:t>
            </a:r>
            <a:r>
              <a:rPr lang="zh-CN" altLang="en-US" sz="36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状态转换图</a:t>
            </a:r>
            <a:endParaRPr lang="en-US" sz="36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930103" y="2989447"/>
            <a:ext cx="2037611" cy="631722"/>
            <a:chOff x="930103" y="2989447"/>
            <a:chExt cx="2037611" cy="631722"/>
          </a:xfrm>
        </p:grpSpPr>
        <p:sp>
          <p:nvSpPr>
            <p:cNvPr id="7" name="Oval 20"/>
            <p:cNvSpPr>
              <a:spLocks noChangeArrowheads="1"/>
            </p:cNvSpPr>
            <p:nvPr/>
          </p:nvSpPr>
          <p:spPr bwMode="auto">
            <a:xfrm>
              <a:off x="2267744" y="2989447"/>
              <a:ext cx="699970" cy="631722"/>
            </a:xfrm>
            <a:prstGeom prst="ellipse">
              <a:avLst/>
            </a:prstGeom>
            <a:noFill/>
            <a:ln w="92075" cmpd="dbl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58733" tIns="0" rIns="158733" bIns="0"/>
            <a:lstStyle/>
            <a:p>
              <a:pPr algn="just" eaLnBrk="0" hangingPunct="0"/>
              <a:r>
                <a:rPr kumimoji="1" lang="en-US" altLang="zh-CN" sz="2400" b="1" dirty="0">
                  <a:latin typeface="Times New Roman" panose="02020603050405020304" pitchFamily="18" charset="0"/>
                </a:rPr>
                <a:t>3</a:t>
              </a:r>
              <a:endParaRPr kumimoji="1"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8" name="Line 22"/>
            <p:cNvSpPr>
              <a:spLocks noChangeShapeType="1"/>
            </p:cNvSpPr>
            <p:nvPr/>
          </p:nvSpPr>
          <p:spPr bwMode="auto">
            <a:xfrm>
              <a:off x="930103" y="3277133"/>
              <a:ext cx="1336943" cy="17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58733" tIns="119050" rIns="119050" bIns="119050"/>
            <a:lstStyle/>
            <a:p>
              <a:endParaRPr lang="zh-CN" altLang="en-US" sz="1600"/>
            </a:p>
          </p:txBody>
        </p:sp>
      </p:grp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rgbClr val="073E87"/>
                </a:solidFill>
              </a:rPr>
              <a:t>邓伏虎</a:t>
            </a:r>
            <a:endParaRPr lang="zh-CN" altLang="en-US" dirty="0">
              <a:solidFill>
                <a:srgbClr val="073E87"/>
              </a:solidFill>
            </a:endParaRPr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73E87"/>
                </a:solidFill>
              </a:rPr>
              <a:t>信息与软件工程学院</a:t>
            </a: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73E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zh-CN" altLang="en-US" dirty="0">
              <a:solidFill>
                <a:srgbClr val="073E8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lang="zh-CN" altLang="en-US"/>
              <a:t>状态转换图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747" name="组合 46083"/>
          <p:cNvGrpSpPr/>
          <p:nvPr/>
        </p:nvGrpSpPr>
        <p:grpSpPr>
          <a:xfrm>
            <a:off x="1965008" y="2061845"/>
            <a:ext cx="5203825" cy="1606550"/>
            <a:chOff x="0" y="0"/>
            <a:chExt cx="3278" cy="1012"/>
          </a:xfrm>
        </p:grpSpPr>
        <p:sp>
          <p:nvSpPr>
            <p:cNvPr id="31748" name="Oval 144"/>
            <p:cNvSpPr/>
            <p:nvPr>
              <p:custDataLst>
                <p:tags r:id="rId13"/>
              </p:custDataLst>
            </p:nvPr>
          </p:nvSpPr>
          <p:spPr>
            <a:xfrm>
              <a:off x="623" y="621"/>
              <a:ext cx="374" cy="391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79200" tIns="28800" rIns="90000" bIns="46800" anchor="t" anchorCtr="0"/>
            <a:lstStyle/>
            <a:p>
              <a:pPr algn="ctr" hangingPunct="0"/>
              <a:endPara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1749" name="Oval 145"/>
            <p:cNvSpPr/>
            <p:nvPr>
              <p:custDataLst>
                <p:tags r:id="rId14"/>
              </p:custDataLst>
            </p:nvPr>
          </p:nvSpPr>
          <p:spPr>
            <a:xfrm>
              <a:off x="1757" y="621"/>
              <a:ext cx="374" cy="391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1600" tIns="28800" rIns="21600" bIns="46800" anchor="t" anchorCtr="0"/>
            <a:lstStyle/>
            <a:p>
              <a:pPr algn="ctr" hangingPunct="0"/>
              <a:endPara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1750" name="组合 46086"/>
            <p:cNvGrpSpPr/>
            <p:nvPr/>
          </p:nvGrpSpPr>
          <p:grpSpPr>
            <a:xfrm>
              <a:off x="2904" y="621"/>
              <a:ext cx="374" cy="391"/>
              <a:chOff x="0" y="0"/>
              <a:chExt cx="425" cy="425"/>
            </a:xfrm>
          </p:grpSpPr>
          <p:sp>
            <p:nvSpPr>
              <p:cNvPr id="31751" name="Oval 147"/>
              <p:cNvSpPr/>
              <p:nvPr>
                <p:custDataLst>
                  <p:tags r:id="rId23"/>
                </p:custDataLst>
              </p:nvPr>
            </p:nvSpPr>
            <p:spPr>
              <a:xfrm>
                <a:off x="0" y="0"/>
                <a:ext cx="425" cy="425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7200" tIns="0" rIns="7200" bIns="0" anchor="t" anchorCtr="0"/>
              <a:lstStyle/>
              <a:p>
                <a:pPr algn="just" hangingPunct="0"/>
                <a:endParaRPr lang="zh-CN" altLang="en-US" sz="1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752" name="Oval 148"/>
              <p:cNvSpPr/>
              <p:nvPr>
                <p:custDataLst>
                  <p:tags r:id="rId24"/>
                </p:custDataLst>
              </p:nvPr>
            </p:nvSpPr>
            <p:spPr>
              <a:xfrm>
                <a:off x="60" y="56"/>
                <a:ext cx="312" cy="31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7200" tIns="0" rIns="7200" bIns="0" anchor="t" anchorCtr="0"/>
              <a:lstStyle/>
              <a:p>
                <a:pPr algn="just" hangingPunct="0"/>
                <a:endPara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1753" name="Line 150"/>
            <p:cNvSpPr/>
            <p:nvPr>
              <p:custDataLst>
                <p:tags r:id="rId15"/>
              </p:custDataLst>
            </p:nvPr>
          </p:nvSpPr>
          <p:spPr>
            <a:xfrm flipV="1">
              <a:off x="997" y="816"/>
              <a:ext cx="751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med"/>
            </a:ln>
          </p:spPr>
          <p:txBody>
            <a:bodyPr anchor="t" anchorCtr="0"/>
            <a:lstStyle/>
            <a:p>
              <a:pPr hangingPunct="0"/>
              <a:endParaRPr lang="zh-CN" altLang="en-US">
                <a:latin typeface="Arial" panose="020B0604020202020204" pitchFamily="34" charset="0"/>
                <a:ea typeface="楷体_GB2312" pitchFamily="1" charset="-122"/>
              </a:endParaRPr>
            </a:p>
          </p:txBody>
        </p:sp>
        <p:sp>
          <p:nvSpPr>
            <p:cNvPr id="31754" name="Rectangle 151"/>
            <p:cNvSpPr/>
            <p:nvPr>
              <p:custDataLst>
                <p:tags r:id="rId16"/>
              </p:custDataLst>
            </p:nvPr>
          </p:nvSpPr>
          <p:spPr>
            <a:xfrm>
              <a:off x="0" y="488"/>
              <a:ext cx="606" cy="29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28800" rIns="54000" bIns="28800" anchor="t" anchorCtr="0"/>
            <a:lstStyle/>
            <a:p>
              <a:pPr algn="just" hangingPunct="0"/>
              <a:r>
                <a:rPr lang="zh-CN" altLang="en-US" sz="2800" b="1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开始</a:t>
              </a:r>
            </a:p>
          </p:txBody>
        </p:sp>
        <p:sp>
          <p:nvSpPr>
            <p:cNvPr id="31755" name="Rectangle 152"/>
            <p:cNvSpPr/>
            <p:nvPr>
              <p:custDataLst>
                <p:tags r:id="rId17"/>
              </p:custDataLst>
            </p:nvPr>
          </p:nvSpPr>
          <p:spPr>
            <a:xfrm>
              <a:off x="1045" y="644"/>
              <a:ext cx="624" cy="28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28800" rIns="54000" bIns="28800" anchor="t" anchorCtr="0"/>
            <a:lstStyle/>
            <a:p>
              <a:pPr algn="ctr" hangingPunct="0"/>
              <a:r>
                <a:rPr lang="en-US" altLang="zh-CN" sz="28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"</a:t>
              </a:r>
            </a:p>
            <a:p>
              <a:pPr algn="just" hangingPunct="0"/>
              <a:endPara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1756" name="Line 153"/>
            <p:cNvSpPr/>
            <p:nvPr>
              <p:custDataLst>
                <p:tags r:id="rId18"/>
              </p:custDataLst>
            </p:nvPr>
          </p:nvSpPr>
          <p:spPr>
            <a:xfrm flipV="1">
              <a:off x="2144" y="816"/>
              <a:ext cx="75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med"/>
            </a:ln>
          </p:spPr>
          <p:txBody>
            <a:bodyPr anchor="t" anchorCtr="0"/>
            <a:lstStyle/>
            <a:p>
              <a:pPr hangingPunct="0"/>
              <a:endParaRPr lang="zh-CN" altLang="en-US">
                <a:latin typeface="Arial" panose="020B0604020202020204" pitchFamily="34" charset="0"/>
                <a:ea typeface="楷体_GB2312" pitchFamily="1" charset="-122"/>
              </a:endParaRPr>
            </a:p>
          </p:txBody>
        </p:sp>
        <p:sp>
          <p:nvSpPr>
            <p:cNvPr id="31757" name="Rectangle 154"/>
            <p:cNvSpPr/>
            <p:nvPr>
              <p:custDataLst>
                <p:tags r:id="rId19"/>
              </p:custDataLst>
            </p:nvPr>
          </p:nvSpPr>
          <p:spPr>
            <a:xfrm>
              <a:off x="2245" y="652"/>
              <a:ext cx="624" cy="33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28800" rIns="54000" bIns="28800" anchor="t" anchorCtr="0"/>
            <a:lstStyle/>
            <a:p>
              <a:pPr algn="ctr" hangingPunct="0"/>
              <a:r>
                <a:rPr lang="en-US" altLang="zh-CN" sz="28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"</a:t>
              </a:r>
            </a:p>
          </p:txBody>
        </p:sp>
        <p:sp>
          <p:nvSpPr>
            <p:cNvPr id="31758" name="Rectangle 156"/>
            <p:cNvSpPr/>
            <p:nvPr>
              <p:custDataLst>
                <p:tags r:id="rId20"/>
              </p:custDataLst>
            </p:nvPr>
          </p:nvSpPr>
          <p:spPr>
            <a:xfrm>
              <a:off x="1373" y="0"/>
              <a:ext cx="1529" cy="37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28800" rIns="54000" bIns="28800" anchor="t" anchorCtr="0"/>
            <a:lstStyle/>
            <a:p>
              <a:pPr algn="just" hangingPunct="0"/>
              <a:r>
                <a:rPr lang="en-US" altLang="zh-CN" sz="28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A,B,C,…,Z</a:t>
              </a:r>
            </a:p>
          </p:txBody>
        </p:sp>
        <p:sp>
          <p:nvSpPr>
            <p:cNvPr id="31759" name="Freeform 158"/>
            <p:cNvSpPr/>
            <p:nvPr>
              <p:custDataLst>
                <p:tags r:id="rId21"/>
              </p:custDataLst>
            </p:nvPr>
          </p:nvSpPr>
          <p:spPr>
            <a:xfrm>
              <a:off x="1801" y="325"/>
              <a:ext cx="288" cy="306"/>
            </a:xfrm>
            <a:custGeom>
              <a:avLst/>
              <a:gdLst/>
              <a:ahLst/>
              <a:cxnLst>
                <a:cxn ang="0">
                  <a:pos x="112" y="199"/>
                </a:cxn>
                <a:cxn ang="0">
                  <a:pos x="146" y="74"/>
                </a:cxn>
                <a:cxn ang="0">
                  <a:pos x="78" y="3"/>
                </a:cxn>
                <a:cxn ang="0">
                  <a:pos x="7" y="84"/>
                </a:cxn>
                <a:cxn ang="0">
                  <a:pos x="35" y="200"/>
                </a:cxn>
              </a:cxnLst>
              <a:rect l="0" t="0" r="0" b="0"/>
              <a:pathLst>
                <a:path w="327" h="333">
                  <a:moveTo>
                    <a:pt x="240" y="332"/>
                  </a:moveTo>
                  <a:cubicBezTo>
                    <a:pt x="252" y="297"/>
                    <a:pt x="327" y="178"/>
                    <a:pt x="315" y="123"/>
                  </a:cubicBezTo>
                  <a:cubicBezTo>
                    <a:pt x="303" y="68"/>
                    <a:pt x="215" y="0"/>
                    <a:pt x="165" y="3"/>
                  </a:cubicBezTo>
                  <a:cubicBezTo>
                    <a:pt x="115" y="6"/>
                    <a:pt x="30" y="83"/>
                    <a:pt x="15" y="138"/>
                  </a:cubicBezTo>
                  <a:cubicBezTo>
                    <a:pt x="0" y="193"/>
                    <a:pt x="63" y="293"/>
                    <a:pt x="75" y="333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med"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1760" name="Line 160"/>
            <p:cNvSpPr/>
            <p:nvPr>
              <p:custDataLst>
                <p:tags r:id="rId22"/>
              </p:custDataLst>
            </p:nvPr>
          </p:nvSpPr>
          <p:spPr>
            <a:xfrm flipV="1">
              <a:off x="85" y="816"/>
              <a:ext cx="511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med"/>
            </a:ln>
          </p:spPr>
          <p:txBody>
            <a:bodyPr anchor="t" anchorCtr="0"/>
            <a:lstStyle/>
            <a:p>
              <a:pPr hangingPunct="0"/>
              <a:endParaRPr lang="zh-CN" altLang="en-US">
                <a:latin typeface="Arial" panose="020B0604020202020204" pitchFamily="34" charset="0"/>
                <a:ea typeface="楷体_GB2312" pitchFamily="1" charset="-122"/>
              </a:endParaRPr>
            </a:p>
          </p:txBody>
        </p:sp>
      </p:grpSp>
      <p:graphicFrame>
        <p:nvGraphicFramePr>
          <p:cNvPr id="46098" name="表格 46097"/>
          <p:cNvGraphicFramePr/>
          <p:nvPr>
            <p:custDataLst>
              <p:tags r:id="rId1"/>
            </p:custDataLst>
          </p:nvPr>
        </p:nvGraphicFramePr>
        <p:xfrm>
          <a:off x="3377883" y="4210050"/>
          <a:ext cx="2725738" cy="539750"/>
        </p:xfrm>
        <a:graphic>
          <a:graphicData uri="http://schemas.openxmlformats.org/drawingml/2006/table">
            <a:tbl>
              <a:tblPr/>
              <a:tblGrid>
                <a:gridCol w="3891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91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9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91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91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anose="02010601030101010101" charset="-122"/>
                          <a:cs typeface="Arial" panose="020B0604020202020204" pitchFamily="34" charset="0"/>
                        </a:rPr>
                        <a:t>“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H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方正舒体" panose="02010601030101010101" charset="-122"/>
                          <a:cs typeface="Arial" panose="020B0604020202020204" pitchFamily="34" charset="0"/>
                        </a:rPr>
                        <a:t>”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6114" name="Up Arrow 19"/>
          <p:cNvSpPr/>
          <p:nvPr>
            <p:custDataLst>
              <p:tags r:id="rId2"/>
            </p:custDataLst>
          </p:nvPr>
        </p:nvSpPr>
        <p:spPr>
          <a:xfrm>
            <a:off x="3468370" y="4749483"/>
            <a:ext cx="269875" cy="495300"/>
          </a:xfrm>
          <a:prstGeom prst="upArrow">
            <a:avLst>
              <a:gd name="adj1" fmla="val 50000"/>
              <a:gd name="adj2" fmla="val 49977"/>
            </a:avLst>
          </a:prstGeom>
          <a:solidFill>
            <a:srgbClr val="00B8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hangingPunct="0"/>
            <a:endParaRPr lang="en-US" altLang="x-none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115" name="Oval 144"/>
          <p:cNvSpPr/>
          <p:nvPr>
            <p:custDataLst>
              <p:tags r:id="rId3"/>
            </p:custDataLst>
          </p:nvPr>
        </p:nvSpPr>
        <p:spPr>
          <a:xfrm>
            <a:off x="2950845" y="3038158"/>
            <a:ext cx="593725" cy="620712"/>
          </a:xfrm>
          <a:prstGeom prst="ellipse">
            <a:avLst/>
          </a:prstGeom>
          <a:solidFill>
            <a:srgbClr val="FFFF99"/>
          </a:solidFill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79200" tIns="28800" rIns="90000" bIns="46800" anchor="t" anchorCtr="0"/>
          <a:lstStyle/>
          <a:p>
            <a:pPr algn="ctr" hangingPunct="0"/>
            <a:endParaRPr lang="zh-CN" altLang="en-US" sz="28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116" name="Up Arrow 19"/>
          <p:cNvSpPr/>
          <p:nvPr>
            <p:custDataLst>
              <p:tags r:id="rId4"/>
            </p:custDataLst>
          </p:nvPr>
        </p:nvSpPr>
        <p:spPr>
          <a:xfrm>
            <a:off x="3851910" y="4749483"/>
            <a:ext cx="269875" cy="495300"/>
          </a:xfrm>
          <a:prstGeom prst="upArrow">
            <a:avLst>
              <a:gd name="adj1" fmla="val 50000"/>
              <a:gd name="adj2" fmla="val 49977"/>
            </a:avLst>
          </a:prstGeom>
          <a:solidFill>
            <a:srgbClr val="00B8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hangingPunct="0"/>
            <a:endParaRPr lang="en-US" altLang="x-none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117" name="Up Arrow 19"/>
          <p:cNvSpPr/>
          <p:nvPr>
            <p:custDataLst>
              <p:tags r:id="rId5"/>
            </p:custDataLst>
          </p:nvPr>
        </p:nvSpPr>
        <p:spPr>
          <a:xfrm>
            <a:off x="4239260" y="4749483"/>
            <a:ext cx="269875" cy="495300"/>
          </a:xfrm>
          <a:prstGeom prst="upArrow">
            <a:avLst>
              <a:gd name="adj1" fmla="val 50000"/>
              <a:gd name="adj2" fmla="val 49977"/>
            </a:avLst>
          </a:prstGeom>
          <a:solidFill>
            <a:srgbClr val="00B8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hangingPunct="0"/>
            <a:endParaRPr lang="en-US" altLang="x-none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118" name="Up Arrow 19"/>
          <p:cNvSpPr/>
          <p:nvPr>
            <p:custDataLst>
              <p:tags r:id="rId6"/>
            </p:custDataLst>
          </p:nvPr>
        </p:nvSpPr>
        <p:spPr>
          <a:xfrm>
            <a:off x="4623118" y="4749483"/>
            <a:ext cx="269875" cy="495300"/>
          </a:xfrm>
          <a:prstGeom prst="upArrow">
            <a:avLst>
              <a:gd name="adj1" fmla="val 50000"/>
              <a:gd name="adj2" fmla="val 49977"/>
            </a:avLst>
          </a:prstGeom>
          <a:solidFill>
            <a:srgbClr val="00B8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hangingPunct="0"/>
            <a:endParaRPr lang="en-US" altLang="x-none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119" name="Up Arrow 19"/>
          <p:cNvSpPr/>
          <p:nvPr>
            <p:custDataLst>
              <p:tags r:id="rId7"/>
            </p:custDataLst>
          </p:nvPr>
        </p:nvSpPr>
        <p:spPr>
          <a:xfrm>
            <a:off x="5008563" y="4749483"/>
            <a:ext cx="269875" cy="495300"/>
          </a:xfrm>
          <a:prstGeom prst="upArrow">
            <a:avLst>
              <a:gd name="adj1" fmla="val 50000"/>
              <a:gd name="adj2" fmla="val 49977"/>
            </a:avLst>
          </a:prstGeom>
          <a:solidFill>
            <a:srgbClr val="00B8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hangingPunct="0"/>
            <a:endParaRPr lang="en-US" altLang="x-none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120" name="Up Arrow 19"/>
          <p:cNvSpPr/>
          <p:nvPr>
            <p:custDataLst>
              <p:tags r:id="rId8"/>
            </p:custDataLst>
          </p:nvPr>
        </p:nvSpPr>
        <p:spPr>
          <a:xfrm>
            <a:off x="5394008" y="4749483"/>
            <a:ext cx="269875" cy="495300"/>
          </a:xfrm>
          <a:prstGeom prst="upArrow">
            <a:avLst>
              <a:gd name="adj1" fmla="val 50000"/>
              <a:gd name="adj2" fmla="val 49977"/>
            </a:avLst>
          </a:prstGeom>
          <a:solidFill>
            <a:srgbClr val="00B8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hangingPunct="0"/>
            <a:endParaRPr lang="en-US" altLang="x-none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121" name="Oval 144"/>
          <p:cNvSpPr/>
          <p:nvPr>
            <p:custDataLst>
              <p:tags r:id="rId9"/>
            </p:custDataLst>
          </p:nvPr>
        </p:nvSpPr>
        <p:spPr>
          <a:xfrm>
            <a:off x="4759008" y="3038158"/>
            <a:ext cx="593725" cy="620712"/>
          </a:xfrm>
          <a:prstGeom prst="ellipse">
            <a:avLst/>
          </a:prstGeom>
          <a:solidFill>
            <a:srgbClr val="FFFF99"/>
          </a:solidFill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79200" tIns="28800" rIns="90000" bIns="46800" anchor="t" anchorCtr="0"/>
          <a:lstStyle/>
          <a:p>
            <a:pPr algn="ctr" hangingPunct="0"/>
            <a:endParaRPr lang="zh-CN" altLang="en-US" sz="28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122" name="Oval 144"/>
          <p:cNvSpPr/>
          <p:nvPr>
            <p:custDataLst>
              <p:tags r:id="rId10"/>
            </p:custDataLst>
          </p:nvPr>
        </p:nvSpPr>
        <p:spPr>
          <a:xfrm>
            <a:off x="6581458" y="3050858"/>
            <a:ext cx="593725" cy="620712"/>
          </a:xfrm>
          <a:prstGeom prst="ellipse">
            <a:avLst/>
          </a:prstGeom>
          <a:solidFill>
            <a:srgbClr val="FFFF99"/>
          </a:solidFill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79200" tIns="28800" rIns="90000" bIns="46800" anchor="t" anchorCtr="0"/>
          <a:lstStyle/>
          <a:p>
            <a:pPr algn="ctr" hangingPunct="0"/>
            <a:endParaRPr lang="zh-CN" altLang="en-US" sz="28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123" name="Oval 144"/>
          <p:cNvSpPr/>
          <p:nvPr>
            <p:custDataLst>
              <p:tags r:id="rId11"/>
            </p:custDataLst>
          </p:nvPr>
        </p:nvSpPr>
        <p:spPr>
          <a:xfrm>
            <a:off x="6625908" y="3096895"/>
            <a:ext cx="474662" cy="495300"/>
          </a:xfrm>
          <a:prstGeom prst="ellipse">
            <a:avLst/>
          </a:prstGeom>
          <a:solidFill>
            <a:srgbClr val="FFFF99"/>
          </a:solidFill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79200" tIns="28800" rIns="90000" bIns="46800" anchor="t" anchorCtr="0"/>
          <a:lstStyle/>
          <a:p>
            <a:pPr algn="ctr" hangingPunct="0"/>
            <a:endParaRPr lang="zh-CN" altLang="en-US" sz="28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Up Arrow 19"/>
          <p:cNvSpPr/>
          <p:nvPr>
            <p:custDataLst>
              <p:tags r:id="rId12"/>
            </p:custDataLst>
          </p:nvPr>
        </p:nvSpPr>
        <p:spPr>
          <a:xfrm>
            <a:off x="5778183" y="4749483"/>
            <a:ext cx="269875" cy="495300"/>
          </a:xfrm>
          <a:prstGeom prst="upArrow">
            <a:avLst>
              <a:gd name="adj1" fmla="val 50000"/>
              <a:gd name="adj2" fmla="val 49977"/>
            </a:avLst>
          </a:prstGeom>
          <a:solidFill>
            <a:srgbClr val="00B8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hangingPunct="0"/>
            <a:endParaRPr lang="en-US" altLang="x-none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46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46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6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" dur="500"/>
                                        <p:tgtEl>
                                          <p:spTgt spid="46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6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46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6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46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6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46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6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4" dur="500"/>
                                        <p:tgtEl>
                                          <p:spTgt spid="46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2" dur="500"/>
                                        <p:tgtEl>
                                          <p:spTgt spid="46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4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46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14" grpId="0" bldLvl="0" animBg="1"/>
      <p:bldP spid="46114" grpId="1" bldLvl="0" animBg="1"/>
      <p:bldP spid="46115" grpId="0" bldLvl="0" animBg="1"/>
      <p:bldP spid="46115" grpId="1" bldLvl="0" animBg="1"/>
      <p:bldP spid="46116" grpId="0" bldLvl="0" animBg="1"/>
      <p:bldP spid="46116" grpId="1" bldLvl="0" animBg="1"/>
      <p:bldP spid="46117" grpId="0" bldLvl="0" animBg="1"/>
      <p:bldP spid="46117" grpId="1" bldLvl="0" animBg="1"/>
      <p:bldP spid="46118" grpId="0" bldLvl="0" animBg="1"/>
      <p:bldP spid="46118" grpId="1" bldLvl="0" animBg="1"/>
      <p:bldP spid="46119" grpId="0" bldLvl="0" animBg="1"/>
      <p:bldP spid="46119" grpId="1" bldLvl="0" animBg="1"/>
      <p:bldP spid="46120" grpId="0" bldLvl="0" animBg="1"/>
      <p:bldP spid="46120" grpId="1" bldLvl="0" animBg="1"/>
      <p:bldP spid="46121" grpId="0" bldLvl="0" animBg="1"/>
      <p:bldP spid="46121" grpId="1" bldLvl="0" animBg="1"/>
      <p:bldP spid="46122" grpId="0" bldLvl="0" animBg="1"/>
      <p:bldP spid="46123" grpId="0" bldLvl="0" animBg="1"/>
      <p:bldP spid="7" grpId="0" bldLvl="0" animBg="1"/>
      <p:bldP spid="7" grpId="1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状态转换图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771" name="组合 47107"/>
          <p:cNvGrpSpPr/>
          <p:nvPr/>
        </p:nvGrpSpPr>
        <p:grpSpPr>
          <a:xfrm>
            <a:off x="1456373" y="1557655"/>
            <a:ext cx="5203825" cy="1606550"/>
            <a:chOff x="0" y="0"/>
            <a:chExt cx="3278" cy="1012"/>
          </a:xfrm>
        </p:grpSpPr>
        <p:sp>
          <p:nvSpPr>
            <p:cNvPr id="32772" name="Oval 144"/>
            <p:cNvSpPr/>
            <p:nvPr>
              <p:custDataLst>
                <p:tags r:id="rId13"/>
              </p:custDataLst>
            </p:nvPr>
          </p:nvSpPr>
          <p:spPr>
            <a:xfrm>
              <a:off x="623" y="621"/>
              <a:ext cx="374" cy="391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79200" tIns="28800" rIns="90000" bIns="46800" anchor="t" anchorCtr="0"/>
            <a:lstStyle/>
            <a:p>
              <a:pPr algn="ctr" hangingPunct="0"/>
              <a:endPara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773" name="Oval 145"/>
            <p:cNvSpPr/>
            <p:nvPr>
              <p:custDataLst>
                <p:tags r:id="rId14"/>
              </p:custDataLst>
            </p:nvPr>
          </p:nvSpPr>
          <p:spPr>
            <a:xfrm>
              <a:off x="1757" y="621"/>
              <a:ext cx="374" cy="391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1600" tIns="28800" rIns="21600" bIns="46800" anchor="t" anchorCtr="0"/>
            <a:lstStyle/>
            <a:p>
              <a:pPr algn="ctr" hangingPunct="0"/>
              <a:endPara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2774" name="组合 47110"/>
            <p:cNvGrpSpPr/>
            <p:nvPr/>
          </p:nvGrpSpPr>
          <p:grpSpPr>
            <a:xfrm>
              <a:off x="2904" y="621"/>
              <a:ext cx="374" cy="391"/>
              <a:chOff x="0" y="0"/>
              <a:chExt cx="425" cy="425"/>
            </a:xfrm>
          </p:grpSpPr>
          <p:sp>
            <p:nvSpPr>
              <p:cNvPr id="32775" name="Oval 147"/>
              <p:cNvSpPr/>
              <p:nvPr>
                <p:custDataLst>
                  <p:tags r:id="rId23"/>
                </p:custDataLst>
              </p:nvPr>
            </p:nvSpPr>
            <p:spPr>
              <a:xfrm>
                <a:off x="0" y="0"/>
                <a:ext cx="425" cy="425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7200" tIns="0" rIns="7200" bIns="0" anchor="t" anchorCtr="0"/>
              <a:lstStyle/>
              <a:p>
                <a:pPr algn="just" hangingPunct="0"/>
                <a:endParaRPr lang="zh-CN" altLang="en-US" sz="1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776" name="Oval 148"/>
              <p:cNvSpPr/>
              <p:nvPr>
                <p:custDataLst>
                  <p:tags r:id="rId24"/>
                </p:custDataLst>
              </p:nvPr>
            </p:nvSpPr>
            <p:spPr>
              <a:xfrm>
                <a:off x="60" y="56"/>
                <a:ext cx="312" cy="31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7200" tIns="0" rIns="7200" bIns="0" anchor="t" anchorCtr="0"/>
              <a:lstStyle/>
              <a:p>
                <a:pPr algn="just" hangingPunct="0"/>
                <a:endPara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2777" name="Line 150"/>
            <p:cNvSpPr/>
            <p:nvPr>
              <p:custDataLst>
                <p:tags r:id="rId15"/>
              </p:custDataLst>
            </p:nvPr>
          </p:nvSpPr>
          <p:spPr>
            <a:xfrm flipV="1">
              <a:off x="997" y="816"/>
              <a:ext cx="751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med"/>
            </a:ln>
          </p:spPr>
          <p:txBody>
            <a:bodyPr anchor="t" anchorCtr="0"/>
            <a:lstStyle/>
            <a:p>
              <a:pPr hangingPunct="0"/>
              <a:endParaRPr lang="zh-CN" altLang="en-US">
                <a:latin typeface="Arial" panose="020B0604020202020204" pitchFamily="34" charset="0"/>
                <a:ea typeface="楷体_GB2312" pitchFamily="1" charset="-122"/>
              </a:endParaRPr>
            </a:p>
          </p:txBody>
        </p:sp>
        <p:sp>
          <p:nvSpPr>
            <p:cNvPr id="32778" name="Rectangle 151"/>
            <p:cNvSpPr/>
            <p:nvPr>
              <p:custDataLst>
                <p:tags r:id="rId16"/>
              </p:custDataLst>
            </p:nvPr>
          </p:nvSpPr>
          <p:spPr>
            <a:xfrm>
              <a:off x="0" y="488"/>
              <a:ext cx="606" cy="29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28800" rIns="54000" bIns="28800" anchor="t" anchorCtr="0"/>
            <a:lstStyle/>
            <a:p>
              <a:pPr algn="just" hangingPunct="0"/>
              <a:r>
                <a:rPr lang="zh-CN" altLang="en-US" sz="2800" b="1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开始</a:t>
              </a:r>
            </a:p>
          </p:txBody>
        </p:sp>
        <p:sp>
          <p:nvSpPr>
            <p:cNvPr id="32779" name="Rectangle 152"/>
            <p:cNvSpPr/>
            <p:nvPr>
              <p:custDataLst>
                <p:tags r:id="rId17"/>
              </p:custDataLst>
            </p:nvPr>
          </p:nvSpPr>
          <p:spPr>
            <a:xfrm>
              <a:off x="1045" y="644"/>
              <a:ext cx="624" cy="28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28800" rIns="54000" bIns="28800" anchor="t" anchorCtr="0"/>
            <a:lstStyle/>
            <a:p>
              <a:pPr algn="ctr" hangingPunct="0"/>
              <a:r>
                <a:rPr lang="en-US" altLang="zh-CN" sz="28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"</a:t>
              </a:r>
            </a:p>
            <a:p>
              <a:pPr algn="just" hangingPunct="0"/>
              <a:endPara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780" name="Line 153"/>
            <p:cNvSpPr/>
            <p:nvPr>
              <p:custDataLst>
                <p:tags r:id="rId18"/>
              </p:custDataLst>
            </p:nvPr>
          </p:nvSpPr>
          <p:spPr>
            <a:xfrm flipV="1">
              <a:off x="2144" y="816"/>
              <a:ext cx="75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med"/>
            </a:ln>
          </p:spPr>
          <p:txBody>
            <a:bodyPr anchor="t" anchorCtr="0"/>
            <a:lstStyle/>
            <a:p>
              <a:pPr hangingPunct="0"/>
              <a:endParaRPr lang="zh-CN" altLang="en-US">
                <a:latin typeface="Arial" panose="020B0604020202020204" pitchFamily="34" charset="0"/>
                <a:ea typeface="楷体_GB2312" pitchFamily="1" charset="-122"/>
              </a:endParaRPr>
            </a:p>
          </p:txBody>
        </p:sp>
        <p:sp>
          <p:nvSpPr>
            <p:cNvPr id="32781" name="Rectangle 154"/>
            <p:cNvSpPr/>
            <p:nvPr>
              <p:custDataLst>
                <p:tags r:id="rId19"/>
              </p:custDataLst>
            </p:nvPr>
          </p:nvSpPr>
          <p:spPr>
            <a:xfrm>
              <a:off x="2245" y="652"/>
              <a:ext cx="624" cy="33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28800" rIns="54000" bIns="28800" anchor="t" anchorCtr="0"/>
            <a:lstStyle/>
            <a:p>
              <a:pPr algn="ctr" hangingPunct="0"/>
              <a:r>
                <a:rPr lang="en-US" altLang="zh-CN" sz="28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"</a:t>
              </a:r>
            </a:p>
          </p:txBody>
        </p:sp>
        <p:sp>
          <p:nvSpPr>
            <p:cNvPr id="32782" name="Rectangle 156"/>
            <p:cNvSpPr/>
            <p:nvPr>
              <p:custDataLst>
                <p:tags r:id="rId20"/>
              </p:custDataLst>
            </p:nvPr>
          </p:nvSpPr>
          <p:spPr>
            <a:xfrm>
              <a:off x="1373" y="0"/>
              <a:ext cx="1529" cy="37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28800" rIns="54000" bIns="28800" anchor="t" anchorCtr="0"/>
            <a:lstStyle/>
            <a:p>
              <a:pPr algn="just" hangingPunct="0"/>
              <a:r>
                <a:rPr lang="en-US" altLang="zh-CN" sz="28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A,B,C,…,Z</a:t>
              </a:r>
            </a:p>
          </p:txBody>
        </p:sp>
        <p:sp>
          <p:nvSpPr>
            <p:cNvPr id="32783" name="Freeform 158"/>
            <p:cNvSpPr/>
            <p:nvPr>
              <p:custDataLst>
                <p:tags r:id="rId21"/>
              </p:custDataLst>
            </p:nvPr>
          </p:nvSpPr>
          <p:spPr>
            <a:xfrm>
              <a:off x="1801" y="325"/>
              <a:ext cx="288" cy="306"/>
            </a:xfrm>
            <a:custGeom>
              <a:avLst/>
              <a:gdLst/>
              <a:ahLst/>
              <a:cxnLst>
                <a:cxn ang="0">
                  <a:pos x="112" y="199"/>
                </a:cxn>
                <a:cxn ang="0">
                  <a:pos x="146" y="74"/>
                </a:cxn>
                <a:cxn ang="0">
                  <a:pos x="78" y="3"/>
                </a:cxn>
                <a:cxn ang="0">
                  <a:pos x="7" y="84"/>
                </a:cxn>
                <a:cxn ang="0">
                  <a:pos x="35" y="200"/>
                </a:cxn>
              </a:cxnLst>
              <a:rect l="0" t="0" r="0" b="0"/>
              <a:pathLst>
                <a:path w="327" h="333">
                  <a:moveTo>
                    <a:pt x="240" y="332"/>
                  </a:moveTo>
                  <a:cubicBezTo>
                    <a:pt x="252" y="297"/>
                    <a:pt x="327" y="178"/>
                    <a:pt x="315" y="123"/>
                  </a:cubicBezTo>
                  <a:cubicBezTo>
                    <a:pt x="303" y="68"/>
                    <a:pt x="215" y="0"/>
                    <a:pt x="165" y="3"/>
                  </a:cubicBezTo>
                  <a:cubicBezTo>
                    <a:pt x="115" y="6"/>
                    <a:pt x="30" y="83"/>
                    <a:pt x="15" y="138"/>
                  </a:cubicBezTo>
                  <a:cubicBezTo>
                    <a:pt x="0" y="193"/>
                    <a:pt x="63" y="293"/>
                    <a:pt x="75" y="333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med"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784" name="Line 160"/>
            <p:cNvSpPr/>
            <p:nvPr>
              <p:custDataLst>
                <p:tags r:id="rId22"/>
              </p:custDataLst>
            </p:nvPr>
          </p:nvSpPr>
          <p:spPr>
            <a:xfrm flipV="1">
              <a:off x="85" y="816"/>
              <a:ext cx="511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med"/>
            </a:ln>
          </p:spPr>
          <p:txBody>
            <a:bodyPr anchor="t" anchorCtr="0"/>
            <a:lstStyle/>
            <a:p>
              <a:pPr hangingPunct="0"/>
              <a:endParaRPr lang="zh-CN" altLang="en-US">
                <a:latin typeface="Arial" panose="020B0604020202020204" pitchFamily="34" charset="0"/>
                <a:ea typeface="楷体_GB2312" pitchFamily="1" charset="-122"/>
              </a:endParaRPr>
            </a:p>
          </p:txBody>
        </p:sp>
      </p:grpSp>
      <p:graphicFrame>
        <p:nvGraphicFramePr>
          <p:cNvPr id="47122" name="表格 47121"/>
          <p:cNvGraphicFramePr/>
          <p:nvPr>
            <p:custDataLst>
              <p:tags r:id="rId1"/>
            </p:custDataLst>
          </p:nvPr>
        </p:nvGraphicFramePr>
        <p:xfrm>
          <a:off x="2869248" y="3672205"/>
          <a:ext cx="2725738" cy="539750"/>
        </p:xfrm>
        <a:graphic>
          <a:graphicData uri="http://schemas.openxmlformats.org/drawingml/2006/table">
            <a:tbl>
              <a:tblPr/>
              <a:tblGrid>
                <a:gridCol w="45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"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H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"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"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"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138" name="Up Arrow 19"/>
          <p:cNvSpPr/>
          <p:nvPr>
            <p:custDataLst>
              <p:tags r:id="rId2"/>
            </p:custDataLst>
          </p:nvPr>
        </p:nvSpPr>
        <p:spPr>
          <a:xfrm>
            <a:off x="2959735" y="4245293"/>
            <a:ext cx="269875" cy="495300"/>
          </a:xfrm>
          <a:prstGeom prst="upArrow">
            <a:avLst>
              <a:gd name="adj1" fmla="val 50000"/>
              <a:gd name="adj2" fmla="val 49977"/>
            </a:avLst>
          </a:prstGeom>
          <a:solidFill>
            <a:srgbClr val="00B8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hangingPunct="0"/>
            <a:endParaRPr lang="en-US" altLang="x-none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139" name="Oval 144"/>
          <p:cNvSpPr/>
          <p:nvPr>
            <p:custDataLst>
              <p:tags r:id="rId3"/>
            </p:custDataLst>
          </p:nvPr>
        </p:nvSpPr>
        <p:spPr>
          <a:xfrm>
            <a:off x="2442210" y="2533968"/>
            <a:ext cx="593725" cy="620712"/>
          </a:xfrm>
          <a:prstGeom prst="ellipse">
            <a:avLst/>
          </a:prstGeom>
          <a:solidFill>
            <a:srgbClr val="FFFF99"/>
          </a:solidFill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79200" tIns="28800" rIns="90000" bIns="46800" anchor="t" anchorCtr="0"/>
          <a:lstStyle/>
          <a:p>
            <a:pPr algn="ctr" hangingPunct="0"/>
            <a:endParaRPr lang="zh-CN" altLang="en-US" sz="28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140" name="Up Arrow 19"/>
          <p:cNvSpPr/>
          <p:nvPr>
            <p:custDataLst>
              <p:tags r:id="rId4"/>
            </p:custDataLst>
          </p:nvPr>
        </p:nvSpPr>
        <p:spPr>
          <a:xfrm>
            <a:off x="3416935" y="4245293"/>
            <a:ext cx="269875" cy="495300"/>
          </a:xfrm>
          <a:prstGeom prst="upArrow">
            <a:avLst>
              <a:gd name="adj1" fmla="val 50000"/>
              <a:gd name="adj2" fmla="val 49977"/>
            </a:avLst>
          </a:prstGeom>
          <a:solidFill>
            <a:srgbClr val="00B8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hangingPunct="0"/>
            <a:endParaRPr lang="en-US" altLang="x-none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141" name="Up Arrow 19"/>
          <p:cNvSpPr/>
          <p:nvPr>
            <p:custDataLst>
              <p:tags r:id="rId5"/>
            </p:custDataLst>
          </p:nvPr>
        </p:nvSpPr>
        <p:spPr>
          <a:xfrm>
            <a:off x="3874135" y="4245293"/>
            <a:ext cx="269875" cy="495300"/>
          </a:xfrm>
          <a:prstGeom prst="upArrow">
            <a:avLst>
              <a:gd name="adj1" fmla="val 50000"/>
              <a:gd name="adj2" fmla="val 49977"/>
            </a:avLst>
          </a:prstGeom>
          <a:solidFill>
            <a:srgbClr val="00B8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hangingPunct="0"/>
            <a:endParaRPr lang="en-US" altLang="x-none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142" name="Up Arrow 19"/>
          <p:cNvSpPr/>
          <p:nvPr>
            <p:custDataLst>
              <p:tags r:id="rId6"/>
            </p:custDataLst>
          </p:nvPr>
        </p:nvSpPr>
        <p:spPr>
          <a:xfrm>
            <a:off x="4329748" y="4245293"/>
            <a:ext cx="269875" cy="495300"/>
          </a:xfrm>
          <a:prstGeom prst="upArrow">
            <a:avLst>
              <a:gd name="adj1" fmla="val 50000"/>
              <a:gd name="adj2" fmla="val 49977"/>
            </a:avLst>
          </a:prstGeom>
          <a:solidFill>
            <a:srgbClr val="00B8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hangingPunct="0"/>
            <a:endParaRPr lang="en-US" altLang="x-none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143" name="Up Arrow 19"/>
          <p:cNvSpPr/>
          <p:nvPr>
            <p:custDataLst>
              <p:tags r:id="rId7"/>
            </p:custDataLst>
          </p:nvPr>
        </p:nvSpPr>
        <p:spPr>
          <a:xfrm>
            <a:off x="4786948" y="4245293"/>
            <a:ext cx="269875" cy="495300"/>
          </a:xfrm>
          <a:prstGeom prst="upArrow">
            <a:avLst>
              <a:gd name="adj1" fmla="val 50000"/>
              <a:gd name="adj2" fmla="val 49977"/>
            </a:avLst>
          </a:prstGeom>
          <a:solidFill>
            <a:srgbClr val="00B8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hangingPunct="0"/>
            <a:endParaRPr lang="en-US" altLang="x-none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144" name="Oval 144"/>
          <p:cNvSpPr/>
          <p:nvPr>
            <p:custDataLst>
              <p:tags r:id="rId8"/>
            </p:custDataLst>
          </p:nvPr>
        </p:nvSpPr>
        <p:spPr>
          <a:xfrm>
            <a:off x="4250373" y="2533968"/>
            <a:ext cx="593725" cy="620712"/>
          </a:xfrm>
          <a:prstGeom prst="ellipse">
            <a:avLst/>
          </a:prstGeom>
          <a:solidFill>
            <a:srgbClr val="FFFF99"/>
          </a:solidFill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79200" tIns="28800" rIns="90000" bIns="46800" anchor="t" anchorCtr="0"/>
          <a:lstStyle/>
          <a:p>
            <a:pPr algn="ctr" hangingPunct="0"/>
            <a:endParaRPr lang="zh-CN" altLang="en-US" sz="28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145" name="Oval 144"/>
          <p:cNvSpPr/>
          <p:nvPr>
            <p:custDataLst>
              <p:tags r:id="rId9"/>
            </p:custDataLst>
          </p:nvPr>
        </p:nvSpPr>
        <p:spPr>
          <a:xfrm>
            <a:off x="6072823" y="2546668"/>
            <a:ext cx="593725" cy="620712"/>
          </a:xfrm>
          <a:prstGeom prst="ellipse">
            <a:avLst/>
          </a:prstGeom>
          <a:solidFill>
            <a:srgbClr val="FFFF99"/>
          </a:solidFill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79200" tIns="28800" rIns="90000" bIns="46800" anchor="t" anchorCtr="0"/>
          <a:lstStyle/>
          <a:p>
            <a:pPr algn="ctr" hangingPunct="0"/>
            <a:endParaRPr lang="zh-CN" altLang="en-US" sz="28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146" name="Oval 144"/>
          <p:cNvSpPr/>
          <p:nvPr>
            <p:custDataLst>
              <p:tags r:id="rId10"/>
            </p:custDataLst>
          </p:nvPr>
        </p:nvSpPr>
        <p:spPr>
          <a:xfrm>
            <a:off x="6117273" y="2592705"/>
            <a:ext cx="474662" cy="495300"/>
          </a:xfrm>
          <a:prstGeom prst="ellipse">
            <a:avLst/>
          </a:prstGeom>
          <a:solidFill>
            <a:srgbClr val="FFFF99"/>
          </a:solidFill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79200" tIns="28800" rIns="90000" bIns="46800" anchor="t" anchorCtr="0"/>
          <a:lstStyle/>
          <a:p>
            <a:pPr algn="ctr" hangingPunct="0"/>
            <a:endParaRPr lang="zh-CN" altLang="en-US" sz="28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147" name="TextBox 29"/>
          <p:cNvSpPr txBox="1"/>
          <p:nvPr>
            <p:custDataLst>
              <p:tags r:id="rId11"/>
            </p:custDataLst>
          </p:nvPr>
        </p:nvSpPr>
        <p:spPr>
          <a:xfrm>
            <a:off x="5163820" y="4509135"/>
            <a:ext cx="3943985" cy="18148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hangingPunct="0"/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没有相应的转换状态，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停机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hangingPunct="0"/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hangingPunct="0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拒绝输入串</a:t>
            </a:r>
          </a:p>
        </p:txBody>
      </p:sp>
      <p:cxnSp>
        <p:nvCxnSpPr>
          <p:cNvPr id="47148" name="形状 31"/>
          <p:cNvCxnSpPr>
            <a:stCxn id="47147" idx="0"/>
            <a:endCxn id="47145" idx="6"/>
          </p:cNvCxnSpPr>
          <p:nvPr>
            <p:custDataLst>
              <p:tags r:id="rId12"/>
            </p:custDataLst>
          </p:nvPr>
        </p:nvCxnSpPr>
        <p:spPr>
          <a:xfrm rot="16200000" flipV="1">
            <a:off x="6075680" y="3448685"/>
            <a:ext cx="1651635" cy="469265"/>
          </a:xfrm>
          <a:prstGeom prst="curvedConnector2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47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7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47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7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" dur="500"/>
                                        <p:tgtEl>
                                          <p:spTgt spid="47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7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47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47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7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7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9" dur="500"/>
                                        <p:tgtEl>
                                          <p:spTgt spid="47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7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7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47147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7">
                                            <p:txEl>
                                              <p:charRg st="12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47147">
                                            <p:txEl>
                                              <p:charRg st="12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47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38" grpId="0" bldLvl="0" animBg="1"/>
      <p:bldP spid="47138" grpId="1" bldLvl="0" animBg="1"/>
      <p:bldP spid="47139" grpId="0" bldLvl="0" animBg="1"/>
      <p:bldP spid="47139" grpId="1" bldLvl="0" animBg="1"/>
      <p:bldP spid="47140" grpId="0" bldLvl="0" animBg="1"/>
      <p:bldP spid="47140" grpId="1" bldLvl="0" animBg="1"/>
      <p:bldP spid="47141" grpId="0" bldLvl="0" animBg="1"/>
      <p:bldP spid="47141" grpId="1" bldLvl="0" animBg="1"/>
      <p:bldP spid="47142" grpId="0" bldLvl="0" animBg="1"/>
      <p:bldP spid="47142" grpId="1" bldLvl="0" animBg="1"/>
      <p:bldP spid="47143" grpId="0" bldLvl="0" animBg="1"/>
      <p:bldP spid="47144" grpId="0" bldLvl="0" animBg="1"/>
      <p:bldP spid="47144" grpId="1" bldLvl="0" animBg="1"/>
      <p:bldP spid="47145" grpId="0" bldLvl="0" animBg="1"/>
      <p:bldP spid="47146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状态转换图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3795" name="组合 48131"/>
          <p:cNvGrpSpPr/>
          <p:nvPr/>
        </p:nvGrpSpPr>
        <p:grpSpPr>
          <a:xfrm>
            <a:off x="2052638" y="1574800"/>
            <a:ext cx="5203825" cy="1606550"/>
            <a:chOff x="0" y="0"/>
            <a:chExt cx="3278" cy="1012"/>
          </a:xfrm>
        </p:grpSpPr>
        <p:sp>
          <p:nvSpPr>
            <p:cNvPr id="33796" name="Oval 144"/>
            <p:cNvSpPr/>
            <p:nvPr>
              <p:custDataLst>
                <p:tags r:id="rId12"/>
              </p:custDataLst>
            </p:nvPr>
          </p:nvSpPr>
          <p:spPr>
            <a:xfrm>
              <a:off x="623" y="621"/>
              <a:ext cx="374" cy="391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79200" tIns="28800" rIns="90000" bIns="46800" anchor="t" anchorCtr="0"/>
            <a:lstStyle/>
            <a:p>
              <a:pPr algn="ctr" hangingPunct="0"/>
              <a:endPara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797" name="Oval 145"/>
            <p:cNvSpPr/>
            <p:nvPr>
              <p:custDataLst>
                <p:tags r:id="rId13"/>
              </p:custDataLst>
            </p:nvPr>
          </p:nvSpPr>
          <p:spPr>
            <a:xfrm>
              <a:off x="1757" y="621"/>
              <a:ext cx="374" cy="391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1600" tIns="28800" rIns="21600" bIns="46800" anchor="t" anchorCtr="0"/>
            <a:lstStyle/>
            <a:p>
              <a:pPr algn="ctr" hangingPunct="0"/>
              <a:endPara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3798" name="组合 48134"/>
            <p:cNvGrpSpPr/>
            <p:nvPr/>
          </p:nvGrpSpPr>
          <p:grpSpPr>
            <a:xfrm>
              <a:off x="2904" y="621"/>
              <a:ext cx="374" cy="391"/>
              <a:chOff x="0" y="0"/>
              <a:chExt cx="425" cy="425"/>
            </a:xfrm>
          </p:grpSpPr>
          <p:sp>
            <p:nvSpPr>
              <p:cNvPr id="33799" name="Oval 147"/>
              <p:cNvSpPr/>
              <p:nvPr>
                <p:custDataLst>
                  <p:tags r:id="rId22"/>
                </p:custDataLst>
              </p:nvPr>
            </p:nvSpPr>
            <p:spPr>
              <a:xfrm>
                <a:off x="0" y="0"/>
                <a:ext cx="425" cy="425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7200" tIns="0" rIns="7200" bIns="0" anchor="t" anchorCtr="0"/>
              <a:lstStyle/>
              <a:p>
                <a:pPr algn="just" hangingPunct="0"/>
                <a:endParaRPr lang="zh-CN" altLang="en-US" sz="1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800" name="Oval 148"/>
              <p:cNvSpPr/>
              <p:nvPr>
                <p:custDataLst>
                  <p:tags r:id="rId23"/>
                </p:custDataLst>
              </p:nvPr>
            </p:nvSpPr>
            <p:spPr>
              <a:xfrm>
                <a:off x="60" y="56"/>
                <a:ext cx="312" cy="31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7200" tIns="0" rIns="7200" bIns="0" anchor="t" anchorCtr="0"/>
              <a:lstStyle/>
              <a:p>
                <a:pPr algn="just" hangingPunct="0"/>
                <a:endPara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3801" name="Line 150"/>
            <p:cNvSpPr/>
            <p:nvPr>
              <p:custDataLst>
                <p:tags r:id="rId14"/>
              </p:custDataLst>
            </p:nvPr>
          </p:nvSpPr>
          <p:spPr>
            <a:xfrm flipV="1">
              <a:off x="997" y="816"/>
              <a:ext cx="751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med"/>
            </a:ln>
          </p:spPr>
          <p:txBody>
            <a:bodyPr anchor="t" anchorCtr="0"/>
            <a:lstStyle/>
            <a:p>
              <a:pPr hangingPunct="0"/>
              <a:endParaRPr lang="zh-CN" altLang="en-US">
                <a:latin typeface="Arial" panose="020B0604020202020204" pitchFamily="34" charset="0"/>
                <a:ea typeface="楷体_GB2312" pitchFamily="1" charset="-122"/>
              </a:endParaRPr>
            </a:p>
          </p:txBody>
        </p:sp>
        <p:sp>
          <p:nvSpPr>
            <p:cNvPr id="33802" name="Rectangle 151"/>
            <p:cNvSpPr/>
            <p:nvPr>
              <p:custDataLst>
                <p:tags r:id="rId15"/>
              </p:custDataLst>
            </p:nvPr>
          </p:nvSpPr>
          <p:spPr>
            <a:xfrm>
              <a:off x="0" y="488"/>
              <a:ext cx="606" cy="29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28800" rIns="54000" bIns="28800" anchor="t" anchorCtr="0"/>
            <a:lstStyle/>
            <a:p>
              <a:pPr algn="just" hangingPunct="0"/>
              <a:r>
                <a:rPr lang="zh-CN" altLang="en-US" sz="2800" b="1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开始</a:t>
              </a:r>
            </a:p>
          </p:txBody>
        </p:sp>
        <p:sp>
          <p:nvSpPr>
            <p:cNvPr id="33803" name="Rectangle 152"/>
            <p:cNvSpPr/>
            <p:nvPr>
              <p:custDataLst>
                <p:tags r:id="rId16"/>
              </p:custDataLst>
            </p:nvPr>
          </p:nvSpPr>
          <p:spPr>
            <a:xfrm>
              <a:off x="1045" y="644"/>
              <a:ext cx="624" cy="28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28800" rIns="54000" bIns="28800" anchor="t" anchorCtr="0"/>
            <a:lstStyle/>
            <a:p>
              <a:pPr algn="ctr" hangingPunct="0"/>
              <a:r>
                <a:rPr lang="en-US" altLang="zh-CN" sz="28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"</a:t>
              </a:r>
            </a:p>
            <a:p>
              <a:pPr algn="just" hangingPunct="0"/>
              <a:endPara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804" name="Line 153"/>
            <p:cNvSpPr/>
            <p:nvPr>
              <p:custDataLst>
                <p:tags r:id="rId17"/>
              </p:custDataLst>
            </p:nvPr>
          </p:nvSpPr>
          <p:spPr>
            <a:xfrm flipV="1">
              <a:off x="2144" y="816"/>
              <a:ext cx="75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med"/>
            </a:ln>
          </p:spPr>
          <p:txBody>
            <a:bodyPr anchor="t" anchorCtr="0"/>
            <a:lstStyle/>
            <a:p>
              <a:pPr hangingPunct="0"/>
              <a:endParaRPr lang="zh-CN" altLang="en-US">
                <a:latin typeface="Arial" panose="020B0604020202020204" pitchFamily="34" charset="0"/>
                <a:ea typeface="楷体_GB2312" pitchFamily="1" charset="-122"/>
              </a:endParaRPr>
            </a:p>
          </p:txBody>
        </p:sp>
        <p:sp>
          <p:nvSpPr>
            <p:cNvPr id="33805" name="Rectangle 154"/>
            <p:cNvSpPr/>
            <p:nvPr>
              <p:custDataLst>
                <p:tags r:id="rId18"/>
              </p:custDataLst>
            </p:nvPr>
          </p:nvSpPr>
          <p:spPr>
            <a:xfrm>
              <a:off x="2245" y="652"/>
              <a:ext cx="624" cy="33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28800" rIns="54000" bIns="28800" anchor="t" anchorCtr="0"/>
            <a:lstStyle/>
            <a:p>
              <a:pPr algn="ctr" hangingPunct="0"/>
              <a:r>
                <a:rPr lang="en-US" altLang="zh-CN" sz="28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"</a:t>
              </a:r>
            </a:p>
          </p:txBody>
        </p:sp>
        <p:sp>
          <p:nvSpPr>
            <p:cNvPr id="33806" name="Rectangle 156"/>
            <p:cNvSpPr/>
            <p:nvPr>
              <p:custDataLst>
                <p:tags r:id="rId19"/>
              </p:custDataLst>
            </p:nvPr>
          </p:nvSpPr>
          <p:spPr>
            <a:xfrm>
              <a:off x="1373" y="0"/>
              <a:ext cx="1529" cy="37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28800" rIns="54000" bIns="28800" anchor="t" anchorCtr="0"/>
            <a:lstStyle/>
            <a:p>
              <a:pPr algn="just" hangingPunct="0"/>
              <a:r>
                <a:rPr lang="en-US" altLang="zh-CN" sz="28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A,B,C,…,Z</a:t>
              </a:r>
            </a:p>
          </p:txBody>
        </p:sp>
        <p:sp>
          <p:nvSpPr>
            <p:cNvPr id="33807" name="Freeform 158"/>
            <p:cNvSpPr/>
            <p:nvPr>
              <p:custDataLst>
                <p:tags r:id="rId20"/>
              </p:custDataLst>
            </p:nvPr>
          </p:nvSpPr>
          <p:spPr>
            <a:xfrm>
              <a:off x="1801" y="325"/>
              <a:ext cx="288" cy="306"/>
            </a:xfrm>
            <a:custGeom>
              <a:avLst/>
              <a:gdLst/>
              <a:ahLst/>
              <a:cxnLst>
                <a:cxn ang="0">
                  <a:pos x="112" y="199"/>
                </a:cxn>
                <a:cxn ang="0">
                  <a:pos x="146" y="74"/>
                </a:cxn>
                <a:cxn ang="0">
                  <a:pos x="78" y="3"/>
                </a:cxn>
                <a:cxn ang="0">
                  <a:pos x="7" y="84"/>
                </a:cxn>
                <a:cxn ang="0">
                  <a:pos x="35" y="200"/>
                </a:cxn>
              </a:cxnLst>
              <a:rect l="0" t="0" r="0" b="0"/>
              <a:pathLst>
                <a:path w="327" h="333">
                  <a:moveTo>
                    <a:pt x="240" y="332"/>
                  </a:moveTo>
                  <a:cubicBezTo>
                    <a:pt x="252" y="297"/>
                    <a:pt x="327" y="178"/>
                    <a:pt x="315" y="123"/>
                  </a:cubicBezTo>
                  <a:cubicBezTo>
                    <a:pt x="303" y="68"/>
                    <a:pt x="215" y="0"/>
                    <a:pt x="165" y="3"/>
                  </a:cubicBezTo>
                  <a:cubicBezTo>
                    <a:pt x="115" y="6"/>
                    <a:pt x="30" y="83"/>
                    <a:pt x="15" y="138"/>
                  </a:cubicBezTo>
                  <a:cubicBezTo>
                    <a:pt x="0" y="193"/>
                    <a:pt x="63" y="293"/>
                    <a:pt x="75" y="333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med"/>
            </a:ln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808" name="Line 160"/>
            <p:cNvSpPr/>
            <p:nvPr>
              <p:custDataLst>
                <p:tags r:id="rId21"/>
              </p:custDataLst>
            </p:nvPr>
          </p:nvSpPr>
          <p:spPr>
            <a:xfrm flipV="1">
              <a:off x="85" y="816"/>
              <a:ext cx="511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med"/>
            </a:ln>
          </p:spPr>
          <p:txBody>
            <a:bodyPr anchor="t" anchorCtr="0"/>
            <a:lstStyle/>
            <a:p>
              <a:pPr hangingPunct="0"/>
              <a:endParaRPr lang="zh-CN" altLang="en-US">
                <a:latin typeface="Arial" panose="020B0604020202020204" pitchFamily="34" charset="0"/>
                <a:ea typeface="楷体_GB2312" pitchFamily="1" charset="-122"/>
              </a:endParaRPr>
            </a:p>
          </p:txBody>
        </p:sp>
      </p:grpSp>
      <p:graphicFrame>
        <p:nvGraphicFramePr>
          <p:cNvPr id="48146" name="表格 48145"/>
          <p:cNvGraphicFramePr/>
          <p:nvPr>
            <p:custDataLst>
              <p:tags r:id="rId1"/>
            </p:custDataLst>
          </p:nvPr>
        </p:nvGraphicFramePr>
        <p:xfrm>
          <a:off x="2728913" y="4000500"/>
          <a:ext cx="2725738" cy="539750"/>
        </p:xfrm>
        <a:graphic>
          <a:graphicData uri="http://schemas.openxmlformats.org/drawingml/2006/table">
            <a:tbl>
              <a:tblPr/>
              <a:tblGrid>
                <a:gridCol w="45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"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H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None/>
                      </a:pPr>
                      <a:r>
                        <a:rPr lang="en-US" altLang="x-none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8162" name="Up Arrow 19"/>
          <p:cNvSpPr/>
          <p:nvPr>
            <p:custDataLst>
              <p:tags r:id="rId2"/>
            </p:custDataLst>
          </p:nvPr>
        </p:nvSpPr>
        <p:spPr>
          <a:xfrm>
            <a:off x="2819400" y="4573588"/>
            <a:ext cx="269875" cy="495300"/>
          </a:xfrm>
          <a:prstGeom prst="upArrow">
            <a:avLst>
              <a:gd name="adj1" fmla="val 50000"/>
              <a:gd name="adj2" fmla="val 49977"/>
            </a:avLst>
          </a:prstGeom>
          <a:solidFill>
            <a:srgbClr val="00B8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hangingPunct="0"/>
            <a:endParaRPr lang="en-US" altLang="x-none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163" name="Oval 144"/>
          <p:cNvSpPr/>
          <p:nvPr>
            <p:custDataLst>
              <p:tags r:id="rId3"/>
            </p:custDataLst>
          </p:nvPr>
        </p:nvSpPr>
        <p:spPr>
          <a:xfrm>
            <a:off x="3038475" y="2551113"/>
            <a:ext cx="593725" cy="620712"/>
          </a:xfrm>
          <a:prstGeom prst="ellipse">
            <a:avLst/>
          </a:prstGeom>
          <a:solidFill>
            <a:srgbClr val="FFFF99"/>
          </a:solidFill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79200" tIns="28800" rIns="90000" bIns="46800" anchor="t" anchorCtr="0"/>
          <a:lstStyle/>
          <a:p>
            <a:pPr algn="ctr" hangingPunct="0"/>
            <a:endParaRPr lang="zh-CN" altLang="en-US" sz="28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164" name="Up Arrow 19"/>
          <p:cNvSpPr/>
          <p:nvPr>
            <p:custDataLst>
              <p:tags r:id="rId4"/>
            </p:custDataLst>
          </p:nvPr>
        </p:nvSpPr>
        <p:spPr>
          <a:xfrm>
            <a:off x="3276600" y="4573588"/>
            <a:ext cx="269875" cy="495300"/>
          </a:xfrm>
          <a:prstGeom prst="upArrow">
            <a:avLst>
              <a:gd name="adj1" fmla="val 50000"/>
              <a:gd name="adj2" fmla="val 49977"/>
            </a:avLst>
          </a:prstGeom>
          <a:solidFill>
            <a:srgbClr val="00B8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hangingPunct="0"/>
            <a:endParaRPr lang="en-US" altLang="x-none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165" name="Up Arrow 19"/>
          <p:cNvSpPr/>
          <p:nvPr>
            <p:custDataLst>
              <p:tags r:id="rId5"/>
            </p:custDataLst>
          </p:nvPr>
        </p:nvSpPr>
        <p:spPr>
          <a:xfrm>
            <a:off x="3733800" y="4573588"/>
            <a:ext cx="269875" cy="495300"/>
          </a:xfrm>
          <a:prstGeom prst="upArrow">
            <a:avLst>
              <a:gd name="adj1" fmla="val 50000"/>
              <a:gd name="adj2" fmla="val 49977"/>
            </a:avLst>
          </a:prstGeom>
          <a:solidFill>
            <a:srgbClr val="00B8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hangingPunct="0"/>
            <a:endParaRPr lang="en-US" altLang="x-none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166" name="Up Arrow 19"/>
          <p:cNvSpPr/>
          <p:nvPr>
            <p:custDataLst>
              <p:tags r:id="rId6"/>
            </p:custDataLst>
          </p:nvPr>
        </p:nvSpPr>
        <p:spPr>
          <a:xfrm>
            <a:off x="4189413" y="4573588"/>
            <a:ext cx="269875" cy="495300"/>
          </a:xfrm>
          <a:prstGeom prst="upArrow">
            <a:avLst>
              <a:gd name="adj1" fmla="val 50000"/>
              <a:gd name="adj2" fmla="val 49977"/>
            </a:avLst>
          </a:prstGeom>
          <a:solidFill>
            <a:srgbClr val="00B8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hangingPunct="0"/>
            <a:endParaRPr lang="en-US" altLang="x-none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167" name="Up Arrow 19"/>
          <p:cNvSpPr/>
          <p:nvPr>
            <p:custDataLst>
              <p:tags r:id="rId7"/>
            </p:custDataLst>
          </p:nvPr>
        </p:nvSpPr>
        <p:spPr>
          <a:xfrm>
            <a:off x="4646613" y="4573588"/>
            <a:ext cx="269875" cy="495300"/>
          </a:xfrm>
          <a:prstGeom prst="upArrow">
            <a:avLst>
              <a:gd name="adj1" fmla="val 50000"/>
              <a:gd name="adj2" fmla="val 49977"/>
            </a:avLst>
          </a:prstGeom>
          <a:solidFill>
            <a:srgbClr val="00B8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hangingPunct="0"/>
            <a:endParaRPr lang="en-US" altLang="x-none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168" name="Up Arrow 19"/>
          <p:cNvSpPr/>
          <p:nvPr>
            <p:custDataLst>
              <p:tags r:id="rId8"/>
            </p:custDataLst>
          </p:nvPr>
        </p:nvSpPr>
        <p:spPr>
          <a:xfrm>
            <a:off x="5103813" y="4573588"/>
            <a:ext cx="269875" cy="495300"/>
          </a:xfrm>
          <a:prstGeom prst="upArrow">
            <a:avLst>
              <a:gd name="adj1" fmla="val 50000"/>
              <a:gd name="adj2" fmla="val 49977"/>
            </a:avLst>
          </a:prstGeom>
          <a:solidFill>
            <a:srgbClr val="00B8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hangingPunct="0"/>
            <a:endParaRPr lang="en-US" altLang="x-none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169" name="Oval 144"/>
          <p:cNvSpPr/>
          <p:nvPr>
            <p:custDataLst>
              <p:tags r:id="rId9"/>
            </p:custDataLst>
          </p:nvPr>
        </p:nvSpPr>
        <p:spPr>
          <a:xfrm>
            <a:off x="4846638" y="2551113"/>
            <a:ext cx="593725" cy="620712"/>
          </a:xfrm>
          <a:prstGeom prst="ellipse">
            <a:avLst/>
          </a:prstGeom>
          <a:solidFill>
            <a:srgbClr val="FFFF99"/>
          </a:solidFill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79200" tIns="28800" rIns="90000" bIns="46800" anchor="t" anchorCtr="0"/>
          <a:lstStyle/>
          <a:p>
            <a:pPr algn="ctr" hangingPunct="0"/>
            <a:endParaRPr lang="zh-CN" altLang="en-US" sz="28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170" name="TextBox 29"/>
          <p:cNvSpPr txBox="1"/>
          <p:nvPr>
            <p:custDataLst>
              <p:tags r:id="rId10"/>
            </p:custDataLst>
          </p:nvPr>
        </p:nvSpPr>
        <p:spPr>
          <a:xfrm>
            <a:off x="6285230" y="4359275"/>
            <a:ext cx="2755265" cy="1383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hangingPunct="0"/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不是接受状态</a:t>
            </a:r>
            <a:endParaRPr lang="en-US" altLang="zh-CN" sz="28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hangingPunct="0"/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hangingPunct="0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拒绝输入串</a:t>
            </a:r>
          </a:p>
        </p:txBody>
      </p:sp>
      <p:cxnSp>
        <p:nvCxnSpPr>
          <p:cNvPr id="48171" name="形状 31"/>
          <p:cNvCxnSpPr>
            <a:stCxn id="48170" idx="0"/>
            <a:endCxn id="48169" idx="4"/>
          </p:cNvCxnSpPr>
          <p:nvPr>
            <p:custDataLst>
              <p:tags r:id="rId11"/>
            </p:custDataLst>
          </p:nvPr>
        </p:nvCxnSpPr>
        <p:spPr>
          <a:xfrm rot="16200000" flipV="1">
            <a:off x="5809933" y="2506028"/>
            <a:ext cx="1187450" cy="2519045"/>
          </a:xfrm>
          <a:prstGeom prst="curvedConnector3">
            <a:avLst>
              <a:gd name="adj1" fmla="val 50027"/>
            </a:avLst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48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8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48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8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" dur="500"/>
                                        <p:tgtEl>
                                          <p:spTgt spid="48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8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48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8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48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8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48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8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4" dur="500"/>
                                        <p:tgtEl>
                                          <p:spTgt spid="48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48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48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48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62" grpId="0" bldLvl="0" animBg="1"/>
      <p:bldP spid="48162" grpId="1" bldLvl="0" animBg="1"/>
      <p:bldP spid="48163" grpId="0" bldLvl="0" animBg="1"/>
      <p:bldP spid="48163" grpId="1" bldLvl="0" animBg="1"/>
      <p:bldP spid="48164" grpId="0" bldLvl="0" animBg="1"/>
      <p:bldP spid="48164" grpId="1" bldLvl="0" animBg="1"/>
      <p:bldP spid="48165" grpId="0" bldLvl="0" animBg="1"/>
      <p:bldP spid="48165" grpId="1" bldLvl="0" animBg="1"/>
      <p:bldP spid="48166" grpId="0" bldLvl="0" animBg="1"/>
      <p:bldP spid="48166" grpId="1" bldLvl="0" animBg="1"/>
      <p:bldP spid="48167" grpId="0" bldLvl="0" animBg="1"/>
      <p:bldP spid="48167" grpId="1" bldLvl="0" animBg="1"/>
      <p:bldP spid="48168" grpId="0" bldLvl="0" animBg="1"/>
      <p:bldP spid="48168" grpId="1" bldLvl="0" animBg="1"/>
      <p:bldP spid="48169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95536" y="1628800"/>
            <a:ext cx="8320210" cy="4680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一种用来描述字符串集合的工具</a:t>
            </a:r>
          </a:p>
          <a:p>
            <a:pPr marL="0" indent="0">
              <a:buNone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几个概念：</a:t>
            </a:r>
          </a:p>
          <a:p>
            <a:pPr marL="0" indent="0">
              <a:buNone/>
            </a:pPr>
            <a:endParaRPr lang="zh-CN" alt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字母表</a:t>
            </a:r>
            <a:r>
              <a: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：一个有限的符号集合</a:t>
            </a:r>
          </a:p>
          <a:p>
            <a:pPr marL="0" indent="0"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串</a:t>
            </a:r>
            <a:r>
              <a: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：字母表中符号的一个有穷序列</a:t>
            </a:r>
          </a:p>
          <a:p>
            <a:pPr marL="0" indent="0"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串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的长度</a:t>
            </a:r>
            <a:r>
              <a: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，记作</a:t>
            </a: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|s|</a:t>
            </a:r>
            <a:r>
              <a: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，指</a:t>
            </a: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中出现的符号的次数</a:t>
            </a:r>
          </a:p>
          <a:p>
            <a:pPr marL="0" indent="0"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空串</a:t>
            </a:r>
            <a:r>
              <a: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：长度为</a:t>
            </a: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的串，记作</a:t>
            </a: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ε</a:t>
            </a:r>
          </a:p>
          <a:p>
            <a:pPr marL="0" indent="0"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闭包</a:t>
            </a:r>
            <a:r>
              <a: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：用</a:t>
            </a: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</a:t>
            </a:r>
            <a:r>
              <a: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来表示由零个或者多个</a:t>
            </a: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构成的串</a:t>
            </a:r>
          </a:p>
          <a:p>
            <a:pPr marL="0" indent="0"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正闭包</a:t>
            </a:r>
            <a:r>
              <a: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：用</a:t>
            </a: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a+</a:t>
            </a:r>
            <a:r>
              <a: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来表示由一个或者多个</a:t>
            </a: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构成的串</a:t>
            </a:r>
            <a:endParaRPr lang="en-US" altLang="zh-C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语言</a:t>
            </a:r>
            <a:r>
              <a:rPr lang="zh-CN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：给定字母表上的一个任意的可数的串的集合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3.4 </a:t>
            </a:r>
            <a:r>
              <a:rPr lang="zh-CN" altLang="en-US" sz="36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正则表达式</a:t>
            </a:r>
            <a:endParaRPr lang="en-US" sz="36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95536" y="1628800"/>
            <a:ext cx="8320210" cy="4680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latin typeface="+mn-ea"/>
              </a:rPr>
              <a:t>定义</a:t>
            </a:r>
            <a:endParaRPr lang="en-US" altLang="zh-CN" b="1" dirty="0">
              <a:latin typeface="+mn-ea"/>
            </a:endParaRPr>
          </a:p>
          <a:p>
            <a:pPr marL="0" indent="0">
              <a:buNone/>
            </a:pP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假设</a:t>
            </a:r>
            <a:r>
              <a:rPr lang="el-GR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为一个有限字母表，在</a:t>
            </a:r>
            <a:r>
              <a:rPr lang="el-GR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上的正则表达式可</a:t>
            </a:r>
            <a:r>
              <a:rPr lang="zh-CN" altLang="en-US" sz="24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递归地定义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如下：</a:t>
            </a:r>
            <a:endParaRPr lang="en-US" altLang="zh-C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l-GR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Ø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l-GR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上的正则表达式，它们表示的集合分别为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l-GR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Ø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）如果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是字母表</a:t>
            </a:r>
            <a:r>
              <a:rPr lang="el-GR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zh-CN" altLang="el-GR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中的一个符号，那么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l-GR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上的正则表达式，它表示的集合为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{a}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）如果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都是字母表</a:t>
            </a:r>
            <a:r>
              <a:rPr lang="el-GR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Σ</a:t>
            </a:r>
            <a:r>
              <a:rPr lang="zh-CN" altLang="el-GR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上的正则表达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式，那么</a:t>
            </a:r>
            <a:r>
              <a:rPr lang="en-US" altLang="zh-CN" sz="24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4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r*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也是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字母表</a:t>
            </a:r>
            <a:r>
              <a:rPr lang="el-GR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Σ</a:t>
            </a:r>
            <a:r>
              <a:rPr lang="zh-CN" altLang="el-GR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上的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正则表达式，它们表示的集合分别是：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3.4 </a:t>
            </a:r>
            <a:r>
              <a:rPr lang="zh-CN" altLang="en-US" sz="36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正则表达式</a:t>
            </a:r>
            <a:endParaRPr lang="en-US" sz="36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04397" y="2020823"/>
            <a:ext cx="8320210" cy="472074"/>
          </a:xfrm>
        </p:spPr>
        <p:txBody>
          <a:bodyPr>
            <a:noAutofit/>
          </a:bodyPr>
          <a:lstStyle/>
          <a:p>
            <a:pPr lvl="1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假设，</a:t>
            </a:r>
            <a:r>
              <a:rPr lang="el-G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3.4 </a:t>
            </a:r>
            <a:r>
              <a:rPr lang="zh-CN" altLang="en-US" sz="36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正则表达式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27584" y="1700808"/>
          <a:ext cx="7560840" cy="45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6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3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39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正则表达式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表示的集合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39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3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3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3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3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3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3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404500" y="2261289"/>
            <a:ext cx="3702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8043" y="2266369"/>
            <a:ext cx="9844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{a}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09018" y="2784509"/>
            <a:ext cx="7611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a|b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77323" y="3341572"/>
            <a:ext cx="727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92221" y="4005064"/>
            <a:ext cx="1903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0(0|1)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9752" y="4576506"/>
            <a:ext cx="682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99752" y="5068948"/>
            <a:ext cx="1058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3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092220" y="5684501"/>
            <a:ext cx="1903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a|b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67789" y="2853030"/>
            <a:ext cx="11284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8043" y="3469082"/>
            <a:ext cx="11284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{ab}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7951" y="4020304"/>
            <a:ext cx="1286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{00,01}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7924" y="4552943"/>
            <a:ext cx="259228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 aa, aaa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7800" y="5099726"/>
            <a:ext cx="280831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{01, 001, 0001,…}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95876" y="5748349"/>
            <a:ext cx="428396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ba, aaba, ababa, baba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内容占位符 6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395536" y="1916832"/>
          <a:ext cx="8271643" cy="3762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1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描述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公理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Times New Roman" panose="02020603050405020304" pitchFamily="18" charset="0"/>
                        </a:rPr>
                        <a:t>并是可以交换的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2400" i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s|t</a:t>
                      </a:r>
                      <a:r>
                        <a:rPr lang="en-US" altLang="zh-CN" sz="2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altLang="zh-CN" sz="2400" i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t|s</a:t>
                      </a:r>
                      <a:endParaRPr lang="en-US" sz="2400" i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2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并是可结合的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s|(</a:t>
                      </a:r>
                      <a:r>
                        <a:rPr lang="en-US" sz="2400" i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t|r</a:t>
                      </a:r>
                      <a:r>
                        <a:rPr lang="en-US" sz="2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2400" i="1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(</a:t>
                      </a:r>
                      <a:r>
                        <a:rPr lang="en-US" sz="2400" i="1" kern="1200" baseline="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s|t</a:t>
                      </a:r>
                      <a:r>
                        <a:rPr lang="en-US" sz="2400" i="1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)|r</a:t>
                      </a:r>
                      <a:endParaRPr lang="en-US" sz="2400" i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2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连接是可结合的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2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2400" i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</a:t>
                      </a:r>
                      <a:r>
                        <a:rPr lang="zh-CN" altLang="en-US" sz="2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r>
                        <a:rPr lang="en-US" altLang="zh-CN" sz="2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altLang="zh-CN" sz="2400" i="1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s</a:t>
                      </a:r>
                      <a:r>
                        <a:rPr lang="zh-CN" altLang="en-US" sz="2400" i="1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2400" i="1" kern="1200" baseline="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</a:t>
                      </a:r>
                      <a:r>
                        <a:rPr lang="zh-CN" altLang="en-US" sz="2400" i="1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endParaRPr lang="en-US" sz="2400" i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2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连接对并可分配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2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s(</a:t>
                      </a:r>
                      <a:r>
                        <a:rPr lang="en-US" altLang="zh-CN" sz="2400" i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t|r</a:t>
                      </a:r>
                      <a:r>
                        <a:rPr lang="en-US" altLang="zh-CN" sz="2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 = </a:t>
                      </a:r>
                      <a:r>
                        <a:rPr lang="en-US" altLang="zh-CN" sz="2400" i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st|sr</a:t>
                      </a:r>
                      <a:r>
                        <a:rPr lang="zh-CN" altLang="en-US" sz="2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，（</a:t>
                      </a:r>
                      <a:r>
                        <a:rPr lang="en-US" altLang="zh-CN" sz="2400" i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t|r</a:t>
                      </a:r>
                      <a:r>
                        <a:rPr lang="zh-CN" altLang="en-US" sz="2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r>
                        <a:rPr lang="en-US" altLang="zh-CN" sz="2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 = </a:t>
                      </a:r>
                      <a:r>
                        <a:rPr lang="en-US" altLang="zh-CN" sz="2400" i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ts|rs</a:t>
                      </a:r>
                      <a:endParaRPr lang="en-US" sz="2400" i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131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l-GR" altLang="zh-CN" sz="2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lang="zh-CN" altLang="en-US" sz="2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是连接的恒等元素</a:t>
                      </a:r>
                      <a:endParaRPr lang="en-US" sz="2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l-GR" sz="2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lang="en-US" sz="2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 </a:t>
                      </a:r>
                      <a:r>
                        <a:rPr lang="en-US" altLang="zh-CN" sz="2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= s</a:t>
                      </a:r>
                      <a:r>
                        <a:rPr lang="zh-CN" altLang="en-US" sz="2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2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l-GR" sz="2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lang="en-US" sz="2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2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闭包与</a:t>
                      </a:r>
                      <a:r>
                        <a:rPr lang="el-GR" altLang="zh-CN" sz="2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lang="zh-CN" altLang="en-US" sz="2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间的关系</a:t>
                      </a:r>
                      <a:endParaRPr lang="en-US" sz="2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s* = (s|</a:t>
                      </a:r>
                      <a:r>
                        <a:rPr lang="el-GR" sz="2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lang="en-US" sz="2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2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闭包是幂等的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a** = a*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3.4 </a:t>
            </a:r>
            <a:r>
              <a:rPr lang="zh-CN" altLang="en-US" sz="36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正则表达式</a:t>
            </a:r>
            <a:endParaRPr lang="en-US" sz="36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800" b="1" dirty="0">
                <a:latin typeface="+mn-ea"/>
              </a:rPr>
              <a:t>化简规则：</a:t>
            </a:r>
          </a:p>
          <a:p>
            <a:pPr marL="0" indent="0">
              <a:buNone/>
            </a:pPr>
            <a:endParaRPr lang="en-US" altLang="zh-CN" sz="2800" b="1" dirty="0">
              <a:latin typeface="+mn-ea"/>
            </a:endParaRPr>
          </a:p>
          <a:p>
            <a:pPr marL="0" indent="0">
              <a:buNone/>
            </a:pP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）一元运算符 * 具有最高的优先级，并且是左结合的。</a:t>
            </a:r>
            <a:endParaRPr lang="en-US" altLang="zh-C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连接具有次高的优先级，也是左结合的。</a:t>
            </a:r>
            <a:endParaRPr lang="en-US" altLang="zh-C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的优先级最低，也是左结合的</a:t>
            </a:r>
          </a:p>
          <a:p>
            <a:pPr marL="0" indent="0">
              <a:buNone/>
            </a:pPr>
            <a:endParaRPr lang="en-US" altLang="zh-C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)|((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)*(c))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化简</a:t>
            </a:r>
            <a:endParaRPr lang="en-US" altLang="zh-CN" sz="2400" b="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n-US" altLang="zh-CN" sz="2400" b="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a|b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*c</a:t>
            </a:r>
          </a:p>
          <a:p>
            <a:endParaRPr lang="en-US" altLang="zh-CN" sz="2400" b="0" i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3.4 </a:t>
            </a:r>
            <a:r>
              <a:rPr lang="zh-CN" altLang="en-US" sz="3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正则表达式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800" b="1" dirty="0">
                <a:latin typeface="+mn-ea"/>
              </a:rPr>
              <a:t>标识符的正规式</a:t>
            </a:r>
            <a:endParaRPr lang="en-US" altLang="zh-CN" sz="2800" b="1" dirty="0">
              <a:latin typeface="+mn-ea"/>
            </a:endParaRPr>
          </a:p>
          <a:p>
            <a:pPr marL="0" indent="0" algn="ctr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altLang="zh-CN" sz="28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(letter|_) (</a:t>
            </a:r>
            <a:r>
              <a:rPr lang="en-US" altLang="zh-CN" sz="2800" b="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letter|digit</a:t>
            </a:r>
            <a:r>
              <a:rPr lang="en-US" altLang="zh-CN" sz="28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|_)*</a:t>
            </a:r>
          </a:p>
          <a:p>
            <a:pPr marL="0" indent="0">
              <a:buNone/>
            </a:pPr>
            <a:r>
              <a:rPr lang="zh-CN" altLang="en-US" sz="2800" b="1" dirty="0">
                <a:latin typeface="+mn-ea"/>
              </a:rPr>
              <a:t>标识符的状态转换图</a:t>
            </a:r>
            <a:endParaRPr lang="en-US" altLang="zh-CN" sz="2800" b="1" dirty="0">
              <a:latin typeface="+mn-ea"/>
            </a:endParaRPr>
          </a:p>
          <a:p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3.4 </a:t>
            </a:r>
            <a:r>
              <a:rPr lang="zh-CN" altLang="en-US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正则表达式</a:t>
            </a:r>
            <a:endParaRPr lang="en-US" sz="36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Line 36"/>
          <p:cNvSpPr>
            <a:spLocks noChangeShapeType="1"/>
          </p:cNvSpPr>
          <p:nvPr/>
        </p:nvSpPr>
        <p:spPr bwMode="auto">
          <a:xfrm>
            <a:off x="4926566" y="5901962"/>
            <a:ext cx="1336943" cy="1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58733" tIns="119050" rIns="119050" bIns="119050"/>
          <a:lstStyle/>
          <a:p>
            <a:endParaRPr lang="zh-CN" altLang="en-US" sz="1600"/>
          </a:p>
        </p:txBody>
      </p:sp>
      <p:sp>
        <p:nvSpPr>
          <p:cNvPr id="8" name="Line 35"/>
          <p:cNvSpPr>
            <a:spLocks noChangeShapeType="1"/>
          </p:cNvSpPr>
          <p:nvPr/>
        </p:nvSpPr>
        <p:spPr bwMode="auto">
          <a:xfrm>
            <a:off x="2910653" y="5901962"/>
            <a:ext cx="1336943" cy="1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58733" tIns="119050" rIns="119050" bIns="119050"/>
          <a:lstStyle/>
          <a:p>
            <a:endParaRPr lang="zh-CN" altLang="en-US" sz="1600"/>
          </a:p>
        </p:txBody>
      </p:sp>
      <p:sp>
        <p:nvSpPr>
          <p:cNvPr id="9" name="Rectangle 37"/>
          <p:cNvSpPr>
            <a:spLocks noChangeArrowheads="1"/>
          </p:cNvSpPr>
          <p:nvPr/>
        </p:nvSpPr>
        <p:spPr bwMode="auto">
          <a:xfrm>
            <a:off x="3078645" y="5313987"/>
            <a:ext cx="839964" cy="58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400" b="1" dirty="0">
                <a:latin typeface="Times New Roman" panose="02020603050405020304" pitchFamily="18" charset="0"/>
              </a:rPr>
              <a:t>字母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/_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0" name="Rectangle 38"/>
          <p:cNvSpPr>
            <a:spLocks noChangeArrowheads="1"/>
          </p:cNvSpPr>
          <p:nvPr/>
        </p:nvSpPr>
        <p:spPr bwMode="auto">
          <a:xfrm>
            <a:off x="5178555" y="5313987"/>
            <a:ext cx="839964" cy="58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400" b="1" dirty="0">
                <a:latin typeface="Times New Roman" panose="02020603050405020304" pitchFamily="18" charset="0"/>
              </a:rPr>
              <a:t>其他</a:t>
            </a:r>
          </a:p>
        </p:txBody>
      </p:sp>
      <p:sp>
        <p:nvSpPr>
          <p:cNvPr id="11" name="Freeform 32"/>
          <p:cNvSpPr/>
          <p:nvPr/>
        </p:nvSpPr>
        <p:spPr bwMode="auto">
          <a:xfrm>
            <a:off x="4338591" y="4894005"/>
            <a:ext cx="503978" cy="671971"/>
          </a:xfrm>
          <a:custGeom>
            <a:avLst/>
            <a:gdLst>
              <a:gd name="T0" fmla="*/ 480 w 480"/>
              <a:gd name="T1" fmla="*/ 720 h 720"/>
              <a:gd name="T2" fmla="*/ 240 w 480"/>
              <a:gd name="T3" fmla="*/ 0 h 720"/>
              <a:gd name="T4" fmla="*/ 0 w 480"/>
              <a:gd name="T5" fmla="*/ 72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80" h="720">
                <a:moveTo>
                  <a:pt x="480" y="720"/>
                </a:moveTo>
                <a:cubicBezTo>
                  <a:pt x="400" y="360"/>
                  <a:pt x="320" y="0"/>
                  <a:pt x="240" y="0"/>
                </a:cubicBezTo>
                <a:cubicBezTo>
                  <a:pt x="160" y="0"/>
                  <a:pt x="80" y="360"/>
                  <a:pt x="0" y="72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9367" tIns="0" rIns="0" bIns="0"/>
          <a:lstStyle/>
          <a:p>
            <a:endParaRPr lang="zh-CN" altLang="en-US" sz="1600"/>
          </a:p>
        </p:txBody>
      </p:sp>
      <p:sp>
        <p:nvSpPr>
          <p:cNvPr id="12" name="Rectangle 39"/>
          <p:cNvSpPr>
            <a:spLocks noChangeArrowheads="1"/>
          </p:cNvSpPr>
          <p:nvPr/>
        </p:nvSpPr>
        <p:spPr bwMode="auto">
          <a:xfrm>
            <a:off x="3750616" y="4306030"/>
            <a:ext cx="1595931" cy="58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400" b="1" dirty="0">
                <a:latin typeface="Times New Roman" panose="02020603050405020304" pitchFamily="18" charset="0"/>
              </a:rPr>
              <a:t>数字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/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字母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/_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2154685" y="5397983"/>
            <a:ext cx="5123780" cy="799716"/>
            <a:chOff x="1986693" y="3691117"/>
            <a:chExt cx="5123780" cy="799716"/>
          </a:xfrm>
        </p:grpSpPr>
        <p:sp>
          <p:nvSpPr>
            <p:cNvPr id="14" name="Oval 31"/>
            <p:cNvSpPr>
              <a:spLocks noChangeArrowheads="1"/>
            </p:cNvSpPr>
            <p:nvPr/>
          </p:nvSpPr>
          <p:spPr bwMode="auto">
            <a:xfrm>
              <a:off x="1986693" y="3859110"/>
              <a:ext cx="699970" cy="63172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58733" tIns="0" rIns="158733" bIns="0"/>
            <a:lstStyle/>
            <a:p>
              <a:pPr algn="just" eaLnBrk="0" hangingPunct="0"/>
              <a:r>
                <a:rPr kumimoji="1" lang="en-US" altLang="zh-CN" sz="2400" b="1" dirty="0">
                  <a:latin typeface="Times New Roman" panose="02020603050405020304" pitchFamily="18" charset="0"/>
                </a:rPr>
                <a:t>1</a:t>
              </a:r>
              <a:endParaRPr kumimoji="1"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5" name="Oval 33"/>
            <p:cNvSpPr>
              <a:spLocks noChangeArrowheads="1"/>
            </p:cNvSpPr>
            <p:nvPr/>
          </p:nvSpPr>
          <p:spPr bwMode="auto">
            <a:xfrm>
              <a:off x="4086603" y="3859110"/>
              <a:ext cx="699970" cy="63172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58733" tIns="0" rIns="158733" bIns="0"/>
            <a:lstStyle/>
            <a:p>
              <a:pPr algn="just" eaLnBrk="0" hangingPunct="0"/>
              <a:r>
                <a:rPr kumimoji="1" lang="en-US" altLang="zh-CN" sz="2400" b="1" dirty="0">
                  <a:latin typeface="Times New Roman" panose="02020603050405020304" pitchFamily="18" charset="0"/>
                </a:rPr>
                <a:t>2</a:t>
              </a:r>
              <a:endParaRPr kumimoji="1"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6" name="Oval 34"/>
            <p:cNvSpPr>
              <a:spLocks noChangeArrowheads="1"/>
            </p:cNvSpPr>
            <p:nvPr/>
          </p:nvSpPr>
          <p:spPr bwMode="auto">
            <a:xfrm>
              <a:off x="6102516" y="3859110"/>
              <a:ext cx="699970" cy="631723"/>
            </a:xfrm>
            <a:prstGeom prst="ellipse">
              <a:avLst/>
            </a:prstGeom>
            <a:noFill/>
            <a:ln w="92075" cmpd="dbl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58733" tIns="0" rIns="158733" bIns="0"/>
            <a:lstStyle/>
            <a:p>
              <a:pPr algn="just" eaLnBrk="0" hangingPunct="0"/>
              <a:r>
                <a:rPr kumimoji="1" lang="en-US" altLang="zh-CN" sz="2400" b="1">
                  <a:latin typeface="Times New Roman" panose="02020603050405020304" pitchFamily="18" charset="0"/>
                </a:rPr>
                <a:t>3</a:t>
              </a:r>
              <a:endParaRPr kumimoji="1" lang="en-US" altLang="zh-CN" sz="1600" b="1">
                <a:latin typeface="Times New Roman" panose="02020603050405020304" pitchFamily="18" charset="0"/>
              </a:endParaRPr>
            </a:p>
          </p:txBody>
        </p:sp>
        <p:sp>
          <p:nvSpPr>
            <p:cNvPr id="17" name="Rectangle 42"/>
            <p:cNvSpPr>
              <a:spLocks noChangeArrowheads="1"/>
            </p:cNvSpPr>
            <p:nvPr/>
          </p:nvSpPr>
          <p:spPr bwMode="auto">
            <a:xfrm>
              <a:off x="6522498" y="3691117"/>
              <a:ext cx="587975" cy="4199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400" b="1">
                  <a:latin typeface="Times New Roman" panose="02020603050405020304" pitchFamily="18" charset="0"/>
                </a:rPr>
                <a:t>*</a:t>
              </a:r>
            </a:p>
          </p:txBody>
        </p:sp>
      </p:grpSp>
      <p:sp>
        <p:nvSpPr>
          <p:cNvPr id="18" name="AutoShape 49"/>
          <p:cNvSpPr>
            <a:spLocks noChangeArrowheads="1"/>
          </p:cNvSpPr>
          <p:nvPr/>
        </p:nvSpPr>
        <p:spPr bwMode="auto">
          <a:xfrm>
            <a:off x="1678705" y="5743593"/>
            <a:ext cx="475980" cy="316737"/>
          </a:xfrm>
          <a:prstGeom prst="rightArrow">
            <a:avLst>
              <a:gd name="adj1" fmla="val 50000"/>
              <a:gd name="adj2" fmla="val 37569"/>
            </a:avLst>
          </a:prstGeom>
          <a:noFill/>
          <a:ln w="12700">
            <a:solidFill>
              <a:schemeClr val="tx1"/>
            </a:solidFill>
            <a:miter lim="800000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1" grpId="1" bldLvl="0" animBg="1"/>
      <p:bldP spid="11" grpId="2" bldLvl="0" animBg="1"/>
      <p:bldP spid="11" grpId="3" bldLvl="0" animBg="1"/>
      <p:bldP spid="11" grpId="4" bldLvl="0" animBg="1"/>
      <p:bldP spid="12" grpId="0" bldLvl="0" animBg="1"/>
      <p:bldP spid="18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04397" y="2020823"/>
            <a:ext cx="8320210" cy="4720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8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假设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l-GR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={0,1,2,…,9, a, b, c, …, z, A, B, C, …, Z}</a:t>
            </a:r>
            <a:endParaRPr lang="en-US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3.4 </a:t>
            </a:r>
            <a:r>
              <a:rPr lang="zh-CN" altLang="en-US" sz="36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正则表达式</a:t>
            </a:r>
            <a:endParaRPr lang="en-US" sz="36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内容占位符 1"/>
          <p:cNvSpPr txBox="1"/>
          <p:nvPr/>
        </p:nvSpPr>
        <p:spPr>
          <a:xfrm>
            <a:off x="539600" y="2852936"/>
            <a:ext cx="8320210" cy="3168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数字：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	digit=0|1|2|…|9</a:t>
            </a:r>
          </a:p>
          <a:p>
            <a:pPr marL="0" indent="0"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字母：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	letter=</a:t>
            </a:r>
            <a:r>
              <a:rPr lang="en-US" altLang="zh-CN" sz="28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a|b|c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|…|</a:t>
            </a:r>
            <a:r>
              <a:rPr lang="en-US" altLang="zh-CN" sz="28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z|A|B|C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|…|Z</a:t>
            </a:r>
          </a:p>
          <a:p>
            <a:pPr marL="0" indent="0"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正整数：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	digit digit*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digit</a:t>
            </a:r>
            <a:r>
              <a:rPr lang="en-US" altLang="zh-CN" sz="2800" baseline="30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  <a:p>
            <a:pPr marL="0" indent="0"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标识符：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	(letter|_) (</a:t>
            </a:r>
            <a:r>
              <a:rPr lang="en-US" altLang="zh-CN" sz="28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letter|digit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|_)*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rgbClr val="073E87"/>
                </a:solidFill>
              </a:rPr>
              <a:t>邓伏虎</a:t>
            </a:r>
            <a:endParaRPr lang="zh-CN" altLang="en-US" dirty="0">
              <a:solidFill>
                <a:srgbClr val="073E87"/>
              </a:solidFill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73E87"/>
                </a:solidFill>
              </a:rPr>
              <a:t>信息与软件工程学院</a:t>
            </a: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73E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fld>
            <a:endParaRPr lang="zh-CN" altLang="en-US" dirty="0">
              <a:solidFill>
                <a:srgbClr val="073E8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395536" y="1628800"/>
                <a:ext cx="8320210" cy="446538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有限状态自动机（</a:t>
                </a:r>
                <a:r>
                  <a:rPr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Finite Automaton, FA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  <a:r>
                  <a:rPr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zh-CN" alt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是一个五元组：</a:t>
                </a:r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zh-CN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M=(Q, </a:t>
                </a:r>
                <a:r>
                  <a:rPr lang="el-GR" altLang="zh-CN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US" altLang="zh-CN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l-GR" altLang="zh-CN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altLang="zh-CN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q</a:t>
                </a:r>
                <a:r>
                  <a:rPr lang="en-US" altLang="zh-CN" b="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F)</a:t>
                </a:r>
              </a:p>
              <a:p>
                <a:pPr marL="0" indent="0">
                  <a:buNone/>
                </a:pPr>
                <a:r>
                  <a:rPr lang="zh-CN" altLang="en-US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其中：</a:t>
                </a:r>
                <a:endParaRPr lang="en-US" altLang="zh-CN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60045" indent="0">
                  <a:buNone/>
                </a:pPr>
                <a:r>
                  <a:rPr lang="en-US" altLang="zh-CN" sz="20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CN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——</a:t>
                </a:r>
                <a:r>
                  <a:rPr lang="zh-CN" alt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状态的非空有限集合。</a:t>
                </a:r>
                <a14:m>
                  <m:oMath xmlns:m="http://schemas.openxmlformats.org/officeDocument/2006/math">
                    <m:r>
                      <a:rPr lang="zh-CN" altLang="en-US" sz="2000" b="0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∀</m:t>
                    </m:r>
                    <m:r>
                      <a:rPr lang="en-US" altLang="zh-CN" sz="2000" b="0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2000" b="0" i="1" smtClean="0">
                        <a:latin typeface="Cambria Math" panose="02040503050406030204" charset="0"/>
                        <a:cs typeface="Cambria Math" panose="02040503050406030204" charset="0"/>
                      </a:rPr>
                      <m:t>𝑞</m:t>
                    </m:r>
                    <m:r>
                      <a:rPr lang="en-US" altLang="zh-CN" sz="2000" b="0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sz="2000" b="0" i="1" smtClean="0">
                        <a:latin typeface="Cambria Math" panose="02040503050406030204" charset="0"/>
                        <a:ea typeface="Cambria Math" panose="02040503050406030204"/>
                        <a:cs typeface="Cambria Math" panose="02040503050406030204" charset="0"/>
                      </a:rPr>
                      <m:t>𝑄</m:t>
                    </m:r>
                  </m:oMath>
                </a14:m>
                <a:r>
                  <a:rPr 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0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zh-CN" alt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称为</a:t>
                </a:r>
                <a:r>
                  <a:rPr lang="en-US" altLang="zh-CN" sz="20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zh-CN" alt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的一个状态。</a:t>
                </a:r>
                <a:endParaRPr lang="en-US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60045" indent="0">
                  <a:buNone/>
                </a:pPr>
                <a:r>
                  <a:rPr lang="zh-CN" altLang="zh-CN" sz="20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US" altLang="zh-CN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——</a:t>
                </a:r>
                <a:r>
                  <a:rPr lang="zh-CN" alt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输入字母表，输入字符串都是</a:t>
                </a:r>
                <a:r>
                  <a:rPr lang="el-GR" altLang="zh-CN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zh-CN" alt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上的字符串。</a:t>
                </a:r>
                <a:endParaRPr lang="en-US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60045" indent="0">
                  <a:buNone/>
                </a:pPr>
                <a:r>
                  <a:rPr lang="el-GR" altLang="zh-CN" sz="20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altLang="zh-CN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——</a:t>
                </a:r>
                <a:r>
                  <a:rPr lang="zh-CN" alt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状态转移函数，</a:t>
                </a:r>
                <a14:m>
                  <m:oMath xmlns:m="http://schemas.openxmlformats.org/officeDocument/2006/math">
                    <m:r>
                      <a:rPr lang="zh-CN" altLang="en-US" sz="2000" b="0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𝛿</m:t>
                    </m:r>
                    <m:r>
                      <a:rPr lang="zh-CN" altLang="en-US" sz="2000" b="0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：</m:t>
                    </m:r>
                    <m:r>
                      <a:rPr lang="en-US" altLang="zh-CN" sz="2000" b="0" i="1" smtClean="0">
                        <a:latin typeface="Cambria Math" panose="02040503050406030204" charset="0"/>
                        <a:cs typeface="Cambria Math" panose="02040503050406030204" charset="0"/>
                      </a:rPr>
                      <m:t>𝑄</m:t>
                    </m:r>
                    <m:r>
                      <a:rPr lang="en-US" altLang="zh-CN" sz="2000" b="0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×</m:t>
                    </m:r>
                    <m:r>
                      <a:rPr lang="el-GR" altLang="zh-CN" sz="2000" b="0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𝛴</m:t>
                    </m:r>
                    <m:r>
                      <a:rPr lang="en-US" altLang="zh-CN" sz="2000" b="0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→</m:t>
                    </m:r>
                    <m:r>
                      <a:rPr lang="en-US" altLang="zh-CN" sz="2000" b="0" i="1" smtClean="0">
                        <a:latin typeface="Cambria Math" panose="02040503050406030204" charset="0"/>
                        <a:ea typeface="Cambria Math" panose="02040503050406030204"/>
                        <a:cs typeface="Cambria Math" panose="02040503050406030204" charset="0"/>
                      </a:rPr>
                      <m:t>𝑄</m:t>
                    </m:r>
                  </m:oMath>
                </a14:m>
                <a:r>
                  <a:rPr lang="zh-CN" alt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，为单值映射。</a:t>
                </a:r>
                <a:endParaRPr lang="en-US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60045" indent="0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𝛿</m:t>
                    </m:r>
                    <m:d>
                      <m:dPr>
                        <m:begChr m:val="（"/>
                        <m:endChr m:val="）"/>
                        <m:ctrlPr>
                          <a:rPr lang="zh-CN" altLang="en-US" sz="2000" b="0" i="1" smtClean="0">
                            <a:latin typeface="Cambria Math" panose="02040503050406030204" pitchFamily="18" charset="0"/>
                            <a:ea typeface="Cambria Math" panose="02040503050406030204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charset="0"/>
                            <a:ea typeface="Cambria Math" panose="02040503050406030204"/>
                            <a:cs typeface="Cambria Math" panose="02040503050406030204" charset="0"/>
                          </a:rPr>
                          <m:t>𝑠</m:t>
                        </m:r>
                        <m:r>
                          <a:rPr lang="en-US" altLang="zh-CN" sz="2000" b="0" i="1" smtClean="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 panose="02040503050406030204" charset="0"/>
                            <a:ea typeface="Cambria Math" panose="02040503050406030204"/>
                            <a:cs typeface="Cambria Math" panose="02040503050406030204" charset="0"/>
                          </a:rPr>
                          <m:t>𝑎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charset="0"/>
                        <a:ea typeface="Cambria Math" panose="02040503050406030204"/>
                        <a:cs typeface="Cambria Math" panose="02040503050406030204" charset="0"/>
                      </a:rPr>
                      <m:t>𝑠</m:t>
                    </m:r>
                    <m:r>
                      <a:rPr lang="en-US" altLang="zh-CN" sz="2000" b="0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′</m:t>
                    </m:r>
                  </m:oMath>
                </a14:m>
                <a:r>
                  <a:rPr lang="zh-CN" alt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表示：在当前状态为</a:t>
                </a:r>
                <a:r>
                  <a:rPr lang="en-US" altLang="zh-CN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zh-CN" alt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，输入为</a:t>
                </a:r>
                <a:r>
                  <a:rPr lang="en-US" altLang="zh-CN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的时候，状态将转移到下一状态</a:t>
                </a:r>
                <a:r>
                  <a:rPr lang="en-US" altLang="zh-CN" sz="20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</a:t>
                </a:r>
                <a:r>
                  <a:rPr lang="zh-CN" alt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r>
                  <a:rPr lang="en-US" altLang="zh-CN" sz="20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</a:t>
                </a:r>
                <a:r>
                  <a:rPr lang="zh-CN" alt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成为</a:t>
                </a:r>
                <a:r>
                  <a:rPr lang="en-US" altLang="zh-CN" sz="20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zh-CN" alt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的一个后继状态。</a:t>
                </a:r>
                <a:endParaRPr lang="en-US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60045" indent="0">
                  <a:buNone/>
                </a:pPr>
                <a:r>
                  <a:rPr lang="en-US" altLang="zh-CN" sz="20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CN" sz="2000" b="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——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charset="0"/>
                        <a:cs typeface="Cambria Math" panose="02040503050406030204" charset="0"/>
                      </a:rPr>
                      <m:t>𝑞</m:t>
                    </m:r>
                    <m:r>
                      <a:rPr lang="en-US" altLang="zh-CN" sz="2000" b="0" i="1" baseline="-25000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zh-CN" sz="2000" b="0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sz="2000" b="0" i="1" smtClean="0">
                        <a:latin typeface="Cambria Math" panose="02040503050406030204" charset="0"/>
                        <a:ea typeface="Cambria Math" panose="02040503050406030204"/>
                        <a:cs typeface="Cambria Math" panose="02040503050406030204" charset="0"/>
                      </a:rPr>
                      <m:t>𝑄</m:t>
                    </m:r>
                  </m:oMath>
                </a14:m>
                <a:r>
                  <a:rPr lang="zh-CN" alt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，是</a:t>
                </a:r>
                <a:r>
                  <a:rPr lang="en-US" altLang="zh-CN" sz="20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zh-CN" alt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的开始状态。</a:t>
                </a:r>
                <a:endParaRPr lang="en-US" altLang="zh-CN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60045" indent="0">
                  <a:buNone/>
                </a:pPr>
                <a:r>
                  <a:rPr lang="en-US" altLang="zh-CN" sz="20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——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charset="0"/>
                        <a:cs typeface="Cambria Math" panose="02040503050406030204" charset="0"/>
                      </a:rPr>
                      <m:t>𝐹</m:t>
                    </m:r>
                    <m:r>
                      <a:rPr lang="en-US" altLang="zh-CN" sz="2000" b="0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⊆</m:t>
                    </m:r>
                    <m:r>
                      <a:rPr lang="en-US" altLang="zh-CN" sz="2000" b="0" i="1" smtClean="0">
                        <a:latin typeface="Cambria Math" panose="02040503050406030204" charset="0"/>
                        <a:ea typeface="Cambria Math" panose="02040503050406030204"/>
                        <a:cs typeface="Cambria Math" panose="02040503050406030204" charset="0"/>
                      </a:rPr>
                      <m:t>𝑄</m:t>
                    </m:r>
                  </m:oMath>
                </a14:m>
                <a:r>
                  <a:rPr lang="zh-CN" alt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，是</a:t>
                </a:r>
                <a:r>
                  <a:rPr lang="en-US" altLang="zh-CN" sz="20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zh-CN" alt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的终止状态集合。</a:t>
                </a:r>
                <a14:m>
                  <m:oMath xmlns:m="http://schemas.openxmlformats.org/officeDocument/2006/math">
                    <m:r>
                      <a:rPr lang="zh-CN" altLang="en-US" sz="2000" b="0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∀</m:t>
                    </m:r>
                    <m:r>
                      <a:rPr lang="en-US" altLang="zh-CN" sz="2000" b="0" i="1" smtClean="0">
                        <a:latin typeface="Cambria Math" panose="02040503050406030204" charset="0"/>
                        <a:cs typeface="Cambria Math" panose="02040503050406030204" charset="0"/>
                      </a:rPr>
                      <m:t>𝑞</m:t>
                    </m:r>
                    <m:r>
                      <a:rPr lang="en-US" altLang="zh-CN" sz="2000" b="0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sz="2000" b="0" i="1" smtClean="0">
                        <a:latin typeface="Cambria Math" panose="02040503050406030204" charset="0"/>
                        <a:ea typeface="Cambria Math" panose="02040503050406030204"/>
                        <a:cs typeface="Cambria Math" panose="02040503050406030204" charset="0"/>
                      </a:rPr>
                      <m:t>𝐹</m:t>
                    </m:r>
                  </m:oMath>
                </a14:m>
                <a:r>
                  <a:rPr lang="zh-CN" altLang="en-US" sz="20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0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zh-CN" alt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</a:t>
                </a:r>
                <a:r>
                  <a:rPr lang="en-US" altLang="zh-CN" sz="20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zh-CN" altLang="en-US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的终止状态。</a:t>
                </a:r>
                <a:endParaRPr 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6" y="1628800"/>
                <a:ext cx="8320210" cy="4465381"/>
              </a:xfrm>
              <a:blipFill rotWithShape="1">
                <a:blip r:embed="rId5"/>
                <a:stretch>
                  <a:fillRect l="-7" t="-1" r="4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3.5 </a:t>
            </a:r>
            <a:r>
              <a:rPr lang="zh-CN" altLang="en-US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有限状态自动机</a:t>
            </a:r>
            <a:endParaRPr lang="en-US" sz="36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rgbClr val="073E87"/>
                </a:solidFill>
              </a:rPr>
              <a:t>邓伏虎</a:t>
            </a:r>
            <a:endParaRPr lang="zh-CN" altLang="en-US" dirty="0">
              <a:solidFill>
                <a:srgbClr val="073E87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73E87"/>
                </a:solidFill>
              </a:rPr>
              <a:t>信息与软件工程学院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73E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fld>
            <a:endParaRPr lang="zh-CN" altLang="en-US" dirty="0">
              <a:solidFill>
                <a:srgbClr val="073E8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</a:t>
            </a:r>
            <a:r>
              <a:rPr lang="en-US" altLang="zh-CN" dirty="0"/>
              <a:t> </a:t>
            </a:r>
            <a:r>
              <a:rPr lang="zh-CN" altLang="en-US" dirty="0"/>
              <a:t>有限状态自动机</a:t>
            </a:r>
            <a:endParaRPr lang="en-US" dirty="0"/>
          </a:p>
        </p:txBody>
      </p:sp>
      <p:sp>
        <p:nvSpPr>
          <p:cNvPr id="7" name="矩形 6"/>
          <p:cNvSpPr/>
          <p:nvPr/>
        </p:nvSpPr>
        <p:spPr>
          <a:xfrm>
            <a:off x="1787082" y="2395736"/>
            <a:ext cx="91440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 11"/>
          <p:cNvSpPr/>
          <p:nvPr/>
        </p:nvSpPr>
        <p:spPr>
          <a:xfrm>
            <a:off x="2701482" y="2395736"/>
            <a:ext cx="91440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矩形 12"/>
          <p:cNvSpPr/>
          <p:nvPr/>
        </p:nvSpPr>
        <p:spPr>
          <a:xfrm>
            <a:off x="3615882" y="2395736"/>
            <a:ext cx="91440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矩形 13"/>
          <p:cNvSpPr/>
          <p:nvPr/>
        </p:nvSpPr>
        <p:spPr>
          <a:xfrm>
            <a:off x="4530282" y="2395736"/>
            <a:ext cx="91440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矩形 14"/>
          <p:cNvSpPr/>
          <p:nvPr/>
        </p:nvSpPr>
        <p:spPr>
          <a:xfrm>
            <a:off x="5447928" y="2395736"/>
            <a:ext cx="91440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矩形 15"/>
          <p:cNvSpPr/>
          <p:nvPr/>
        </p:nvSpPr>
        <p:spPr>
          <a:xfrm>
            <a:off x="6362328" y="2395736"/>
            <a:ext cx="91440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 16"/>
          <p:cNvSpPr/>
          <p:nvPr/>
        </p:nvSpPr>
        <p:spPr>
          <a:xfrm>
            <a:off x="2164656" y="4267944"/>
            <a:ext cx="2365626" cy="13933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2295487" y="3318205"/>
            <a:ext cx="0" cy="957808"/>
          </a:xfrm>
          <a:prstGeom prst="straightConnector1">
            <a:avLst/>
          </a:prstGeom>
          <a:ln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787082" y="1963688"/>
            <a:ext cx="401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200" dirty="0"/>
              <a:t>Σ</a:t>
            </a:r>
            <a:endParaRPr lang="en-US" sz="3200" dirty="0"/>
          </a:p>
        </p:txBody>
      </p:sp>
      <p:cxnSp>
        <p:nvCxnSpPr>
          <p:cNvPr id="33" name="直接连接符 32"/>
          <p:cNvCxnSpPr/>
          <p:nvPr/>
        </p:nvCxnSpPr>
        <p:spPr>
          <a:xfrm>
            <a:off x="850978" y="2852936"/>
            <a:ext cx="720080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7547722" y="2852936"/>
            <a:ext cx="720080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879486" y="191866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输入带</a:t>
            </a:r>
            <a:endParaRPr lang="en-US" sz="2400" dirty="0"/>
          </a:p>
        </p:txBody>
      </p:sp>
      <p:sp>
        <p:nvSpPr>
          <p:cNvPr id="36" name="TextBox 35"/>
          <p:cNvSpPr txBox="1"/>
          <p:nvPr/>
        </p:nvSpPr>
        <p:spPr>
          <a:xfrm>
            <a:off x="4585884" y="4479073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控制器</a:t>
            </a:r>
            <a:endParaRPr lang="en-US" sz="2400" dirty="0"/>
          </a:p>
        </p:txBody>
      </p:sp>
      <p:sp>
        <p:nvSpPr>
          <p:cNvPr id="37" name="TextBox 36"/>
          <p:cNvSpPr txBox="1"/>
          <p:nvPr/>
        </p:nvSpPr>
        <p:spPr>
          <a:xfrm>
            <a:off x="2242163" y="4291943"/>
            <a:ext cx="21651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Q: 0,1,2,3,…</a:t>
            </a: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95869" y="3535499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800" dirty="0"/>
              <a:t>δ</a:t>
            </a:r>
            <a:endParaRPr lang="en-US" sz="28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rgbClr val="073E87"/>
                </a:solidFill>
              </a:rPr>
              <a:t>邓伏虎</a:t>
            </a:r>
            <a:endParaRPr lang="zh-CN" altLang="en-US" dirty="0">
              <a:solidFill>
                <a:srgbClr val="073E87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73E87"/>
                </a:solidFill>
              </a:rPr>
              <a:t>信息与软件工程学院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73E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fld>
            <a:endParaRPr lang="zh-CN" altLang="en-US" dirty="0">
              <a:solidFill>
                <a:srgbClr val="073E8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0000"/>
              </a:bodyPr>
              <a:lstStyle/>
              <a:p>
                <a:pPr marL="0" indent="0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非确定的有限状态自动机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(Non-deterministic Finite Automation, NFA)</a:t>
                </a:r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60045" indent="0" fontAlgn="auto">
                  <a:lnSpc>
                    <a:spcPct val="140000"/>
                  </a:lnSpc>
                  <a:buNone/>
                </a:pPr>
                <a:r>
                  <a:rPr lang="zh-CN" altLang="en-US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在状态</a:t>
                </a:r>
                <a:r>
                  <a:rPr lang="en-US" altLang="zh-CN" b="0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q</a:t>
                </a:r>
                <a:r>
                  <a:rPr lang="zh-CN" altLang="en-US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下</a:t>
                </a:r>
                <a:r>
                  <a:rPr lang="en-US" altLang="zh-CN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,</a:t>
                </a:r>
                <a:r>
                  <a:rPr lang="zh-CN" altLang="en-US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读取任意输入字符</a:t>
                </a:r>
                <a:r>
                  <a:rPr lang="en-US" altLang="zh-CN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a,</a:t>
                </a:r>
                <a:r>
                  <a:rPr lang="zh-CN" altLang="en-US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其状态将变成状态集合</a:t>
                </a:r>
                <a:r>
                  <a:rPr lang="en-US" altLang="zh-CN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{</a:t>
                </a:r>
                <a:r>
                  <a:rPr lang="en-US" altLang="zh-CN" b="0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p</a:t>
                </a:r>
                <a:r>
                  <a:rPr lang="en-US" altLang="zh-CN" b="0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1</a:t>
                </a:r>
                <a:r>
                  <a:rPr lang="zh-CN" altLang="en-US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，</a:t>
                </a:r>
                <a:r>
                  <a:rPr lang="en-US" altLang="zh-CN" b="0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p</a:t>
                </a:r>
                <a:r>
                  <a:rPr lang="en-US" altLang="zh-CN" b="0" baseline="-250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2</a:t>
                </a:r>
                <a:r>
                  <a:rPr lang="zh-CN" altLang="en-US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，</a:t>
                </a:r>
                <a:r>
                  <a:rPr lang="en-US" altLang="zh-CN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…</a:t>
                </a:r>
                <a:r>
                  <a:rPr lang="zh-CN" altLang="en-US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，</a:t>
                </a:r>
                <a:r>
                  <a:rPr lang="en-US" altLang="zh-CN" b="0" i="1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p</a:t>
                </a:r>
                <a:r>
                  <a:rPr lang="en-US" altLang="zh-CN" b="0" i="1" baseline="-25000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k</a:t>
                </a:r>
                <a:r>
                  <a:rPr lang="en-US" altLang="zh-CN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}</a:t>
                </a:r>
                <a:r>
                  <a:rPr lang="zh-CN" altLang="en-US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中的某一个状态</a:t>
                </a:r>
                <a:r>
                  <a:rPr lang="zh-CN" altLang="en-US" b="0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，</a:t>
                </a:r>
                <a:r>
                  <a:rPr lang="zh-CN" altLang="en-US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即</a:t>
                </a:r>
                <a14:m>
                  <m:oMath xmlns:m="http://schemas.openxmlformats.org/officeDocument/2006/math">
                    <m:r>
                      <a:rPr lang="zh-CN" altLang="en-US" b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𝛿</m:t>
                    </m:r>
                    <m:d>
                      <m:dPr>
                        <m:begChr m:val="（"/>
                        <m:endChr m:val="）"/>
                        <m:ctrlPr>
                          <a:rPr lang="zh-CN" altLang="en-US" b="0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b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𝑞</m:t>
                        </m:r>
                        <m:r>
                          <a:rPr lang="en-US" altLang="zh-CN" b="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b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e>
                    </m:d>
                    <m:r>
                      <a:rPr lang="en-US" altLang="zh-CN" b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b="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{</m:t>
                    </m:r>
                    <m:r>
                      <a:rPr lang="en-US" altLang="zh-CN" b="0">
                        <a:latin typeface="Cambria Math" panose="02040503050406030204" charset="0"/>
                        <a:cs typeface="Cambria Math" panose="02040503050406030204" charset="0"/>
                      </a:rPr>
                      <m:t>𝑝</m:t>
                    </m:r>
                    <m:r>
                      <a:rPr lang="en-US" altLang="zh-CN" b="0" i="1" baseline="-2500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1</m:t>
                    </m:r>
                    <m:r>
                      <a:rPr lang="zh-CN" altLang="en-US" b="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，</m:t>
                    </m:r>
                    <m:r>
                      <a:rPr lang="en-US" altLang="zh-CN" b="0" i="1">
                        <a:latin typeface="Cambria Math" panose="02040503050406030204" charset="0"/>
                        <a:cs typeface="Cambria Math" panose="02040503050406030204" charset="0"/>
                      </a:rPr>
                      <m:t>𝑝</m:t>
                    </m:r>
                    <m:r>
                      <a:rPr lang="en-US" altLang="zh-CN" b="0" i="1" baseline="-2500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2</m:t>
                    </m:r>
                    <m:r>
                      <a:rPr lang="zh-CN" altLang="en-US" b="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，</m:t>
                    </m:r>
                    <m:r>
                      <a:rPr lang="en-US" altLang="zh-CN" b="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…</m:t>
                    </m:r>
                    <m:r>
                      <a:rPr lang="zh-CN" altLang="en-US" b="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，</m:t>
                    </m:r>
                    <m:r>
                      <a:rPr lang="en-US" altLang="zh-CN" b="0" i="1">
                        <a:latin typeface="Cambria Math" panose="02040503050406030204" charset="0"/>
                        <a:cs typeface="Cambria Math" panose="02040503050406030204" charset="0"/>
                      </a:rPr>
                      <m:t>𝑝</m:t>
                    </m:r>
                    <m:r>
                      <a:rPr lang="en-US" altLang="zh-CN" b="0" i="1" baseline="-25000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</m:oMath>
                </a14:m>
                <a:r>
                  <a:rPr lang="en-US" altLang="zh-CN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}</a:t>
                </a:r>
                <a:r>
                  <a:rPr lang="zh-CN" altLang="en-US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。</a:t>
                </a:r>
                <a:endParaRPr lang="en-US" altLang="zh-CN" b="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60045" indent="0" fontAlgn="auto">
                  <a:lnSpc>
                    <a:spcPct val="14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</a:pPr>
                <a:r>
                  <a:rPr lang="en-US" altLang="zh-CN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NFA</a:t>
                </a:r>
                <a:r>
                  <a:rPr lang="zh-CN" altLang="en-US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中允许存在</a:t>
                </a:r>
                <a:r>
                  <a:rPr lang="el-GR" altLang="zh-CN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ε</a:t>
                </a:r>
                <a:r>
                  <a:rPr lang="zh-CN" altLang="en-US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转换。初态可以是多个。</a:t>
                </a:r>
                <a:endParaRPr lang="en-US" altLang="zh-CN" b="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确定的有限状态自动机</a:t>
                </a:r>
                <a:r>
                  <a:rPr lang="en-US" altLang="zh-CN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(Deterministic Finite Automation, DFA)</a:t>
                </a:r>
                <a:endParaRPr lang="en-US" altLang="zh-CN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60045" indent="0" fontAlgn="auto">
                  <a:lnSpc>
                    <a:spcPct val="140000"/>
                  </a:lnSpc>
                  <a:spcBef>
                    <a:spcPts val="0"/>
                  </a:spcBef>
                  <a:buNone/>
                </a:pPr>
                <a:r>
                  <a:rPr lang="zh-CN" altLang="en-US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在状态</a:t>
                </a:r>
                <a:r>
                  <a:rPr lang="en-US" altLang="zh-CN" b="0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q</a:t>
                </a:r>
                <a:r>
                  <a:rPr lang="zh-CN" altLang="en-US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下</a:t>
                </a:r>
                <a:r>
                  <a:rPr lang="en-US" altLang="zh-CN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,</a:t>
                </a:r>
                <a:r>
                  <a:rPr lang="zh-CN" altLang="en-US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读取任意输入字符</a:t>
                </a:r>
                <a:r>
                  <a:rPr lang="en-US" altLang="zh-CN" b="0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a</a:t>
                </a:r>
                <a:r>
                  <a:rPr lang="en-US" altLang="zh-CN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,</a:t>
                </a:r>
                <a:r>
                  <a:rPr lang="zh-CN" altLang="en-US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其状态将变成唯一确定的状态</a:t>
                </a:r>
                <a:r>
                  <a:rPr lang="en-US" altLang="zh-CN" b="0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p</a:t>
                </a:r>
                <a:r>
                  <a:rPr lang="en-US" altLang="zh-CN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,</a:t>
                </a:r>
                <a:r>
                  <a:rPr lang="zh-CN" altLang="en-US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即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/>
                      </a:rPr>
                      <m:t>𝛿</m:t>
                    </m:r>
                    <m:d>
                      <m:dPr>
                        <m:begChr m:val="（"/>
                        <m:endChr m:val="）"/>
                        <m:ctrlPr>
                          <a:rPr lang="zh-CN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/>
                          </a:rPr>
                          <m:t>𝑞</m:t>
                        </m:r>
                        <m:r>
                          <a:rPr lang="en-US" altLang="zh-CN" b="0" i="1" smtClean="0">
                            <a:latin typeface="Cambria Math" panose="02040503050406030204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/>
                          </a:rPr>
                          <m:t>𝑎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/>
                      </a:rPr>
                      <m:t>𝑝</m:t>
                    </m:r>
                  </m:oMath>
                </a14:m>
                <a:r>
                  <a:rPr lang="zh-CN" altLang="en-US" b="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。初态只能是一个。</a:t>
                </a:r>
                <a:endParaRPr 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 </a:t>
            </a:r>
            <a:r>
              <a:rPr lang="zh-CN" altLang="en-US" dirty="0"/>
              <a:t>有限状态自动机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rgbClr val="073E87"/>
                </a:solidFill>
              </a:rPr>
              <a:t>邓伏虎</a:t>
            </a:r>
            <a:endParaRPr lang="zh-CN" altLang="en-US" dirty="0">
              <a:solidFill>
                <a:srgbClr val="073E87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73E87"/>
                </a:solidFill>
              </a:rPr>
              <a:t>信息与软件工程学院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73E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fld>
            <a:endParaRPr lang="zh-CN" altLang="en-US" dirty="0">
              <a:solidFill>
                <a:srgbClr val="073E8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b="0" dirty="0">
                <a:latin typeface="+mn-ea"/>
                <a:sym typeface="+mn-ea"/>
              </a:rPr>
              <a:t>M=(</a:t>
            </a:r>
            <a:r>
              <a:rPr lang="en-US" altLang="zh-CN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Q, </a:t>
            </a:r>
            <a:r>
              <a:rPr lang="el-GR" altLang="zh-CN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Σ</a:t>
            </a:r>
            <a:r>
              <a:rPr lang="en-US" altLang="zh-CN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el-GR" altLang="zh-CN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δ</a:t>
            </a:r>
            <a:r>
              <a:rPr lang="en-US" altLang="zh-CN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q</a:t>
            </a:r>
            <a:r>
              <a:rPr lang="en-US" altLang="zh-CN" b="0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r>
              <a:rPr lang="en-US" altLang="zh-CN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F</a:t>
            </a:r>
            <a:r>
              <a:rPr lang="en-US" altLang="zh-CN" b="0" dirty="0">
                <a:latin typeface="+mn-ea"/>
                <a:sym typeface="+mn-ea"/>
              </a:rPr>
              <a:t>)</a:t>
            </a:r>
            <a:r>
              <a:rPr lang="zh-CN" altLang="en-US" b="0" dirty="0">
                <a:latin typeface="+mn-ea"/>
                <a:sym typeface="+mn-ea"/>
              </a:rPr>
              <a:t>， 其中： </a:t>
            </a:r>
            <a:r>
              <a:rPr lang="el-GR" altLang="zh-CN" b="0" dirty="0">
                <a:latin typeface="+mn-ea"/>
                <a:sym typeface="+mn-ea"/>
              </a:rPr>
              <a:t>δ</a:t>
            </a:r>
            <a:r>
              <a:rPr lang="zh-CN" altLang="en-US" b="0" dirty="0">
                <a:latin typeface="+mn-ea"/>
                <a:sym typeface="+mn-ea"/>
              </a:rPr>
              <a:t>定义如下：</a:t>
            </a:r>
            <a:endParaRPr lang="en-US" b="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 </a:t>
            </a:r>
            <a:r>
              <a:rPr lang="zh-CN" altLang="en-US" dirty="0"/>
              <a:t>有限状态自动机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rgbClr val="073E87"/>
                </a:solidFill>
              </a:rPr>
              <a:t>邓伏虎</a:t>
            </a:r>
            <a:endParaRPr lang="zh-CN" altLang="en-US" dirty="0">
              <a:solidFill>
                <a:srgbClr val="073E87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73E87"/>
                </a:solidFill>
              </a:rPr>
              <a:t>信息与软件工程学院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73E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fld>
            <a:endParaRPr lang="zh-CN" altLang="en-US" dirty="0">
              <a:solidFill>
                <a:srgbClr val="073E8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内容占位符 6"/>
              <p:cNvGraphicFramePr/>
              <p:nvPr>
                <p:custDataLst>
                  <p:tags r:id="rId4"/>
                </p:custDataLst>
              </p:nvPr>
            </p:nvGraphicFramePr>
            <p:xfrm>
              <a:off x="2699792" y="2348927"/>
              <a:ext cx="6312292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5614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5614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𝛿</m:t>
                                </m:r>
                                <m:d>
                                  <m:dPr>
                                    <m:begChr m:val="（"/>
                                    <m:endChr m:val="）"/>
                                    <m:ctrlP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0,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zh-CN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49063" marR="149063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𝛿</m:t>
                                </m:r>
                                <m:d>
                                  <m:dPr>
                                    <m:begChr m:val="（"/>
                                    <m:endChr m:val="）"/>
                                    <m:ctrlP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0,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altLang="zh-CN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49063" marR="149063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8818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𝛿</m:t>
                                </m:r>
                                <m:d>
                                  <m:dPr>
                                    <m:begChr m:val="（"/>
                                    <m:endChr m:val="）"/>
                                    <m:ctrlP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1,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zh-CN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=</m:t>
                                </m:r>
                                <m:r>
                                  <a:rPr lang="en-US" altLang="zh-CN" sz="2400" b="0" i="0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49063" marR="149063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𝛿</m:t>
                                </m:r>
                                <m:d>
                                  <m:dPr>
                                    <m:begChr m:val="（"/>
                                    <m:endChr m:val="）"/>
                                    <m:ctrlP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1,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altLang="zh-CN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=1,2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49063" marR="149063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𝛿</m:t>
                                </m:r>
                                <m:d>
                                  <m:dPr>
                                    <m:begChr m:val="（"/>
                                    <m:endChr m:val="）"/>
                                    <m:ctrlP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2,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zh-CN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49063" marR="149063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𝛿</m:t>
                                </m:r>
                                <m:d>
                                  <m:dPr>
                                    <m:begChr m:val="（"/>
                                    <m:endChr m:val="）"/>
                                    <m:ctrlP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2,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altLang="zh-CN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49063" marR="149063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内容占位符 6"/>
              <p:cNvGraphicFramePr/>
              <p:nvPr>
                <p:custDataLst>
                  <p:tags r:id="rId7"/>
                </p:custDataLst>
              </p:nvPr>
            </p:nvGraphicFramePr>
            <p:xfrm>
              <a:off x="2699792" y="2348927"/>
              <a:ext cx="6312292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56146"/>
                    <a:gridCol w="3156146"/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49063" marR="149063"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49063" marR="149063">
                        <a:blipFill>
                          <a:blip r:embed="rId8"/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49063" marR="149063"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49063" marR="149063">
                        <a:blipFill>
                          <a:blip r:embed="rId8"/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49063" marR="149063"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49063" marR="149063">
                        <a:blipFill>
                          <a:blip r:embed="rId8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内容占位符 6"/>
              <p:cNvGraphicFramePr/>
              <p:nvPr>
                <p:custDataLst>
                  <p:tags r:id="rId5"/>
                </p:custDataLst>
              </p:nvPr>
            </p:nvGraphicFramePr>
            <p:xfrm>
              <a:off x="2411765" y="4076814"/>
              <a:ext cx="6624736" cy="23294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561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5618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6815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4421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07035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zh-CN" altLang="en-US" sz="2400" b="1" i="1" smtClean="0">
                                    <a:latin typeface="Cambria Math" panose="02040503050406030204"/>
                                    <a:cs typeface="Times New Roman" panose="02020603050405020304" pitchFamily="18" charset="0"/>
                                  </a:rPr>
                                  <m:t>状态</m:t>
                                </m:r>
                              </m:oMath>
                            </m:oMathPara>
                          </a14:m>
                          <a:endParaRPr lang="en-US" sz="24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输入字符</a:t>
                          </a:r>
                          <a:endParaRPr lang="en-US" sz="2400" b="1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终态</a:t>
                          </a:r>
                          <a:r>
                            <a:rPr lang="en-US" altLang="zh-CN" sz="2400" b="1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</a:t>
                          </a:r>
                          <a:r>
                            <a:rPr lang="zh-CN" altLang="en-US" sz="2400" b="1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非终态</a:t>
                          </a:r>
                          <a:endParaRPr lang="en-US" sz="24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US" sz="24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2400" b="1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48818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400" b="0" dirty="0">
                              <a:ea typeface="Cambria Math" panose="02040503050406030204"/>
                            </a:rPr>
                            <a:t>     =&gt;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/>
                                  <a:ea typeface="Cambria Math" panose="02040503050406030204"/>
                                </a:rPr>
                                <m:t>0</m:t>
                              </m:r>
                            </m:oMath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非终态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00608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smtClean="0">
                                    <a:latin typeface="Cambria Math" panose="02040503050406030204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r>
                            <a:rPr lang="zh-CN" alt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，</a:t>
                          </a: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非终态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终态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内容占位符 6"/>
              <p:cNvGraphicFramePr/>
              <p:nvPr>
                <p:custDataLst>
                  <p:tags r:id="rId9"/>
                </p:custDataLst>
              </p:nvPr>
            </p:nvGraphicFramePr>
            <p:xfrm>
              <a:off x="2411765" y="4076814"/>
              <a:ext cx="6624736" cy="23294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56184"/>
                    <a:gridCol w="1656184"/>
                    <a:gridCol w="1368153"/>
                    <a:gridCol w="1944215"/>
                  </a:tblGrid>
                  <a:tr h="457200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0"/>
                        </a:blipFill>
                      </a:tcPr>
                    </a:tc>
                    <a:tc gridSpan="2">
                      <a:txBody>
                        <a:bodyPr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 i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输入字符</a:t>
                          </a:r>
                          <a:endParaRPr lang="en-US" sz="2400" b="1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cPr/>
                    </a:tc>
                    <a:tc rowSpan="2">
                      <a:txBody>
                        <a:bodyPr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 i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终态</a:t>
                          </a:r>
                          <a:r>
                            <a:rPr lang="en-US" altLang="zh-CN" sz="2400" b="1" i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</a:t>
                          </a:r>
                          <a:r>
                            <a:rPr lang="zh-CN" altLang="en-US" sz="2400" b="1" i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非终态</a:t>
                          </a:r>
                          <a:endParaRPr lang="en-US" sz="24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</a:tr>
                  <a:tr h="457200">
                    <a:tc vMerge="1"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2400" b="1" i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en-US" sz="24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vMerge="1"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2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非终态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50101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r>
                            <a:rPr lang="zh-CN" altLang="en-US" sz="2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，</a:t>
                          </a:r>
                          <a:r>
                            <a:rPr lang="en-US" sz="2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非终态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p>
                          <a:pPr algn="ctr"/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/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/>
                          <a:r>
                            <a:rPr lang="zh-CN" altLang="en-US" sz="2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终态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b="0" dirty="0">
                <a:latin typeface="+mn-ea"/>
                <a:sym typeface="+mn-ea"/>
              </a:rPr>
              <a:t>M=(</a:t>
            </a:r>
            <a:r>
              <a:rPr lang="en-US" altLang="zh-CN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Q, </a:t>
            </a:r>
            <a:r>
              <a:rPr lang="el-GR" altLang="zh-CN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Σ</a:t>
            </a:r>
            <a:r>
              <a:rPr lang="en-US" altLang="zh-CN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el-GR" altLang="zh-CN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δ</a:t>
            </a:r>
            <a:r>
              <a:rPr lang="en-US" altLang="zh-CN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q</a:t>
            </a:r>
            <a:r>
              <a:rPr lang="en-US" altLang="zh-CN" b="0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r>
              <a:rPr lang="en-US" altLang="zh-CN" b="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F</a:t>
            </a:r>
            <a:r>
              <a:rPr lang="en-US" altLang="zh-CN" b="0" dirty="0">
                <a:latin typeface="+mn-ea"/>
                <a:sym typeface="+mn-ea"/>
              </a:rPr>
              <a:t>)</a:t>
            </a:r>
            <a:r>
              <a:rPr lang="zh-CN" altLang="en-US" b="0" dirty="0">
                <a:latin typeface="+mn-ea"/>
                <a:sym typeface="+mn-ea"/>
              </a:rPr>
              <a:t>， 其中： </a:t>
            </a:r>
            <a:r>
              <a:rPr lang="el-GR" altLang="zh-CN" b="0" dirty="0">
                <a:latin typeface="+mn-ea"/>
                <a:sym typeface="+mn-ea"/>
              </a:rPr>
              <a:t>δ</a:t>
            </a:r>
            <a:r>
              <a:rPr lang="zh-CN" altLang="en-US" b="0" dirty="0">
                <a:latin typeface="+mn-ea"/>
                <a:sym typeface="+mn-ea"/>
              </a:rPr>
              <a:t>定义如下：</a:t>
            </a:r>
            <a:endParaRPr lang="en-US" b="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 </a:t>
            </a:r>
            <a:r>
              <a:rPr lang="zh-CN" altLang="en-US" dirty="0"/>
              <a:t>有限状态自动机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rgbClr val="073E87"/>
                </a:solidFill>
              </a:rPr>
              <a:t>邓伏虎</a:t>
            </a:r>
            <a:endParaRPr lang="zh-CN" altLang="en-US" dirty="0">
              <a:solidFill>
                <a:srgbClr val="073E87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73E87"/>
                </a:solidFill>
              </a:rPr>
              <a:t>信息与软件工程学院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73E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fld>
            <a:endParaRPr lang="zh-CN" altLang="en-US" dirty="0">
              <a:solidFill>
                <a:srgbClr val="073E8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内容占位符 6"/>
              <p:cNvGraphicFramePr/>
              <p:nvPr>
                <p:custDataLst>
                  <p:tags r:id="rId4"/>
                </p:custDataLst>
              </p:nvPr>
            </p:nvGraphicFramePr>
            <p:xfrm>
              <a:off x="2699792" y="2348927"/>
              <a:ext cx="6312292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5614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5614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𝛿</m:t>
                                </m:r>
                                <m:d>
                                  <m:dPr>
                                    <m:begChr m:val="（"/>
                                    <m:endChr m:val="）"/>
                                    <m:ctrlP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0,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zh-CN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49063" marR="149063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𝛿</m:t>
                                </m:r>
                                <m:d>
                                  <m:dPr>
                                    <m:begChr m:val="（"/>
                                    <m:endChr m:val="）"/>
                                    <m:ctrlP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0,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altLang="zh-CN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49063" marR="149063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8818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𝛿</m:t>
                                </m:r>
                                <m:d>
                                  <m:dPr>
                                    <m:begChr m:val="（"/>
                                    <m:endChr m:val="）"/>
                                    <m:ctrlP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1,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zh-CN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=</m:t>
                                </m:r>
                                <m:r>
                                  <a:rPr lang="en-US" altLang="zh-CN" sz="2400" b="0" i="0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49063" marR="149063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𝛿</m:t>
                                </m:r>
                                <m:d>
                                  <m:dPr>
                                    <m:begChr m:val="（"/>
                                    <m:endChr m:val="）"/>
                                    <m:ctrlP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1,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altLang="zh-CN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=1,2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49063" marR="149063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𝛿</m:t>
                                </m:r>
                                <m:d>
                                  <m:dPr>
                                    <m:begChr m:val="（"/>
                                    <m:endChr m:val="）"/>
                                    <m:ctrlP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2,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zh-CN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49063" marR="149063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𝛿</m:t>
                                </m:r>
                                <m:d>
                                  <m:dPr>
                                    <m:begChr m:val="（"/>
                                    <m:endChr m:val="）"/>
                                    <m:ctrlP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2,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altLang="zh-CN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49063" marR="149063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内容占位符 6"/>
              <p:cNvGraphicFramePr/>
              <p:nvPr>
                <p:custDataLst>
                  <p:tags r:id="rId19"/>
                </p:custDataLst>
              </p:nvPr>
            </p:nvGraphicFramePr>
            <p:xfrm>
              <a:off x="2699792" y="2348927"/>
              <a:ext cx="6312292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56146"/>
                    <a:gridCol w="3156146"/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49063" marR="149063">
                        <a:blipFill>
                          <a:blip r:embed="rId20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49063" marR="149063">
                        <a:blipFill>
                          <a:blip r:embed="rId20"/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49063" marR="149063">
                        <a:blipFill>
                          <a:blip r:embed="rId20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49063" marR="149063">
                        <a:blipFill>
                          <a:blip r:embed="rId20"/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49063" marR="149063">
                        <a:blipFill>
                          <a:blip r:embed="rId20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49063" marR="149063">
                        <a:blipFill>
                          <a:blip r:embed="rId20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3" name="Oval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107267" y="4644560"/>
            <a:ext cx="670618" cy="593224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58733" tIns="39683" rIns="0" bIns="0"/>
          <a:lstStyle/>
          <a:p>
            <a:pPr algn="just" eaLnBrk="0" hangingPunct="0"/>
            <a:r>
              <a:rPr kumimoji="1" lang="en-US" altLang="zh-CN" sz="2400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4" name="Line 8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2777885" y="4963455"/>
            <a:ext cx="1483771" cy="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9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H="1">
            <a:off x="4932271" y="4941172"/>
            <a:ext cx="1607783" cy="18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4"/>
          <p:cNvSpPr/>
          <p:nvPr>
            <p:custDataLst>
              <p:tags r:id="rId8"/>
            </p:custDataLst>
          </p:nvPr>
        </p:nvSpPr>
        <p:spPr bwMode="auto">
          <a:xfrm>
            <a:off x="4393984" y="4139686"/>
            <a:ext cx="405961" cy="632760"/>
          </a:xfrm>
          <a:custGeom>
            <a:avLst/>
            <a:gdLst>
              <a:gd name="T0" fmla="*/ 0 w 360"/>
              <a:gd name="T1" fmla="*/ 260 h 380"/>
              <a:gd name="T2" fmla="*/ 240 w 360"/>
              <a:gd name="T3" fmla="*/ 20 h 380"/>
              <a:gd name="T4" fmla="*/ 360 w 360"/>
              <a:gd name="T5" fmla="*/ 380 h 3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0" h="380">
                <a:moveTo>
                  <a:pt x="0" y="260"/>
                </a:moveTo>
                <a:cubicBezTo>
                  <a:pt x="90" y="130"/>
                  <a:pt x="180" y="0"/>
                  <a:pt x="240" y="20"/>
                </a:cubicBezTo>
                <a:cubicBezTo>
                  <a:pt x="300" y="40"/>
                  <a:pt x="330" y="210"/>
                  <a:pt x="360" y="38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Oval 20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540057" y="4644746"/>
            <a:ext cx="670618" cy="593224"/>
          </a:xfrm>
          <a:prstGeom prst="ellipse">
            <a:avLst/>
          </a:prstGeom>
          <a:noFill/>
          <a:ln w="57150" cmpd="thickThin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58733" tIns="39683" rIns="0" bIns="0"/>
          <a:lstStyle/>
          <a:p>
            <a:pPr algn="just" eaLnBrk="0" hangingPunct="0"/>
            <a:r>
              <a:rPr kumimoji="1" lang="en-US" altLang="zh-CN" sz="2400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5" name="Oval 2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261656" y="4644746"/>
            <a:ext cx="670618" cy="593224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58733" tIns="39683" rIns="0" bIns="0"/>
          <a:lstStyle/>
          <a:p>
            <a:pPr algn="just" eaLnBrk="0" hangingPunct="0"/>
            <a:r>
              <a:rPr kumimoji="1" lang="en-US" altLang="zh-CN" sz="24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8" name="Rectangle 2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041701" y="4555630"/>
            <a:ext cx="658853" cy="419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2400" dirty="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0" name="Rectangle 25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333172" y="4521376"/>
            <a:ext cx="658853" cy="419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2400" dirty="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1" name="Rectangle 26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4273421" y="3728591"/>
            <a:ext cx="658853" cy="419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2400" dirty="0" err="1">
                <a:latin typeface="Times New Roman" panose="02020603050405020304" pitchFamily="18" charset="0"/>
              </a:rPr>
              <a:t>a,b</a:t>
            </a:r>
            <a:endParaRPr kumimoji="1"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2" name="Rectangle 27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3371128" y="5586269"/>
            <a:ext cx="2635411" cy="492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400" dirty="0">
                <a:latin typeface="宋体" panose="02010600030101010101" pitchFamily="2" charset="-122"/>
              </a:rPr>
              <a:t>状态转换图</a:t>
            </a:r>
            <a:endParaRPr kumimoji="1" lang="zh-CN" altLang="en-US" dirty="0">
              <a:latin typeface="宋体" panose="02010600030101010101" pitchFamily="2" charset="-122"/>
            </a:endParaRPr>
          </a:p>
        </p:txBody>
      </p:sp>
      <p:sp>
        <p:nvSpPr>
          <p:cNvPr id="33" name="Rectangle 30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273421" y="5591518"/>
            <a:ext cx="658853" cy="49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zh-CN" sz="2645" dirty="0">
              <a:latin typeface="Times New Roman" panose="02020603050405020304" pitchFamily="18" charset="0"/>
            </a:endParaRPr>
          </a:p>
        </p:txBody>
      </p:sp>
      <p:sp>
        <p:nvSpPr>
          <p:cNvPr id="34" name="Rectangle 31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677113" y="5586269"/>
            <a:ext cx="658853" cy="503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en-US" altLang="zh-CN" sz="2645" dirty="0">
              <a:latin typeface="Times New Roman" panose="02020603050405020304" pitchFamily="18" charset="0"/>
            </a:endParaRPr>
          </a:p>
        </p:txBody>
      </p:sp>
      <p:sp>
        <p:nvSpPr>
          <p:cNvPr id="35" name="右箭头 34"/>
          <p:cNvSpPr/>
          <p:nvPr>
            <p:custDataLst>
              <p:tags r:id="rId17"/>
            </p:custDataLst>
          </p:nvPr>
        </p:nvSpPr>
        <p:spPr>
          <a:xfrm>
            <a:off x="1604623" y="4765621"/>
            <a:ext cx="502644" cy="39567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M=({0，1，2，3}，{a，b}，δ，{0}，{3})， 其中： δ定义如下：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 </a:t>
            </a:r>
            <a:r>
              <a:rPr lang="zh-CN" altLang="en-US" dirty="0"/>
              <a:t>有限状态自动机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rgbClr val="073E87"/>
                </a:solidFill>
              </a:rPr>
              <a:t>邓伏虎</a:t>
            </a:r>
            <a:endParaRPr lang="zh-CN" altLang="en-US" dirty="0">
              <a:solidFill>
                <a:srgbClr val="073E87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73E87"/>
                </a:solidFill>
              </a:rPr>
              <a:t>信息与软件工程学院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73E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fld>
            <a:endParaRPr lang="zh-CN" altLang="en-US" dirty="0">
              <a:solidFill>
                <a:srgbClr val="073E8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/>
              <p:cNvGraphicFramePr>
                <a:graphicFrameLocks noGrp="1"/>
              </p:cNvGraphicFramePr>
              <p:nvPr>
                <p:custDataLst>
                  <p:tags r:id="rId4"/>
                </p:custDataLst>
              </p:nvPr>
            </p:nvGraphicFramePr>
            <p:xfrm>
              <a:off x="2370789" y="2105564"/>
              <a:ext cx="6312292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5614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5614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𝛿</m:t>
                                </m:r>
                                <m:d>
                                  <m:dPr>
                                    <m:begChr m:val="（"/>
                                    <m:endChr m:val="）"/>
                                    <m:ctrlP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0,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zh-CN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49063" marR="149063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𝛿</m:t>
                                </m:r>
                                <m:d>
                                  <m:dPr>
                                    <m:begChr m:val="（"/>
                                    <m:endChr m:val="）"/>
                                    <m:ctrlP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0,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altLang="zh-CN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49063" marR="149063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8818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𝛿</m:t>
                                </m:r>
                                <m:d>
                                  <m:dPr>
                                    <m:begChr m:val="（"/>
                                    <m:endChr m:val="）"/>
                                    <m:ctrlP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1,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zh-CN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=</m:t>
                                </m:r>
                                <m:r>
                                  <a:rPr lang="en-US" altLang="zh-CN" sz="2400" b="0" i="0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49063" marR="149063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𝛿</m:t>
                                </m:r>
                                <m:d>
                                  <m:dPr>
                                    <m:begChr m:val="（"/>
                                    <m:endChr m:val="）"/>
                                    <m:ctrlP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1,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altLang="zh-CN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49063" marR="149063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𝛿</m:t>
                                </m:r>
                                <m:d>
                                  <m:dPr>
                                    <m:begChr m:val="（"/>
                                    <m:endChr m:val="）"/>
                                    <m:ctrlP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2,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zh-CN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49063" marR="149063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𝛿</m:t>
                                </m:r>
                                <m:d>
                                  <m:dPr>
                                    <m:begChr m:val="（"/>
                                    <m:endChr m:val="）"/>
                                    <m:ctrlP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2,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altLang="zh-CN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49063" marR="149063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𝛿</m:t>
                                </m:r>
                                <m:d>
                                  <m:dPr>
                                    <m:begChr m:val="（"/>
                                    <m:endChr m:val="）"/>
                                    <m:ctrlP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3,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zh-CN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49063" marR="149063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𝛿</m:t>
                                </m:r>
                                <m:d>
                                  <m:dPr>
                                    <m:begChr m:val="（"/>
                                    <m:endChr m:val="）"/>
                                    <m:ctrlP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3,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/>
                                        <a:ea typeface="Cambria Math" panose="02040503050406030204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altLang="zh-CN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49063" marR="149063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/>
              <p:cNvGraphicFramePr>
                <a:graphicFrameLocks noGrp="1"/>
              </p:cNvGraphicFramePr>
              <p:nvPr>
                <p:custDataLst>
                  <p:tags r:id="rId7"/>
                </p:custDataLst>
              </p:nvPr>
            </p:nvGraphicFramePr>
            <p:xfrm>
              <a:off x="2370789" y="2105564"/>
              <a:ext cx="6312292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56146"/>
                    <a:gridCol w="3156146"/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49063" marR="149063"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49063" marR="149063">
                        <a:blipFill>
                          <a:blip r:embed="rId8"/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49063" marR="149063"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49063" marR="149063">
                        <a:blipFill>
                          <a:blip r:embed="rId8"/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49063" marR="149063"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49063" marR="149063">
                        <a:blipFill>
                          <a:blip r:embed="rId8"/>
                        </a:blip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49063" marR="149063"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149063" marR="149063">
                        <a:blipFill>
                          <a:blip r:embed="rId8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6"/>
              <p:cNvGraphicFramePr/>
              <p:nvPr>
                <p:custDataLst>
                  <p:tags r:id="rId5"/>
                </p:custDataLst>
              </p:nvPr>
            </p:nvGraphicFramePr>
            <p:xfrm>
              <a:off x="3612023" y="4068946"/>
              <a:ext cx="5071926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06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9064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9064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0195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𝜹</m:t>
                                </m:r>
                              </m:oMath>
                            </m:oMathPara>
                          </a14:m>
                          <a:endParaRPr lang="en-US" sz="24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/>
                                    <a:ea typeface="Cambria Math" panose="02040503050406030204"/>
                                    <a:cs typeface="Times New Roman" panose="020206030504050203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US" sz="24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2400" b="1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8818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400" b="0" dirty="0">
                              <a:ea typeface="Cambria Math" panose="02040503050406030204"/>
                            </a:rPr>
                            <a:t>     =&gt;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/>
                                  <a:ea typeface="Cambria Math" panose="02040503050406030204"/>
                                </a:rPr>
                                <m:t>0</m:t>
                              </m:r>
                            </m:oMath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2400" b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6"/>
              <p:cNvGraphicFramePr/>
              <p:nvPr>
                <p:custDataLst>
                  <p:tags r:id="rId9"/>
                </p:custDataLst>
              </p:nvPr>
            </p:nvGraphicFramePr>
            <p:xfrm>
              <a:off x="3612023" y="4068946"/>
              <a:ext cx="5071926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0642"/>
                    <a:gridCol w="1690642"/>
                    <a:gridCol w="1690642"/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2400" b="1" i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en-US" sz="2400" b="1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2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2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2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p>
                          <a:pPr algn="ctr"/>
                          <a:r>
                            <a:rPr lang="en-US" sz="2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2400" b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US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/>
                          <a:r>
                            <a:rPr lang="en-US" sz="2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/>
                          <a:r>
                            <a:rPr lang="en-US" sz="2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 </a:t>
            </a:r>
            <a:r>
              <a:rPr lang="zh-CN" altLang="en-US" dirty="0"/>
              <a:t>有限状态自动机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rgbClr val="073E87"/>
                </a:solidFill>
              </a:rPr>
              <a:t>邓伏虎</a:t>
            </a:r>
            <a:endParaRPr lang="zh-CN" altLang="en-US" dirty="0">
              <a:solidFill>
                <a:srgbClr val="073E87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73E87"/>
                </a:solidFill>
              </a:rPr>
              <a:t>信息与软件工程学院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73E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fld>
            <a:endParaRPr lang="zh-CN" altLang="en-US" dirty="0">
              <a:solidFill>
                <a:srgbClr val="073E8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480798" y="2204095"/>
            <a:ext cx="5815873" cy="4110183"/>
            <a:chOff x="1392533" y="1684665"/>
            <a:chExt cx="5815873" cy="4110183"/>
          </a:xfrm>
        </p:grpSpPr>
        <p:sp>
          <p:nvSpPr>
            <p:cNvPr id="10" name="Oval 5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895177" y="3537755"/>
              <a:ext cx="670618" cy="5932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58733" tIns="39683" rIns="0" bIns="0"/>
            <a:lstStyle/>
            <a:p>
              <a:pPr algn="just" eaLnBrk="0" hangingPunct="0"/>
              <a:r>
                <a:rPr kumimoji="1" lang="en-US" altLang="zh-CN" sz="2645" dirty="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1" name="Line 8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 flipV="1">
              <a:off x="2445098" y="2601890"/>
              <a:ext cx="1656184" cy="9887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9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 flipH="1" flipV="1">
              <a:off x="4771898" y="2737967"/>
              <a:ext cx="1777655" cy="7999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0"/>
            <p:cNvSpPr/>
            <p:nvPr>
              <p:custDataLst>
                <p:tags r:id="rId7"/>
              </p:custDataLst>
            </p:nvPr>
          </p:nvSpPr>
          <p:spPr bwMode="auto">
            <a:xfrm>
              <a:off x="3936569" y="2833552"/>
              <a:ext cx="329426" cy="1997180"/>
            </a:xfrm>
            <a:custGeom>
              <a:avLst/>
              <a:gdLst>
                <a:gd name="T0" fmla="*/ 380 w 380"/>
                <a:gd name="T1" fmla="*/ 0 h 1080"/>
                <a:gd name="T2" fmla="*/ 20 w 380"/>
                <a:gd name="T3" fmla="*/ 480 h 1080"/>
                <a:gd name="T4" fmla="*/ 260 w 380"/>
                <a:gd name="T5" fmla="*/ 1080 h 1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0" h="1080">
                  <a:moveTo>
                    <a:pt x="380" y="0"/>
                  </a:moveTo>
                  <a:cubicBezTo>
                    <a:pt x="210" y="150"/>
                    <a:pt x="40" y="300"/>
                    <a:pt x="20" y="480"/>
                  </a:cubicBezTo>
                  <a:cubicBezTo>
                    <a:pt x="0" y="660"/>
                    <a:pt x="130" y="870"/>
                    <a:pt x="260" y="108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2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2445099" y="4099787"/>
              <a:ext cx="1656184" cy="9094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3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 flipV="1">
              <a:off x="4791093" y="4099786"/>
              <a:ext cx="1758460" cy="101106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14"/>
            <p:cNvSpPr/>
            <p:nvPr>
              <p:custDataLst>
                <p:tags r:id="rId10"/>
              </p:custDataLst>
            </p:nvPr>
          </p:nvSpPr>
          <p:spPr bwMode="auto">
            <a:xfrm>
              <a:off x="6549553" y="3005622"/>
              <a:ext cx="405961" cy="632760"/>
            </a:xfrm>
            <a:custGeom>
              <a:avLst/>
              <a:gdLst>
                <a:gd name="T0" fmla="*/ 0 w 360"/>
                <a:gd name="T1" fmla="*/ 260 h 380"/>
                <a:gd name="T2" fmla="*/ 240 w 360"/>
                <a:gd name="T3" fmla="*/ 20 h 380"/>
                <a:gd name="T4" fmla="*/ 360 w 360"/>
                <a:gd name="T5" fmla="*/ 380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0" h="380">
                  <a:moveTo>
                    <a:pt x="0" y="260"/>
                  </a:moveTo>
                  <a:cubicBezTo>
                    <a:pt x="90" y="130"/>
                    <a:pt x="180" y="0"/>
                    <a:pt x="240" y="20"/>
                  </a:cubicBezTo>
                  <a:cubicBezTo>
                    <a:pt x="300" y="40"/>
                    <a:pt x="330" y="210"/>
                    <a:pt x="360" y="38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15"/>
            <p:cNvSpPr/>
            <p:nvPr>
              <p:custDataLst>
                <p:tags r:id="rId11"/>
              </p:custDataLst>
            </p:nvPr>
          </p:nvSpPr>
          <p:spPr bwMode="auto">
            <a:xfrm>
              <a:off x="6557507" y="4012126"/>
              <a:ext cx="433352" cy="467338"/>
            </a:xfrm>
            <a:custGeom>
              <a:avLst/>
              <a:gdLst>
                <a:gd name="T0" fmla="*/ 0 w 360"/>
                <a:gd name="T1" fmla="*/ 120 h 380"/>
                <a:gd name="T2" fmla="*/ 240 w 360"/>
                <a:gd name="T3" fmla="*/ 360 h 380"/>
                <a:gd name="T4" fmla="*/ 360 w 360"/>
                <a:gd name="T5" fmla="*/ 0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0" h="380">
                  <a:moveTo>
                    <a:pt x="0" y="120"/>
                  </a:moveTo>
                  <a:cubicBezTo>
                    <a:pt x="90" y="250"/>
                    <a:pt x="180" y="380"/>
                    <a:pt x="240" y="360"/>
                  </a:cubicBezTo>
                  <a:cubicBezTo>
                    <a:pt x="300" y="340"/>
                    <a:pt x="330" y="170"/>
                    <a:pt x="360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Oval 20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327967" y="3537941"/>
              <a:ext cx="670618" cy="593224"/>
            </a:xfrm>
            <a:prstGeom prst="ellipse">
              <a:avLst/>
            </a:prstGeom>
            <a:noFill/>
            <a:ln w="57150" cmpd="thickThin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58733" tIns="39683" rIns="0" bIns="0"/>
            <a:lstStyle/>
            <a:p>
              <a:pPr algn="just" eaLnBrk="0" hangingPunct="0"/>
              <a:r>
                <a:rPr kumimoji="1" lang="en-US" altLang="zh-CN" sz="2645" dirty="0">
                  <a:latin typeface="Times New Roman" panose="02020603050405020304" pitchFamily="18" charset="0"/>
                </a:rPr>
                <a:t>3</a:t>
              </a:r>
              <a:endParaRPr kumimoji="1" lang="en-US" altLang="zh-CN" sz="1765" dirty="0">
                <a:latin typeface="Times New Roman" panose="02020603050405020304" pitchFamily="18" charset="0"/>
              </a:endParaRPr>
            </a:p>
          </p:txBody>
        </p:sp>
        <p:sp>
          <p:nvSpPr>
            <p:cNvPr id="24" name="Oval 21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101282" y="2305278"/>
              <a:ext cx="670618" cy="5932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58733" tIns="39683" rIns="0" bIns="0"/>
            <a:lstStyle/>
            <a:p>
              <a:pPr algn="just" eaLnBrk="0" hangingPunct="0"/>
              <a:r>
                <a:rPr kumimoji="1" lang="en-US" altLang="zh-CN" sz="2645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6" name="Oval 22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120475" y="4712584"/>
              <a:ext cx="670618" cy="5932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58733" tIns="39683" rIns="0" bIns="0"/>
            <a:lstStyle/>
            <a:p>
              <a:pPr algn="just" eaLnBrk="0" hangingPunct="0"/>
              <a:r>
                <a:rPr kumimoji="1" lang="en-US" altLang="zh-CN" sz="2645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7" name="Rectangle 23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805138" y="2795630"/>
              <a:ext cx="658853" cy="4199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645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6" name="Rectangle 24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442429" y="3658816"/>
              <a:ext cx="658853" cy="4199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645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7" name="Rectangle 25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5450509" y="2795630"/>
              <a:ext cx="658853" cy="4199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645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8" name="Rectangle 26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444756" y="2795630"/>
              <a:ext cx="658853" cy="4199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645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9" name="Rectangle 27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159038" y="5302233"/>
              <a:ext cx="2635411" cy="4926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zh-CN" altLang="en-US" sz="2400" dirty="0">
                  <a:latin typeface="宋体" panose="02010600030101010101" pitchFamily="2" charset="-122"/>
                </a:rPr>
                <a:t>状态转换图</a:t>
              </a:r>
              <a:endParaRPr kumimoji="1" lang="zh-CN" altLang="en-US" dirty="0">
                <a:latin typeface="宋体" panose="02010600030101010101" pitchFamily="2" charset="-122"/>
              </a:endParaRPr>
            </a:p>
          </p:txBody>
        </p:sp>
        <p:sp>
          <p:nvSpPr>
            <p:cNvPr id="40" name="Rectangle 29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805138" y="4435874"/>
              <a:ext cx="658853" cy="4199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645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1" name="Rectangle 30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6549553" y="4396501"/>
              <a:ext cx="658853" cy="4987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645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2" name="Rectangle 31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5465023" y="4479464"/>
              <a:ext cx="658853" cy="5039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645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3" name="Rectangle 31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868688" y="1684665"/>
              <a:ext cx="658853" cy="5039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645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4" name="右箭头 43"/>
            <p:cNvSpPr/>
            <p:nvPr>
              <p:custDataLst>
                <p:tags r:id="rId24"/>
              </p:custDataLst>
            </p:nvPr>
          </p:nvSpPr>
          <p:spPr>
            <a:xfrm>
              <a:off x="1392533" y="3658816"/>
              <a:ext cx="502644" cy="395675"/>
            </a:xfrm>
            <a:prstGeom prst="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14"/>
            <p:cNvSpPr/>
            <p:nvPr>
              <p:custDataLst>
                <p:tags r:id="rId25"/>
              </p:custDataLst>
            </p:nvPr>
          </p:nvSpPr>
          <p:spPr bwMode="auto">
            <a:xfrm>
              <a:off x="4252803" y="1684665"/>
              <a:ext cx="405961" cy="632760"/>
            </a:xfrm>
            <a:custGeom>
              <a:avLst/>
              <a:gdLst>
                <a:gd name="T0" fmla="*/ 0 w 360"/>
                <a:gd name="T1" fmla="*/ 260 h 380"/>
                <a:gd name="T2" fmla="*/ 240 w 360"/>
                <a:gd name="T3" fmla="*/ 20 h 380"/>
                <a:gd name="T4" fmla="*/ 360 w 360"/>
                <a:gd name="T5" fmla="*/ 380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0" h="380">
                  <a:moveTo>
                    <a:pt x="0" y="260"/>
                  </a:moveTo>
                  <a:cubicBezTo>
                    <a:pt x="90" y="130"/>
                    <a:pt x="180" y="0"/>
                    <a:pt x="240" y="20"/>
                  </a:cubicBezTo>
                  <a:cubicBezTo>
                    <a:pt x="300" y="40"/>
                    <a:pt x="330" y="210"/>
                    <a:pt x="360" y="38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5146066" y="6492875"/>
            <a:ext cx="3786690" cy="365125"/>
          </a:xfrm>
        </p:spPr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76032" y="6492875"/>
            <a:ext cx="3786691" cy="365125"/>
          </a:xfrm>
        </p:spPr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973482" y="6492874"/>
            <a:ext cx="1161826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 </a:t>
            </a:r>
            <a:r>
              <a:rPr lang="zh-CN" altLang="en-US" dirty="0"/>
              <a:t>有限状态自动机</a:t>
            </a:r>
          </a:p>
        </p:txBody>
      </p:sp>
      <p:sp>
        <p:nvSpPr>
          <p:cNvPr id="7" name="副标题 2"/>
          <p:cNvSpPr txBox="1"/>
          <p:nvPr/>
        </p:nvSpPr>
        <p:spPr>
          <a:xfrm>
            <a:off x="107504" y="1628800"/>
            <a:ext cx="9036496" cy="48245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对于每一个正则表达式，可以通过添加一个初态及一个终态</a:t>
            </a:r>
            <a:endParaRPr lang="zh-CN" altLang="en-US" sz="2400" b="0" dirty="0">
              <a:solidFill>
                <a:srgbClr val="2F18D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C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然后对这个正则表达式进行拆分，直到所有的边上都只剩下终结符以及可能的</a:t>
            </a:r>
            <a:r>
              <a:rPr lang="el-GR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endParaRPr lang="en-US" altLang="zh-C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4"/>
          <p:cNvGrpSpPr/>
          <p:nvPr/>
        </p:nvGrpSpPr>
        <p:grpSpPr bwMode="auto">
          <a:xfrm>
            <a:off x="3010231" y="2276974"/>
            <a:ext cx="1981200" cy="533400"/>
            <a:chOff x="3071" y="9125"/>
            <a:chExt cx="2163" cy="620"/>
          </a:xfrm>
        </p:grpSpPr>
        <p:grpSp>
          <p:nvGrpSpPr>
            <p:cNvPr id="9" name="Group 5"/>
            <p:cNvGrpSpPr/>
            <p:nvPr/>
          </p:nvGrpSpPr>
          <p:grpSpPr bwMode="auto">
            <a:xfrm>
              <a:off x="3071" y="9265"/>
              <a:ext cx="460" cy="480"/>
              <a:chOff x="3071" y="9265"/>
              <a:chExt cx="460" cy="480"/>
            </a:xfrm>
          </p:grpSpPr>
          <p:sp>
            <p:nvSpPr>
              <p:cNvPr id="15" name="Oval 6"/>
              <p:cNvSpPr>
                <a:spLocks noChangeArrowheads="1"/>
              </p:cNvSpPr>
              <p:nvPr/>
            </p:nvSpPr>
            <p:spPr bwMode="auto">
              <a:xfrm>
                <a:off x="3111" y="9305"/>
                <a:ext cx="380" cy="38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Text Box 7"/>
              <p:cNvSpPr txBox="1">
                <a:spLocks noChangeArrowheads="1"/>
              </p:cNvSpPr>
              <p:nvPr/>
            </p:nvSpPr>
            <p:spPr bwMode="auto">
              <a:xfrm>
                <a:off x="3071" y="9265"/>
                <a:ext cx="460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800" b="1" dirty="0" err="1">
                    <a:cs typeface="Times New Roman" panose="02020603050405020304" pitchFamily="18" charset="0"/>
                  </a:rPr>
                  <a:t>i</a:t>
                </a:r>
                <a:endParaRPr lang="en-US" altLang="zh-CN" sz="1800" b="1" dirty="0"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" name="Group 8"/>
            <p:cNvGrpSpPr/>
            <p:nvPr/>
          </p:nvGrpSpPr>
          <p:grpSpPr bwMode="auto">
            <a:xfrm>
              <a:off x="4774" y="9265"/>
              <a:ext cx="460" cy="480"/>
              <a:chOff x="3071" y="9265"/>
              <a:chExt cx="460" cy="480"/>
            </a:xfrm>
          </p:grpSpPr>
          <p:sp>
            <p:nvSpPr>
              <p:cNvPr id="13" name="Oval 9"/>
              <p:cNvSpPr>
                <a:spLocks noChangeArrowheads="1"/>
              </p:cNvSpPr>
              <p:nvPr/>
            </p:nvSpPr>
            <p:spPr bwMode="auto">
              <a:xfrm>
                <a:off x="3111" y="9305"/>
                <a:ext cx="380" cy="380"/>
              </a:xfrm>
              <a:prstGeom prst="ellipse">
                <a:avLst/>
              </a:prstGeom>
              <a:solidFill>
                <a:srgbClr val="FFFFFF"/>
              </a:solidFill>
              <a:ln w="38100" cmpd="dbl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Text Box 10"/>
              <p:cNvSpPr txBox="1">
                <a:spLocks noChangeArrowheads="1"/>
              </p:cNvSpPr>
              <p:nvPr/>
            </p:nvSpPr>
            <p:spPr bwMode="auto">
              <a:xfrm>
                <a:off x="3071" y="9265"/>
                <a:ext cx="460" cy="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lang="en-US" altLang="zh-CN" sz="1800" b="1" dirty="0">
                    <a:cs typeface="Times New Roman" panose="02020603050405020304" pitchFamily="18" charset="0"/>
                  </a:rPr>
                  <a:t>f</a:t>
                </a:r>
              </a:p>
            </p:txBody>
          </p:sp>
        </p:grp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3491" y="9505"/>
              <a:ext cx="13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9pPr>
            </a:lstStyle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3891" y="9125"/>
              <a:ext cx="420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800" b="1">
                  <a:cs typeface="Times New Roman" panose="02020603050405020304" pitchFamily="18" charset="0"/>
                </a:rPr>
                <a:t>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5146066" y="6492875"/>
            <a:ext cx="3786690" cy="365125"/>
          </a:xfrm>
        </p:spPr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76032" y="6492875"/>
            <a:ext cx="3786691" cy="365125"/>
          </a:xfrm>
        </p:spPr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973482" y="6492874"/>
            <a:ext cx="1161826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 </a:t>
            </a:r>
            <a:r>
              <a:rPr lang="zh-CN" altLang="en-US" dirty="0"/>
              <a:t>有限状态自动机</a:t>
            </a:r>
            <a:endParaRPr lang="en-US" dirty="0"/>
          </a:p>
        </p:txBody>
      </p:sp>
      <p:grpSp>
        <p:nvGrpSpPr>
          <p:cNvPr id="17" name="Group 51"/>
          <p:cNvGrpSpPr/>
          <p:nvPr/>
        </p:nvGrpSpPr>
        <p:grpSpPr bwMode="auto">
          <a:xfrm>
            <a:off x="205035" y="2013320"/>
            <a:ext cx="2259013" cy="704850"/>
            <a:chOff x="3974" y="1764"/>
            <a:chExt cx="1423" cy="444"/>
          </a:xfrm>
          <a:noFill/>
        </p:grpSpPr>
        <p:sp>
          <p:nvSpPr>
            <p:cNvPr id="18" name="Oval 8"/>
            <p:cNvSpPr>
              <a:spLocks noChangeArrowheads="1"/>
            </p:cNvSpPr>
            <p:nvPr/>
          </p:nvSpPr>
          <p:spPr bwMode="auto">
            <a:xfrm>
              <a:off x="5061" y="1872"/>
              <a:ext cx="336" cy="336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" name="Oval 10"/>
            <p:cNvSpPr>
              <a:spLocks noChangeArrowheads="1"/>
            </p:cNvSpPr>
            <p:nvPr/>
          </p:nvSpPr>
          <p:spPr bwMode="auto">
            <a:xfrm>
              <a:off x="4245" y="1920"/>
              <a:ext cx="240" cy="24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0" name="Oval 11"/>
            <p:cNvSpPr>
              <a:spLocks noChangeArrowheads="1"/>
            </p:cNvSpPr>
            <p:nvPr/>
          </p:nvSpPr>
          <p:spPr bwMode="auto">
            <a:xfrm>
              <a:off x="5109" y="1920"/>
              <a:ext cx="240" cy="24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1" name="Line 12"/>
            <p:cNvSpPr>
              <a:spLocks noChangeShapeType="1"/>
            </p:cNvSpPr>
            <p:nvPr/>
          </p:nvSpPr>
          <p:spPr bwMode="auto">
            <a:xfrm>
              <a:off x="4485" y="2040"/>
              <a:ext cx="576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miter lim="800000"/>
              <a:tailEnd type="triangle" w="med" len="med"/>
            </a:ln>
          </p:spPr>
          <p:txBody>
            <a:bodyPr wrap="none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2" name="Text Box 13"/>
            <p:cNvSpPr txBox="1">
              <a:spLocks noChangeArrowheads="1"/>
            </p:cNvSpPr>
            <p:nvPr/>
          </p:nvSpPr>
          <p:spPr bwMode="auto">
            <a:xfrm>
              <a:off x="4629" y="1764"/>
              <a:ext cx="288" cy="32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>
                  <a:latin typeface="Verdana" panose="020B060403050404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23" name="Rectangle 50"/>
            <p:cNvSpPr>
              <a:spLocks noChangeArrowheads="1"/>
            </p:cNvSpPr>
            <p:nvPr/>
          </p:nvSpPr>
          <p:spPr bwMode="auto">
            <a:xfrm>
              <a:off x="3974" y="1855"/>
              <a:ext cx="337" cy="32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r>
                <a:rPr kumimoji="1" lang="en-US" altLang="zh-CN">
                  <a:sym typeface="Symbol" panose="05050102010706020507" pitchFamily="18" charset="2"/>
                </a:rPr>
                <a:t></a:t>
              </a:r>
            </a:p>
          </p:txBody>
        </p:sp>
      </p:grpSp>
      <p:grpSp>
        <p:nvGrpSpPr>
          <p:cNvPr id="24" name="Group 53"/>
          <p:cNvGrpSpPr/>
          <p:nvPr/>
        </p:nvGrpSpPr>
        <p:grpSpPr bwMode="auto">
          <a:xfrm>
            <a:off x="4038603" y="2074439"/>
            <a:ext cx="2303463" cy="685800"/>
            <a:chOff x="3885" y="2289"/>
            <a:chExt cx="1451" cy="432"/>
          </a:xfrm>
          <a:noFill/>
        </p:grpSpPr>
        <p:sp>
          <p:nvSpPr>
            <p:cNvPr id="25" name="Oval 14"/>
            <p:cNvSpPr>
              <a:spLocks noChangeArrowheads="1"/>
            </p:cNvSpPr>
            <p:nvPr/>
          </p:nvSpPr>
          <p:spPr bwMode="auto">
            <a:xfrm>
              <a:off x="5000" y="2385"/>
              <a:ext cx="336" cy="336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6" name="Group 15"/>
            <p:cNvGrpSpPr/>
            <p:nvPr/>
          </p:nvGrpSpPr>
          <p:grpSpPr bwMode="auto">
            <a:xfrm>
              <a:off x="4184" y="2289"/>
              <a:ext cx="1104" cy="396"/>
              <a:chOff x="3696" y="1764"/>
              <a:chExt cx="1104" cy="396"/>
            </a:xfrm>
            <a:grpFill/>
          </p:grpSpPr>
          <p:sp>
            <p:nvSpPr>
              <p:cNvPr id="28" name="Oval 16"/>
              <p:cNvSpPr>
                <a:spLocks noChangeArrowheads="1"/>
              </p:cNvSpPr>
              <p:nvPr/>
            </p:nvSpPr>
            <p:spPr bwMode="auto">
              <a:xfrm>
                <a:off x="3696" y="1920"/>
                <a:ext cx="240" cy="240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defPPr>
                  <a:defRPr lang="zh-CN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/>
                <a:r>
                  <a:rPr kumimoji="1" lang="en-US" altLang="zh-CN" sz="2400">
                    <a:latin typeface="Verdana" panose="020B0604030504040204" pitchFamily="34" charset="0"/>
                  </a:rPr>
                  <a:t>x</a:t>
                </a:r>
              </a:p>
            </p:txBody>
          </p:sp>
          <p:sp>
            <p:nvSpPr>
              <p:cNvPr id="29" name="Oval 17"/>
              <p:cNvSpPr>
                <a:spLocks noChangeArrowheads="1"/>
              </p:cNvSpPr>
              <p:nvPr/>
            </p:nvSpPr>
            <p:spPr bwMode="auto">
              <a:xfrm>
                <a:off x="4560" y="1920"/>
                <a:ext cx="240" cy="240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defPPr>
                  <a:defRPr lang="zh-CN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/>
                <a:r>
                  <a:rPr kumimoji="1" lang="en-US" altLang="zh-CN" sz="2400">
                    <a:latin typeface="Verdana" panose="020B0604030504040204" pitchFamily="34" charset="0"/>
                  </a:rPr>
                  <a:t>y</a:t>
                </a:r>
              </a:p>
            </p:txBody>
          </p:sp>
          <p:sp>
            <p:nvSpPr>
              <p:cNvPr id="30" name="Line 18"/>
              <p:cNvSpPr>
                <a:spLocks noChangeShapeType="1"/>
              </p:cNvSpPr>
              <p:nvPr/>
            </p:nvSpPr>
            <p:spPr bwMode="auto">
              <a:xfrm>
                <a:off x="3936" y="2040"/>
                <a:ext cx="576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miter lim="800000"/>
                <a:tailEnd type="triangle" w="med" len="med"/>
              </a:ln>
            </p:spPr>
            <p:txBody>
              <a:bodyPr wrap="none"/>
              <a:lstStyle>
                <a:defPPr>
                  <a:defRPr lang="zh-CN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1" name="Text Box 19"/>
              <p:cNvSpPr txBox="1">
                <a:spLocks noChangeArrowheads="1"/>
              </p:cNvSpPr>
              <p:nvPr/>
            </p:nvSpPr>
            <p:spPr bwMode="auto">
              <a:xfrm>
                <a:off x="4080" y="1764"/>
                <a:ext cx="288" cy="32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kumimoji="1"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a</a:t>
                </a:r>
              </a:p>
            </p:txBody>
          </p:sp>
        </p:grpSp>
        <p:sp>
          <p:nvSpPr>
            <p:cNvPr id="27" name="Rectangle 52"/>
            <p:cNvSpPr>
              <a:spLocks noChangeArrowheads="1"/>
            </p:cNvSpPr>
            <p:nvPr/>
          </p:nvSpPr>
          <p:spPr bwMode="auto">
            <a:xfrm>
              <a:off x="3885" y="2392"/>
              <a:ext cx="337" cy="32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800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r>
                <a:rPr kumimoji="1" lang="en-US" altLang="zh-CN">
                  <a:sym typeface="Symbol" panose="05050102010706020507" pitchFamily="18" charset="2"/>
                </a:rPr>
                <a:t></a:t>
              </a:r>
            </a:p>
          </p:txBody>
        </p:sp>
      </p:grp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2545" y="3285490"/>
          <a:ext cx="4244975" cy="1919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168015" imgH="1339215" progId="Visio.Drawing.11">
                  <p:embed/>
                </p:oleObj>
              </mc:Choice>
              <mc:Fallback>
                <p:oleObj name="Visio" r:id="rId3" imgW="3168015" imgH="1339215" progId="Visio.Drawing.11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" y="3285490"/>
                        <a:ext cx="4244975" cy="19196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3420378" y="2924944"/>
          <a:ext cx="5577734" cy="156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816860" imgH="726440" progId="Visio.Drawing.11">
                  <p:embed/>
                </p:oleObj>
              </mc:Choice>
              <mc:Fallback>
                <p:oleObj name="Visio" r:id="rId5" imgW="2816860" imgH="726440" progId="Visio.Drawing.11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0378" y="2924944"/>
                        <a:ext cx="5577734" cy="156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1930086" y="4292969"/>
          <a:ext cx="6948170" cy="2445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2999740" imgH="1069340" progId="Visio.Drawing.11">
                  <p:embed/>
                </p:oleObj>
              </mc:Choice>
              <mc:Fallback>
                <p:oleObj name="Visio" r:id="rId7" imgW="2999740" imgH="1069340" progId="Visio.Drawing.11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086" y="4292969"/>
                        <a:ext cx="6948170" cy="24453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79512" y="1628800"/>
            <a:ext cx="8712968" cy="48245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请构造一个识别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a|b)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5148064" y="6465019"/>
            <a:ext cx="3786690" cy="365125"/>
          </a:xfrm>
        </p:spPr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78030" y="6465019"/>
            <a:ext cx="3786691" cy="365125"/>
          </a:xfrm>
        </p:spPr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975480" y="6465018"/>
            <a:ext cx="1161826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 </a:t>
            </a:r>
            <a:r>
              <a:rPr lang="zh-CN" altLang="en-US" dirty="0"/>
              <a:t>有限状态自动机</a:t>
            </a:r>
            <a:endParaRPr lang="en-US" dirty="0"/>
          </a:p>
        </p:txBody>
      </p:sp>
      <p:grpSp>
        <p:nvGrpSpPr>
          <p:cNvPr id="34" name="Group 4"/>
          <p:cNvGrpSpPr/>
          <p:nvPr/>
        </p:nvGrpSpPr>
        <p:grpSpPr bwMode="auto">
          <a:xfrm>
            <a:off x="246436" y="2223911"/>
            <a:ext cx="3986214" cy="769939"/>
            <a:chOff x="672" y="859"/>
            <a:chExt cx="2511" cy="485"/>
          </a:xfrm>
        </p:grpSpPr>
        <p:grpSp>
          <p:nvGrpSpPr>
            <p:cNvPr id="35" name="Group 5"/>
            <p:cNvGrpSpPr/>
            <p:nvPr/>
          </p:nvGrpSpPr>
          <p:grpSpPr bwMode="auto">
            <a:xfrm>
              <a:off x="1253" y="859"/>
              <a:ext cx="1930" cy="466"/>
              <a:chOff x="3491" y="4685"/>
              <a:chExt cx="2757" cy="620"/>
            </a:xfrm>
          </p:grpSpPr>
          <p:grpSp>
            <p:nvGrpSpPr>
              <p:cNvPr id="37" name="Group 6"/>
              <p:cNvGrpSpPr/>
              <p:nvPr/>
            </p:nvGrpSpPr>
            <p:grpSpPr bwMode="auto">
              <a:xfrm>
                <a:off x="3491" y="4865"/>
                <a:ext cx="420" cy="400"/>
                <a:chOff x="3491" y="4865"/>
                <a:chExt cx="420" cy="400"/>
              </a:xfrm>
            </p:grpSpPr>
            <p:sp>
              <p:nvSpPr>
                <p:cNvPr id="43" name="Oval 7"/>
                <p:cNvSpPr>
                  <a:spLocks noChangeArrowheads="1"/>
                </p:cNvSpPr>
                <p:nvPr/>
              </p:nvSpPr>
              <p:spPr bwMode="auto">
                <a:xfrm>
                  <a:off x="3511" y="4905"/>
                  <a:ext cx="340" cy="34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endParaRPr lang="zh-CN" altLang="en-US" sz="1800"/>
                </a:p>
              </p:txBody>
            </p:sp>
            <p:sp>
              <p:nvSpPr>
                <p:cNvPr id="44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3491" y="4865"/>
                  <a:ext cx="420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800" b="1" dirty="0"/>
                    <a:t>0</a:t>
                  </a:r>
                </a:p>
              </p:txBody>
            </p:sp>
          </p:grpSp>
          <p:grpSp>
            <p:nvGrpSpPr>
              <p:cNvPr id="38" name="Group 9"/>
              <p:cNvGrpSpPr/>
              <p:nvPr/>
            </p:nvGrpSpPr>
            <p:grpSpPr bwMode="auto">
              <a:xfrm>
                <a:off x="5828" y="4905"/>
                <a:ext cx="420" cy="400"/>
                <a:chOff x="3488" y="4905"/>
                <a:chExt cx="420" cy="400"/>
              </a:xfrm>
            </p:grpSpPr>
            <p:sp>
              <p:nvSpPr>
                <p:cNvPr id="41" name="Oval 10"/>
                <p:cNvSpPr>
                  <a:spLocks noChangeArrowheads="1"/>
                </p:cNvSpPr>
                <p:nvPr/>
              </p:nvSpPr>
              <p:spPr bwMode="auto">
                <a:xfrm>
                  <a:off x="3511" y="4905"/>
                  <a:ext cx="340" cy="340"/>
                </a:xfrm>
                <a:prstGeom prst="ellipse">
                  <a:avLst/>
                </a:prstGeom>
                <a:noFill/>
                <a:ln w="38100" cmpd="dbl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endParaRPr lang="zh-CN" altLang="en-US" sz="1800"/>
                </a:p>
              </p:txBody>
            </p:sp>
            <p:sp>
              <p:nvSpPr>
                <p:cNvPr id="42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3488" y="4905"/>
                  <a:ext cx="420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800" b="1" dirty="0"/>
                    <a:t>f</a:t>
                  </a:r>
                </a:p>
              </p:txBody>
            </p:sp>
          </p:grpSp>
          <p:sp>
            <p:nvSpPr>
              <p:cNvPr id="39" name="Line 12"/>
              <p:cNvSpPr>
                <a:spLocks noChangeShapeType="1"/>
              </p:cNvSpPr>
              <p:nvPr/>
            </p:nvSpPr>
            <p:spPr bwMode="auto">
              <a:xfrm>
                <a:off x="3871" y="5105"/>
                <a:ext cx="19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endParaRPr lang="zh-CN" altLang="en-US" sz="1800"/>
              </a:p>
            </p:txBody>
          </p:sp>
          <p:sp>
            <p:nvSpPr>
              <p:cNvPr id="40" name="Text Box 13"/>
              <p:cNvSpPr txBox="1">
                <a:spLocks noChangeArrowheads="1"/>
              </p:cNvSpPr>
              <p:nvPr/>
            </p:nvSpPr>
            <p:spPr bwMode="auto">
              <a:xfrm>
                <a:off x="4111" y="4685"/>
                <a:ext cx="1440" cy="4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pPr algn="just"/>
                <a:r>
                  <a:rPr lang="en-US" altLang="zh-CN" sz="1800" b="1"/>
                  <a:t>(a|b)</a:t>
                </a:r>
                <a:r>
                  <a:rPr lang="en-US" altLang="zh-CN" sz="1800" b="1" baseline="30000"/>
                  <a:t>*</a:t>
                </a:r>
                <a:r>
                  <a:rPr lang="en-US" altLang="zh-CN" sz="1800" b="1"/>
                  <a:t>abb</a:t>
                </a:r>
              </a:p>
            </p:txBody>
          </p:sp>
        </p:grpSp>
        <p:sp>
          <p:nvSpPr>
            <p:cNvPr id="36" name="Text Box 14"/>
            <p:cNvSpPr txBox="1">
              <a:spLocks noChangeArrowheads="1"/>
            </p:cNvSpPr>
            <p:nvPr/>
          </p:nvSpPr>
          <p:spPr bwMode="auto">
            <a:xfrm>
              <a:off x="672" y="1013"/>
              <a:ext cx="547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9pPr>
            </a:lstStyle>
            <a:p>
              <a:pPr algn="just"/>
              <a:r>
                <a:rPr lang="en-US" altLang="zh-CN" sz="1800" b="1"/>
                <a:t>(a)</a:t>
              </a:r>
            </a:p>
          </p:txBody>
        </p:sp>
      </p:grpSp>
      <p:grpSp>
        <p:nvGrpSpPr>
          <p:cNvPr id="45" name="Group 15"/>
          <p:cNvGrpSpPr/>
          <p:nvPr/>
        </p:nvGrpSpPr>
        <p:grpSpPr bwMode="auto">
          <a:xfrm>
            <a:off x="246436" y="3133953"/>
            <a:ext cx="6473827" cy="700088"/>
            <a:chOff x="672" y="1575"/>
            <a:chExt cx="4078" cy="441"/>
          </a:xfrm>
        </p:grpSpPr>
        <p:grpSp>
          <p:nvGrpSpPr>
            <p:cNvPr id="46" name="Group 16"/>
            <p:cNvGrpSpPr/>
            <p:nvPr/>
          </p:nvGrpSpPr>
          <p:grpSpPr bwMode="auto">
            <a:xfrm>
              <a:off x="1252" y="1575"/>
              <a:ext cx="3498" cy="436"/>
              <a:chOff x="3511" y="5485"/>
              <a:chExt cx="4980" cy="580"/>
            </a:xfrm>
          </p:grpSpPr>
          <p:grpSp>
            <p:nvGrpSpPr>
              <p:cNvPr id="48" name="Group 17"/>
              <p:cNvGrpSpPr/>
              <p:nvPr/>
            </p:nvGrpSpPr>
            <p:grpSpPr bwMode="auto">
              <a:xfrm>
                <a:off x="3511" y="5645"/>
                <a:ext cx="420" cy="400"/>
                <a:chOff x="3491" y="4865"/>
                <a:chExt cx="420" cy="400"/>
              </a:xfrm>
            </p:grpSpPr>
            <p:sp>
              <p:nvSpPr>
                <p:cNvPr id="69" name="Oval 18"/>
                <p:cNvSpPr>
                  <a:spLocks noChangeArrowheads="1"/>
                </p:cNvSpPr>
                <p:nvPr/>
              </p:nvSpPr>
              <p:spPr bwMode="auto">
                <a:xfrm>
                  <a:off x="3511" y="4905"/>
                  <a:ext cx="340" cy="34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endParaRPr lang="zh-CN" altLang="en-US" sz="1800"/>
                </a:p>
              </p:txBody>
            </p:sp>
            <p:sp>
              <p:nvSpPr>
                <p:cNvPr id="70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3491" y="4865"/>
                  <a:ext cx="420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800" b="1"/>
                    <a:t>0</a:t>
                  </a:r>
                </a:p>
              </p:txBody>
            </p:sp>
          </p:grpSp>
          <p:grpSp>
            <p:nvGrpSpPr>
              <p:cNvPr id="49" name="Group 20"/>
              <p:cNvGrpSpPr/>
              <p:nvPr/>
            </p:nvGrpSpPr>
            <p:grpSpPr bwMode="auto">
              <a:xfrm>
                <a:off x="8071" y="5655"/>
                <a:ext cx="420" cy="400"/>
                <a:chOff x="3451" y="4875"/>
                <a:chExt cx="420" cy="400"/>
              </a:xfrm>
            </p:grpSpPr>
            <p:sp>
              <p:nvSpPr>
                <p:cNvPr id="67" name="Oval 21"/>
                <p:cNvSpPr>
                  <a:spLocks noChangeArrowheads="1"/>
                </p:cNvSpPr>
                <p:nvPr/>
              </p:nvSpPr>
              <p:spPr bwMode="auto">
                <a:xfrm>
                  <a:off x="3511" y="4905"/>
                  <a:ext cx="340" cy="340"/>
                </a:xfrm>
                <a:prstGeom prst="ellipse">
                  <a:avLst/>
                </a:prstGeom>
                <a:noFill/>
                <a:ln w="38100" cmpd="dbl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endParaRPr lang="zh-CN" altLang="en-US" sz="1800"/>
                </a:p>
              </p:txBody>
            </p:sp>
            <p:sp>
              <p:nvSpPr>
                <p:cNvPr id="68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3451" y="4875"/>
                  <a:ext cx="420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800" b="1" dirty="0"/>
                    <a:t>f</a:t>
                  </a:r>
                </a:p>
              </p:txBody>
            </p:sp>
          </p:grpSp>
          <p:sp>
            <p:nvSpPr>
              <p:cNvPr id="50" name="Line 23"/>
              <p:cNvSpPr>
                <a:spLocks noChangeShapeType="1"/>
              </p:cNvSpPr>
              <p:nvPr/>
            </p:nvSpPr>
            <p:spPr bwMode="auto">
              <a:xfrm flipV="1">
                <a:off x="3891" y="5885"/>
                <a:ext cx="10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endParaRPr lang="zh-CN" altLang="en-US" sz="1800"/>
              </a:p>
            </p:txBody>
          </p:sp>
          <p:sp>
            <p:nvSpPr>
              <p:cNvPr id="51" name="Text Box 24"/>
              <p:cNvSpPr txBox="1">
                <a:spLocks noChangeArrowheads="1"/>
              </p:cNvSpPr>
              <p:nvPr/>
            </p:nvSpPr>
            <p:spPr bwMode="auto">
              <a:xfrm>
                <a:off x="3871" y="5485"/>
                <a:ext cx="960" cy="4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pPr algn="just"/>
                <a:r>
                  <a:rPr lang="en-US" altLang="zh-CN" sz="1800" b="1"/>
                  <a:t>  (a|b)</a:t>
                </a:r>
                <a:r>
                  <a:rPr lang="en-US" altLang="zh-CN" sz="1800" b="1" baseline="30000"/>
                  <a:t>*</a:t>
                </a:r>
                <a:endParaRPr lang="en-US" altLang="zh-CN" sz="1800" b="1"/>
              </a:p>
            </p:txBody>
          </p:sp>
          <p:grpSp>
            <p:nvGrpSpPr>
              <p:cNvPr id="52" name="Group 25"/>
              <p:cNvGrpSpPr/>
              <p:nvPr/>
            </p:nvGrpSpPr>
            <p:grpSpPr bwMode="auto">
              <a:xfrm>
                <a:off x="7091" y="5665"/>
                <a:ext cx="420" cy="400"/>
                <a:chOff x="3491" y="4865"/>
                <a:chExt cx="420" cy="400"/>
              </a:xfrm>
            </p:grpSpPr>
            <p:sp>
              <p:nvSpPr>
                <p:cNvPr id="65" name="Oval 26"/>
                <p:cNvSpPr>
                  <a:spLocks noChangeArrowheads="1"/>
                </p:cNvSpPr>
                <p:nvPr/>
              </p:nvSpPr>
              <p:spPr bwMode="auto">
                <a:xfrm>
                  <a:off x="3511" y="4905"/>
                  <a:ext cx="340" cy="34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endParaRPr lang="zh-CN" altLang="en-US" sz="1800"/>
                </a:p>
              </p:txBody>
            </p:sp>
            <p:sp>
              <p:nvSpPr>
                <p:cNvPr id="66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3491" y="4865"/>
                  <a:ext cx="420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800" b="1" dirty="0"/>
                    <a:t>3</a:t>
                  </a:r>
                </a:p>
              </p:txBody>
            </p:sp>
          </p:grpSp>
          <p:grpSp>
            <p:nvGrpSpPr>
              <p:cNvPr id="53" name="Group 28"/>
              <p:cNvGrpSpPr/>
              <p:nvPr/>
            </p:nvGrpSpPr>
            <p:grpSpPr bwMode="auto">
              <a:xfrm>
                <a:off x="4891" y="5665"/>
                <a:ext cx="420" cy="400"/>
                <a:chOff x="3491" y="4865"/>
                <a:chExt cx="420" cy="400"/>
              </a:xfrm>
            </p:grpSpPr>
            <p:sp>
              <p:nvSpPr>
                <p:cNvPr id="63" name="Oval 29"/>
                <p:cNvSpPr>
                  <a:spLocks noChangeArrowheads="1"/>
                </p:cNvSpPr>
                <p:nvPr/>
              </p:nvSpPr>
              <p:spPr bwMode="auto">
                <a:xfrm>
                  <a:off x="3511" y="4905"/>
                  <a:ext cx="340" cy="34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endParaRPr lang="zh-CN" altLang="en-US" sz="1800"/>
                </a:p>
              </p:txBody>
            </p:sp>
            <p:sp>
              <p:nvSpPr>
                <p:cNvPr id="64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3491" y="4865"/>
                  <a:ext cx="420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800" b="1" dirty="0"/>
                    <a:t>1</a:t>
                  </a:r>
                </a:p>
              </p:txBody>
            </p:sp>
          </p:grpSp>
          <p:grpSp>
            <p:nvGrpSpPr>
              <p:cNvPr id="54" name="Group 31"/>
              <p:cNvGrpSpPr/>
              <p:nvPr/>
            </p:nvGrpSpPr>
            <p:grpSpPr bwMode="auto">
              <a:xfrm>
                <a:off x="6031" y="5665"/>
                <a:ext cx="420" cy="400"/>
                <a:chOff x="3491" y="4865"/>
                <a:chExt cx="420" cy="400"/>
              </a:xfrm>
            </p:grpSpPr>
            <p:sp>
              <p:nvSpPr>
                <p:cNvPr id="61" name="Oval 32"/>
                <p:cNvSpPr>
                  <a:spLocks noChangeArrowheads="1"/>
                </p:cNvSpPr>
                <p:nvPr/>
              </p:nvSpPr>
              <p:spPr bwMode="auto">
                <a:xfrm>
                  <a:off x="3511" y="4905"/>
                  <a:ext cx="340" cy="34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endParaRPr lang="zh-CN" altLang="en-US" sz="1800"/>
                </a:p>
              </p:txBody>
            </p:sp>
            <p:sp>
              <p:nvSpPr>
                <p:cNvPr id="62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3491" y="4865"/>
                  <a:ext cx="420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800" b="1"/>
                    <a:t>2</a:t>
                  </a:r>
                </a:p>
              </p:txBody>
            </p:sp>
          </p:grpSp>
          <p:sp>
            <p:nvSpPr>
              <p:cNvPr id="55" name="Line 34"/>
              <p:cNvSpPr>
                <a:spLocks noChangeShapeType="1"/>
              </p:cNvSpPr>
              <p:nvPr/>
            </p:nvSpPr>
            <p:spPr bwMode="auto">
              <a:xfrm flipV="1">
                <a:off x="5271" y="5885"/>
                <a:ext cx="7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endParaRPr lang="zh-CN" altLang="en-US" sz="1800"/>
              </a:p>
            </p:txBody>
          </p:sp>
          <p:sp>
            <p:nvSpPr>
              <p:cNvPr id="56" name="Line 35"/>
              <p:cNvSpPr>
                <a:spLocks noChangeShapeType="1"/>
              </p:cNvSpPr>
              <p:nvPr/>
            </p:nvSpPr>
            <p:spPr bwMode="auto">
              <a:xfrm flipV="1">
                <a:off x="6411" y="5885"/>
                <a:ext cx="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endParaRPr lang="zh-CN" altLang="en-US" sz="1800"/>
              </a:p>
            </p:txBody>
          </p:sp>
          <p:sp>
            <p:nvSpPr>
              <p:cNvPr id="57" name="Line 36"/>
              <p:cNvSpPr>
                <a:spLocks noChangeShapeType="1"/>
              </p:cNvSpPr>
              <p:nvPr/>
            </p:nvSpPr>
            <p:spPr bwMode="auto">
              <a:xfrm flipV="1">
                <a:off x="7471" y="5885"/>
                <a:ext cx="6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endParaRPr lang="zh-CN" altLang="en-US" sz="1800"/>
              </a:p>
            </p:txBody>
          </p:sp>
          <p:sp>
            <p:nvSpPr>
              <p:cNvPr id="58" name="Text Box 37"/>
              <p:cNvSpPr txBox="1">
                <a:spLocks noChangeArrowheads="1"/>
              </p:cNvSpPr>
              <p:nvPr/>
            </p:nvSpPr>
            <p:spPr bwMode="auto">
              <a:xfrm>
                <a:off x="5371" y="5505"/>
                <a:ext cx="440" cy="4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pPr algn="just"/>
                <a:r>
                  <a:rPr lang="zh-CN" altLang="zh-CN" sz="1800" b="1"/>
                  <a:t> </a:t>
                </a:r>
                <a:r>
                  <a:rPr lang="en-US" altLang="zh-CN" sz="1800" b="1"/>
                  <a:t>a</a:t>
                </a:r>
              </a:p>
            </p:txBody>
          </p:sp>
          <p:sp>
            <p:nvSpPr>
              <p:cNvPr id="59" name="Text Box 38"/>
              <p:cNvSpPr txBox="1">
                <a:spLocks noChangeArrowheads="1"/>
              </p:cNvSpPr>
              <p:nvPr/>
            </p:nvSpPr>
            <p:spPr bwMode="auto">
              <a:xfrm>
                <a:off x="6471" y="5505"/>
                <a:ext cx="440" cy="4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pPr algn="just"/>
                <a:r>
                  <a:rPr lang="zh-CN" altLang="zh-CN" sz="1800" b="1"/>
                  <a:t> </a:t>
                </a:r>
                <a:r>
                  <a:rPr lang="en-US" altLang="zh-CN" sz="1800" b="1"/>
                  <a:t>b</a:t>
                </a:r>
              </a:p>
            </p:txBody>
          </p:sp>
          <p:sp>
            <p:nvSpPr>
              <p:cNvPr id="60" name="Text Box 39"/>
              <p:cNvSpPr txBox="1">
                <a:spLocks noChangeArrowheads="1"/>
              </p:cNvSpPr>
              <p:nvPr/>
            </p:nvSpPr>
            <p:spPr bwMode="auto">
              <a:xfrm>
                <a:off x="7551" y="5525"/>
                <a:ext cx="440" cy="4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pPr algn="just"/>
                <a:r>
                  <a:rPr lang="en-US" altLang="zh-CN" sz="1800" b="1"/>
                  <a:t>b</a:t>
                </a:r>
              </a:p>
            </p:txBody>
          </p:sp>
        </p:grpSp>
        <p:sp>
          <p:nvSpPr>
            <p:cNvPr id="47" name="Text Box 40"/>
            <p:cNvSpPr txBox="1">
              <a:spLocks noChangeArrowheads="1"/>
            </p:cNvSpPr>
            <p:nvPr/>
          </p:nvSpPr>
          <p:spPr bwMode="auto">
            <a:xfrm>
              <a:off x="672" y="1685"/>
              <a:ext cx="547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9pPr>
            </a:lstStyle>
            <a:p>
              <a:pPr algn="just"/>
              <a:r>
                <a:rPr lang="en-US" altLang="zh-CN" sz="1800" b="1"/>
                <a:t>(b)</a:t>
              </a:r>
            </a:p>
          </p:txBody>
        </p:sp>
      </p:grpSp>
      <p:grpSp>
        <p:nvGrpSpPr>
          <p:cNvPr id="71" name="Group 41"/>
          <p:cNvGrpSpPr/>
          <p:nvPr/>
        </p:nvGrpSpPr>
        <p:grpSpPr bwMode="auto">
          <a:xfrm>
            <a:off x="293007" y="3861048"/>
            <a:ext cx="7678740" cy="1322388"/>
            <a:chOff x="672" y="1999"/>
            <a:chExt cx="4837" cy="833"/>
          </a:xfrm>
        </p:grpSpPr>
        <p:grpSp>
          <p:nvGrpSpPr>
            <p:cNvPr id="72" name="Group 42"/>
            <p:cNvGrpSpPr/>
            <p:nvPr/>
          </p:nvGrpSpPr>
          <p:grpSpPr bwMode="auto">
            <a:xfrm>
              <a:off x="1267" y="1999"/>
              <a:ext cx="4242" cy="797"/>
              <a:chOff x="3531" y="5965"/>
              <a:chExt cx="6060" cy="1060"/>
            </a:xfrm>
          </p:grpSpPr>
          <p:grpSp>
            <p:nvGrpSpPr>
              <p:cNvPr id="74" name="Group 43"/>
              <p:cNvGrpSpPr/>
              <p:nvPr/>
            </p:nvGrpSpPr>
            <p:grpSpPr bwMode="auto">
              <a:xfrm>
                <a:off x="3531" y="6625"/>
                <a:ext cx="420" cy="400"/>
                <a:chOff x="3491" y="4865"/>
                <a:chExt cx="420" cy="400"/>
              </a:xfrm>
            </p:grpSpPr>
            <p:sp>
              <p:nvSpPr>
                <p:cNvPr id="102" name="Oval 44"/>
                <p:cNvSpPr>
                  <a:spLocks noChangeArrowheads="1"/>
                </p:cNvSpPr>
                <p:nvPr/>
              </p:nvSpPr>
              <p:spPr bwMode="auto">
                <a:xfrm>
                  <a:off x="3511" y="4905"/>
                  <a:ext cx="340" cy="34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endParaRPr lang="zh-CN" altLang="en-US" sz="1800"/>
                </a:p>
              </p:txBody>
            </p:sp>
            <p:sp>
              <p:nvSpPr>
                <p:cNvPr id="103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3491" y="4865"/>
                  <a:ext cx="420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800" b="1"/>
                    <a:t>0</a:t>
                  </a:r>
                </a:p>
              </p:txBody>
            </p:sp>
          </p:grpSp>
          <p:grpSp>
            <p:nvGrpSpPr>
              <p:cNvPr id="75" name="Group 46"/>
              <p:cNvGrpSpPr/>
              <p:nvPr/>
            </p:nvGrpSpPr>
            <p:grpSpPr bwMode="auto">
              <a:xfrm>
                <a:off x="9171" y="6585"/>
                <a:ext cx="420" cy="400"/>
                <a:chOff x="3491" y="4865"/>
                <a:chExt cx="420" cy="400"/>
              </a:xfrm>
            </p:grpSpPr>
            <p:sp>
              <p:nvSpPr>
                <p:cNvPr id="100" name="Oval 47"/>
                <p:cNvSpPr>
                  <a:spLocks noChangeArrowheads="1"/>
                </p:cNvSpPr>
                <p:nvPr/>
              </p:nvSpPr>
              <p:spPr bwMode="auto">
                <a:xfrm>
                  <a:off x="3511" y="4905"/>
                  <a:ext cx="340" cy="340"/>
                </a:xfrm>
                <a:prstGeom prst="ellipse">
                  <a:avLst/>
                </a:prstGeom>
                <a:noFill/>
                <a:ln w="38100" cmpd="dbl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endParaRPr lang="zh-CN" altLang="en-US" sz="1800"/>
                </a:p>
              </p:txBody>
            </p:sp>
            <p:sp>
              <p:nvSpPr>
                <p:cNvPr id="101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3491" y="4865"/>
                  <a:ext cx="420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800" b="1" dirty="0"/>
                    <a:t>f</a:t>
                  </a:r>
                </a:p>
              </p:txBody>
            </p:sp>
          </p:grpSp>
          <p:sp>
            <p:nvSpPr>
              <p:cNvPr id="76" name="Line 49"/>
              <p:cNvSpPr>
                <a:spLocks noChangeShapeType="1"/>
              </p:cNvSpPr>
              <p:nvPr/>
            </p:nvSpPr>
            <p:spPr bwMode="auto">
              <a:xfrm flipV="1">
                <a:off x="5091" y="6825"/>
                <a:ext cx="8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endParaRPr lang="zh-CN" altLang="en-US" sz="1800"/>
              </a:p>
            </p:txBody>
          </p:sp>
          <p:sp>
            <p:nvSpPr>
              <p:cNvPr id="77" name="Text Box 50"/>
              <p:cNvSpPr txBox="1">
                <a:spLocks noChangeArrowheads="1"/>
              </p:cNvSpPr>
              <p:nvPr/>
            </p:nvSpPr>
            <p:spPr bwMode="auto">
              <a:xfrm>
                <a:off x="4631" y="5965"/>
                <a:ext cx="780" cy="4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pPr algn="just"/>
                <a:r>
                  <a:rPr lang="en-US" altLang="zh-CN" sz="1800" b="1"/>
                  <a:t>a|b</a:t>
                </a:r>
              </a:p>
            </p:txBody>
          </p:sp>
          <p:grpSp>
            <p:nvGrpSpPr>
              <p:cNvPr id="78" name="Group 51"/>
              <p:cNvGrpSpPr/>
              <p:nvPr/>
            </p:nvGrpSpPr>
            <p:grpSpPr bwMode="auto">
              <a:xfrm>
                <a:off x="8151" y="6605"/>
                <a:ext cx="420" cy="400"/>
                <a:chOff x="3491" y="4865"/>
                <a:chExt cx="420" cy="400"/>
              </a:xfrm>
            </p:grpSpPr>
            <p:sp>
              <p:nvSpPr>
                <p:cNvPr id="98" name="Oval 52"/>
                <p:cNvSpPr>
                  <a:spLocks noChangeArrowheads="1"/>
                </p:cNvSpPr>
                <p:nvPr/>
              </p:nvSpPr>
              <p:spPr bwMode="auto">
                <a:xfrm>
                  <a:off x="3511" y="4905"/>
                  <a:ext cx="340" cy="34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endParaRPr lang="zh-CN" altLang="en-US" sz="1800"/>
                </a:p>
              </p:txBody>
            </p:sp>
            <p:sp>
              <p:nvSpPr>
                <p:cNvPr id="99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3491" y="4865"/>
                  <a:ext cx="420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800" b="1"/>
                    <a:t>3</a:t>
                  </a:r>
                </a:p>
              </p:txBody>
            </p:sp>
          </p:grpSp>
          <p:grpSp>
            <p:nvGrpSpPr>
              <p:cNvPr id="79" name="Group 54"/>
              <p:cNvGrpSpPr/>
              <p:nvPr/>
            </p:nvGrpSpPr>
            <p:grpSpPr bwMode="auto">
              <a:xfrm>
                <a:off x="5951" y="6605"/>
                <a:ext cx="420" cy="400"/>
                <a:chOff x="3491" y="4865"/>
                <a:chExt cx="420" cy="400"/>
              </a:xfrm>
            </p:grpSpPr>
            <p:sp>
              <p:nvSpPr>
                <p:cNvPr id="96" name="Oval 55"/>
                <p:cNvSpPr>
                  <a:spLocks noChangeArrowheads="1"/>
                </p:cNvSpPr>
                <p:nvPr/>
              </p:nvSpPr>
              <p:spPr bwMode="auto">
                <a:xfrm>
                  <a:off x="3511" y="4905"/>
                  <a:ext cx="340" cy="34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endParaRPr lang="zh-CN" altLang="en-US" sz="1800"/>
                </a:p>
              </p:txBody>
            </p:sp>
            <p:sp>
              <p:nvSpPr>
                <p:cNvPr id="97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3491" y="4865"/>
                  <a:ext cx="420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800" b="1"/>
                    <a:t>1</a:t>
                  </a:r>
                </a:p>
              </p:txBody>
            </p:sp>
          </p:grpSp>
          <p:grpSp>
            <p:nvGrpSpPr>
              <p:cNvPr id="80" name="Group 57"/>
              <p:cNvGrpSpPr/>
              <p:nvPr/>
            </p:nvGrpSpPr>
            <p:grpSpPr bwMode="auto">
              <a:xfrm>
                <a:off x="7091" y="6605"/>
                <a:ext cx="420" cy="400"/>
                <a:chOff x="3491" y="4865"/>
                <a:chExt cx="420" cy="400"/>
              </a:xfrm>
            </p:grpSpPr>
            <p:sp>
              <p:nvSpPr>
                <p:cNvPr id="94" name="Oval 58"/>
                <p:cNvSpPr>
                  <a:spLocks noChangeArrowheads="1"/>
                </p:cNvSpPr>
                <p:nvPr/>
              </p:nvSpPr>
              <p:spPr bwMode="auto">
                <a:xfrm>
                  <a:off x="3511" y="4905"/>
                  <a:ext cx="340" cy="34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endParaRPr lang="zh-CN" altLang="en-US" sz="1800"/>
                </a:p>
              </p:txBody>
            </p:sp>
            <p:sp>
              <p:nvSpPr>
                <p:cNvPr id="95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3491" y="4865"/>
                  <a:ext cx="420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800" b="1"/>
                    <a:t>2</a:t>
                  </a:r>
                </a:p>
              </p:txBody>
            </p:sp>
          </p:grpSp>
          <p:sp>
            <p:nvSpPr>
              <p:cNvPr id="81" name="Line 60"/>
              <p:cNvSpPr>
                <a:spLocks noChangeShapeType="1"/>
              </p:cNvSpPr>
              <p:nvPr/>
            </p:nvSpPr>
            <p:spPr bwMode="auto">
              <a:xfrm flipV="1">
                <a:off x="6331" y="6825"/>
                <a:ext cx="7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endParaRPr lang="zh-CN" altLang="en-US" sz="1800"/>
              </a:p>
            </p:txBody>
          </p:sp>
          <p:sp>
            <p:nvSpPr>
              <p:cNvPr id="82" name="Line 61"/>
              <p:cNvSpPr>
                <a:spLocks noChangeShapeType="1"/>
              </p:cNvSpPr>
              <p:nvPr/>
            </p:nvSpPr>
            <p:spPr bwMode="auto">
              <a:xfrm flipV="1">
                <a:off x="7471" y="6825"/>
                <a:ext cx="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endParaRPr lang="zh-CN" altLang="en-US" sz="1800"/>
              </a:p>
            </p:txBody>
          </p:sp>
          <p:sp>
            <p:nvSpPr>
              <p:cNvPr id="83" name="Line 62"/>
              <p:cNvSpPr>
                <a:spLocks noChangeShapeType="1"/>
              </p:cNvSpPr>
              <p:nvPr/>
            </p:nvSpPr>
            <p:spPr bwMode="auto">
              <a:xfrm flipV="1">
                <a:off x="8531" y="6825"/>
                <a:ext cx="6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endParaRPr lang="zh-CN" altLang="en-US" sz="1800"/>
              </a:p>
            </p:txBody>
          </p:sp>
          <p:sp>
            <p:nvSpPr>
              <p:cNvPr id="84" name="Text Box 63"/>
              <p:cNvSpPr txBox="1">
                <a:spLocks noChangeArrowheads="1"/>
              </p:cNvSpPr>
              <p:nvPr/>
            </p:nvSpPr>
            <p:spPr bwMode="auto">
              <a:xfrm>
                <a:off x="6431" y="6445"/>
                <a:ext cx="440" cy="4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pPr algn="just"/>
                <a:r>
                  <a:rPr lang="zh-CN" altLang="zh-CN" sz="1800" b="1"/>
                  <a:t> </a:t>
                </a:r>
                <a:r>
                  <a:rPr lang="en-US" altLang="zh-CN" sz="1800" b="1"/>
                  <a:t>a</a:t>
                </a:r>
              </a:p>
            </p:txBody>
          </p:sp>
          <p:sp>
            <p:nvSpPr>
              <p:cNvPr id="85" name="Text Box 64"/>
              <p:cNvSpPr txBox="1">
                <a:spLocks noChangeArrowheads="1"/>
              </p:cNvSpPr>
              <p:nvPr/>
            </p:nvSpPr>
            <p:spPr bwMode="auto">
              <a:xfrm>
                <a:off x="7531" y="6445"/>
                <a:ext cx="440" cy="4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pPr algn="just"/>
                <a:r>
                  <a:rPr lang="zh-CN" altLang="zh-CN" sz="1800" b="1"/>
                  <a:t> </a:t>
                </a:r>
                <a:r>
                  <a:rPr lang="en-US" altLang="zh-CN" sz="1800" b="1"/>
                  <a:t>b</a:t>
                </a:r>
              </a:p>
            </p:txBody>
          </p:sp>
          <p:sp>
            <p:nvSpPr>
              <p:cNvPr id="86" name="Text Box 65"/>
              <p:cNvSpPr txBox="1">
                <a:spLocks noChangeArrowheads="1"/>
              </p:cNvSpPr>
              <p:nvPr/>
            </p:nvSpPr>
            <p:spPr bwMode="auto">
              <a:xfrm>
                <a:off x="8611" y="6465"/>
                <a:ext cx="440" cy="4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pPr algn="just"/>
                <a:r>
                  <a:rPr lang="en-US" altLang="zh-CN" sz="1800" b="1"/>
                  <a:t>b</a:t>
                </a:r>
              </a:p>
            </p:txBody>
          </p:sp>
          <p:grpSp>
            <p:nvGrpSpPr>
              <p:cNvPr id="87" name="Group 66"/>
              <p:cNvGrpSpPr/>
              <p:nvPr/>
            </p:nvGrpSpPr>
            <p:grpSpPr bwMode="auto">
              <a:xfrm>
                <a:off x="4731" y="6625"/>
                <a:ext cx="420" cy="400"/>
                <a:chOff x="3491" y="4865"/>
                <a:chExt cx="420" cy="400"/>
              </a:xfrm>
            </p:grpSpPr>
            <p:sp>
              <p:nvSpPr>
                <p:cNvPr id="92" name="Oval 67"/>
                <p:cNvSpPr>
                  <a:spLocks noChangeArrowheads="1"/>
                </p:cNvSpPr>
                <p:nvPr/>
              </p:nvSpPr>
              <p:spPr bwMode="auto">
                <a:xfrm>
                  <a:off x="3511" y="4905"/>
                  <a:ext cx="340" cy="34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endParaRPr lang="zh-CN" altLang="en-US" sz="1800"/>
                </a:p>
              </p:txBody>
            </p:sp>
            <p:sp>
              <p:nvSpPr>
                <p:cNvPr id="93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3491" y="4865"/>
                  <a:ext cx="420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800" b="1"/>
                    <a:t>4</a:t>
                  </a:r>
                </a:p>
              </p:txBody>
            </p:sp>
          </p:grpSp>
          <p:sp>
            <p:nvSpPr>
              <p:cNvPr id="88" name="Line 69"/>
              <p:cNvSpPr>
                <a:spLocks noChangeShapeType="1"/>
              </p:cNvSpPr>
              <p:nvPr/>
            </p:nvSpPr>
            <p:spPr bwMode="auto">
              <a:xfrm flipV="1">
                <a:off x="3891" y="6825"/>
                <a:ext cx="8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endParaRPr lang="zh-CN" altLang="en-US" sz="1800"/>
              </a:p>
            </p:txBody>
          </p:sp>
          <p:sp>
            <p:nvSpPr>
              <p:cNvPr id="89" name="Text Box 70"/>
              <p:cNvSpPr txBox="1">
                <a:spLocks noChangeArrowheads="1"/>
              </p:cNvSpPr>
              <p:nvPr/>
            </p:nvSpPr>
            <p:spPr bwMode="auto">
              <a:xfrm>
                <a:off x="4011" y="6445"/>
                <a:ext cx="440" cy="4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pPr algn="just"/>
                <a:r>
                  <a:rPr lang="en-US" altLang="zh-CN" sz="1800" b="1">
                    <a:sym typeface="Symbol" panose="05050102010706020507" pitchFamily="18" charset="2"/>
                  </a:rPr>
                  <a:t> </a:t>
                </a:r>
                <a:endParaRPr lang="en-US" altLang="zh-CN" sz="1800" b="1"/>
              </a:p>
            </p:txBody>
          </p:sp>
          <p:sp>
            <p:nvSpPr>
              <p:cNvPr id="90" name="Text Box 71"/>
              <p:cNvSpPr txBox="1">
                <a:spLocks noChangeArrowheads="1"/>
              </p:cNvSpPr>
              <p:nvPr/>
            </p:nvSpPr>
            <p:spPr bwMode="auto">
              <a:xfrm>
                <a:off x="5271" y="6445"/>
                <a:ext cx="440" cy="4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pPr algn="just"/>
                <a:r>
                  <a:rPr lang="en-US" altLang="zh-CN" sz="1800" b="1">
                    <a:sym typeface="Symbol" panose="05050102010706020507" pitchFamily="18" charset="2"/>
                  </a:rPr>
                  <a:t> </a:t>
                </a:r>
                <a:endParaRPr lang="en-US" altLang="zh-CN" sz="1800" b="1"/>
              </a:p>
            </p:txBody>
          </p:sp>
          <p:sp>
            <p:nvSpPr>
              <p:cNvPr id="91" name="Arc 72"/>
              <p:cNvSpPr/>
              <p:nvPr/>
            </p:nvSpPr>
            <p:spPr bwMode="auto">
              <a:xfrm>
                <a:off x="4731" y="6345"/>
                <a:ext cx="381" cy="346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7636 w 43200"/>
                  <a:gd name="T1" fmla="*/ 38080 h 39991"/>
                  <a:gd name="T2" fmla="*/ 32929 w 43200"/>
                  <a:gd name="T3" fmla="*/ 39991 h 39991"/>
                  <a:gd name="T4" fmla="*/ 21600 w 43200"/>
                  <a:gd name="T5" fmla="*/ 21600 h 399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9991" fill="none" extrusionOk="0">
                    <a:moveTo>
                      <a:pt x="7636" y="38079"/>
                    </a:moveTo>
                    <a:cubicBezTo>
                      <a:pt x="2792" y="33975"/>
                      <a:pt x="0" y="2794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9097"/>
                      <a:pt x="39312" y="36058"/>
                      <a:pt x="32928" y="39990"/>
                    </a:cubicBezTo>
                  </a:path>
                  <a:path w="43200" h="39991" stroke="0" extrusionOk="0">
                    <a:moveTo>
                      <a:pt x="7636" y="38079"/>
                    </a:moveTo>
                    <a:cubicBezTo>
                      <a:pt x="2792" y="33975"/>
                      <a:pt x="0" y="2794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9097"/>
                      <a:pt x="39312" y="36058"/>
                      <a:pt x="32928" y="3999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endParaRPr lang="zh-CN" altLang="en-US" sz="1800"/>
              </a:p>
            </p:txBody>
          </p:sp>
        </p:grpSp>
        <p:sp>
          <p:nvSpPr>
            <p:cNvPr id="73" name="Text Box 73"/>
            <p:cNvSpPr txBox="1">
              <a:spLocks noChangeArrowheads="1"/>
            </p:cNvSpPr>
            <p:nvPr/>
          </p:nvSpPr>
          <p:spPr bwMode="auto">
            <a:xfrm>
              <a:off x="672" y="2502"/>
              <a:ext cx="54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9pPr>
            </a:lstStyle>
            <a:p>
              <a:pPr algn="just"/>
              <a:r>
                <a:rPr lang="en-US" altLang="zh-CN" sz="1800" b="1"/>
                <a:t>(c)</a:t>
              </a:r>
            </a:p>
          </p:txBody>
        </p:sp>
      </p:grpSp>
      <p:grpSp>
        <p:nvGrpSpPr>
          <p:cNvPr id="104" name="Group 74"/>
          <p:cNvGrpSpPr/>
          <p:nvPr/>
        </p:nvGrpSpPr>
        <p:grpSpPr bwMode="auto">
          <a:xfrm>
            <a:off x="251520" y="5229200"/>
            <a:ext cx="7656515" cy="1355722"/>
            <a:chOff x="672" y="2945"/>
            <a:chExt cx="4823" cy="854"/>
          </a:xfrm>
        </p:grpSpPr>
        <p:grpSp>
          <p:nvGrpSpPr>
            <p:cNvPr id="105" name="Group 75"/>
            <p:cNvGrpSpPr/>
            <p:nvPr/>
          </p:nvGrpSpPr>
          <p:grpSpPr bwMode="auto">
            <a:xfrm>
              <a:off x="1253" y="2945"/>
              <a:ext cx="4242" cy="854"/>
              <a:chOff x="3531" y="12565"/>
              <a:chExt cx="6060" cy="1076"/>
            </a:xfrm>
          </p:grpSpPr>
          <p:grpSp>
            <p:nvGrpSpPr>
              <p:cNvPr id="107" name="Group 76"/>
              <p:cNvGrpSpPr/>
              <p:nvPr/>
            </p:nvGrpSpPr>
            <p:grpSpPr bwMode="auto">
              <a:xfrm>
                <a:off x="3531" y="12924"/>
                <a:ext cx="420" cy="378"/>
                <a:chOff x="3491" y="4865"/>
                <a:chExt cx="420" cy="400"/>
              </a:xfrm>
            </p:grpSpPr>
            <p:sp>
              <p:nvSpPr>
                <p:cNvPr id="137" name="Oval 77"/>
                <p:cNvSpPr>
                  <a:spLocks noChangeArrowheads="1"/>
                </p:cNvSpPr>
                <p:nvPr/>
              </p:nvSpPr>
              <p:spPr bwMode="auto">
                <a:xfrm>
                  <a:off x="3511" y="4905"/>
                  <a:ext cx="340" cy="34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endParaRPr lang="zh-CN" altLang="en-US" sz="1800"/>
                </a:p>
              </p:txBody>
            </p:sp>
            <p:sp>
              <p:nvSpPr>
                <p:cNvPr id="138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3491" y="4865"/>
                  <a:ext cx="420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800" b="1" dirty="0"/>
                    <a:t>0</a:t>
                  </a:r>
                </a:p>
              </p:txBody>
            </p:sp>
          </p:grpSp>
          <p:grpSp>
            <p:nvGrpSpPr>
              <p:cNvPr id="108" name="Group 79"/>
              <p:cNvGrpSpPr/>
              <p:nvPr/>
            </p:nvGrpSpPr>
            <p:grpSpPr bwMode="auto">
              <a:xfrm>
                <a:off x="9171" y="12886"/>
                <a:ext cx="420" cy="378"/>
                <a:chOff x="3491" y="4865"/>
                <a:chExt cx="420" cy="400"/>
              </a:xfrm>
            </p:grpSpPr>
            <p:sp>
              <p:nvSpPr>
                <p:cNvPr id="135" name="Oval 80"/>
                <p:cNvSpPr>
                  <a:spLocks noChangeArrowheads="1"/>
                </p:cNvSpPr>
                <p:nvPr/>
              </p:nvSpPr>
              <p:spPr bwMode="auto">
                <a:xfrm>
                  <a:off x="3511" y="4905"/>
                  <a:ext cx="340" cy="340"/>
                </a:xfrm>
                <a:prstGeom prst="ellipse">
                  <a:avLst/>
                </a:prstGeom>
                <a:noFill/>
                <a:ln w="38100" cmpd="dbl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endParaRPr lang="zh-CN" altLang="en-US" sz="1800"/>
                </a:p>
              </p:txBody>
            </p:sp>
            <p:sp>
              <p:nvSpPr>
                <p:cNvPr id="136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3491" y="4865"/>
                  <a:ext cx="420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800" b="1"/>
                    <a:t>f</a:t>
                  </a:r>
                </a:p>
              </p:txBody>
            </p:sp>
          </p:grpSp>
          <p:sp>
            <p:nvSpPr>
              <p:cNvPr id="109" name="Line 82"/>
              <p:cNvSpPr>
                <a:spLocks noChangeShapeType="1"/>
              </p:cNvSpPr>
              <p:nvPr/>
            </p:nvSpPr>
            <p:spPr bwMode="auto">
              <a:xfrm flipV="1">
                <a:off x="5091" y="13113"/>
                <a:ext cx="8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endParaRPr lang="zh-CN" altLang="en-US" sz="1800"/>
              </a:p>
            </p:txBody>
          </p:sp>
          <p:sp>
            <p:nvSpPr>
              <p:cNvPr id="110" name="Text Box 83"/>
              <p:cNvSpPr txBox="1">
                <a:spLocks noChangeArrowheads="1"/>
              </p:cNvSpPr>
              <p:nvPr/>
            </p:nvSpPr>
            <p:spPr bwMode="auto">
              <a:xfrm>
                <a:off x="5051" y="12565"/>
                <a:ext cx="560" cy="4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pPr algn="just"/>
                <a:r>
                  <a:rPr lang="en-US" altLang="zh-CN" sz="1800" b="1"/>
                  <a:t>a</a:t>
                </a:r>
              </a:p>
            </p:txBody>
          </p:sp>
          <p:grpSp>
            <p:nvGrpSpPr>
              <p:cNvPr id="111" name="Group 84"/>
              <p:cNvGrpSpPr/>
              <p:nvPr/>
            </p:nvGrpSpPr>
            <p:grpSpPr bwMode="auto">
              <a:xfrm>
                <a:off x="8151" y="12905"/>
                <a:ext cx="420" cy="378"/>
                <a:chOff x="3491" y="4865"/>
                <a:chExt cx="420" cy="400"/>
              </a:xfrm>
            </p:grpSpPr>
            <p:sp>
              <p:nvSpPr>
                <p:cNvPr id="133" name="Oval 85"/>
                <p:cNvSpPr>
                  <a:spLocks noChangeArrowheads="1"/>
                </p:cNvSpPr>
                <p:nvPr/>
              </p:nvSpPr>
              <p:spPr bwMode="auto">
                <a:xfrm>
                  <a:off x="3511" y="4905"/>
                  <a:ext cx="340" cy="34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endParaRPr lang="zh-CN" altLang="en-US" sz="1800"/>
                </a:p>
              </p:txBody>
            </p:sp>
            <p:sp>
              <p:nvSpPr>
                <p:cNvPr id="134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3491" y="4865"/>
                  <a:ext cx="420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800" b="1" dirty="0"/>
                    <a:t>3</a:t>
                  </a:r>
                </a:p>
              </p:txBody>
            </p:sp>
          </p:grpSp>
          <p:grpSp>
            <p:nvGrpSpPr>
              <p:cNvPr id="112" name="Group 87"/>
              <p:cNvGrpSpPr/>
              <p:nvPr/>
            </p:nvGrpSpPr>
            <p:grpSpPr bwMode="auto">
              <a:xfrm>
                <a:off x="5951" y="12905"/>
                <a:ext cx="420" cy="378"/>
                <a:chOff x="3491" y="4865"/>
                <a:chExt cx="420" cy="400"/>
              </a:xfrm>
            </p:grpSpPr>
            <p:sp>
              <p:nvSpPr>
                <p:cNvPr id="131" name="Oval 88"/>
                <p:cNvSpPr>
                  <a:spLocks noChangeArrowheads="1"/>
                </p:cNvSpPr>
                <p:nvPr/>
              </p:nvSpPr>
              <p:spPr bwMode="auto">
                <a:xfrm>
                  <a:off x="3511" y="4905"/>
                  <a:ext cx="340" cy="34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endParaRPr lang="zh-CN" altLang="en-US" sz="1800"/>
                </a:p>
              </p:txBody>
            </p:sp>
            <p:sp>
              <p:nvSpPr>
                <p:cNvPr id="132" name="Text Box 89"/>
                <p:cNvSpPr txBox="1">
                  <a:spLocks noChangeArrowheads="1"/>
                </p:cNvSpPr>
                <p:nvPr/>
              </p:nvSpPr>
              <p:spPr bwMode="auto">
                <a:xfrm>
                  <a:off x="3491" y="4865"/>
                  <a:ext cx="420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800" b="1" dirty="0"/>
                    <a:t>1</a:t>
                  </a:r>
                </a:p>
              </p:txBody>
            </p:sp>
          </p:grpSp>
          <p:grpSp>
            <p:nvGrpSpPr>
              <p:cNvPr id="113" name="Group 90"/>
              <p:cNvGrpSpPr/>
              <p:nvPr/>
            </p:nvGrpSpPr>
            <p:grpSpPr bwMode="auto">
              <a:xfrm>
                <a:off x="7091" y="12905"/>
                <a:ext cx="420" cy="378"/>
                <a:chOff x="3491" y="4865"/>
                <a:chExt cx="420" cy="400"/>
              </a:xfrm>
            </p:grpSpPr>
            <p:sp>
              <p:nvSpPr>
                <p:cNvPr id="129" name="Oval 91"/>
                <p:cNvSpPr>
                  <a:spLocks noChangeArrowheads="1"/>
                </p:cNvSpPr>
                <p:nvPr/>
              </p:nvSpPr>
              <p:spPr bwMode="auto">
                <a:xfrm>
                  <a:off x="3511" y="4905"/>
                  <a:ext cx="340" cy="34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endParaRPr lang="zh-CN" altLang="en-US" sz="1800"/>
                </a:p>
              </p:txBody>
            </p:sp>
            <p:sp>
              <p:nvSpPr>
                <p:cNvPr id="130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3491" y="4865"/>
                  <a:ext cx="420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800" b="1" dirty="0"/>
                    <a:t>2</a:t>
                  </a:r>
                </a:p>
              </p:txBody>
            </p:sp>
          </p:grpSp>
          <p:sp>
            <p:nvSpPr>
              <p:cNvPr id="114" name="Line 93"/>
              <p:cNvSpPr>
                <a:spLocks noChangeShapeType="1"/>
              </p:cNvSpPr>
              <p:nvPr/>
            </p:nvSpPr>
            <p:spPr bwMode="auto">
              <a:xfrm flipV="1">
                <a:off x="6331" y="13113"/>
                <a:ext cx="7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endParaRPr lang="zh-CN" altLang="en-US" sz="1800"/>
              </a:p>
            </p:txBody>
          </p:sp>
          <p:sp>
            <p:nvSpPr>
              <p:cNvPr id="115" name="Line 94"/>
              <p:cNvSpPr>
                <a:spLocks noChangeShapeType="1"/>
              </p:cNvSpPr>
              <p:nvPr/>
            </p:nvSpPr>
            <p:spPr bwMode="auto">
              <a:xfrm flipV="1">
                <a:off x="7471" y="13113"/>
                <a:ext cx="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endParaRPr lang="zh-CN" altLang="en-US" sz="1800"/>
              </a:p>
            </p:txBody>
          </p:sp>
          <p:sp>
            <p:nvSpPr>
              <p:cNvPr id="116" name="Line 95"/>
              <p:cNvSpPr>
                <a:spLocks noChangeShapeType="1"/>
              </p:cNvSpPr>
              <p:nvPr/>
            </p:nvSpPr>
            <p:spPr bwMode="auto">
              <a:xfrm flipV="1">
                <a:off x="8531" y="13113"/>
                <a:ext cx="6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endParaRPr lang="zh-CN" altLang="en-US" sz="1800"/>
              </a:p>
            </p:txBody>
          </p:sp>
          <p:sp>
            <p:nvSpPr>
              <p:cNvPr id="117" name="Text Box 96"/>
              <p:cNvSpPr txBox="1">
                <a:spLocks noChangeArrowheads="1"/>
              </p:cNvSpPr>
              <p:nvPr/>
            </p:nvSpPr>
            <p:spPr bwMode="auto">
              <a:xfrm>
                <a:off x="6431" y="12753"/>
                <a:ext cx="440" cy="4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pPr algn="just"/>
                <a:r>
                  <a:rPr lang="zh-CN" altLang="zh-CN" sz="1800" b="1"/>
                  <a:t> </a:t>
                </a:r>
                <a:r>
                  <a:rPr lang="en-US" altLang="zh-CN" sz="1800" b="1"/>
                  <a:t>a</a:t>
                </a:r>
              </a:p>
            </p:txBody>
          </p:sp>
          <p:sp>
            <p:nvSpPr>
              <p:cNvPr id="118" name="Text Box 97"/>
              <p:cNvSpPr txBox="1">
                <a:spLocks noChangeArrowheads="1"/>
              </p:cNvSpPr>
              <p:nvPr/>
            </p:nvSpPr>
            <p:spPr bwMode="auto">
              <a:xfrm>
                <a:off x="7531" y="12753"/>
                <a:ext cx="440" cy="4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pPr algn="just"/>
                <a:r>
                  <a:rPr lang="zh-CN" altLang="zh-CN" sz="1800" b="1"/>
                  <a:t> </a:t>
                </a:r>
                <a:r>
                  <a:rPr lang="en-US" altLang="zh-CN" sz="1800" b="1"/>
                  <a:t>b</a:t>
                </a:r>
              </a:p>
            </p:txBody>
          </p:sp>
          <p:sp>
            <p:nvSpPr>
              <p:cNvPr id="119" name="Text Box 98"/>
              <p:cNvSpPr txBox="1">
                <a:spLocks noChangeArrowheads="1"/>
              </p:cNvSpPr>
              <p:nvPr/>
            </p:nvSpPr>
            <p:spPr bwMode="auto">
              <a:xfrm>
                <a:off x="8611" y="12772"/>
                <a:ext cx="440" cy="4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pPr algn="just"/>
                <a:r>
                  <a:rPr lang="en-US" altLang="zh-CN" sz="1800" b="1"/>
                  <a:t>b</a:t>
                </a:r>
              </a:p>
            </p:txBody>
          </p:sp>
          <p:grpSp>
            <p:nvGrpSpPr>
              <p:cNvPr id="120" name="Group 99"/>
              <p:cNvGrpSpPr/>
              <p:nvPr/>
            </p:nvGrpSpPr>
            <p:grpSpPr bwMode="auto">
              <a:xfrm>
                <a:off x="4731" y="12924"/>
                <a:ext cx="420" cy="378"/>
                <a:chOff x="3491" y="4865"/>
                <a:chExt cx="420" cy="400"/>
              </a:xfrm>
            </p:grpSpPr>
            <p:sp>
              <p:nvSpPr>
                <p:cNvPr id="127" name="Oval 100"/>
                <p:cNvSpPr>
                  <a:spLocks noChangeArrowheads="1"/>
                </p:cNvSpPr>
                <p:nvPr/>
              </p:nvSpPr>
              <p:spPr bwMode="auto">
                <a:xfrm>
                  <a:off x="3511" y="4905"/>
                  <a:ext cx="340" cy="34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endParaRPr lang="zh-CN" altLang="en-US" sz="1800"/>
                </a:p>
              </p:txBody>
            </p:sp>
            <p:sp>
              <p:nvSpPr>
                <p:cNvPr id="128" name="Text Box 101"/>
                <p:cNvSpPr txBox="1">
                  <a:spLocks noChangeArrowheads="1"/>
                </p:cNvSpPr>
                <p:nvPr/>
              </p:nvSpPr>
              <p:spPr bwMode="auto">
                <a:xfrm>
                  <a:off x="3491" y="4865"/>
                  <a:ext cx="420" cy="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800" b="1"/>
                    <a:t>4</a:t>
                  </a:r>
                </a:p>
              </p:txBody>
            </p:sp>
          </p:grpSp>
          <p:sp>
            <p:nvSpPr>
              <p:cNvPr id="121" name="Line 102"/>
              <p:cNvSpPr>
                <a:spLocks noChangeShapeType="1"/>
              </p:cNvSpPr>
              <p:nvPr/>
            </p:nvSpPr>
            <p:spPr bwMode="auto">
              <a:xfrm flipV="1">
                <a:off x="3891" y="13113"/>
                <a:ext cx="8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endParaRPr lang="zh-CN" altLang="en-US" sz="1800"/>
              </a:p>
            </p:txBody>
          </p:sp>
          <p:sp>
            <p:nvSpPr>
              <p:cNvPr id="122" name="Text Box 103"/>
              <p:cNvSpPr txBox="1">
                <a:spLocks noChangeArrowheads="1"/>
              </p:cNvSpPr>
              <p:nvPr/>
            </p:nvSpPr>
            <p:spPr bwMode="auto">
              <a:xfrm>
                <a:off x="4011" y="12753"/>
                <a:ext cx="440" cy="4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pPr algn="just"/>
                <a:r>
                  <a:rPr lang="en-US" altLang="zh-CN" sz="1800" b="1">
                    <a:sym typeface="Symbol" panose="05050102010706020507" pitchFamily="18" charset="2"/>
                  </a:rPr>
                  <a:t> </a:t>
                </a:r>
                <a:endParaRPr lang="en-US" altLang="zh-CN" sz="1800" b="1"/>
              </a:p>
            </p:txBody>
          </p:sp>
          <p:sp>
            <p:nvSpPr>
              <p:cNvPr id="123" name="Text Box 104"/>
              <p:cNvSpPr txBox="1">
                <a:spLocks noChangeArrowheads="1"/>
              </p:cNvSpPr>
              <p:nvPr/>
            </p:nvSpPr>
            <p:spPr bwMode="auto">
              <a:xfrm>
                <a:off x="5271" y="12753"/>
                <a:ext cx="440" cy="4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pPr algn="just"/>
                <a:r>
                  <a:rPr lang="en-US" altLang="zh-CN" sz="1800" b="1">
                    <a:sym typeface="Symbol" panose="05050102010706020507" pitchFamily="18" charset="2"/>
                  </a:rPr>
                  <a:t> </a:t>
                </a:r>
                <a:endParaRPr lang="en-US" altLang="zh-CN" sz="1800" b="1"/>
              </a:p>
            </p:txBody>
          </p:sp>
          <p:sp>
            <p:nvSpPr>
              <p:cNvPr id="124" name="Arc 105"/>
              <p:cNvSpPr/>
              <p:nvPr/>
            </p:nvSpPr>
            <p:spPr bwMode="auto">
              <a:xfrm>
                <a:off x="4731" y="12659"/>
                <a:ext cx="381" cy="327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7636 w 43200"/>
                  <a:gd name="T1" fmla="*/ 38080 h 39991"/>
                  <a:gd name="T2" fmla="*/ 32929 w 43200"/>
                  <a:gd name="T3" fmla="*/ 39991 h 39991"/>
                  <a:gd name="T4" fmla="*/ 21600 w 43200"/>
                  <a:gd name="T5" fmla="*/ 21600 h 399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9991" fill="none" extrusionOk="0">
                    <a:moveTo>
                      <a:pt x="7636" y="38079"/>
                    </a:moveTo>
                    <a:cubicBezTo>
                      <a:pt x="2792" y="33975"/>
                      <a:pt x="0" y="2794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9097"/>
                      <a:pt x="39312" y="36058"/>
                      <a:pt x="32928" y="39990"/>
                    </a:cubicBezTo>
                  </a:path>
                  <a:path w="43200" h="39991" stroke="0" extrusionOk="0">
                    <a:moveTo>
                      <a:pt x="7636" y="38079"/>
                    </a:moveTo>
                    <a:cubicBezTo>
                      <a:pt x="2792" y="33975"/>
                      <a:pt x="0" y="2794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9097"/>
                      <a:pt x="39312" y="36058"/>
                      <a:pt x="32928" y="3999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endParaRPr lang="zh-CN" altLang="en-US" sz="1800"/>
              </a:p>
            </p:txBody>
          </p:sp>
          <p:sp>
            <p:nvSpPr>
              <p:cNvPr id="125" name="Arc 106"/>
              <p:cNvSpPr/>
              <p:nvPr/>
            </p:nvSpPr>
            <p:spPr bwMode="auto">
              <a:xfrm flipV="1">
                <a:off x="4731" y="13245"/>
                <a:ext cx="381" cy="328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7636 w 43200"/>
                  <a:gd name="T1" fmla="*/ 38080 h 39991"/>
                  <a:gd name="T2" fmla="*/ 32929 w 43200"/>
                  <a:gd name="T3" fmla="*/ 39991 h 39991"/>
                  <a:gd name="T4" fmla="*/ 21600 w 43200"/>
                  <a:gd name="T5" fmla="*/ 21600 h 399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39991" fill="none" extrusionOk="0">
                    <a:moveTo>
                      <a:pt x="7636" y="38079"/>
                    </a:moveTo>
                    <a:cubicBezTo>
                      <a:pt x="2792" y="33975"/>
                      <a:pt x="0" y="2794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9097"/>
                      <a:pt x="39312" y="36058"/>
                      <a:pt x="32928" y="39990"/>
                    </a:cubicBezTo>
                  </a:path>
                  <a:path w="43200" h="39991" stroke="0" extrusionOk="0">
                    <a:moveTo>
                      <a:pt x="7636" y="38079"/>
                    </a:moveTo>
                    <a:cubicBezTo>
                      <a:pt x="2792" y="33975"/>
                      <a:pt x="0" y="2794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9097"/>
                      <a:pt x="39312" y="36058"/>
                      <a:pt x="32928" y="3999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endParaRPr lang="zh-CN" altLang="en-US" sz="1800"/>
              </a:p>
            </p:txBody>
          </p:sp>
          <p:sp>
            <p:nvSpPr>
              <p:cNvPr id="126" name="Text Box 107"/>
              <p:cNvSpPr txBox="1">
                <a:spLocks noChangeArrowheads="1"/>
              </p:cNvSpPr>
              <p:nvPr/>
            </p:nvSpPr>
            <p:spPr bwMode="auto">
              <a:xfrm>
                <a:off x="5071" y="13225"/>
                <a:ext cx="580" cy="4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</a:defRPr>
                </a:lvl9pPr>
              </a:lstStyle>
              <a:p>
                <a:pPr algn="just"/>
                <a:r>
                  <a:rPr lang="en-US" altLang="zh-CN" sz="1800" b="1"/>
                  <a:t>b</a:t>
                </a:r>
              </a:p>
            </p:txBody>
          </p:sp>
        </p:grpSp>
        <p:sp>
          <p:nvSpPr>
            <p:cNvPr id="106" name="Text Box 108"/>
            <p:cNvSpPr txBox="1">
              <a:spLocks noChangeArrowheads="1"/>
            </p:cNvSpPr>
            <p:nvPr/>
          </p:nvSpPr>
          <p:spPr bwMode="auto">
            <a:xfrm>
              <a:off x="672" y="3221"/>
              <a:ext cx="547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9pPr>
            </a:lstStyle>
            <a:p>
              <a:pPr algn="just"/>
              <a:r>
                <a:rPr lang="en-US" altLang="zh-CN" sz="1800" b="1"/>
                <a:t>(d)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79512" y="1628800"/>
            <a:ext cx="8712968" cy="48245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请构造一个识别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a|b)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5148064" y="6465019"/>
            <a:ext cx="3786690" cy="365125"/>
          </a:xfrm>
        </p:spPr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78030" y="6465019"/>
            <a:ext cx="3786691" cy="365125"/>
          </a:xfrm>
        </p:spPr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975480" y="6465018"/>
            <a:ext cx="1161826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 </a:t>
            </a:r>
            <a:r>
              <a:rPr lang="zh-CN" altLang="en-US" dirty="0"/>
              <a:t>有限状态自动机</a:t>
            </a:r>
            <a:endParaRPr lang="en-US" dirty="0"/>
          </a:p>
        </p:txBody>
      </p:sp>
      <p:sp>
        <p:nvSpPr>
          <p:cNvPr id="139" name="AutoShape 156"/>
          <p:cNvSpPr>
            <a:spLocks noChangeArrowheads="1"/>
          </p:cNvSpPr>
          <p:nvPr/>
        </p:nvSpPr>
        <p:spPr bwMode="auto">
          <a:xfrm>
            <a:off x="619125" y="3941921"/>
            <a:ext cx="457200" cy="1524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Oval 144"/>
          <p:cNvSpPr>
            <a:spLocks noChangeArrowheads="1"/>
          </p:cNvSpPr>
          <p:nvPr/>
        </p:nvSpPr>
        <p:spPr bwMode="auto">
          <a:xfrm>
            <a:off x="5308603" y="3821273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1" name="Oval 152"/>
          <p:cNvSpPr>
            <a:spLocks noChangeArrowheads="1"/>
          </p:cNvSpPr>
          <p:nvPr/>
        </p:nvSpPr>
        <p:spPr bwMode="auto">
          <a:xfrm>
            <a:off x="6124575" y="3821273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2" name="Line 157"/>
          <p:cNvSpPr>
            <a:spLocks noChangeShapeType="1"/>
          </p:cNvSpPr>
          <p:nvPr/>
        </p:nvSpPr>
        <p:spPr bwMode="auto">
          <a:xfrm>
            <a:off x="5743575" y="4037170"/>
            <a:ext cx="381000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43" name="Text Box 158"/>
          <p:cNvSpPr txBox="1">
            <a:spLocks noChangeArrowheads="1"/>
          </p:cNvSpPr>
          <p:nvPr/>
        </p:nvSpPr>
        <p:spPr bwMode="auto">
          <a:xfrm>
            <a:off x="5743575" y="3656170"/>
            <a:ext cx="381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</p:txBody>
      </p:sp>
      <p:sp>
        <p:nvSpPr>
          <p:cNvPr id="144" name="Line 176"/>
          <p:cNvSpPr>
            <a:spLocks noChangeShapeType="1"/>
          </p:cNvSpPr>
          <p:nvPr/>
        </p:nvSpPr>
        <p:spPr bwMode="auto">
          <a:xfrm>
            <a:off x="3227388" y="3772065"/>
            <a:ext cx="415925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45" name="Text Box 177"/>
          <p:cNvSpPr txBox="1">
            <a:spLocks noChangeArrowheads="1"/>
          </p:cNvSpPr>
          <p:nvPr/>
        </p:nvSpPr>
        <p:spPr bwMode="auto">
          <a:xfrm>
            <a:off x="3157538" y="3494252"/>
            <a:ext cx="485775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46" name="Rectangle 147"/>
          <p:cNvSpPr>
            <a:spLocks noChangeArrowheads="1"/>
          </p:cNvSpPr>
          <p:nvPr/>
        </p:nvSpPr>
        <p:spPr bwMode="auto">
          <a:xfrm>
            <a:off x="2449514" y="3840320"/>
            <a:ext cx="339725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kumimoji="1" lang="en-US" altLang="zh-CN"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47" name="Rectangle 148"/>
          <p:cNvSpPr>
            <a:spLocks noChangeArrowheads="1"/>
          </p:cNvSpPr>
          <p:nvPr/>
        </p:nvSpPr>
        <p:spPr bwMode="auto">
          <a:xfrm>
            <a:off x="4114802" y="3840320"/>
            <a:ext cx="339725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kumimoji="1" lang="en-US" altLang="zh-CN"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48" name="Oval 178"/>
          <p:cNvSpPr>
            <a:spLocks noChangeArrowheads="1"/>
          </p:cNvSpPr>
          <p:nvPr/>
        </p:nvSpPr>
        <p:spPr bwMode="auto">
          <a:xfrm>
            <a:off x="4475165" y="3840320"/>
            <a:ext cx="485775" cy="4175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49" name="Rectangle 179"/>
          <p:cNvSpPr>
            <a:spLocks noChangeArrowheads="1"/>
          </p:cNvSpPr>
          <p:nvPr/>
        </p:nvSpPr>
        <p:spPr bwMode="auto">
          <a:xfrm>
            <a:off x="2309814" y="3424395"/>
            <a:ext cx="339725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kumimoji="1" lang="en-US" altLang="zh-CN"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50" name="Rectangle 180"/>
          <p:cNvSpPr>
            <a:spLocks noChangeArrowheads="1"/>
          </p:cNvSpPr>
          <p:nvPr/>
        </p:nvSpPr>
        <p:spPr bwMode="auto">
          <a:xfrm>
            <a:off x="4198940" y="3424395"/>
            <a:ext cx="307975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kumimoji="1" lang="en-US" altLang="zh-CN"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51" name="Line 183"/>
          <p:cNvSpPr>
            <a:spLocks noChangeShapeType="1"/>
          </p:cNvSpPr>
          <p:nvPr/>
        </p:nvSpPr>
        <p:spPr bwMode="auto">
          <a:xfrm>
            <a:off x="3227388" y="4395946"/>
            <a:ext cx="415925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52" name="Oval 184"/>
          <p:cNvSpPr>
            <a:spLocks noChangeArrowheads="1"/>
          </p:cNvSpPr>
          <p:nvPr/>
        </p:nvSpPr>
        <p:spPr bwMode="auto">
          <a:xfrm>
            <a:off x="1076327" y="3840323"/>
            <a:ext cx="485775" cy="4175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3" name="Text Box 188"/>
          <p:cNvSpPr txBox="1">
            <a:spLocks noChangeArrowheads="1"/>
          </p:cNvSpPr>
          <p:nvPr/>
        </p:nvSpPr>
        <p:spPr bwMode="auto">
          <a:xfrm>
            <a:off x="4960940" y="3562510"/>
            <a:ext cx="347663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54" name="Line 189"/>
          <p:cNvSpPr>
            <a:spLocks noChangeShapeType="1"/>
          </p:cNvSpPr>
          <p:nvPr/>
        </p:nvSpPr>
        <p:spPr bwMode="auto">
          <a:xfrm>
            <a:off x="4892678" y="4035585"/>
            <a:ext cx="346075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55" name="Line 194"/>
          <p:cNvSpPr>
            <a:spLocks noChangeShapeType="1"/>
          </p:cNvSpPr>
          <p:nvPr/>
        </p:nvSpPr>
        <p:spPr bwMode="auto">
          <a:xfrm>
            <a:off x="6696075" y="4037170"/>
            <a:ext cx="381000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56" name="Text Box 195"/>
          <p:cNvSpPr txBox="1">
            <a:spLocks noChangeArrowheads="1"/>
          </p:cNvSpPr>
          <p:nvPr/>
        </p:nvSpPr>
        <p:spPr bwMode="auto">
          <a:xfrm>
            <a:off x="6696075" y="3656170"/>
            <a:ext cx="381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</a:p>
        </p:txBody>
      </p:sp>
      <p:sp>
        <p:nvSpPr>
          <p:cNvPr id="157" name="Oval 199"/>
          <p:cNvSpPr>
            <a:spLocks noChangeArrowheads="1"/>
          </p:cNvSpPr>
          <p:nvPr/>
        </p:nvSpPr>
        <p:spPr bwMode="auto">
          <a:xfrm>
            <a:off x="7027716" y="3821273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58" name="Oval 200"/>
          <p:cNvSpPr>
            <a:spLocks noChangeArrowheads="1"/>
          </p:cNvSpPr>
          <p:nvPr/>
        </p:nvSpPr>
        <p:spPr bwMode="auto">
          <a:xfrm>
            <a:off x="7991475" y="3783173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endParaRPr lang="zh-CN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Line 201"/>
          <p:cNvSpPr>
            <a:spLocks noChangeShapeType="1"/>
          </p:cNvSpPr>
          <p:nvPr/>
        </p:nvSpPr>
        <p:spPr bwMode="auto">
          <a:xfrm>
            <a:off x="7610475" y="4018122"/>
            <a:ext cx="381000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60" name="Text Box 202"/>
          <p:cNvSpPr txBox="1">
            <a:spLocks noChangeArrowheads="1"/>
          </p:cNvSpPr>
          <p:nvPr/>
        </p:nvSpPr>
        <p:spPr bwMode="auto">
          <a:xfrm>
            <a:off x="7610475" y="3637122"/>
            <a:ext cx="381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</a:p>
        </p:txBody>
      </p:sp>
      <p:sp>
        <p:nvSpPr>
          <p:cNvPr id="161" name="Oval 203"/>
          <p:cNvSpPr>
            <a:spLocks noChangeArrowheads="1"/>
          </p:cNvSpPr>
          <p:nvPr/>
        </p:nvSpPr>
        <p:spPr bwMode="auto">
          <a:xfrm>
            <a:off x="8067675" y="3859373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62" name="Line 189"/>
          <p:cNvSpPr>
            <a:spLocks noChangeShapeType="1"/>
          </p:cNvSpPr>
          <p:nvPr/>
        </p:nvSpPr>
        <p:spPr bwMode="auto">
          <a:xfrm>
            <a:off x="5842003" y="4049873"/>
            <a:ext cx="346075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63" name="Line 189"/>
          <p:cNvSpPr>
            <a:spLocks noChangeShapeType="1"/>
          </p:cNvSpPr>
          <p:nvPr/>
        </p:nvSpPr>
        <p:spPr bwMode="auto">
          <a:xfrm>
            <a:off x="6696075" y="4049873"/>
            <a:ext cx="346075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64" name="Line 189"/>
          <p:cNvSpPr>
            <a:spLocks noChangeShapeType="1"/>
          </p:cNvSpPr>
          <p:nvPr/>
        </p:nvSpPr>
        <p:spPr bwMode="auto">
          <a:xfrm>
            <a:off x="7627937" y="4049873"/>
            <a:ext cx="346075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65" name="Oval 174"/>
          <p:cNvSpPr>
            <a:spLocks noChangeArrowheads="1"/>
          </p:cNvSpPr>
          <p:nvPr/>
        </p:nvSpPr>
        <p:spPr bwMode="auto">
          <a:xfrm>
            <a:off x="3192465" y="3439596"/>
            <a:ext cx="485775" cy="4175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66" name="Oval 139"/>
          <p:cNvSpPr>
            <a:spLocks noChangeArrowheads="1"/>
          </p:cNvSpPr>
          <p:nvPr/>
        </p:nvSpPr>
        <p:spPr bwMode="auto">
          <a:xfrm>
            <a:off x="3191669" y="4229772"/>
            <a:ext cx="485775" cy="4159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67" name="Line 181"/>
          <p:cNvSpPr>
            <a:spLocks noChangeShapeType="1"/>
          </p:cNvSpPr>
          <p:nvPr/>
        </p:nvSpPr>
        <p:spPr bwMode="auto">
          <a:xfrm flipV="1">
            <a:off x="1562103" y="3656169"/>
            <a:ext cx="1630362" cy="361951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68" name="Line 182"/>
          <p:cNvSpPr>
            <a:spLocks noChangeShapeType="1"/>
          </p:cNvSpPr>
          <p:nvPr/>
        </p:nvSpPr>
        <p:spPr bwMode="auto">
          <a:xfrm>
            <a:off x="3678240" y="3648352"/>
            <a:ext cx="796925" cy="261819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69" name="Line 145"/>
          <p:cNvSpPr>
            <a:spLocks noChangeShapeType="1"/>
          </p:cNvSpPr>
          <p:nvPr/>
        </p:nvSpPr>
        <p:spPr bwMode="auto">
          <a:xfrm>
            <a:off x="1562103" y="4018120"/>
            <a:ext cx="1630362" cy="419613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70" name="Line 146"/>
          <p:cNvSpPr>
            <a:spLocks noChangeShapeType="1"/>
          </p:cNvSpPr>
          <p:nvPr/>
        </p:nvSpPr>
        <p:spPr bwMode="auto">
          <a:xfrm flipV="1">
            <a:off x="3678240" y="4187982"/>
            <a:ext cx="866775" cy="249751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71" name="弧形 170"/>
          <p:cNvSpPr/>
          <p:nvPr/>
        </p:nvSpPr>
        <p:spPr>
          <a:xfrm>
            <a:off x="3157538" y="2967195"/>
            <a:ext cx="457200" cy="457200"/>
          </a:xfrm>
          <a:prstGeom prst="arc">
            <a:avLst>
              <a:gd name="adj1" fmla="val 5141043"/>
              <a:gd name="adj2" fmla="val 4183879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弧形 171"/>
          <p:cNvSpPr/>
          <p:nvPr/>
        </p:nvSpPr>
        <p:spPr>
          <a:xfrm>
            <a:off x="3146286" y="4645697"/>
            <a:ext cx="526256" cy="457200"/>
          </a:xfrm>
          <a:prstGeom prst="arc">
            <a:avLst>
              <a:gd name="adj1" fmla="val 17256595"/>
              <a:gd name="adj2" fmla="val 15698731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Rectangle 180"/>
          <p:cNvSpPr>
            <a:spLocks noChangeArrowheads="1"/>
          </p:cNvSpPr>
          <p:nvPr/>
        </p:nvSpPr>
        <p:spPr bwMode="auto">
          <a:xfrm>
            <a:off x="3223504" y="2562880"/>
            <a:ext cx="307975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</p:txBody>
      </p:sp>
      <p:sp>
        <p:nvSpPr>
          <p:cNvPr id="174" name="Rectangle 180"/>
          <p:cNvSpPr>
            <a:spLocks noChangeArrowheads="1"/>
          </p:cNvSpPr>
          <p:nvPr/>
        </p:nvSpPr>
        <p:spPr bwMode="auto">
          <a:xfrm>
            <a:off x="3246437" y="5102897"/>
            <a:ext cx="307975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</a:p>
        </p:txBody>
      </p:sp>
      <p:cxnSp>
        <p:nvCxnSpPr>
          <p:cNvPr id="175" name="直接箭头连接符 174"/>
          <p:cNvCxnSpPr>
            <a:stCxn id="165" idx="5"/>
            <a:endCxn id="166" idx="7"/>
          </p:cNvCxnSpPr>
          <p:nvPr/>
        </p:nvCxnSpPr>
        <p:spPr>
          <a:xfrm flipH="1">
            <a:off x="3606304" y="3795966"/>
            <a:ext cx="796" cy="4947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箭头连接符 175"/>
          <p:cNvCxnSpPr>
            <a:stCxn id="166" idx="1"/>
            <a:endCxn id="165" idx="3"/>
          </p:cNvCxnSpPr>
          <p:nvPr/>
        </p:nvCxnSpPr>
        <p:spPr>
          <a:xfrm flipV="1">
            <a:off x="3262809" y="3795966"/>
            <a:ext cx="796" cy="4947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bldLvl="0" animBg="1"/>
      <p:bldP spid="140" grpId="0" bldLvl="0" animBg="1"/>
      <p:bldP spid="141" grpId="0" bldLvl="0" animBg="1"/>
      <p:bldP spid="142" grpId="0" bldLvl="0" animBg="1"/>
      <p:bldP spid="143" grpId="0" bldLvl="0" animBg="1"/>
      <p:bldP spid="144" grpId="0" bldLvl="0" animBg="1"/>
      <p:bldP spid="145" grpId="0" bldLvl="0" animBg="1"/>
      <p:bldP spid="146" grpId="0" bldLvl="0" animBg="1"/>
      <p:bldP spid="147" grpId="0" bldLvl="0" animBg="1"/>
      <p:bldP spid="148" grpId="0" bldLvl="0" animBg="1"/>
      <p:bldP spid="149" grpId="0" bldLvl="0" animBg="1"/>
      <p:bldP spid="150" grpId="0" bldLvl="0" animBg="1"/>
      <p:bldP spid="151" grpId="0" bldLvl="0" animBg="1"/>
      <p:bldP spid="152" grpId="0" bldLvl="0" animBg="1"/>
      <p:bldP spid="153" grpId="0" bldLvl="0" animBg="1"/>
      <p:bldP spid="154" grpId="0" bldLvl="0" animBg="1"/>
      <p:bldP spid="155" grpId="0" bldLvl="0" animBg="1"/>
      <p:bldP spid="156" grpId="0" bldLvl="0" animBg="1"/>
      <p:bldP spid="157" grpId="0" bldLvl="0" animBg="1"/>
      <p:bldP spid="158" grpId="0" bldLvl="0" animBg="1"/>
      <p:bldP spid="159" grpId="0" bldLvl="0" animBg="1"/>
      <p:bldP spid="160" grpId="0" bldLvl="0" animBg="1"/>
      <p:bldP spid="161" grpId="0" bldLvl="0" animBg="1"/>
      <p:bldP spid="162" grpId="0" bldLvl="0" animBg="1"/>
      <p:bldP spid="163" grpId="0" bldLvl="0" animBg="1"/>
      <p:bldP spid="164" grpId="0" bldLvl="0" animBg="1"/>
      <p:bldP spid="165" grpId="0" bldLvl="0" animBg="1"/>
      <p:bldP spid="166" grpId="0" bldLvl="0" animBg="1"/>
      <p:bldP spid="167" grpId="0" bldLvl="0" animBg="1"/>
      <p:bldP spid="168" grpId="0" bldLvl="0" animBg="1"/>
      <p:bldP spid="169" grpId="0" bldLvl="0" animBg="1"/>
      <p:bldP spid="170" grpId="0" bldLvl="0" animBg="1"/>
      <p:bldP spid="171" grpId="0" bldLvl="0" animBg="1"/>
      <p:bldP spid="172" grpId="0" bldLvl="0" animBg="1"/>
      <p:bldP spid="173" grpId="0" bldLvl="0" animBg="1"/>
      <p:bldP spid="174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79512" y="1628800"/>
            <a:ext cx="8712968" cy="48245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0" dirty="0"/>
              <a:t>请构造一个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识别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a|b)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5148064" y="6465019"/>
            <a:ext cx="3786690" cy="365125"/>
          </a:xfrm>
        </p:spPr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78030" y="6465019"/>
            <a:ext cx="3786691" cy="365125"/>
          </a:xfrm>
        </p:spPr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975480" y="6465018"/>
            <a:ext cx="1161826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 </a:t>
            </a:r>
            <a:r>
              <a:rPr lang="zh-CN" altLang="en-US" dirty="0"/>
              <a:t>有限状态自动机</a:t>
            </a:r>
            <a:endParaRPr lang="en-US" dirty="0"/>
          </a:p>
        </p:txBody>
      </p:sp>
      <p:sp>
        <p:nvSpPr>
          <p:cNvPr id="45" name="Freeform 150"/>
          <p:cNvSpPr/>
          <p:nvPr/>
        </p:nvSpPr>
        <p:spPr bwMode="auto">
          <a:xfrm flipH="1" flipV="1">
            <a:off x="979304" y="4337838"/>
            <a:ext cx="4483467" cy="1376696"/>
          </a:xfrm>
          <a:custGeom>
            <a:avLst/>
            <a:gdLst>
              <a:gd name="T0" fmla="*/ 2534 w 816"/>
              <a:gd name="T1" fmla="*/ 348 h 165"/>
              <a:gd name="T2" fmla="*/ 1304 w 816"/>
              <a:gd name="T3" fmla="*/ 0 h 165"/>
              <a:gd name="T4" fmla="*/ 0 w 816"/>
              <a:gd name="T5" fmla="*/ 350 h 165"/>
              <a:gd name="T6" fmla="*/ 0 60000 65536"/>
              <a:gd name="T7" fmla="*/ 0 60000 65536"/>
              <a:gd name="T8" fmla="*/ 0 60000 65536"/>
              <a:gd name="T9" fmla="*/ 0 w 816"/>
              <a:gd name="T10" fmla="*/ 0 h 165"/>
              <a:gd name="T11" fmla="*/ 816 w 816"/>
              <a:gd name="T12" fmla="*/ 165 h 1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6" h="165">
                <a:moveTo>
                  <a:pt x="816" y="164"/>
                </a:moveTo>
                <a:cubicBezTo>
                  <a:pt x="750" y="137"/>
                  <a:pt x="556" y="0"/>
                  <a:pt x="420" y="0"/>
                </a:cubicBezTo>
                <a:cubicBezTo>
                  <a:pt x="284" y="0"/>
                  <a:pt x="87" y="131"/>
                  <a:pt x="0" y="165"/>
                </a:cubicBez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AutoShape 156"/>
          <p:cNvSpPr>
            <a:spLocks noChangeArrowheads="1"/>
          </p:cNvSpPr>
          <p:nvPr/>
        </p:nvSpPr>
        <p:spPr bwMode="auto">
          <a:xfrm>
            <a:off x="134180" y="4053675"/>
            <a:ext cx="457200" cy="1524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Oval 144"/>
          <p:cNvSpPr>
            <a:spLocks noChangeArrowheads="1"/>
          </p:cNvSpPr>
          <p:nvPr/>
        </p:nvSpPr>
        <p:spPr bwMode="auto">
          <a:xfrm>
            <a:off x="5335279" y="3933027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8" name="Oval 152"/>
          <p:cNvSpPr>
            <a:spLocks noChangeArrowheads="1"/>
          </p:cNvSpPr>
          <p:nvPr/>
        </p:nvSpPr>
        <p:spPr bwMode="auto">
          <a:xfrm>
            <a:off x="6151251" y="3933027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9" name="Line 157"/>
          <p:cNvSpPr>
            <a:spLocks noChangeShapeType="1"/>
          </p:cNvSpPr>
          <p:nvPr/>
        </p:nvSpPr>
        <p:spPr bwMode="auto">
          <a:xfrm>
            <a:off x="5770251" y="4148924"/>
            <a:ext cx="381000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50" name="Text Box 158"/>
          <p:cNvSpPr txBox="1">
            <a:spLocks noChangeArrowheads="1"/>
          </p:cNvSpPr>
          <p:nvPr/>
        </p:nvSpPr>
        <p:spPr bwMode="auto">
          <a:xfrm>
            <a:off x="5770251" y="3767924"/>
            <a:ext cx="381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</p:txBody>
      </p:sp>
      <p:sp>
        <p:nvSpPr>
          <p:cNvPr id="51" name="Line 176"/>
          <p:cNvSpPr>
            <a:spLocks noChangeShapeType="1"/>
          </p:cNvSpPr>
          <p:nvPr/>
        </p:nvSpPr>
        <p:spPr bwMode="auto">
          <a:xfrm>
            <a:off x="3254064" y="3883819"/>
            <a:ext cx="415925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52" name="Text Box 177"/>
          <p:cNvSpPr txBox="1">
            <a:spLocks noChangeArrowheads="1"/>
          </p:cNvSpPr>
          <p:nvPr/>
        </p:nvSpPr>
        <p:spPr bwMode="auto">
          <a:xfrm>
            <a:off x="3184214" y="3606006"/>
            <a:ext cx="485775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3" name="Rectangle 147"/>
          <p:cNvSpPr>
            <a:spLocks noChangeArrowheads="1"/>
          </p:cNvSpPr>
          <p:nvPr/>
        </p:nvSpPr>
        <p:spPr bwMode="auto">
          <a:xfrm>
            <a:off x="2476190" y="3952074"/>
            <a:ext cx="339725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kumimoji="1" lang="en-US" altLang="zh-CN"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54" name="Rectangle 148"/>
          <p:cNvSpPr>
            <a:spLocks noChangeArrowheads="1"/>
          </p:cNvSpPr>
          <p:nvPr/>
        </p:nvSpPr>
        <p:spPr bwMode="auto">
          <a:xfrm>
            <a:off x="4141478" y="3952074"/>
            <a:ext cx="339725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kumimoji="1" lang="en-US" altLang="zh-CN"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55" name="Oval 178"/>
          <p:cNvSpPr>
            <a:spLocks noChangeArrowheads="1"/>
          </p:cNvSpPr>
          <p:nvPr/>
        </p:nvSpPr>
        <p:spPr bwMode="auto">
          <a:xfrm>
            <a:off x="4501841" y="3952074"/>
            <a:ext cx="485775" cy="4175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56" name="Rectangle 179"/>
          <p:cNvSpPr>
            <a:spLocks noChangeArrowheads="1"/>
          </p:cNvSpPr>
          <p:nvPr/>
        </p:nvSpPr>
        <p:spPr bwMode="auto">
          <a:xfrm>
            <a:off x="2336490" y="3536149"/>
            <a:ext cx="339725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kumimoji="1" lang="en-US" altLang="zh-CN"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57" name="Rectangle 180"/>
          <p:cNvSpPr>
            <a:spLocks noChangeArrowheads="1"/>
          </p:cNvSpPr>
          <p:nvPr/>
        </p:nvSpPr>
        <p:spPr bwMode="auto">
          <a:xfrm>
            <a:off x="4225616" y="3536149"/>
            <a:ext cx="307975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kumimoji="1" lang="en-US" altLang="zh-CN"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58" name="Line 183"/>
          <p:cNvSpPr>
            <a:spLocks noChangeShapeType="1"/>
          </p:cNvSpPr>
          <p:nvPr/>
        </p:nvSpPr>
        <p:spPr bwMode="auto">
          <a:xfrm>
            <a:off x="3131828" y="4774206"/>
            <a:ext cx="295274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59" name="Oval 184"/>
          <p:cNvSpPr>
            <a:spLocks noChangeArrowheads="1"/>
          </p:cNvSpPr>
          <p:nvPr/>
        </p:nvSpPr>
        <p:spPr bwMode="auto">
          <a:xfrm>
            <a:off x="591382" y="3952077"/>
            <a:ext cx="485775" cy="4175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0" name="Text Box 188"/>
          <p:cNvSpPr txBox="1">
            <a:spLocks noChangeArrowheads="1"/>
          </p:cNvSpPr>
          <p:nvPr/>
        </p:nvSpPr>
        <p:spPr bwMode="auto">
          <a:xfrm>
            <a:off x="4987616" y="3674264"/>
            <a:ext cx="347663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61" name="Line 189"/>
          <p:cNvSpPr>
            <a:spLocks noChangeShapeType="1"/>
          </p:cNvSpPr>
          <p:nvPr/>
        </p:nvSpPr>
        <p:spPr bwMode="auto">
          <a:xfrm>
            <a:off x="4972681" y="4147339"/>
            <a:ext cx="346075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2" name="Line 194"/>
          <p:cNvSpPr>
            <a:spLocks noChangeShapeType="1"/>
          </p:cNvSpPr>
          <p:nvPr/>
        </p:nvSpPr>
        <p:spPr bwMode="auto">
          <a:xfrm>
            <a:off x="6722751" y="4148924"/>
            <a:ext cx="381000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3" name="Text Box 195"/>
          <p:cNvSpPr txBox="1">
            <a:spLocks noChangeArrowheads="1"/>
          </p:cNvSpPr>
          <p:nvPr/>
        </p:nvSpPr>
        <p:spPr bwMode="auto">
          <a:xfrm>
            <a:off x="6722751" y="3767924"/>
            <a:ext cx="381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</a:p>
        </p:txBody>
      </p:sp>
      <p:sp>
        <p:nvSpPr>
          <p:cNvPr id="64" name="Oval 199"/>
          <p:cNvSpPr>
            <a:spLocks noChangeArrowheads="1"/>
          </p:cNvSpPr>
          <p:nvPr/>
        </p:nvSpPr>
        <p:spPr bwMode="auto">
          <a:xfrm>
            <a:off x="7054392" y="3933027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65" name="Oval 200"/>
          <p:cNvSpPr>
            <a:spLocks noChangeArrowheads="1"/>
          </p:cNvSpPr>
          <p:nvPr/>
        </p:nvSpPr>
        <p:spPr bwMode="auto">
          <a:xfrm>
            <a:off x="8018151" y="3894927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endParaRPr lang="zh-CN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Line 201"/>
          <p:cNvSpPr>
            <a:spLocks noChangeShapeType="1"/>
          </p:cNvSpPr>
          <p:nvPr/>
        </p:nvSpPr>
        <p:spPr bwMode="auto">
          <a:xfrm>
            <a:off x="7637151" y="4129876"/>
            <a:ext cx="381000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7" name="Text Box 202"/>
          <p:cNvSpPr txBox="1">
            <a:spLocks noChangeArrowheads="1"/>
          </p:cNvSpPr>
          <p:nvPr/>
        </p:nvSpPr>
        <p:spPr bwMode="auto">
          <a:xfrm>
            <a:off x="7637151" y="3748876"/>
            <a:ext cx="381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</a:p>
        </p:txBody>
      </p:sp>
      <p:sp>
        <p:nvSpPr>
          <p:cNvPr id="68" name="Oval 203"/>
          <p:cNvSpPr>
            <a:spLocks noChangeArrowheads="1"/>
          </p:cNvSpPr>
          <p:nvPr/>
        </p:nvSpPr>
        <p:spPr bwMode="auto">
          <a:xfrm>
            <a:off x="8094351" y="3971127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69" name="Line 189"/>
          <p:cNvSpPr>
            <a:spLocks noChangeShapeType="1"/>
          </p:cNvSpPr>
          <p:nvPr/>
        </p:nvSpPr>
        <p:spPr bwMode="auto">
          <a:xfrm>
            <a:off x="5868679" y="4161627"/>
            <a:ext cx="346075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0" name="Line 189"/>
          <p:cNvSpPr>
            <a:spLocks noChangeShapeType="1"/>
          </p:cNvSpPr>
          <p:nvPr/>
        </p:nvSpPr>
        <p:spPr bwMode="auto">
          <a:xfrm>
            <a:off x="6722751" y="4161627"/>
            <a:ext cx="346075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1" name="Line 189"/>
          <p:cNvSpPr>
            <a:spLocks noChangeShapeType="1"/>
          </p:cNvSpPr>
          <p:nvPr/>
        </p:nvSpPr>
        <p:spPr bwMode="auto">
          <a:xfrm>
            <a:off x="7654613" y="4161627"/>
            <a:ext cx="346075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2" name="Oval 174"/>
          <p:cNvSpPr>
            <a:spLocks noChangeArrowheads="1"/>
          </p:cNvSpPr>
          <p:nvPr/>
        </p:nvSpPr>
        <p:spPr bwMode="auto">
          <a:xfrm>
            <a:off x="3219141" y="3551350"/>
            <a:ext cx="485775" cy="4175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3" name="Oval 139"/>
          <p:cNvSpPr>
            <a:spLocks noChangeArrowheads="1"/>
          </p:cNvSpPr>
          <p:nvPr/>
        </p:nvSpPr>
        <p:spPr bwMode="auto">
          <a:xfrm>
            <a:off x="2646052" y="4554903"/>
            <a:ext cx="485775" cy="4159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74" name="Line 181"/>
          <p:cNvSpPr>
            <a:spLocks noChangeShapeType="1"/>
          </p:cNvSpPr>
          <p:nvPr/>
        </p:nvSpPr>
        <p:spPr bwMode="auto">
          <a:xfrm flipV="1">
            <a:off x="2132497" y="3767923"/>
            <a:ext cx="1086644" cy="254002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5" name="Line 182"/>
          <p:cNvSpPr>
            <a:spLocks noChangeShapeType="1"/>
          </p:cNvSpPr>
          <p:nvPr/>
        </p:nvSpPr>
        <p:spPr bwMode="auto">
          <a:xfrm>
            <a:off x="3704916" y="3760106"/>
            <a:ext cx="796925" cy="261819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6" name="Line 145"/>
          <p:cNvSpPr>
            <a:spLocks noChangeShapeType="1"/>
          </p:cNvSpPr>
          <p:nvPr/>
        </p:nvSpPr>
        <p:spPr bwMode="auto">
          <a:xfrm>
            <a:off x="2132497" y="4337838"/>
            <a:ext cx="543718" cy="425027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7" name="Line 146"/>
          <p:cNvSpPr>
            <a:spLocks noChangeShapeType="1"/>
          </p:cNvSpPr>
          <p:nvPr/>
        </p:nvSpPr>
        <p:spPr bwMode="auto">
          <a:xfrm flipV="1">
            <a:off x="3878596" y="4299735"/>
            <a:ext cx="693095" cy="46313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8" name="弧形 77"/>
          <p:cNvSpPr/>
          <p:nvPr/>
        </p:nvSpPr>
        <p:spPr>
          <a:xfrm>
            <a:off x="3184214" y="3078949"/>
            <a:ext cx="457200" cy="457200"/>
          </a:xfrm>
          <a:prstGeom prst="arc">
            <a:avLst>
              <a:gd name="adj1" fmla="val 5141043"/>
              <a:gd name="adj2" fmla="val 4183879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Rectangle 180"/>
          <p:cNvSpPr>
            <a:spLocks noChangeArrowheads="1"/>
          </p:cNvSpPr>
          <p:nvPr/>
        </p:nvSpPr>
        <p:spPr bwMode="auto">
          <a:xfrm>
            <a:off x="3250180" y="2674634"/>
            <a:ext cx="307975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kumimoji="1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</p:txBody>
      </p:sp>
      <p:sp>
        <p:nvSpPr>
          <p:cNvPr id="80" name="Text Box 188"/>
          <p:cNvSpPr txBox="1">
            <a:spLocks noChangeArrowheads="1"/>
          </p:cNvSpPr>
          <p:nvPr/>
        </p:nvSpPr>
        <p:spPr bwMode="auto">
          <a:xfrm>
            <a:off x="3210492" y="5063551"/>
            <a:ext cx="347663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dirty="0"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81" name="Oval 139"/>
          <p:cNvSpPr>
            <a:spLocks noChangeArrowheads="1"/>
          </p:cNvSpPr>
          <p:nvPr/>
        </p:nvSpPr>
        <p:spPr bwMode="auto">
          <a:xfrm>
            <a:off x="3404167" y="4566244"/>
            <a:ext cx="485775" cy="4159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091261" y="441022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83" name="Oval 139"/>
          <p:cNvSpPr>
            <a:spLocks noChangeArrowheads="1"/>
          </p:cNvSpPr>
          <p:nvPr/>
        </p:nvSpPr>
        <p:spPr bwMode="auto">
          <a:xfrm>
            <a:off x="1786696" y="3921913"/>
            <a:ext cx="485775" cy="4159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84" name="Line 189"/>
          <p:cNvSpPr>
            <a:spLocks noChangeShapeType="1"/>
          </p:cNvSpPr>
          <p:nvPr/>
        </p:nvSpPr>
        <p:spPr bwMode="auto">
          <a:xfrm flipV="1">
            <a:off x="1045081" y="4193377"/>
            <a:ext cx="741615" cy="9298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5" name="弧形 84"/>
          <p:cNvSpPr/>
          <p:nvPr/>
        </p:nvSpPr>
        <p:spPr>
          <a:xfrm>
            <a:off x="2026750" y="2688312"/>
            <a:ext cx="2715145" cy="2616423"/>
          </a:xfrm>
          <a:prstGeom prst="arc">
            <a:avLst>
              <a:gd name="adj1" fmla="val 10931433"/>
              <a:gd name="adj2" fmla="val 15335"/>
            </a:avLst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 Box 188"/>
          <p:cNvSpPr txBox="1">
            <a:spLocks noChangeArrowheads="1"/>
          </p:cNvSpPr>
          <p:nvPr/>
        </p:nvSpPr>
        <p:spPr bwMode="auto">
          <a:xfrm>
            <a:off x="3184457" y="2061358"/>
            <a:ext cx="347663" cy="39878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dirty="0"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79512" y="1628800"/>
            <a:ext cx="8712968" cy="48245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0" dirty="0"/>
              <a:t>请构造一个识别</a:t>
            </a:r>
            <a:r>
              <a:rPr lang="en-US" altLang="zh-CN" b="0" dirty="0"/>
              <a:t>(</a:t>
            </a:r>
            <a:r>
              <a:rPr lang="en-US" altLang="zh-CN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a|b)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5148064" y="6465019"/>
            <a:ext cx="3786690" cy="365125"/>
          </a:xfrm>
        </p:spPr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78030" y="6465019"/>
            <a:ext cx="3786691" cy="365125"/>
          </a:xfrm>
        </p:spPr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975480" y="6465018"/>
            <a:ext cx="1161826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 </a:t>
            </a:r>
            <a:r>
              <a:rPr lang="zh-CN" altLang="en-US" dirty="0"/>
              <a:t>有限状态自动机</a:t>
            </a:r>
            <a:endParaRPr lang="en-US" dirty="0"/>
          </a:p>
        </p:txBody>
      </p:sp>
      <p:sp>
        <p:nvSpPr>
          <p:cNvPr id="87" name="Freeform 150"/>
          <p:cNvSpPr/>
          <p:nvPr/>
        </p:nvSpPr>
        <p:spPr bwMode="auto">
          <a:xfrm flipH="1" flipV="1">
            <a:off x="979304" y="4168618"/>
            <a:ext cx="4483467" cy="1376696"/>
          </a:xfrm>
          <a:custGeom>
            <a:avLst/>
            <a:gdLst>
              <a:gd name="T0" fmla="*/ 2534 w 816"/>
              <a:gd name="T1" fmla="*/ 348 h 165"/>
              <a:gd name="T2" fmla="*/ 1304 w 816"/>
              <a:gd name="T3" fmla="*/ 0 h 165"/>
              <a:gd name="T4" fmla="*/ 0 w 816"/>
              <a:gd name="T5" fmla="*/ 350 h 165"/>
              <a:gd name="T6" fmla="*/ 0 60000 65536"/>
              <a:gd name="T7" fmla="*/ 0 60000 65536"/>
              <a:gd name="T8" fmla="*/ 0 60000 65536"/>
              <a:gd name="T9" fmla="*/ 0 w 816"/>
              <a:gd name="T10" fmla="*/ 0 h 165"/>
              <a:gd name="T11" fmla="*/ 816 w 816"/>
              <a:gd name="T12" fmla="*/ 165 h 1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6" h="165">
                <a:moveTo>
                  <a:pt x="816" y="164"/>
                </a:moveTo>
                <a:cubicBezTo>
                  <a:pt x="750" y="137"/>
                  <a:pt x="556" y="0"/>
                  <a:pt x="420" y="0"/>
                </a:cubicBezTo>
                <a:cubicBezTo>
                  <a:pt x="284" y="0"/>
                  <a:pt x="87" y="131"/>
                  <a:pt x="0" y="165"/>
                </a:cubicBez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AutoShape 156"/>
          <p:cNvSpPr>
            <a:spLocks noChangeArrowheads="1"/>
          </p:cNvSpPr>
          <p:nvPr/>
        </p:nvSpPr>
        <p:spPr bwMode="auto">
          <a:xfrm>
            <a:off x="107504" y="3870166"/>
            <a:ext cx="457200" cy="1524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Oval 144"/>
          <p:cNvSpPr>
            <a:spLocks noChangeArrowheads="1"/>
          </p:cNvSpPr>
          <p:nvPr/>
        </p:nvSpPr>
        <p:spPr bwMode="auto">
          <a:xfrm>
            <a:off x="5308603" y="3749518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0" name="Oval 152"/>
          <p:cNvSpPr>
            <a:spLocks noChangeArrowheads="1"/>
          </p:cNvSpPr>
          <p:nvPr/>
        </p:nvSpPr>
        <p:spPr bwMode="auto">
          <a:xfrm>
            <a:off x="6124575" y="3749518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91" name="Line 157"/>
          <p:cNvSpPr>
            <a:spLocks noChangeShapeType="1"/>
          </p:cNvSpPr>
          <p:nvPr/>
        </p:nvSpPr>
        <p:spPr bwMode="auto">
          <a:xfrm>
            <a:off x="5743575" y="3965415"/>
            <a:ext cx="381000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2" name="Text Box 158"/>
          <p:cNvSpPr txBox="1">
            <a:spLocks noChangeArrowheads="1"/>
          </p:cNvSpPr>
          <p:nvPr/>
        </p:nvSpPr>
        <p:spPr bwMode="auto">
          <a:xfrm>
            <a:off x="5743575" y="3584415"/>
            <a:ext cx="381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</p:txBody>
      </p:sp>
      <p:sp>
        <p:nvSpPr>
          <p:cNvPr id="93" name="Line 176"/>
          <p:cNvSpPr>
            <a:spLocks noChangeShapeType="1"/>
          </p:cNvSpPr>
          <p:nvPr/>
        </p:nvSpPr>
        <p:spPr bwMode="auto">
          <a:xfrm>
            <a:off x="3149685" y="3565367"/>
            <a:ext cx="207962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4" name="Rectangle 147"/>
          <p:cNvSpPr>
            <a:spLocks noChangeArrowheads="1"/>
          </p:cNvSpPr>
          <p:nvPr/>
        </p:nvSpPr>
        <p:spPr bwMode="auto">
          <a:xfrm>
            <a:off x="2195736" y="3926521"/>
            <a:ext cx="339725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kumimoji="1" lang="en-US" altLang="zh-CN"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95" name="Rectangle 148"/>
          <p:cNvSpPr>
            <a:spLocks noChangeArrowheads="1"/>
          </p:cNvSpPr>
          <p:nvPr/>
        </p:nvSpPr>
        <p:spPr bwMode="auto">
          <a:xfrm>
            <a:off x="4114802" y="3768565"/>
            <a:ext cx="339725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kumimoji="1" lang="en-US" altLang="zh-CN"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96" name="Oval 178"/>
          <p:cNvSpPr>
            <a:spLocks noChangeArrowheads="1"/>
          </p:cNvSpPr>
          <p:nvPr/>
        </p:nvSpPr>
        <p:spPr bwMode="auto">
          <a:xfrm>
            <a:off x="4475165" y="3768565"/>
            <a:ext cx="485775" cy="4175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97" name="Rectangle 179"/>
          <p:cNvSpPr>
            <a:spLocks noChangeArrowheads="1"/>
          </p:cNvSpPr>
          <p:nvPr/>
        </p:nvSpPr>
        <p:spPr bwMode="auto">
          <a:xfrm>
            <a:off x="2195736" y="3211205"/>
            <a:ext cx="339725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kumimoji="1" lang="en-US" altLang="zh-CN" dirty="0"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98" name="Rectangle 180"/>
          <p:cNvSpPr>
            <a:spLocks noChangeArrowheads="1"/>
          </p:cNvSpPr>
          <p:nvPr/>
        </p:nvSpPr>
        <p:spPr bwMode="auto">
          <a:xfrm>
            <a:off x="4067944" y="3283213"/>
            <a:ext cx="307975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kumimoji="1" lang="en-US" altLang="zh-CN" dirty="0"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99" name="Line 183"/>
          <p:cNvSpPr>
            <a:spLocks noChangeShapeType="1"/>
          </p:cNvSpPr>
          <p:nvPr/>
        </p:nvSpPr>
        <p:spPr bwMode="auto">
          <a:xfrm>
            <a:off x="3105152" y="4590697"/>
            <a:ext cx="295274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0" name="Oval 184"/>
          <p:cNvSpPr>
            <a:spLocks noChangeArrowheads="1"/>
          </p:cNvSpPr>
          <p:nvPr/>
        </p:nvSpPr>
        <p:spPr bwMode="auto">
          <a:xfrm>
            <a:off x="564706" y="3768568"/>
            <a:ext cx="485775" cy="4175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1" name="Text Box 188"/>
          <p:cNvSpPr txBox="1">
            <a:spLocks noChangeArrowheads="1"/>
          </p:cNvSpPr>
          <p:nvPr/>
        </p:nvSpPr>
        <p:spPr bwMode="auto">
          <a:xfrm>
            <a:off x="4960940" y="3490755"/>
            <a:ext cx="347663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02" name="Line 189"/>
          <p:cNvSpPr>
            <a:spLocks noChangeShapeType="1"/>
          </p:cNvSpPr>
          <p:nvPr/>
        </p:nvSpPr>
        <p:spPr bwMode="auto">
          <a:xfrm>
            <a:off x="4946005" y="3963830"/>
            <a:ext cx="346075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3" name="Line 194"/>
          <p:cNvSpPr>
            <a:spLocks noChangeShapeType="1"/>
          </p:cNvSpPr>
          <p:nvPr/>
        </p:nvSpPr>
        <p:spPr bwMode="auto">
          <a:xfrm>
            <a:off x="6696075" y="3965415"/>
            <a:ext cx="381000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4" name="Text Box 195"/>
          <p:cNvSpPr txBox="1">
            <a:spLocks noChangeArrowheads="1"/>
          </p:cNvSpPr>
          <p:nvPr/>
        </p:nvSpPr>
        <p:spPr bwMode="auto">
          <a:xfrm>
            <a:off x="6696075" y="3584415"/>
            <a:ext cx="381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</a:p>
        </p:txBody>
      </p:sp>
      <p:sp>
        <p:nvSpPr>
          <p:cNvPr id="105" name="Oval 199"/>
          <p:cNvSpPr>
            <a:spLocks noChangeArrowheads="1"/>
          </p:cNvSpPr>
          <p:nvPr/>
        </p:nvSpPr>
        <p:spPr bwMode="auto">
          <a:xfrm>
            <a:off x="7027716" y="3749518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06" name="Oval 200"/>
          <p:cNvSpPr>
            <a:spLocks noChangeArrowheads="1"/>
          </p:cNvSpPr>
          <p:nvPr/>
        </p:nvSpPr>
        <p:spPr bwMode="auto">
          <a:xfrm>
            <a:off x="7991475" y="3711418"/>
            <a:ext cx="533400" cy="533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endParaRPr lang="zh-CN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Line 201"/>
          <p:cNvSpPr>
            <a:spLocks noChangeShapeType="1"/>
          </p:cNvSpPr>
          <p:nvPr/>
        </p:nvSpPr>
        <p:spPr bwMode="auto">
          <a:xfrm>
            <a:off x="7610475" y="3946367"/>
            <a:ext cx="381000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8" name="Text Box 202"/>
          <p:cNvSpPr txBox="1">
            <a:spLocks noChangeArrowheads="1"/>
          </p:cNvSpPr>
          <p:nvPr/>
        </p:nvSpPr>
        <p:spPr bwMode="auto">
          <a:xfrm>
            <a:off x="7610475" y="3565367"/>
            <a:ext cx="381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</a:p>
        </p:txBody>
      </p:sp>
      <p:sp>
        <p:nvSpPr>
          <p:cNvPr id="109" name="Oval 203"/>
          <p:cNvSpPr>
            <a:spLocks noChangeArrowheads="1"/>
          </p:cNvSpPr>
          <p:nvPr/>
        </p:nvSpPr>
        <p:spPr bwMode="auto">
          <a:xfrm>
            <a:off x="8067675" y="3787618"/>
            <a:ext cx="381000" cy="381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10" name="Line 189"/>
          <p:cNvSpPr>
            <a:spLocks noChangeShapeType="1"/>
          </p:cNvSpPr>
          <p:nvPr/>
        </p:nvSpPr>
        <p:spPr bwMode="auto">
          <a:xfrm>
            <a:off x="5842003" y="3978118"/>
            <a:ext cx="346075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1" name="Line 189"/>
          <p:cNvSpPr>
            <a:spLocks noChangeShapeType="1"/>
          </p:cNvSpPr>
          <p:nvPr/>
        </p:nvSpPr>
        <p:spPr bwMode="auto">
          <a:xfrm>
            <a:off x="6696075" y="3978118"/>
            <a:ext cx="346075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2" name="Line 189"/>
          <p:cNvSpPr>
            <a:spLocks noChangeShapeType="1"/>
          </p:cNvSpPr>
          <p:nvPr/>
        </p:nvSpPr>
        <p:spPr bwMode="auto">
          <a:xfrm>
            <a:off x="7627937" y="3978118"/>
            <a:ext cx="346075" cy="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3" name="Oval 174"/>
          <p:cNvSpPr>
            <a:spLocks noChangeArrowheads="1"/>
          </p:cNvSpPr>
          <p:nvPr/>
        </p:nvSpPr>
        <p:spPr bwMode="auto">
          <a:xfrm>
            <a:off x="2671763" y="3334859"/>
            <a:ext cx="485775" cy="4175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4" name="Oval 139"/>
          <p:cNvSpPr>
            <a:spLocks noChangeArrowheads="1"/>
          </p:cNvSpPr>
          <p:nvPr/>
        </p:nvSpPr>
        <p:spPr bwMode="auto">
          <a:xfrm>
            <a:off x="2619376" y="4371394"/>
            <a:ext cx="485775" cy="4159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15" name="Line 181"/>
          <p:cNvSpPr>
            <a:spLocks noChangeShapeType="1"/>
          </p:cNvSpPr>
          <p:nvPr/>
        </p:nvSpPr>
        <p:spPr bwMode="auto">
          <a:xfrm flipV="1">
            <a:off x="2105821" y="3612196"/>
            <a:ext cx="565942" cy="22622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6" name="Line 182"/>
          <p:cNvSpPr>
            <a:spLocks noChangeShapeType="1"/>
          </p:cNvSpPr>
          <p:nvPr/>
        </p:nvSpPr>
        <p:spPr bwMode="auto">
          <a:xfrm>
            <a:off x="3863266" y="3565367"/>
            <a:ext cx="611899" cy="273049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7" name="Line 145"/>
          <p:cNvSpPr>
            <a:spLocks noChangeShapeType="1"/>
          </p:cNvSpPr>
          <p:nvPr/>
        </p:nvSpPr>
        <p:spPr bwMode="auto">
          <a:xfrm>
            <a:off x="2105821" y="4154329"/>
            <a:ext cx="543718" cy="425027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8" name="Line 146"/>
          <p:cNvSpPr>
            <a:spLocks noChangeShapeType="1"/>
          </p:cNvSpPr>
          <p:nvPr/>
        </p:nvSpPr>
        <p:spPr bwMode="auto">
          <a:xfrm flipV="1">
            <a:off x="3851920" y="4116226"/>
            <a:ext cx="693095" cy="463130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9" name="Text Box 188"/>
          <p:cNvSpPr txBox="1">
            <a:spLocks noChangeArrowheads="1"/>
          </p:cNvSpPr>
          <p:nvPr/>
        </p:nvSpPr>
        <p:spPr bwMode="auto">
          <a:xfrm>
            <a:off x="3183816" y="4880042"/>
            <a:ext cx="347663" cy="39878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dirty="0"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20" name="Oval 139"/>
          <p:cNvSpPr>
            <a:spLocks noChangeArrowheads="1"/>
          </p:cNvSpPr>
          <p:nvPr/>
        </p:nvSpPr>
        <p:spPr bwMode="auto">
          <a:xfrm>
            <a:off x="3377491" y="4382735"/>
            <a:ext cx="485775" cy="4159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064585" y="422671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22" name="Oval 139"/>
          <p:cNvSpPr>
            <a:spLocks noChangeArrowheads="1"/>
          </p:cNvSpPr>
          <p:nvPr/>
        </p:nvSpPr>
        <p:spPr bwMode="auto">
          <a:xfrm>
            <a:off x="1760020" y="3738404"/>
            <a:ext cx="485775" cy="4159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23" name="Line 189"/>
          <p:cNvSpPr>
            <a:spLocks noChangeShapeType="1"/>
          </p:cNvSpPr>
          <p:nvPr/>
        </p:nvSpPr>
        <p:spPr bwMode="auto">
          <a:xfrm flipV="1">
            <a:off x="1018405" y="4009868"/>
            <a:ext cx="741615" cy="9298"/>
          </a:xfrm>
          <a:prstGeom prst="lin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4" name="弧形 123"/>
          <p:cNvSpPr/>
          <p:nvPr/>
        </p:nvSpPr>
        <p:spPr>
          <a:xfrm>
            <a:off x="2019918" y="2818373"/>
            <a:ext cx="2715145" cy="1813865"/>
          </a:xfrm>
          <a:prstGeom prst="arc">
            <a:avLst>
              <a:gd name="adj1" fmla="val 10795332"/>
              <a:gd name="adj2" fmla="val 21576743"/>
            </a:avLst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Oval 174"/>
          <p:cNvSpPr>
            <a:spLocks noChangeArrowheads="1"/>
          </p:cNvSpPr>
          <p:nvPr/>
        </p:nvSpPr>
        <p:spPr bwMode="auto">
          <a:xfrm>
            <a:off x="3357647" y="3334859"/>
            <a:ext cx="485775" cy="41751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105152" y="318317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27" name="Text Box 188"/>
          <p:cNvSpPr txBox="1">
            <a:spLocks noChangeArrowheads="1"/>
          </p:cNvSpPr>
          <p:nvPr/>
        </p:nvSpPr>
        <p:spPr bwMode="auto">
          <a:xfrm>
            <a:off x="3108366" y="2277035"/>
            <a:ext cx="347663" cy="39878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79705" y="5768975"/>
            <a:ext cx="8712835" cy="684530"/>
          </a:xfrm>
        </p:spPr>
        <p:txBody>
          <a:bodyPr/>
          <a:lstStyle/>
          <a:p>
            <a:pPr marL="0" indent="0" algn="ctr">
              <a:buNone/>
            </a:pPr>
            <a:r>
              <a:rPr lang="zh-CN" altLang="en-US" sz="2000" b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接受的语言：(a|b)*abb</a:t>
            </a:r>
            <a:endParaRPr lang="zh-CN" altLang="en-US" sz="2000" b="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5148064" y="6465019"/>
            <a:ext cx="3786690" cy="365125"/>
          </a:xfrm>
        </p:spPr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78030" y="6465019"/>
            <a:ext cx="3786691" cy="365125"/>
          </a:xfrm>
        </p:spPr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975480" y="6465018"/>
            <a:ext cx="1161826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 </a:t>
            </a:r>
            <a:r>
              <a:rPr lang="zh-CN" altLang="en-US" dirty="0"/>
              <a:t>有限状态自动机</a:t>
            </a:r>
            <a:endParaRPr lang="en-US" dirty="0"/>
          </a:p>
        </p:txBody>
      </p:sp>
      <p:grpSp>
        <p:nvGrpSpPr>
          <p:cNvPr id="11268" name="组合 32"/>
          <p:cNvGrpSpPr/>
          <p:nvPr/>
        </p:nvGrpSpPr>
        <p:grpSpPr>
          <a:xfrm>
            <a:off x="314325" y="1586865"/>
            <a:ext cx="4067810" cy="2831447"/>
            <a:chOff x="266648" y="3329560"/>
            <a:chExt cx="4713405" cy="3201914"/>
          </a:xfrm>
        </p:grpSpPr>
        <p:sp>
          <p:nvSpPr>
            <p:cNvPr id="34" name="弧形 33"/>
            <p:cNvSpPr/>
            <p:nvPr>
              <p:custDataLst>
                <p:tags r:id="rId17"/>
              </p:custDataLst>
            </p:nvPr>
          </p:nvSpPr>
          <p:spPr bwMode="auto">
            <a:xfrm>
              <a:off x="2120894" y="3329560"/>
              <a:ext cx="2859159" cy="1635317"/>
            </a:xfrm>
            <a:prstGeom prst="arc">
              <a:avLst>
                <a:gd name="adj1" fmla="val 5753461"/>
                <a:gd name="adj2" fmla="val 10099975"/>
              </a:avLst>
            </a:prstGeom>
            <a:noFill/>
            <a:ln w="28575" cap="flat" cmpd="sng" algn="ctr">
              <a:solidFill>
                <a:schemeClr val="folHlink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1289" name="组合 34"/>
            <p:cNvGrpSpPr/>
            <p:nvPr/>
          </p:nvGrpSpPr>
          <p:grpSpPr>
            <a:xfrm>
              <a:off x="266648" y="3556599"/>
              <a:ext cx="3853793" cy="2974875"/>
              <a:chOff x="266648" y="3556599"/>
              <a:chExt cx="3853793" cy="2974875"/>
            </a:xfrm>
          </p:grpSpPr>
          <p:grpSp>
            <p:nvGrpSpPr>
              <p:cNvPr id="11290" name="组合 35"/>
              <p:cNvGrpSpPr/>
              <p:nvPr/>
            </p:nvGrpSpPr>
            <p:grpSpPr>
              <a:xfrm>
                <a:off x="266648" y="3624957"/>
                <a:ext cx="3853793" cy="2906517"/>
                <a:chOff x="728823" y="3170927"/>
                <a:chExt cx="3853793" cy="2906517"/>
              </a:xfrm>
            </p:grpSpPr>
            <p:sp>
              <p:nvSpPr>
                <p:cNvPr id="11295" name="TextBox 40"/>
                <p:cNvSpPr txBox="1"/>
                <p:nvPr>
                  <p:custDataLst>
                    <p:tags r:id="rId22"/>
                  </p:custDataLst>
                </p:nvPr>
              </p:nvSpPr>
              <p:spPr>
                <a:xfrm>
                  <a:off x="746299" y="3183895"/>
                  <a:ext cx="865526" cy="4164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b="1" dirty="0">
                      <a:latin typeface="Times New Roman" panose="02020603050405020304" pitchFamily="18" charset="0"/>
                      <a:ea typeface="楷体_GB2312" pitchFamily="1" charset="-122"/>
                      <a:cs typeface="Times New Roman" panose="02020603050405020304" pitchFamily="18" charset="0"/>
                    </a:rPr>
                    <a:t>DFA</a:t>
                  </a:r>
                  <a:r>
                    <a:rPr lang="zh-CN" altLang="en-US" b="1" dirty="0">
                      <a:latin typeface="楷体_GB2312" pitchFamily="1" charset="-122"/>
                      <a:ea typeface="楷体_GB2312" pitchFamily="1" charset="-122"/>
                    </a:rPr>
                    <a:t>：</a:t>
                  </a:r>
                </a:p>
              </p:txBody>
            </p:sp>
            <p:sp>
              <p:nvSpPr>
                <p:cNvPr id="11296" name="Line 4"/>
                <p:cNvSpPr/>
                <p:nvPr>
                  <p:custDataLst>
                    <p:tags r:id="rId23"/>
                  </p:custDataLst>
                </p:nvPr>
              </p:nvSpPr>
              <p:spPr>
                <a:xfrm flipV="1">
                  <a:off x="728823" y="4725144"/>
                  <a:ext cx="354530" cy="1684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11297" name="AutoShape 12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2392892" y="5660956"/>
                  <a:ext cx="635822" cy="416488"/>
                </a:xfrm>
                <a:custGeom>
                  <a:avLst/>
                  <a:gdLst>
                    <a:gd name="txL" fmla="*/ 3154 w 21600"/>
                    <a:gd name="txT" fmla="*/ 3154 h 21600"/>
                    <a:gd name="txR" fmla="*/ 18446 w 21600"/>
                    <a:gd name="txB" fmla="*/ 18446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600">
                      <a:moveTo>
                        <a:pt x="0" y="10800"/>
                      </a:move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5" y="0"/>
                        <a:pt x="21600" y="4835"/>
                        <a:pt x="21600" y="10800"/>
                      </a:cubicBezTo>
                      <a:cubicBezTo>
                        <a:pt x="21600" y="16765"/>
                        <a:pt x="16765" y="21600"/>
                        <a:pt x="10800" y="21600"/>
                      </a:cubicBezTo>
                      <a:cubicBezTo>
                        <a:pt x="4835" y="21600"/>
                        <a:pt x="0" y="16765"/>
                        <a:pt x="0" y="10800"/>
                      </a:cubicBezTo>
                      <a:close/>
                      <a:moveTo>
                        <a:pt x="2753" y="10800"/>
                      </a:moveTo>
                      <a:cubicBezTo>
                        <a:pt x="2753" y="15244"/>
                        <a:pt x="6356" y="18847"/>
                        <a:pt x="10800" y="18847"/>
                      </a:cubicBezTo>
                      <a:cubicBezTo>
                        <a:pt x="15244" y="18847"/>
                        <a:pt x="18847" y="15244"/>
                        <a:pt x="18847" y="10800"/>
                      </a:cubicBezTo>
                      <a:cubicBezTo>
                        <a:pt x="18847" y="6356"/>
                        <a:pt x="15244" y="2753"/>
                        <a:pt x="10800" y="2753"/>
                      </a:cubicBezTo>
                      <a:cubicBezTo>
                        <a:pt x="6356" y="2753"/>
                        <a:pt x="2753" y="6356"/>
                        <a:pt x="2753" y="10800"/>
                      </a:cubicBezTo>
                      <a:close/>
                    </a:path>
                  </a:pathLst>
                </a:custGeom>
                <a:solidFill>
                  <a:schemeClr val="bg1">
                    <a:alpha val="0"/>
                  </a:schemeClr>
                </a:solidFill>
                <a:ln w="2540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chemeClr val="tx2"/>
                      </a:solidFill>
                      <a:latin typeface="Times New Roman" panose="02020603050405020304" pitchFamily="18" charset="0"/>
                    </a:rPr>
                    <a:t>s</a:t>
                  </a:r>
                  <a:r>
                    <a:rPr lang="en-US" altLang="zh-CN" b="1" baseline="-25000" dirty="0">
                      <a:solidFill>
                        <a:schemeClr val="tx2"/>
                      </a:solidFill>
                      <a:latin typeface="Times New Roman" panose="02020603050405020304" pitchFamily="18" charset="0"/>
                    </a:rPr>
                    <a:t>3</a:t>
                  </a:r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298" name="椭圆 43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1104089" y="4420420"/>
                  <a:ext cx="623901" cy="612816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lg"/>
                </a:ln>
              </p:spPr>
              <p:txBody>
                <a:bodyPr/>
                <a:lstStyle/>
                <a:p>
                  <a:r>
                    <a:rPr lang="en-US" altLang="zh-CN" b="1" dirty="0">
                      <a:solidFill>
                        <a:schemeClr val="tx2"/>
                      </a:solidFill>
                      <a:latin typeface="Times New Roman" panose="02020603050405020304" pitchFamily="18" charset="0"/>
                    </a:rPr>
                    <a:t>s</a:t>
                  </a:r>
                  <a:r>
                    <a:rPr lang="en-US" altLang="zh-CN" b="1" baseline="-25000" dirty="0">
                      <a:solidFill>
                        <a:schemeClr val="tx2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299" name="椭圆 44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3958715" y="4301983"/>
                  <a:ext cx="623901" cy="612816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lg"/>
                </a:ln>
              </p:spPr>
              <p:txBody>
                <a:bodyPr/>
                <a:lstStyle/>
                <a:p>
                  <a:r>
                    <a:rPr lang="en-US" altLang="zh-CN" b="1" dirty="0">
                      <a:solidFill>
                        <a:schemeClr val="tx2"/>
                      </a:solidFill>
                      <a:latin typeface="Times New Roman" panose="02020603050405020304" pitchFamily="18" charset="0"/>
                    </a:rPr>
                    <a:t>s</a:t>
                  </a:r>
                  <a:r>
                    <a:rPr lang="en-US" altLang="zh-CN" b="1" baseline="-25000" dirty="0">
                      <a:solidFill>
                        <a:schemeClr val="tx2"/>
                      </a:solidFill>
                      <a:latin typeface="Times New Roman" panose="02020603050405020304" pitchFamily="18" charset="0"/>
                    </a:rPr>
                    <a:t>2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cxnSp>
              <p:nvCxnSpPr>
                <p:cNvPr id="11300" name="曲线连接符 45"/>
                <p:cNvCxnSpPr>
                  <a:stCxn id="11298" idx="7"/>
                  <a:endCxn id="11292" idx="2"/>
                </p:cNvCxnSpPr>
                <p:nvPr>
                  <p:custDataLst>
                    <p:tags r:id="rId27"/>
                  </p:custDataLst>
                </p:nvPr>
              </p:nvCxnSpPr>
              <p:spPr>
                <a:xfrm rot="5400000" flipH="1" flipV="1">
                  <a:off x="1607125" y="3712478"/>
                  <a:ext cx="827185" cy="768191"/>
                </a:xfrm>
                <a:prstGeom prst="curvedConnector2">
                  <a:avLst/>
                </a:prstGeom>
                <a:ln w="28575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arrow" w="med" len="med"/>
                </a:ln>
              </p:spPr>
            </p:cxnSp>
            <p:sp>
              <p:nvSpPr>
                <p:cNvPr id="47" name="弧形 46"/>
                <p:cNvSpPr/>
                <p:nvPr>
                  <p:custDataLst>
                    <p:tags r:id="rId28"/>
                  </p:custDataLst>
                </p:nvPr>
              </p:nvSpPr>
              <p:spPr bwMode="auto">
                <a:xfrm>
                  <a:off x="2319538" y="3863071"/>
                  <a:ext cx="503251" cy="1800436"/>
                </a:xfrm>
                <a:prstGeom prst="arc">
                  <a:avLst>
                    <a:gd name="adj1" fmla="val 5716180"/>
                    <a:gd name="adj2" fmla="val 15892946"/>
                  </a:avLst>
                </a:prstGeom>
                <a:noFill/>
                <a:ln w="28575" cap="flat" cmpd="sng" algn="ctr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triangle" w="med" len="lg"/>
                </a:ln>
                <a:effectLst/>
              </p:spPr>
              <p:txBody>
                <a:bodyPr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8" name="弧形 47"/>
                <p:cNvSpPr/>
                <p:nvPr>
                  <p:custDataLst>
                    <p:tags r:id="rId29"/>
                  </p:custDataLst>
                </p:nvPr>
              </p:nvSpPr>
              <p:spPr bwMode="auto">
                <a:xfrm>
                  <a:off x="1370189" y="3826554"/>
                  <a:ext cx="2881385" cy="1181238"/>
                </a:xfrm>
                <a:prstGeom prst="arc">
                  <a:avLst>
                    <a:gd name="adj1" fmla="val 17468775"/>
                    <a:gd name="adj2" fmla="val 21401849"/>
                  </a:avLst>
                </a:prstGeom>
                <a:noFill/>
                <a:ln w="28575" cap="flat" cmpd="sng" algn="ctr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triangle" w="med" len="lg"/>
                </a:ln>
                <a:effectLst/>
              </p:spPr>
              <p:txBody>
                <a:bodyPr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9" name="弧形 48"/>
                <p:cNvSpPr/>
                <p:nvPr>
                  <p:custDataLst>
                    <p:tags r:id="rId30"/>
                  </p:custDataLst>
                </p:nvPr>
              </p:nvSpPr>
              <p:spPr bwMode="auto">
                <a:xfrm>
                  <a:off x="1403528" y="4544188"/>
                  <a:ext cx="647716" cy="541401"/>
                </a:xfrm>
                <a:prstGeom prst="arc">
                  <a:avLst>
                    <a:gd name="adj1" fmla="val 15520521"/>
                    <a:gd name="adj2" fmla="val 8516030"/>
                  </a:avLst>
                </a:prstGeom>
                <a:noFill/>
                <a:ln w="28575" cap="flat" cmpd="sng" algn="ctr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triangle" w="med" len="lg"/>
                </a:ln>
                <a:effectLst/>
              </p:spPr>
              <p:txBody>
                <a:bodyPr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304" name="TextBox 49"/>
                <p:cNvSpPr txBox="1"/>
                <p:nvPr>
                  <p:custDataLst>
                    <p:tags r:id="rId31"/>
                  </p:custDataLst>
                </p:nvPr>
              </p:nvSpPr>
              <p:spPr>
                <a:xfrm>
                  <a:off x="1418495" y="3643221"/>
                  <a:ext cx="521126" cy="4164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altLang="zh-CN" dirty="0">
                      <a:latin typeface="Times New Roman" panose="02020603050405020304" pitchFamily="18" charset="0"/>
                    </a:rPr>
                    <a:t>a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305" name="TextBox 50"/>
                <p:cNvSpPr txBox="1"/>
                <p:nvPr>
                  <p:custDataLst>
                    <p:tags r:id="rId32"/>
                  </p:custDataLst>
                </p:nvPr>
              </p:nvSpPr>
              <p:spPr>
                <a:xfrm>
                  <a:off x="2389881" y="4583760"/>
                  <a:ext cx="320922" cy="4164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dirty="0">
                      <a:latin typeface="Times New Roman" panose="02020603050405020304" pitchFamily="18" charset="0"/>
                    </a:rPr>
                    <a:t>a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306" name="TextBox 51"/>
                <p:cNvSpPr txBox="1"/>
                <p:nvPr>
                  <p:custDataLst>
                    <p:tags r:id="rId33"/>
                  </p:custDataLst>
                </p:nvPr>
              </p:nvSpPr>
              <p:spPr>
                <a:xfrm>
                  <a:off x="3729527" y="5553775"/>
                  <a:ext cx="700103" cy="4164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altLang="zh-CN" dirty="0">
                      <a:latin typeface="Times New Roman" panose="02020603050405020304" pitchFamily="18" charset="0"/>
                    </a:rPr>
                    <a:t>b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307" name="TextBox 52"/>
                <p:cNvSpPr txBox="1"/>
                <p:nvPr>
                  <p:custDataLst>
                    <p:tags r:id="rId34"/>
                  </p:custDataLst>
                </p:nvPr>
              </p:nvSpPr>
              <p:spPr>
                <a:xfrm>
                  <a:off x="1764489" y="4189587"/>
                  <a:ext cx="338555" cy="4164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dirty="0">
                      <a:latin typeface="Times New Roman" panose="02020603050405020304" pitchFamily="18" charset="0"/>
                    </a:rPr>
                    <a:t>b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308" name="TextBox 53"/>
                <p:cNvSpPr txBox="1"/>
                <p:nvPr>
                  <p:custDataLst>
                    <p:tags r:id="rId35"/>
                  </p:custDataLst>
                </p:nvPr>
              </p:nvSpPr>
              <p:spPr>
                <a:xfrm>
                  <a:off x="3851859" y="3595295"/>
                  <a:ext cx="338555" cy="4164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dirty="0">
                      <a:latin typeface="Times New Roman" panose="02020603050405020304" pitchFamily="18" charset="0"/>
                    </a:rPr>
                    <a:t>b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309" name="TextBox 54"/>
                <p:cNvSpPr txBox="1"/>
                <p:nvPr>
                  <p:custDataLst>
                    <p:tags r:id="rId36"/>
                  </p:custDataLst>
                </p:nvPr>
              </p:nvSpPr>
              <p:spPr>
                <a:xfrm>
                  <a:off x="3289403" y="3170927"/>
                  <a:ext cx="320922" cy="4164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dirty="0">
                      <a:latin typeface="Times New Roman" panose="02020603050405020304" pitchFamily="18" charset="0"/>
                    </a:rPr>
                    <a:t>a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310" name="TextBox 55"/>
                <p:cNvSpPr txBox="1"/>
                <p:nvPr>
                  <p:custDataLst>
                    <p:tags r:id="rId37"/>
                  </p:custDataLst>
                </p:nvPr>
              </p:nvSpPr>
              <p:spPr>
                <a:xfrm>
                  <a:off x="3128942" y="3995583"/>
                  <a:ext cx="320922" cy="4164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dirty="0">
                      <a:latin typeface="Times New Roman" panose="02020603050405020304" pitchFamily="18" charset="0"/>
                    </a:rPr>
                    <a:t>a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311" name="TextBox 56"/>
                <p:cNvSpPr txBox="1"/>
                <p:nvPr>
                  <p:custDataLst>
                    <p:tags r:id="rId38"/>
                  </p:custDataLst>
                </p:nvPr>
              </p:nvSpPr>
              <p:spPr>
                <a:xfrm>
                  <a:off x="1368263" y="5555114"/>
                  <a:ext cx="338555" cy="4164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dirty="0">
                      <a:latin typeface="Times New Roman" panose="02020603050405020304" pitchFamily="18" charset="0"/>
                    </a:rPr>
                    <a:t>b</a:t>
                  </a: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7" name="弧形 36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2179634" y="3556599"/>
                <a:ext cx="647716" cy="541401"/>
              </a:xfrm>
              <a:prstGeom prst="arc">
                <a:avLst>
                  <a:gd name="adj1" fmla="val 10639987"/>
                  <a:gd name="adj2" fmla="val 4510014"/>
                </a:avLst>
              </a:prstGeom>
              <a:noFill/>
              <a:ln w="28575" cap="flat" cmpd="sng" algn="ctr">
                <a:solidFill>
                  <a:schemeClr val="folHlink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292" name="椭圆 37"/>
              <p:cNvSpPr/>
              <p:nvPr>
                <p:custDataLst>
                  <p:tags r:id="rId19"/>
                </p:custDataLst>
              </p:nvPr>
            </p:nvSpPr>
            <p:spPr>
              <a:xfrm>
                <a:off x="1942638" y="3830602"/>
                <a:ext cx="623901" cy="612816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lg"/>
              </a:ln>
            </p:spPr>
            <p:txBody>
              <a:bodyPr/>
              <a:lstStyle/>
              <a:p>
                <a:r>
                  <a:rPr lang="en-US" altLang="zh-CN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b="1" baseline="-25000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1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" name="弧形 38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1123919" y="4517150"/>
                <a:ext cx="2759144" cy="1800436"/>
              </a:xfrm>
              <a:prstGeom prst="arc">
                <a:avLst>
                  <a:gd name="adj1" fmla="val 21420365"/>
                  <a:gd name="adj2" fmla="val 5242753"/>
                </a:avLst>
              </a:prstGeom>
              <a:noFill/>
              <a:ln w="28575" cap="flat" cmpd="sng" algn="ctr">
                <a:solidFill>
                  <a:schemeClr val="folHlink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" name="弧形 39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906427" y="4648927"/>
                <a:ext cx="1885997" cy="1633729"/>
              </a:xfrm>
              <a:prstGeom prst="arc">
                <a:avLst>
                  <a:gd name="adj1" fmla="val 5220458"/>
                  <a:gd name="adj2" fmla="val 10708007"/>
                </a:avLst>
              </a:prstGeom>
              <a:noFill/>
              <a:ln w="28575" cap="flat" cmpd="sng" algn="ctr">
                <a:solidFill>
                  <a:schemeClr val="folHlink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1269" name="组合 61"/>
          <p:cNvGrpSpPr/>
          <p:nvPr/>
        </p:nvGrpSpPr>
        <p:grpSpPr>
          <a:xfrm>
            <a:off x="3851593" y="1772920"/>
            <a:ext cx="5148262" cy="2679700"/>
            <a:chOff x="850316" y="4126166"/>
            <a:chExt cx="5149594" cy="2679517"/>
          </a:xfrm>
        </p:grpSpPr>
        <p:sp>
          <p:nvSpPr>
            <p:cNvPr id="11272" name="TextBox 7"/>
            <p:cNvSpPr txBox="1"/>
            <p:nvPr>
              <p:custDataLst>
                <p:tags r:id="rId1"/>
              </p:custDataLst>
            </p:nvPr>
          </p:nvSpPr>
          <p:spPr>
            <a:xfrm>
              <a:off x="867792" y="4126166"/>
              <a:ext cx="865729" cy="3682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ea typeface="楷体_GB2312" pitchFamily="1" charset="-122"/>
                  <a:cs typeface="Times New Roman" panose="02020603050405020304" pitchFamily="18" charset="0"/>
                </a:rPr>
                <a:t>NFA</a:t>
              </a:r>
              <a:r>
                <a:rPr lang="zh-CN" altLang="en-US" b="1" dirty="0">
                  <a:latin typeface="楷体_GB2312" pitchFamily="1" charset="-122"/>
                  <a:ea typeface="楷体_GB2312" pitchFamily="1" charset="-122"/>
                </a:rPr>
                <a:t>：</a:t>
              </a:r>
            </a:p>
          </p:txBody>
        </p:sp>
        <p:sp>
          <p:nvSpPr>
            <p:cNvPr id="11273" name="Line 4"/>
            <p:cNvSpPr/>
            <p:nvPr>
              <p:custDataLst>
                <p:tags r:id="rId2"/>
              </p:custDataLst>
            </p:nvPr>
          </p:nvSpPr>
          <p:spPr>
            <a:xfrm flipV="1">
              <a:off x="850316" y="5667415"/>
              <a:ext cx="354530" cy="168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274" name="AutoShape 12"/>
            <p:cNvSpPr/>
            <p:nvPr>
              <p:custDataLst>
                <p:tags r:id="rId3"/>
              </p:custDataLst>
            </p:nvPr>
          </p:nvSpPr>
          <p:spPr>
            <a:xfrm>
              <a:off x="5364088" y="5370236"/>
              <a:ext cx="635822" cy="649188"/>
            </a:xfrm>
            <a:custGeom>
              <a:avLst/>
              <a:gdLst>
                <a:gd name="txL" fmla="*/ 3154 w 21600"/>
                <a:gd name="txT" fmla="*/ 3154 h 21600"/>
                <a:gd name="txR" fmla="*/ 18446 w 21600"/>
                <a:gd name="txB" fmla="*/ 18446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753" y="10800"/>
                  </a:moveTo>
                  <a:cubicBezTo>
                    <a:pt x="2753" y="15244"/>
                    <a:pt x="6356" y="18847"/>
                    <a:pt x="10800" y="18847"/>
                  </a:cubicBezTo>
                  <a:cubicBezTo>
                    <a:pt x="15244" y="18847"/>
                    <a:pt x="18847" y="15244"/>
                    <a:pt x="18847" y="10800"/>
                  </a:cubicBezTo>
                  <a:cubicBezTo>
                    <a:pt x="18847" y="6356"/>
                    <a:pt x="15244" y="2753"/>
                    <a:pt x="10800" y="2753"/>
                  </a:cubicBezTo>
                  <a:cubicBezTo>
                    <a:pt x="6356" y="2753"/>
                    <a:pt x="2753" y="6356"/>
                    <a:pt x="2753" y="10800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254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r>
                <a:rPr lang="en-US" altLang="zh-CN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b="1" baseline="-25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3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1275" name="椭圆 10"/>
            <p:cNvSpPr/>
            <p:nvPr>
              <p:custDataLst>
                <p:tags r:id="rId4"/>
              </p:custDataLst>
            </p:nvPr>
          </p:nvSpPr>
          <p:spPr>
            <a:xfrm>
              <a:off x="1225582" y="5362691"/>
              <a:ext cx="623901" cy="61281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  <p:txBody>
            <a:bodyPr/>
            <a:lstStyle/>
            <a:p>
              <a:r>
                <a:rPr lang="en-US" altLang="zh-CN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b="1" baseline="-25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276" name="椭圆 11"/>
            <p:cNvSpPr/>
            <p:nvPr>
              <p:custDataLst>
                <p:tags r:id="rId5"/>
              </p:custDataLst>
            </p:nvPr>
          </p:nvSpPr>
          <p:spPr>
            <a:xfrm>
              <a:off x="3993349" y="5349136"/>
              <a:ext cx="623901" cy="61281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  <p:txBody>
            <a:bodyPr/>
            <a:lstStyle/>
            <a:p>
              <a:r>
                <a:rPr lang="en-US" altLang="zh-CN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b="1" baseline="-25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6" name="弧形 15"/>
            <p:cNvSpPr/>
            <p:nvPr>
              <p:custDataLst>
                <p:tags r:id="rId6"/>
              </p:custDataLst>
            </p:nvPr>
          </p:nvSpPr>
          <p:spPr bwMode="auto">
            <a:xfrm>
              <a:off x="1237766" y="5792927"/>
              <a:ext cx="649455" cy="541301"/>
            </a:xfrm>
            <a:prstGeom prst="arc">
              <a:avLst>
                <a:gd name="adj1" fmla="val 19038752"/>
                <a:gd name="adj2" fmla="val 13052849"/>
              </a:avLst>
            </a:prstGeom>
            <a:noFill/>
            <a:ln w="28575" cap="flat" cmpd="sng" algn="ctr">
              <a:solidFill>
                <a:schemeClr val="folHlink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78" name="TextBox 16"/>
            <p:cNvSpPr txBox="1"/>
            <p:nvPr>
              <p:custDataLst>
                <p:tags r:id="rId7"/>
              </p:custDataLst>
            </p:nvPr>
          </p:nvSpPr>
          <p:spPr>
            <a:xfrm>
              <a:off x="1539988" y="4585492"/>
              <a:ext cx="521126" cy="463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279" name="TextBox 17"/>
            <p:cNvSpPr txBox="1"/>
            <p:nvPr>
              <p:custDataLst>
                <p:tags r:id="rId8"/>
              </p:custDataLst>
            </p:nvPr>
          </p:nvSpPr>
          <p:spPr>
            <a:xfrm>
              <a:off x="2126114" y="5242013"/>
              <a:ext cx="32092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</a:rPr>
                <a:t>a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280" name="TextBox 20"/>
            <p:cNvSpPr txBox="1"/>
            <p:nvPr>
              <p:custDataLst>
                <p:tags r:id="rId9"/>
              </p:custDataLst>
            </p:nvPr>
          </p:nvSpPr>
          <p:spPr>
            <a:xfrm>
              <a:off x="4801823" y="5193879"/>
              <a:ext cx="338555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</a:rPr>
                <a:t>b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281" name="TextBox 26"/>
            <p:cNvSpPr txBox="1"/>
            <p:nvPr>
              <p:custDataLst>
                <p:tags r:id="rId10"/>
              </p:custDataLst>
            </p:nvPr>
          </p:nvSpPr>
          <p:spPr>
            <a:xfrm>
              <a:off x="3421670" y="5242013"/>
              <a:ext cx="310147" cy="36827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1282" name="TextBox 29"/>
            <p:cNvSpPr txBox="1"/>
            <p:nvPr>
              <p:custDataLst>
                <p:tags r:id="rId11"/>
              </p:custDataLst>
            </p:nvPr>
          </p:nvSpPr>
          <p:spPr>
            <a:xfrm>
              <a:off x="1419560" y="6344018"/>
              <a:ext cx="338555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</a:rPr>
                <a:t>b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283" name="椭圆 24"/>
            <p:cNvSpPr/>
            <p:nvPr>
              <p:custDataLst>
                <p:tags r:id="rId12"/>
              </p:custDataLst>
            </p:nvPr>
          </p:nvSpPr>
          <p:spPr>
            <a:xfrm>
              <a:off x="2598526" y="5367069"/>
              <a:ext cx="623901" cy="61281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  <p:txBody>
            <a:bodyPr/>
            <a:lstStyle/>
            <a:p>
              <a:r>
                <a:rPr lang="en-US" altLang="zh-CN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b="1" baseline="-250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8" name="弧形 57"/>
            <p:cNvSpPr/>
            <p:nvPr>
              <p:custDataLst>
                <p:tags r:id="rId13"/>
              </p:custDataLst>
            </p:nvPr>
          </p:nvSpPr>
          <p:spPr bwMode="auto">
            <a:xfrm flipV="1">
              <a:off x="1240942" y="4945260"/>
              <a:ext cx="647868" cy="593684"/>
            </a:xfrm>
            <a:prstGeom prst="arc">
              <a:avLst>
                <a:gd name="adj1" fmla="val 19038752"/>
                <a:gd name="adj2" fmla="val 13052849"/>
              </a:avLst>
            </a:prstGeom>
            <a:noFill/>
            <a:ln w="28575" cap="flat" cmpd="sng" algn="ctr">
              <a:solidFill>
                <a:schemeClr val="folHlink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1285" name="直接箭头连接符 58"/>
            <p:cNvCxnSpPr>
              <a:stCxn id="11275" idx="6"/>
              <a:endCxn id="11283" idx="2"/>
            </p:cNvCxnSpPr>
            <p:nvPr>
              <p:custDataLst>
                <p:tags r:id="rId14"/>
              </p:custDataLst>
            </p:nvPr>
          </p:nvCxnSpPr>
          <p:spPr>
            <a:xfrm>
              <a:off x="1849483" y="5669099"/>
              <a:ext cx="749043" cy="4378"/>
            </a:xfrm>
            <a:prstGeom prst="straightConnector1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arrow" w="med" len="med"/>
            </a:ln>
          </p:spPr>
        </p:cxnSp>
        <p:cxnSp>
          <p:nvCxnSpPr>
            <p:cNvPr id="11286" name="直接箭头连接符 62"/>
            <p:cNvCxnSpPr/>
            <p:nvPr>
              <p:custDataLst>
                <p:tags r:id="rId15"/>
              </p:custDataLst>
            </p:nvPr>
          </p:nvCxnSpPr>
          <p:spPr>
            <a:xfrm>
              <a:off x="3224309" y="5694830"/>
              <a:ext cx="749043" cy="4378"/>
            </a:xfrm>
            <a:prstGeom prst="straightConnector1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arrow" w="med" len="med"/>
            </a:ln>
          </p:spPr>
        </p:cxnSp>
        <p:cxnSp>
          <p:nvCxnSpPr>
            <p:cNvPr id="11287" name="直接箭头连接符 63"/>
            <p:cNvCxnSpPr/>
            <p:nvPr>
              <p:custDataLst>
                <p:tags r:id="rId16"/>
              </p:custDataLst>
            </p:nvPr>
          </p:nvCxnSpPr>
          <p:spPr>
            <a:xfrm>
              <a:off x="4596580" y="5656922"/>
              <a:ext cx="749043" cy="4378"/>
            </a:xfrm>
            <a:prstGeom prst="straightConnector1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arrow" w="med" len="med"/>
            </a:ln>
          </p:spPr>
        </p:cxnSp>
      </p:grpSp>
      <p:sp>
        <p:nvSpPr>
          <p:cNvPr id="8" name="文本框 7"/>
          <p:cNvSpPr txBox="1"/>
          <p:nvPr/>
        </p:nvSpPr>
        <p:spPr>
          <a:xfrm>
            <a:off x="2195830" y="4796790"/>
            <a:ext cx="4572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识别</a:t>
            </a:r>
            <a:r>
              <a:rPr kumimoji="1" lang="en-US" altLang="zh-CN" sz="24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abb</a:t>
            </a:r>
            <a:r>
              <a:rPr kumimoji="1" lang="en-US" altLang="zh-CN" sz="24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     </a:t>
            </a:r>
            <a:r>
              <a:rPr kumimoji="1" lang="en-US" altLang="zh-CN" sz="24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aabb</a:t>
            </a:r>
            <a:r>
              <a:rPr kumimoji="1" lang="en-US" altLang="zh-CN" sz="24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       </a:t>
            </a:r>
            <a:r>
              <a:rPr kumimoji="1" lang="en-US" altLang="zh-CN" sz="2400" strike="sngStrike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abab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3"/>
          </p:nvPr>
        </p:nvSpPr>
        <p:spPr>
          <a:xfrm>
            <a:off x="251520" y="260648"/>
            <a:ext cx="8784976" cy="5832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l-GR" altLang="zh-CN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Σ</a:t>
            </a:r>
            <a:r>
              <a:rPr lang="zh-CN" altLang="en-US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*中的任何字符串</a:t>
            </a:r>
            <a:r>
              <a:rPr lang="en-US" altLang="zh-CN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t, </a:t>
            </a:r>
            <a:r>
              <a:rPr lang="zh-CN" altLang="en-US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若存在一条从初态到终态的路径（该路径上的输入符依次连接起来就是字符串</a:t>
            </a:r>
            <a:r>
              <a:rPr lang="en-US" altLang="zh-CN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），则</a:t>
            </a:r>
            <a:r>
              <a:rPr lang="en-US" altLang="zh-CN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DFA M</a:t>
            </a:r>
            <a:r>
              <a:rPr lang="zh-CN" altLang="en-US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所接受，或者说</a:t>
            </a:r>
            <a:r>
              <a:rPr lang="en-US" altLang="zh-CN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是该</a:t>
            </a:r>
            <a:r>
              <a:rPr lang="en-US" altLang="zh-CN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DFA</a:t>
            </a:r>
            <a:r>
              <a:rPr lang="zh-CN" altLang="en-US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可识别的。</a:t>
            </a:r>
            <a:endParaRPr lang="en-US" altLang="zh-CN" sz="2400" b="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DFA M</a:t>
            </a:r>
            <a:r>
              <a:rPr lang="zh-CN" altLang="en-US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所能接受的字符串的全体称为该自动机识别的语言，记为</a:t>
            </a:r>
            <a:r>
              <a:rPr lang="en-US" altLang="zh-CN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L(M)</a:t>
            </a:r>
          </a:p>
          <a:p>
            <a:pPr marL="0" indent="0"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FA M </a:t>
            </a:r>
            <a:r>
              <a:rPr lang="zh-CN" altLang="en-US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FA M’</a:t>
            </a:r>
            <a:r>
              <a:rPr lang="zh-CN" altLang="en-US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所识别的语言</a:t>
            </a:r>
            <a:r>
              <a:rPr lang="en-US" altLang="zh-CN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L(M)=L(M’),</a:t>
            </a:r>
            <a:r>
              <a:rPr lang="zh-CN" altLang="en-US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M’ </a:t>
            </a:r>
            <a:r>
              <a:rPr lang="zh-CN" altLang="en-US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等价。</a:t>
            </a:r>
          </a:p>
          <a:p>
            <a:pPr marL="0" indent="0">
              <a:buNone/>
            </a:pPr>
            <a:endParaRPr lang="en-US" altLang="zh-CN" sz="2400" b="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思考：如何找到与</a:t>
            </a:r>
            <a:r>
              <a:rPr lang="en-US" altLang="zh-CN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NFA</a:t>
            </a:r>
            <a:r>
              <a:rPr lang="zh-CN" altLang="en-US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等价的</a:t>
            </a:r>
            <a:r>
              <a:rPr lang="en-US" altLang="zh-CN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DFA?</a:t>
            </a:r>
          </a:p>
          <a:p>
            <a:pPr marL="0" indent="0">
              <a:buNone/>
            </a:pPr>
            <a:endParaRPr lang="en-US" altLang="zh-CN" sz="2400" b="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是否存在？</a:t>
            </a:r>
          </a:p>
          <a:p>
            <a:pPr marL="0" indent="0" algn="ctr"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如何找到？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算法思想：</a:t>
            </a:r>
            <a:r>
              <a:rPr lang="en-US" altLang="zh-CN" sz="2400" b="0" dirty="0">
                <a:latin typeface="+mn-ea"/>
              </a:rPr>
              <a:t>NFA</a:t>
            </a:r>
            <a:r>
              <a:rPr lang="zh-CN" altLang="en-US" sz="2400" b="0" dirty="0">
                <a:latin typeface="+mn-ea"/>
              </a:rPr>
              <a:t>和</a:t>
            </a:r>
            <a:r>
              <a:rPr lang="en-US" altLang="zh-CN" sz="2400" b="0" dirty="0">
                <a:latin typeface="+mn-ea"/>
              </a:rPr>
              <a:t>DFA</a:t>
            </a:r>
            <a:r>
              <a:rPr lang="zh-CN" altLang="en-US" sz="2400" b="0" dirty="0">
                <a:latin typeface="+mn-ea"/>
              </a:rPr>
              <a:t>的本质区别在于</a:t>
            </a:r>
            <a:r>
              <a:rPr lang="en-US" altLang="zh-CN" sz="2400" b="0" dirty="0">
                <a:latin typeface="+mn-ea"/>
              </a:rPr>
              <a:t>—</a:t>
            </a:r>
            <a:r>
              <a:rPr lang="zh-CN" altLang="en-US" sz="2400" b="0" dirty="0">
                <a:latin typeface="+mn-ea"/>
              </a:rPr>
              <a:t>在某一状态下如果输入某个字符后，</a:t>
            </a:r>
            <a:r>
              <a:rPr lang="en-US" altLang="zh-CN" sz="2400" b="0" dirty="0">
                <a:latin typeface="+mn-ea"/>
              </a:rPr>
              <a:t>NFA</a:t>
            </a:r>
            <a:r>
              <a:rPr lang="zh-CN" altLang="en-US" sz="2400" b="0" dirty="0">
                <a:latin typeface="+mn-ea"/>
              </a:rPr>
              <a:t>可以转换到多个后继状态（是一个后继状态集），而</a:t>
            </a:r>
            <a:r>
              <a:rPr lang="en-US" altLang="zh-CN" sz="2400" b="0" dirty="0">
                <a:latin typeface="+mn-ea"/>
              </a:rPr>
              <a:t>DFA</a:t>
            </a:r>
            <a:r>
              <a:rPr lang="zh-CN" altLang="en-US" sz="2400" b="0" dirty="0">
                <a:latin typeface="+mn-ea"/>
              </a:rPr>
              <a:t>只能转换到一个状态，所以可以让</a:t>
            </a:r>
            <a:r>
              <a:rPr lang="en-US" altLang="zh-CN" sz="2400" b="0" dirty="0">
                <a:latin typeface="+mn-ea"/>
              </a:rPr>
              <a:t>DFA</a:t>
            </a:r>
            <a:r>
              <a:rPr lang="zh-CN" altLang="en-US" sz="2400" b="0" dirty="0">
                <a:latin typeface="+mn-ea"/>
              </a:rPr>
              <a:t>的一个状态来对应</a:t>
            </a:r>
            <a:r>
              <a:rPr lang="en-US" altLang="zh-CN" sz="2400" b="0" dirty="0">
                <a:latin typeface="+mn-ea"/>
              </a:rPr>
              <a:t>NFA</a:t>
            </a:r>
            <a:r>
              <a:rPr lang="zh-CN" altLang="en-US" sz="2400" b="0" dirty="0">
                <a:latin typeface="+mn-ea"/>
              </a:rPr>
              <a:t>的这个后继状态集，这样构造出来的</a:t>
            </a:r>
            <a:r>
              <a:rPr lang="en-US" altLang="zh-CN" sz="2400" b="0" dirty="0">
                <a:latin typeface="+mn-ea"/>
              </a:rPr>
              <a:t>DFA</a:t>
            </a:r>
            <a:r>
              <a:rPr lang="zh-CN" altLang="en-US" sz="2400" b="0" dirty="0">
                <a:latin typeface="+mn-ea"/>
              </a:rPr>
              <a:t>便与</a:t>
            </a:r>
            <a:r>
              <a:rPr lang="en-US" altLang="zh-CN" sz="2400" b="0" dirty="0">
                <a:latin typeface="+mn-ea"/>
              </a:rPr>
              <a:t>NFA</a:t>
            </a:r>
            <a:r>
              <a:rPr lang="zh-CN" altLang="en-US" sz="2400" b="0" dirty="0">
                <a:latin typeface="+mn-ea"/>
              </a:rPr>
              <a:t>等价。</a:t>
            </a:r>
          </a:p>
          <a:p>
            <a:pPr marL="0" indent="0" algn="ctr">
              <a:buNone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×(∑∪{ε})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K</a:t>
            </a:r>
            <a:r>
              <a:rPr lang="zh-CN" altLang="zh-CN" sz="2400" dirty="0">
                <a:solidFill>
                  <a:srgbClr val="FF0000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子集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K×∑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K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b="0" dirty="0">
              <a:latin typeface="+mn-ea"/>
            </a:endParaRPr>
          </a:p>
          <a:p>
            <a:pPr marL="0" indent="0"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：一个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 N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：一个接收相同语言的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 D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方法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：为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构造一个转换表 </a:t>
            </a:r>
            <a:r>
              <a:rPr lang="en-US" altLang="zh-C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46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有限状态自动机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 N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的状态集的子集，状态集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闭包表示为</a:t>
            </a:r>
            <a:r>
              <a:rPr lang="el-GR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-closure(I)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indent="0">
              <a:buNone/>
            </a:pPr>
            <a:r>
              <a:rPr lang="zh-CN" altLang="en-US" sz="2400" b="0" dirty="0">
                <a:latin typeface="+mn-ea"/>
              </a:rPr>
              <a:t>若状态</a:t>
            </a:r>
            <a:r>
              <a:rPr lang="en-US" altLang="zh-CN" sz="2400" b="0" dirty="0">
                <a:latin typeface="+mn-ea"/>
              </a:rPr>
              <a:t>q</a:t>
            </a:r>
            <a:r>
              <a:rPr lang="az-Cyrl-AZ" altLang="zh-CN" sz="2400" b="0" dirty="0">
                <a:latin typeface="+mn-ea"/>
              </a:rPr>
              <a:t>∈</a:t>
            </a:r>
            <a:r>
              <a:rPr lang="en-US" altLang="zh-CN" sz="2400" b="0" dirty="0">
                <a:latin typeface="+mn-ea"/>
              </a:rPr>
              <a:t>I</a:t>
            </a:r>
            <a:r>
              <a:rPr lang="zh-CN" altLang="en-US" sz="2400" b="0" dirty="0">
                <a:latin typeface="+mn-ea"/>
              </a:rPr>
              <a:t>，则</a:t>
            </a:r>
            <a:r>
              <a:rPr lang="en-US" altLang="zh-CN" sz="2400" b="0" dirty="0">
                <a:latin typeface="+mn-ea"/>
              </a:rPr>
              <a:t>q</a:t>
            </a:r>
            <a:r>
              <a:rPr lang="zh-CN" altLang="en-US" sz="2400" b="0" dirty="0">
                <a:latin typeface="+mn-ea"/>
              </a:rPr>
              <a:t>属于</a:t>
            </a:r>
            <a:r>
              <a:rPr lang="el-GR" altLang="zh-CN" sz="2400" b="0" dirty="0">
                <a:latin typeface="+mn-ea"/>
              </a:rPr>
              <a:t>ε</a:t>
            </a:r>
            <a:r>
              <a:rPr lang="en-US" altLang="zh-CN" sz="2400" b="0" dirty="0">
                <a:latin typeface="+mn-ea"/>
              </a:rPr>
              <a:t>-closure(I)</a:t>
            </a:r>
            <a:r>
              <a:rPr lang="zh-CN" altLang="en-US" sz="2400" b="0" dirty="0">
                <a:latin typeface="+mn-ea"/>
              </a:rPr>
              <a:t>。</a:t>
            </a:r>
            <a:endParaRPr lang="en-US" altLang="zh-CN" sz="2400" b="0" dirty="0">
              <a:latin typeface="+mn-ea"/>
            </a:endParaRPr>
          </a:p>
          <a:p>
            <a:pPr marL="360045" indent="0">
              <a:buNone/>
            </a:pPr>
            <a:r>
              <a:rPr lang="zh-CN" altLang="en-US" sz="2400" b="0" dirty="0">
                <a:latin typeface="+mn-ea"/>
              </a:rPr>
              <a:t>若状态</a:t>
            </a:r>
            <a:r>
              <a:rPr lang="en-US" altLang="zh-CN" sz="2400" b="0" dirty="0" err="1">
                <a:latin typeface="+mn-ea"/>
              </a:rPr>
              <a:t>q∈I</a:t>
            </a:r>
            <a:r>
              <a:rPr lang="zh-CN" altLang="en-US" sz="2400" b="0" dirty="0">
                <a:latin typeface="+mn-ea"/>
              </a:rPr>
              <a:t>，则从</a:t>
            </a:r>
            <a:r>
              <a:rPr lang="en-US" altLang="zh-CN" sz="2400" b="0" dirty="0">
                <a:latin typeface="+mn-ea"/>
              </a:rPr>
              <a:t>q</a:t>
            </a:r>
            <a:r>
              <a:rPr lang="zh-CN" altLang="en-US" sz="2400" b="0" dirty="0">
                <a:latin typeface="+mn-ea"/>
              </a:rPr>
              <a:t>出发经任意多条</a:t>
            </a:r>
            <a:r>
              <a:rPr lang="el-GR" altLang="zh-CN" sz="2400" b="0" dirty="0">
                <a:latin typeface="+mn-ea"/>
              </a:rPr>
              <a:t>ε</a:t>
            </a:r>
            <a:r>
              <a:rPr lang="zh-CN" altLang="en-US" sz="2400" b="0" dirty="0">
                <a:latin typeface="+mn-ea"/>
              </a:rPr>
              <a:t>弧能够到达的任何状态</a:t>
            </a:r>
            <a:r>
              <a:rPr lang="en-US" altLang="zh-CN" sz="2400" b="0" dirty="0">
                <a:latin typeface="+mn-ea"/>
              </a:rPr>
              <a:t>q’</a:t>
            </a:r>
            <a:r>
              <a:rPr lang="zh-CN" altLang="en-US" sz="2400" b="0" dirty="0">
                <a:latin typeface="+mn-ea"/>
              </a:rPr>
              <a:t>都属于</a:t>
            </a:r>
            <a:r>
              <a:rPr lang="el-GR" altLang="zh-CN" sz="2400" b="0" dirty="0">
                <a:latin typeface="+mn-ea"/>
              </a:rPr>
              <a:t>ε</a:t>
            </a:r>
            <a:r>
              <a:rPr lang="en-US" altLang="zh-CN" sz="2400" b="0" dirty="0">
                <a:latin typeface="+mn-ea"/>
              </a:rPr>
              <a:t>-closure(I)</a:t>
            </a:r>
            <a:r>
              <a:rPr lang="zh-CN" altLang="en-US" sz="2400" b="0" dirty="0">
                <a:latin typeface="+mn-ea"/>
              </a:rPr>
              <a:t>。</a:t>
            </a:r>
            <a:endParaRPr lang="en-US" altLang="zh-CN" sz="2400" b="0" dirty="0">
              <a:latin typeface="+mn-ea"/>
            </a:endParaRPr>
          </a:p>
          <a:p>
            <a:pPr marL="360045" indent="0">
              <a:buNone/>
            </a:pPr>
            <a:endParaRPr lang="en-US" altLang="zh-CN" sz="2400" b="0" dirty="0">
              <a:latin typeface="+mn-ea"/>
            </a:endParaRPr>
          </a:p>
          <a:p>
            <a:pPr marL="360045" indent="0">
              <a:buNone/>
            </a:pPr>
            <a:endParaRPr lang="en-US" altLang="zh-CN" sz="2400" b="0" dirty="0">
              <a:latin typeface="+mn-ea"/>
            </a:endParaRPr>
          </a:p>
          <a:p>
            <a:pPr marL="360045" indent="0">
              <a:buNone/>
            </a:pPr>
            <a:endParaRPr lang="en-US" altLang="zh-CN" sz="2400" b="0" dirty="0">
              <a:latin typeface="+mn-ea"/>
            </a:endParaRPr>
          </a:p>
          <a:p>
            <a:pPr marL="360045" indent="0">
              <a:buNone/>
            </a:pPr>
            <a:endParaRPr lang="en-US" sz="2400" b="0" dirty="0">
              <a:latin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47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3.5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有限状态自动机</a:t>
            </a:r>
            <a:endParaRPr lang="en-US" dirty="0"/>
          </a:p>
        </p:txBody>
      </p:sp>
      <p:pic>
        <p:nvPicPr>
          <p:cNvPr id="7" name="Picture 2" descr="C:\Users\Fuhu\Desktop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7" y="1772816"/>
            <a:ext cx="8784976" cy="2666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/>
        </p:nvSpPr>
        <p:spPr>
          <a:xfrm>
            <a:off x="207740" y="4744617"/>
            <a:ext cx="20008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ε-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closure(3) </a:t>
            </a:r>
          </a:p>
        </p:txBody>
      </p:sp>
      <p:sp>
        <p:nvSpPr>
          <p:cNvPr id="9" name="矩形 8"/>
          <p:cNvSpPr/>
          <p:nvPr/>
        </p:nvSpPr>
        <p:spPr>
          <a:xfrm>
            <a:off x="2214711" y="4727478"/>
            <a:ext cx="27975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{3, 4, 5, 6, 7, 9}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0" y="5250698"/>
                <a:ext cx="896448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l-GR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ε-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closure(0, 1, 3) = </a:t>
                </a:r>
                <a:r>
                  <a:rPr lang="el-GR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ε-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closure(0)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/>
                        <a:ea typeface="Cambria Math" panose="02040503050406030204"/>
                      </a:rPr>
                      <m:t>∪</m:t>
                    </m:r>
                  </m:oMath>
                </a14:m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ε-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closure(1)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/>
                        <a:ea typeface="Cambria Math" panose="02040503050406030204"/>
                      </a:rPr>
                      <m:t>∪</m:t>
                    </m:r>
                  </m:oMath>
                </a14:m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ε-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closure(3) </a:t>
                </a: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50698"/>
                <a:ext cx="8964488" cy="523220"/>
              </a:xfrm>
              <a:prstGeom prst="rect">
                <a:avLst/>
              </a:prstGeom>
              <a:blipFill rotWithShape="1">
                <a:blip r:embed="rId3"/>
                <a:stretch>
                  <a:fillRect t="-99" r="2" b="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2411760" y="5779752"/>
            <a:ext cx="35157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={0, 1, 3, 4, 5, 6, 7, 9}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0" dirty="0"/>
              <a:t>状态集</a:t>
            </a:r>
            <a:r>
              <a:rPr lang="en-US" altLang="zh-CN" b="0" dirty="0"/>
              <a:t>I</a:t>
            </a:r>
            <a:r>
              <a:rPr lang="zh-CN" altLang="en-US" b="0" dirty="0"/>
              <a:t>的</a:t>
            </a:r>
            <a:r>
              <a:rPr lang="en-US" altLang="zh-CN" b="0" dirty="0"/>
              <a:t>a</a:t>
            </a:r>
            <a:r>
              <a:rPr lang="zh-CN" altLang="en-US" b="0" dirty="0"/>
              <a:t>弧转换。表示为</a:t>
            </a:r>
            <a:r>
              <a:rPr lang="en-US" altLang="zh-CN" b="0" dirty="0"/>
              <a:t>J=move(</a:t>
            </a:r>
            <a:r>
              <a:rPr lang="en-US" altLang="zh-CN" b="0" dirty="0" err="1"/>
              <a:t>I,a</a:t>
            </a:r>
            <a:r>
              <a:rPr lang="en-US" altLang="zh-CN" b="0" dirty="0"/>
              <a:t>)</a:t>
            </a:r>
          </a:p>
          <a:p>
            <a:pPr marL="360045" indent="0">
              <a:buNone/>
            </a:pPr>
            <a:r>
              <a:rPr lang="en-US" sz="2400" b="0" dirty="0"/>
              <a:t>J</a:t>
            </a:r>
            <a:r>
              <a:rPr lang="zh-CN" altLang="en-US" sz="2400" b="0" dirty="0">
                <a:latin typeface="+mn-ea"/>
              </a:rPr>
              <a:t>是所有从 </a:t>
            </a:r>
            <a:r>
              <a:rPr lang="en-US" altLang="zh-CN" sz="2400" b="0" dirty="0">
                <a:latin typeface="+mn-ea"/>
              </a:rPr>
              <a:t>I </a:t>
            </a:r>
            <a:r>
              <a:rPr lang="zh-CN" altLang="en-US" sz="2400" b="0" dirty="0">
                <a:latin typeface="+mn-ea"/>
              </a:rPr>
              <a:t>中任意状态出发经过一条</a:t>
            </a:r>
            <a:r>
              <a:rPr lang="en-US" altLang="zh-CN" sz="2400" b="0" dirty="0">
                <a:latin typeface="+mn-ea"/>
              </a:rPr>
              <a:t>a</a:t>
            </a:r>
            <a:r>
              <a:rPr lang="zh-CN" altLang="en-US" sz="2400" b="0" dirty="0">
                <a:latin typeface="+mn-ea"/>
              </a:rPr>
              <a:t>弧转换而到达的状态的集合</a:t>
            </a:r>
            <a:r>
              <a:rPr lang="zh-CN" altLang="en-US" sz="2400" b="0" dirty="0"/>
              <a:t>。</a:t>
            </a:r>
            <a:endParaRPr lang="en-US" sz="2400" b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48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3.5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有限状态自动机</a:t>
            </a:r>
            <a:endParaRPr lang="en-US" dirty="0"/>
          </a:p>
        </p:txBody>
      </p:sp>
      <p:pic>
        <p:nvPicPr>
          <p:cNvPr id="7" name="Picture 2" descr="C:\Users\Fuhu\Desktop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" y="1795686"/>
            <a:ext cx="8784976" cy="2666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/>
        </p:nvSpPr>
        <p:spPr>
          <a:xfrm>
            <a:off x="323528" y="4581128"/>
            <a:ext cx="17604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move(5, b)</a:t>
            </a:r>
          </a:p>
        </p:txBody>
      </p:sp>
      <p:sp>
        <p:nvSpPr>
          <p:cNvPr id="9" name="矩形 8"/>
          <p:cNvSpPr/>
          <p:nvPr/>
        </p:nvSpPr>
        <p:spPr>
          <a:xfrm>
            <a:off x="2411759" y="4581128"/>
            <a:ext cx="10021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{5}</a:t>
            </a:r>
            <a:endParaRPr lang="en-US" sz="2800" dirty="0"/>
          </a:p>
        </p:txBody>
      </p:sp>
      <p:sp>
        <p:nvSpPr>
          <p:cNvPr id="10" name="矩形 9"/>
          <p:cNvSpPr/>
          <p:nvPr/>
        </p:nvSpPr>
        <p:spPr>
          <a:xfrm>
            <a:off x="344860" y="5229200"/>
            <a:ext cx="32576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move([1,2,3,4,5], b)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405572" y="5229200"/>
            <a:ext cx="13612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{1, 5}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20650" y="1654810"/>
            <a:ext cx="8881745" cy="4818380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2400" b="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必须找出当</a:t>
            </a:r>
            <a:r>
              <a:rPr lang="zh-CN" altLang="en-US" sz="2400" b="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NFA </a:t>
            </a:r>
            <a:r>
              <a:rPr lang="en-US" altLang="zh-CN" sz="2400" b="0" i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b="0" i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400" b="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读入了某个输入串之后可能位于的所有状态集合。</a:t>
            </a:r>
            <a:endParaRPr lang="en-US" altLang="zh-CN" sz="2400" b="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在读入第一个输入符号之前</a:t>
            </a:r>
          </a:p>
          <a:p>
            <a:pPr marL="0" indent="0">
              <a:buNone/>
            </a:pPr>
            <a:endParaRPr lang="en-US" altLang="zh-CN" sz="2400" b="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0" i="1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b="0" i="1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可以位于集合</a:t>
            </a:r>
            <a:r>
              <a:rPr lang="en-US" altLang="zh-CN" sz="2400" b="0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ε-</a:t>
            </a:r>
            <a:r>
              <a:rPr lang="en-US" altLang="zh-CN" sz="2400" b="0" i="1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closure</a:t>
            </a:r>
            <a:r>
              <a:rPr lang="en-US" altLang="zh-CN" sz="2400" b="0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400" b="0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中的任何状态上</a:t>
            </a: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为开始状态。</a:t>
            </a:r>
            <a:endParaRPr lang="en-US" altLang="zh-CN" sz="2400" b="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b="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49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3.5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有限状态自动机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假定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在读入输入串</a:t>
            </a: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i="1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400" b="0" i="1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之后可以位于集合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 </a:t>
            </a:r>
            <a:r>
              <a:rPr lang="zh-CN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中的状态上。如果下一个输入符号是</a:t>
            </a:r>
            <a:r>
              <a:rPr lang="en-US" altLang="zh-CN" sz="2400" b="0" i="1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的下一状态是？</a:t>
            </a:r>
            <a:endParaRPr lang="en-US" altLang="zh-CN" sz="2400" b="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b="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0" i="1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可以立即移动到集合</a:t>
            </a:r>
            <a:r>
              <a:rPr lang="en-US" altLang="zh-CN" sz="2400" b="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move 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中的任何状态。</a:t>
            </a:r>
            <a:endParaRPr lang="en-US" altLang="zh-CN" sz="2400" b="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b="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由于</a:t>
            </a:r>
            <a:r>
              <a:rPr lang="en-US" altLang="zh-CN" sz="2400" b="0" i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可以在读入</a:t>
            </a: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i="1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i="1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后再执行几个</a:t>
            </a: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ε</a:t>
            </a:r>
            <a:r>
              <a:rPr lang="zh-CN" altLang="en-US" sz="2400" b="0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转换，</a:t>
            </a: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因此。。。</a:t>
            </a:r>
            <a:endParaRPr lang="en-US" altLang="zh-CN" sz="2400" b="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在读入</a:t>
            </a:r>
            <a:r>
              <a:rPr lang="en-US" altLang="zh-CN" sz="2400" b="0" dirty="0" err="1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i="1" dirty="0" err="1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之后可位于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ε-</a:t>
            </a:r>
            <a:r>
              <a:rPr lang="en-US" altLang="zh-CN" sz="2400" b="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closure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move 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))</a:t>
            </a:r>
            <a:r>
              <a:rPr lang="zh-CN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中的任何状态上</a:t>
            </a: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400" b="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altLang="zh-CN" sz="2400" b="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Dtran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2400" b="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T,a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]= ε-</a:t>
            </a:r>
            <a:r>
              <a:rPr lang="en-US" altLang="zh-CN" sz="2400" b="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closure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move 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))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3.5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有限状态自动机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51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3"/>
          </p:nvPr>
        </p:nvSpPr>
        <p:spPr>
          <a:xfrm>
            <a:off x="179450" y="188809"/>
            <a:ext cx="8240834" cy="1005264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根据这些构想，可以得到构造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的状态集合</a:t>
            </a:r>
            <a:r>
              <a:rPr lang="en-US" altLang="zh-CN" sz="24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Dstates</a:t>
            </a:r>
            <a:r>
              <a:rPr lang="zh-CN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的转换函数</a:t>
            </a:r>
            <a:r>
              <a:rPr lang="en-US" altLang="zh-CN" sz="2400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zh-CN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的算法：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7150" y="1544955"/>
          <a:ext cx="8996680" cy="4279265"/>
        </p:xfrm>
        <a:graphic>
          <a:graphicData uri="http://schemas.openxmlformats.org/drawingml/2006/table">
            <a:tbl>
              <a:tblPr/>
              <a:tblGrid>
                <a:gridCol w="8996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9265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altLang="zh-CN" sz="2400" kern="100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2400" kern="100" baseline="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zh-CN" sz="2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一开始，</a:t>
                      </a:r>
                      <a:r>
                        <a:rPr lang="en-US" sz="2400" kern="100" dirty="0" err="1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lang="en-US" sz="2400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40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closure</a:t>
                      </a:r>
                      <a:r>
                        <a:rPr lang="en-US" sz="2400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2400" kern="100" baseline="-250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400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2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是</a:t>
                      </a:r>
                      <a:r>
                        <a:rPr lang="en-US" sz="2400" kern="100" dirty="0" err="1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400" i="1" kern="100" dirty="0" err="1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states</a:t>
                      </a:r>
                      <a:r>
                        <a:rPr lang="zh-CN" sz="2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中的唯一状态，未加标记</a:t>
                      </a: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while</a:t>
                      </a: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zh-CN" sz="2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在</a:t>
                      </a:r>
                      <a:r>
                        <a:rPr lang="en-US" sz="2400" kern="100" dirty="0" err="1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400" i="1" kern="100" dirty="0" err="1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states</a:t>
                      </a:r>
                      <a:r>
                        <a:rPr lang="zh-CN" sz="2400" kern="1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中有一个未标记状态</a:t>
                      </a:r>
                      <a:r>
                        <a:rPr lang="en-US" sz="2400" i="1" kern="1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 {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indent="333375" algn="just">
                        <a:spcAft>
                          <a:spcPts val="0"/>
                        </a:spcAft>
                      </a:pP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zh-CN" sz="2400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给</a:t>
                      </a:r>
                      <a:r>
                        <a:rPr lang="en-US" sz="240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zh-CN" altLang="en-US" sz="240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sz="2400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加上标记</a:t>
                      </a: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indent="333375" algn="just">
                        <a:spcAft>
                          <a:spcPts val="0"/>
                        </a:spcAft>
                      </a:pPr>
                      <a:r>
                        <a:rPr lang="zh-CN" altLang="en-US" sz="2400" b="1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2400" b="1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</a:t>
                      </a:r>
                      <a:r>
                        <a:rPr lang="zh-CN" altLang="en-US" sz="2400" b="1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sz="2400" kern="1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每个输入符号</a:t>
                      </a:r>
                      <a:r>
                        <a:rPr lang="en-US" sz="2400" i="1" kern="1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){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indent="333375"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240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en-US" sz="2400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sz="2400" kern="100" dirty="0" err="1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lang="en-US" sz="2400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240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closure</a:t>
                      </a:r>
                      <a:r>
                        <a:rPr lang="en-US" sz="2400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move </a:t>
                      </a:r>
                      <a:r>
                        <a:rPr lang="en-US" sz="2400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2400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40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400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));</a:t>
                      </a:r>
                      <a:endParaRPr lang="zh-CN" sz="2400" kern="1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indent="333375"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2400" b="1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if </a:t>
                      </a: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i="1" kern="1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zh-CN" sz="2400" kern="1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不在</a:t>
                      </a:r>
                      <a:r>
                        <a:rPr lang="en-US" sz="2400" kern="100" dirty="0" err="1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400" i="1" kern="100" dirty="0" err="1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states</a:t>
                      </a:r>
                      <a:r>
                        <a:rPr lang="zh-CN" sz="2400" kern="100" dirty="0"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中 </a:t>
                      </a: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indent="333375"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</a:t>
                      </a:r>
                      <a:r>
                        <a:rPr lang="zh-CN" altLang="en-US" sz="2400" b="1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zh-CN" sz="2400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将</a:t>
                      </a:r>
                      <a:r>
                        <a:rPr lang="en-US" sz="240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zh-CN" sz="2400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加入到</a:t>
                      </a:r>
                      <a:r>
                        <a:rPr lang="en-US" sz="2400" kern="100" dirty="0" err="1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400" i="1" kern="100" dirty="0" err="1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states</a:t>
                      </a:r>
                      <a:r>
                        <a:rPr lang="zh-CN" sz="2400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中，且不加标记</a:t>
                      </a:r>
                      <a:r>
                        <a:rPr lang="en-US" sz="2400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  <a:endParaRPr lang="zh-CN" sz="2400" kern="1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indent="333375"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zh-CN" altLang="en-US" sz="2400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2400" i="1" kern="100" dirty="0" err="1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Dtran</a:t>
                      </a:r>
                      <a:r>
                        <a:rPr lang="en-US" sz="2400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sz="240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2400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40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400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 = </a:t>
                      </a:r>
                      <a:r>
                        <a:rPr lang="en-US" sz="2400" i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en-US" sz="2400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  <a:endParaRPr lang="zh-CN" sz="2400" kern="1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indent="333375" algn="just">
                        <a:spcAft>
                          <a:spcPts val="0"/>
                        </a:spcAft>
                      </a:pPr>
                      <a:r>
                        <a:rPr lang="zh-CN" altLang="en-US" sz="2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}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52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3"/>
          </p:nvPr>
        </p:nvSpPr>
        <p:spPr>
          <a:xfrm>
            <a:off x="130810" y="188595"/>
            <a:ext cx="8883015" cy="645160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0" dirty="0"/>
              <a:t>例，一个接受语言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a|b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 </a:t>
            </a: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如下图所示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89742"/>
            <a:ext cx="7931150" cy="319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71600" y="5218743"/>
            <a:ext cx="375729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请给出接收相同语言的</a:t>
            </a:r>
            <a:r>
              <a:rPr lang="en-US" altLang="zh-CN" sz="2400" dirty="0"/>
              <a:t>DFA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53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内容占位符 7"/>
          <p:cNvGraphicFramePr>
            <a:graphicFrameLocks noGrp="1"/>
          </p:cNvGraphicFramePr>
          <p:nvPr>
            <p:ph sz="quarter" idx="13"/>
          </p:nvPr>
        </p:nvGraphicFramePr>
        <p:xfrm>
          <a:off x="4283967" y="549273"/>
          <a:ext cx="4556820" cy="1727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8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8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8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5965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状态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输入符号</a:t>
                      </a:r>
                      <a:endParaRPr 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965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24" y="3403918"/>
            <a:ext cx="7931150" cy="319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11560" y="837516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开始状态是？</a:t>
            </a:r>
            <a:endParaRPr lang="en-US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755576" y="233912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04348" y="233912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53120" y="233912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1892" y="233912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0662" y="233912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147" y="1516081"/>
            <a:ext cx="23903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-closure(0)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1560" y="3056394"/>
            <a:ext cx="22493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A={0,1,2,4,7}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0032" y="1700808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5" grpId="0"/>
      <p:bldP spid="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54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内容占位符 7"/>
          <p:cNvGraphicFramePr>
            <a:graphicFrameLocks noGrp="1"/>
          </p:cNvGraphicFramePr>
          <p:nvPr>
            <p:ph sz="quarter" idx="13"/>
          </p:nvPr>
        </p:nvGraphicFramePr>
        <p:xfrm>
          <a:off x="4283967" y="549273"/>
          <a:ext cx="4556820" cy="1727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8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8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8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5965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状态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输入符号</a:t>
                      </a:r>
                      <a:endParaRPr 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9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24" y="3403918"/>
            <a:ext cx="7931150" cy="319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内容占位符 4"/>
          <p:cNvSpPr txBox="1"/>
          <p:nvPr/>
        </p:nvSpPr>
        <p:spPr>
          <a:xfrm>
            <a:off x="295452" y="803530"/>
            <a:ext cx="3683234" cy="5760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Symbol" panose="05050102010706020507" pitchFamily="18" charset="2"/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225" y="1495384"/>
            <a:ext cx="19383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[0,a]=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内容占位符 4"/>
          <p:cNvSpPr txBox="1"/>
          <p:nvPr/>
        </p:nvSpPr>
        <p:spPr>
          <a:xfrm>
            <a:off x="299222" y="260646"/>
            <a:ext cx="3683234" cy="5760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A={0,1,2,4,7}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37576" y="152514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空</a:t>
            </a:r>
            <a:endParaRPr lang="en-US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299224" y="2048368"/>
            <a:ext cx="18662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[1,a]=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237575" y="207049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空</a:t>
            </a:r>
            <a:endParaRPr lang="en-US" sz="2800" dirty="0"/>
          </a:p>
        </p:txBody>
      </p:sp>
      <p:sp>
        <p:nvSpPr>
          <p:cNvPr id="22" name="TextBox 21"/>
          <p:cNvSpPr txBox="1"/>
          <p:nvPr/>
        </p:nvSpPr>
        <p:spPr>
          <a:xfrm>
            <a:off x="299222" y="2593712"/>
            <a:ext cx="19062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[2,a]=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237573" y="2615836"/>
            <a:ext cx="20569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{3,6,1,2,4,7}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99222" y="3125157"/>
            <a:ext cx="19319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[4,a]=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237573" y="314728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空</a:t>
            </a:r>
            <a:endParaRPr lang="en-US" sz="2800" dirty="0"/>
          </a:p>
        </p:txBody>
      </p:sp>
      <p:sp>
        <p:nvSpPr>
          <p:cNvPr id="26" name="TextBox 25"/>
          <p:cNvSpPr txBox="1"/>
          <p:nvPr/>
        </p:nvSpPr>
        <p:spPr>
          <a:xfrm>
            <a:off x="299222" y="3672707"/>
            <a:ext cx="19111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[7,a]=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37573" y="3694831"/>
            <a:ext cx="7104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{8}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16016" y="3433221"/>
            <a:ext cx="3168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B={1,2,3,4,6,7,8}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4150" y="1706166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05513" y="814246"/>
            <a:ext cx="423514" cy="52322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内容占位符 7"/>
          <p:cNvGraphicFramePr>
            <a:graphicFrameLocks noGrp="1"/>
          </p:cNvGraphicFramePr>
          <p:nvPr>
            <p:ph sz="quarter" idx="13"/>
          </p:nvPr>
        </p:nvGraphicFramePr>
        <p:xfrm>
          <a:off x="4283967" y="549273"/>
          <a:ext cx="4556820" cy="1727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8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8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8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5965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状态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输入符号</a:t>
                      </a:r>
                      <a:endParaRPr 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9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24" y="3403918"/>
            <a:ext cx="7931150" cy="319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内容占位符 4"/>
          <p:cNvSpPr txBox="1"/>
          <p:nvPr/>
        </p:nvSpPr>
        <p:spPr>
          <a:xfrm>
            <a:off x="295452" y="803530"/>
            <a:ext cx="3683234" cy="5760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Symbol" panose="05050102010706020507" pitchFamily="18" charset="2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B={1,2,3,4,6,7,8}</a:t>
            </a:r>
          </a:p>
        </p:txBody>
      </p:sp>
      <p:sp>
        <p:nvSpPr>
          <p:cNvPr id="18" name="内容占位符 4"/>
          <p:cNvSpPr txBox="1"/>
          <p:nvPr/>
        </p:nvSpPr>
        <p:spPr>
          <a:xfrm>
            <a:off x="299222" y="260646"/>
            <a:ext cx="3683234" cy="5760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A={0,1,2,4,7}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9221" y="1340768"/>
            <a:ext cx="19607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[0,b]=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208678" y="136289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空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99221" y="1863988"/>
            <a:ext cx="1888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[1,b]=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208678" y="188611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空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99221" y="2365084"/>
            <a:ext cx="19287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[2,b]=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208678" y="238720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空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99220" y="2904679"/>
            <a:ext cx="1954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[4,b]=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208677" y="2926803"/>
            <a:ext cx="20569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{5,6,7,1,2,4}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99220" y="3429760"/>
            <a:ext cx="19335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[7,b]=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208677" y="345188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空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423370" y="3486348"/>
            <a:ext cx="45365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]={1,2,4,5,6,7}=C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960" y="1706166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56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内容占位符 7"/>
          <p:cNvGraphicFramePr>
            <a:graphicFrameLocks noGrp="1"/>
          </p:cNvGraphicFramePr>
          <p:nvPr>
            <p:ph sz="quarter" idx="13"/>
          </p:nvPr>
        </p:nvGraphicFramePr>
        <p:xfrm>
          <a:off x="4283967" y="549273"/>
          <a:ext cx="4556820" cy="2879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8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8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8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5965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状态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输入符号</a:t>
                      </a:r>
                      <a:endParaRPr 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9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96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96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24" y="3403918"/>
            <a:ext cx="7931150" cy="319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内容占位符 4"/>
          <p:cNvSpPr txBox="1"/>
          <p:nvPr/>
        </p:nvSpPr>
        <p:spPr>
          <a:xfrm>
            <a:off x="299222" y="260646"/>
            <a:ext cx="3683234" cy="3384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A={0,1,2,4,7}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B={1,2,3,4,6,7,8}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C={1,2,4,5,6,7}</a:t>
            </a:r>
          </a:p>
        </p:txBody>
      </p:sp>
      <p:sp>
        <p:nvSpPr>
          <p:cNvPr id="21" name="内容占位符 4"/>
          <p:cNvSpPr txBox="1"/>
          <p:nvPr/>
        </p:nvSpPr>
        <p:spPr>
          <a:xfrm>
            <a:off x="71346" y="1602082"/>
            <a:ext cx="2239161" cy="552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Symbol" panose="05050102010706020507" pitchFamily="18" charset="2"/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Dtran(B,a)=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19672" y="1602082"/>
            <a:ext cx="2018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{3,6,1,2,4,7,8}</a:t>
            </a:r>
          </a:p>
        </p:txBody>
      </p:sp>
      <p:sp>
        <p:nvSpPr>
          <p:cNvPr id="23" name="内容占位符 4"/>
          <p:cNvSpPr txBox="1"/>
          <p:nvPr/>
        </p:nvSpPr>
        <p:spPr>
          <a:xfrm>
            <a:off x="71346" y="2150539"/>
            <a:ext cx="2239161" cy="552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9672" y="2166852"/>
            <a:ext cx="2018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{5,6,1,2,4,7,9}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84285" y="2144479"/>
            <a:ext cx="580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=D</a:t>
            </a:r>
          </a:p>
        </p:txBody>
      </p:sp>
      <p:sp>
        <p:nvSpPr>
          <p:cNvPr id="26" name="内容占位符 4"/>
          <p:cNvSpPr txBox="1"/>
          <p:nvPr/>
        </p:nvSpPr>
        <p:spPr>
          <a:xfrm>
            <a:off x="71346" y="2673759"/>
            <a:ext cx="2239161" cy="552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C,a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19672" y="2690072"/>
            <a:ext cx="2018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3,6,1,2,4,7,8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84285" y="2690071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=B</a:t>
            </a:r>
          </a:p>
        </p:txBody>
      </p:sp>
      <p:sp>
        <p:nvSpPr>
          <p:cNvPr id="29" name="内容占位符 4"/>
          <p:cNvSpPr txBox="1"/>
          <p:nvPr/>
        </p:nvSpPr>
        <p:spPr>
          <a:xfrm>
            <a:off x="71346" y="3186258"/>
            <a:ext cx="2239161" cy="552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C,b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19672" y="3202572"/>
            <a:ext cx="18646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{5,6,1,2,4,7,}</a:t>
            </a:r>
          </a:p>
        </p:txBody>
      </p:sp>
      <p:sp>
        <p:nvSpPr>
          <p:cNvPr id="43" name="TextBox 42"/>
          <p:cNvSpPr txBox="1"/>
          <p:nvPr/>
        </p:nvSpPr>
        <p:spPr>
          <a:xfrm flipH="1">
            <a:off x="3484285" y="3202571"/>
            <a:ext cx="645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=C</a:t>
            </a:r>
          </a:p>
        </p:txBody>
      </p:sp>
      <p:sp>
        <p:nvSpPr>
          <p:cNvPr id="44" name="TextBox 43"/>
          <p:cNvSpPr txBox="1"/>
          <p:nvPr/>
        </p:nvSpPr>
        <p:spPr>
          <a:xfrm flipH="1">
            <a:off x="3484285" y="1682814"/>
            <a:ext cx="645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  <p:bldP spid="22" grpId="0"/>
      <p:bldP spid="23" grpId="0" build="p"/>
      <p:bldP spid="24" grpId="0"/>
      <p:bldP spid="25" grpId="0"/>
      <p:bldP spid="26" grpId="0" build="p"/>
      <p:bldP spid="27" grpId="0"/>
      <p:bldP spid="28" grpId="0"/>
      <p:bldP spid="29" grpId="0" build="p"/>
      <p:bldP spid="30" grpId="0"/>
      <p:bldP spid="43" grpId="0"/>
      <p:bldP spid="4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57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内容占位符 7"/>
          <p:cNvGraphicFramePr>
            <a:graphicFrameLocks noGrp="1"/>
          </p:cNvGraphicFramePr>
          <p:nvPr>
            <p:ph sz="quarter" idx="13"/>
          </p:nvPr>
        </p:nvGraphicFramePr>
        <p:xfrm>
          <a:off x="4283967" y="549273"/>
          <a:ext cx="4556820" cy="2879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8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8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8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5965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状态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输入符号</a:t>
                      </a:r>
                      <a:endParaRPr 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9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96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96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24" y="3403918"/>
            <a:ext cx="7931150" cy="319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内容占位符 4"/>
          <p:cNvSpPr txBox="1"/>
          <p:nvPr/>
        </p:nvSpPr>
        <p:spPr>
          <a:xfrm>
            <a:off x="299222" y="260646"/>
            <a:ext cx="3683234" cy="3384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A={0,1,2,4,7}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B={1,2,3,4,6,7,8}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C={1,2,4,5,6,7}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D={1,2,4,5,6,7,9}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58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内容占位符 7"/>
          <p:cNvGraphicFramePr>
            <a:graphicFrameLocks noGrp="1"/>
          </p:cNvGraphicFramePr>
          <p:nvPr>
            <p:ph sz="quarter" idx="13"/>
          </p:nvPr>
        </p:nvGraphicFramePr>
        <p:xfrm>
          <a:off x="4283967" y="549273"/>
          <a:ext cx="4556820" cy="3455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8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8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8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5965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状态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输入符号</a:t>
                      </a:r>
                      <a:endParaRPr 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9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96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96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96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24" y="3403918"/>
            <a:ext cx="7931150" cy="319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内容占位符 4"/>
          <p:cNvSpPr txBox="1"/>
          <p:nvPr/>
        </p:nvSpPr>
        <p:spPr>
          <a:xfrm>
            <a:off x="299222" y="260646"/>
            <a:ext cx="3683234" cy="3384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A={0,1,2,4,7}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B={1,2,3,4,6,7,8}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C={1,2,4,5,6,7}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D={1,2,4,5,6,7,9}</a:t>
            </a:r>
          </a:p>
        </p:txBody>
      </p:sp>
      <p:sp>
        <p:nvSpPr>
          <p:cNvPr id="9" name="内容占位符 4"/>
          <p:cNvSpPr txBox="1"/>
          <p:nvPr/>
        </p:nvSpPr>
        <p:spPr>
          <a:xfrm>
            <a:off x="187219" y="2327278"/>
            <a:ext cx="2239161" cy="552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D,a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81" y="2343591"/>
            <a:ext cx="2018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{3,6,1,2,4,7,8}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2691" y="2356302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=B</a:t>
            </a:r>
          </a:p>
        </p:txBody>
      </p:sp>
      <p:sp>
        <p:nvSpPr>
          <p:cNvPr id="12" name="内容占位符 4"/>
          <p:cNvSpPr txBox="1"/>
          <p:nvPr/>
        </p:nvSpPr>
        <p:spPr>
          <a:xfrm>
            <a:off x="169191" y="2838018"/>
            <a:ext cx="2239161" cy="552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D,b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1789" y="2817951"/>
            <a:ext cx="2172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{5,6,1,2,4,7,10}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2691" y="2803952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/>
      <p:bldP spid="11" grpId="0"/>
      <p:bldP spid="12" grpId="0" build="p"/>
      <p:bldP spid="13" grpId="0"/>
      <p:bldP spid="1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59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内容占位符 7"/>
          <p:cNvGraphicFramePr>
            <a:graphicFrameLocks noGrp="1"/>
          </p:cNvGraphicFramePr>
          <p:nvPr>
            <p:ph sz="quarter" idx="13"/>
          </p:nvPr>
        </p:nvGraphicFramePr>
        <p:xfrm>
          <a:off x="4283967" y="549273"/>
          <a:ext cx="4556820" cy="4031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8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8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8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5965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状态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输入符号</a:t>
                      </a:r>
                      <a:endParaRPr 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9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96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96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96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596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24" y="3403918"/>
            <a:ext cx="7931150" cy="319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内容占位符 4"/>
          <p:cNvSpPr txBox="1"/>
          <p:nvPr/>
        </p:nvSpPr>
        <p:spPr>
          <a:xfrm>
            <a:off x="299222" y="260646"/>
            <a:ext cx="3683234" cy="3384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A={0,1,2,4,7}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B={1,2,3,4,6,7,8}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C={1,2,4,5,6,7}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D={1,2,4,5,6,7,9}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E={1,2,,4,5,6,10}</a:t>
            </a:r>
          </a:p>
        </p:txBody>
      </p:sp>
      <p:sp>
        <p:nvSpPr>
          <p:cNvPr id="15" name="内容占位符 4"/>
          <p:cNvSpPr txBox="1"/>
          <p:nvPr/>
        </p:nvSpPr>
        <p:spPr>
          <a:xfrm>
            <a:off x="204722" y="2779422"/>
            <a:ext cx="2239161" cy="552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9184" y="2795735"/>
            <a:ext cx="2018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{3,6,1,2,4,7,8}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8223" y="2779422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=B</a:t>
            </a:r>
          </a:p>
        </p:txBody>
      </p:sp>
      <p:sp>
        <p:nvSpPr>
          <p:cNvPr id="19" name="内容占位符 4"/>
          <p:cNvSpPr txBox="1"/>
          <p:nvPr/>
        </p:nvSpPr>
        <p:spPr>
          <a:xfrm>
            <a:off x="192854" y="3303155"/>
            <a:ext cx="2239161" cy="552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7320" y="3319468"/>
            <a:ext cx="1787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{5,6,1,2,4,7}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8222" y="3320004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/>
      <p:bldP spid="17" grpId="0"/>
      <p:bldP spid="19" grpId="0" build="p"/>
      <p:bldP spid="20" grpId="0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内容占位符 7"/>
          <p:cNvGraphicFramePr>
            <a:graphicFrameLocks noGrp="1"/>
          </p:cNvGraphicFramePr>
          <p:nvPr>
            <p:ph sz="quarter" idx="13"/>
          </p:nvPr>
        </p:nvGraphicFramePr>
        <p:xfrm>
          <a:off x="4283967" y="549273"/>
          <a:ext cx="4556820" cy="4031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8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8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8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5965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状态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输入符号</a:t>
                      </a:r>
                      <a:endParaRPr lang="en-US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9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96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96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96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596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24" y="3403918"/>
            <a:ext cx="7931150" cy="319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内容占位符 4"/>
          <p:cNvSpPr txBox="1"/>
          <p:nvPr/>
        </p:nvSpPr>
        <p:spPr>
          <a:xfrm>
            <a:off x="299222" y="260646"/>
            <a:ext cx="3683234" cy="3384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A={0,1,2,4,7}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B={1,2,3,4,6,7,8}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C={1,2,4,5,6,7}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D={1,2,4,5,6,7,9}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E={1,2,4,5,6,7,10}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61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内容占位符 4"/>
          <p:cNvSpPr txBox="1"/>
          <p:nvPr/>
        </p:nvSpPr>
        <p:spPr>
          <a:xfrm>
            <a:off x="251520" y="332656"/>
            <a:ext cx="3312368" cy="5544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)=B</a:t>
            </a:r>
          </a:p>
          <a:p>
            <a:pPr marL="0" indent="0">
              <a:buNone/>
            </a:pPr>
            <a:r>
              <a:rPr 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)=C</a:t>
            </a:r>
          </a:p>
          <a:p>
            <a:pPr marL="0" indent="0">
              <a:buNone/>
            </a:pPr>
            <a:r>
              <a:rPr 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B,a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)=B</a:t>
            </a:r>
          </a:p>
          <a:p>
            <a:pPr marL="0" indent="0">
              <a:buNone/>
            </a:pPr>
            <a:r>
              <a:rPr 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B,b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)=D</a:t>
            </a:r>
          </a:p>
          <a:p>
            <a:pPr marL="0" indent="0">
              <a:buNone/>
            </a:pPr>
            <a:r>
              <a:rPr 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C,a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)=B</a:t>
            </a:r>
          </a:p>
          <a:p>
            <a:pPr marL="0" indent="0">
              <a:buNone/>
            </a:pPr>
            <a:r>
              <a:rPr 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C,b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)=C</a:t>
            </a:r>
          </a:p>
          <a:p>
            <a:pPr marL="0" indent="0">
              <a:buNone/>
            </a:pPr>
            <a:r>
              <a:rPr lang="en-US" altLang="zh-C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D,a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)=B</a:t>
            </a:r>
          </a:p>
          <a:p>
            <a:pPr marL="0" indent="0">
              <a:buNone/>
            </a:pPr>
            <a:r>
              <a:rPr 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D,b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)=E</a:t>
            </a:r>
          </a:p>
          <a:p>
            <a:pPr marL="0" indent="0">
              <a:buNone/>
            </a:pPr>
            <a:r>
              <a:rPr 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E,a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)=B</a:t>
            </a:r>
          </a:p>
          <a:p>
            <a:pPr marL="0" indent="0">
              <a:buNone/>
            </a:pPr>
            <a:r>
              <a:rPr 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Dtran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E,b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843808" y="1291404"/>
          <a:ext cx="6096000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796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状态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输入状态</a:t>
                      </a:r>
                      <a:endParaRPr lang="en-US" sz="2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240251" y="5461704"/>
            <a:ext cx="8903750" cy="1396296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ct val="50000"/>
              </a:spcBef>
              <a:buNone/>
            </a:pPr>
            <a:r>
              <a:rPr lang="zh-CN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状态</a:t>
            </a:r>
            <a:r>
              <a:rPr lang="en-US" altLang="zh-CN" sz="2400" b="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zh-CN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的开始状态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zh-CN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包含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原终止</a:t>
            </a:r>
            <a:r>
              <a:rPr lang="zh-CN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状态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400" b="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状态是</a:t>
            </a:r>
            <a:r>
              <a:rPr lang="en-US" altLang="zh-CN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zh-CN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的接受状态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终态</a:t>
            </a:r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build="p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62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39552" y="908720"/>
          <a:ext cx="7610877" cy="439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053715" imgH="1766570" progId="Visio.Drawing.15">
                  <p:embed/>
                </p:oleObj>
              </mc:Choice>
              <mc:Fallback>
                <p:oleObj name="Visio" r:id="rId2" imgW="3053715" imgH="1766570" progId="Visio.Drawing.15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908720"/>
                        <a:ext cx="7610877" cy="439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多余状态</a:t>
            </a:r>
            <a:endParaRPr lang="en-US" altLang="zh-CN" dirty="0"/>
          </a:p>
          <a:p>
            <a:pPr marL="360045" indent="0">
              <a:buNone/>
            </a:pPr>
            <a:r>
              <a:rPr lang="zh-CN" altLang="en-US" sz="2400" dirty="0"/>
              <a:t>多余状态是指那些从开始状态出发，任何输入串都无法到达的状态</a:t>
            </a:r>
            <a:endParaRPr lang="en-US" altLang="zh-CN" sz="2400" dirty="0"/>
          </a:p>
          <a:p>
            <a:pPr marL="360045" indent="0">
              <a:buNone/>
            </a:pPr>
            <a:endParaRPr lang="en-US" altLang="zh-CN" sz="2400" dirty="0"/>
          </a:p>
          <a:p>
            <a:r>
              <a:rPr lang="zh-CN" altLang="en-US" dirty="0"/>
              <a:t>等价状态指满足以下两个条件的两个或者多个状态</a:t>
            </a:r>
            <a:endParaRPr lang="en-US" altLang="zh-CN" dirty="0"/>
          </a:p>
          <a:p>
            <a:pPr marL="360045" indent="0"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）一致性条件：这些状态或同为可接受状态（终态），或同为不可接受状态（非终态）</a:t>
            </a:r>
            <a:endParaRPr lang="en-US" altLang="zh-CN" sz="2400" dirty="0"/>
          </a:p>
          <a:p>
            <a:pPr marL="360045" indent="0"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）蔓延性条件：这些状态对所有输入状态，都必须转到等价的状态。</a:t>
            </a:r>
            <a:endParaRPr lang="en-US" sz="24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63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3.5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有限状态自动机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对一个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 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最少化的基本思想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的状态集划分为一些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不相交的子集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，使得：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任何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两个不同子集的状态是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可区别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的；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同一子集的任何两个状态是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等价的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最后，让每个子集选出一个代表，同时消去其他状态。</a:t>
            </a: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Bef>
                <a:spcPct val="5000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首先，把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划分为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终态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非终态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两个子集，形成基本划分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 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0" indent="0">
              <a:spcBef>
                <a:spcPct val="3000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假定某个时候，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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已含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个子集，记为：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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={I</a:t>
            </a:r>
            <a:r>
              <a:rPr lang="en-US" altLang="zh-CN" sz="2400" baseline="30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baseline="30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baseline="30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(m)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检查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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中的每个子集能否进一步划分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</a:p>
          <a:p>
            <a:pPr marL="0" indent="0">
              <a:spcBef>
                <a:spcPct val="30000"/>
              </a:spcBef>
              <a:buNone/>
            </a:pPr>
            <a:endParaRPr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40576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对某个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baseline="30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aseline="30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baseline="30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={s</a:t>
            </a:r>
            <a:r>
              <a:rPr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,s</a:t>
            </a:r>
            <a:r>
              <a:rPr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400" baseline="-25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，选择某个输入字符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；</a:t>
            </a:r>
          </a:p>
          <a:p>
            <a:pPr marL="40576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4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40576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检查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baseline="30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aseline="30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baseline="30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上的转换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，如果这些转换到达的状态落入当前划分的两个或多个组中，就将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分割成为多个分组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，使得：</a:t>
            </a:r>
          </a:p>
          <a:p>
            <a:pPr marL="40576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4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794385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</a:pPr>
            <a:r>
              <a:rPr lang="en-US" altLang="zh-CN" dirty="0" err="1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baseline="-25000" dirty="0" err="1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baseline="-25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 err="1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baseline="-25000" dirty="0" err="1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在同一组中当且仅当它们在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上的转换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都到达同一组状态。</a:t>
            </a:r>
          </a:p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65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3.5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有限状态自动机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重复上述过程，直到</a:t>
            </a: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</a:t>
            </a: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所含子集数不再增长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对于上述最后划分</a:t>
            </a: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</a:t>
            </a: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中的每个子集，选取每个子集中的一个状态代表其他状态，则可得到化简后的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DFA M’</a:t>
            </a: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含有原来的</a:t>
            </a:r>
            <a:r>
              <a:rPr lang="zh-CN" altLang="en-US" sz="2400" b="0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初态</a:t>
            </a: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，则其代表为</a:t>
            </a:r>
            <a:r>
              <a:rPr lang="zh-CN" altLang="en-US" sz="2400" b="0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新的初态</a:t>
            </a: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，若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含有原来的</a:t>
            </a:r>
            <a:r>
              <a:rPr lang="zh-CN" altLang="en-US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终态</a:t>
            </a: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，则其代表为</a:t>
            </a:r>
            <a:r>
              <a:rPr lang="zh-CN" altLang="en-US" sz="2400" b="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新的终态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3.5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有限状态自动机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640634" y="3911428"/>
            <a:ext cx="4624704" cy="27581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{A, B, C, D}   {</a:t>
            </a:r>
            <a:r>
              <a:rPr lang="en-US" altLang="zh-CN" sz="32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spcBef>
                <a:spcPct val="50000"/>
              </a:spcBef>
            </a:pP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{A, B, C}   {</a:t>
            </a:r>
            <a:r>
              <a:rPr lang="en-US" altLang="zh-CN" sz="32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}   {</a:t>
            </a:r>
            <a:r>
              <a:rPr lang="en-US" altLang="zh-CN" sz="32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spcBef>
                <a:spcPct val="50000"/>
              </a:spcBef>
            </a:pP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{A, C}   {</a:t>
            </a:r>
            <a:r>
              <a:rPr lang="en-US" altLang="zh-CN" sz="32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}   {</a:t>
            </a:r>
            <a:r>
              <a:rPr lang="en-US" altLang="zh-CN" sz="32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}   {</a:t>
            </a:r>
            <a:r>
              <a:rPr lang="en-US" altLang="zh-CN" sz="32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28"/>
          <p:cNvSpPr>
            <a:spLocks noChangeArrowheads="1"/>
          </p:cNvSpPr>
          <p:nvPr/>
        </p:nvSpPr>
        <p:spPr bwMode="auto">
          <a:xfrm>
            <a:off x="503204" y="294681"/>
            <a:ext cx="2476600" cy="859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352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* </a:t>
            </a:r>
            <a:r>
              <a:rPr lang="en-US" altLang="zh-C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  <a:endParaRPr kumimoji="1" lang="zh-CN" altLang="en-US" sz="3525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467" y="405125"/>
            <a:ext cx="4642510" cy="1920411"/>
          </a:xfrm>
          <a:prstGeom prst="rect">
            <a:avLst/>
          </a:prstGeom>
        </p:spPr>
      </p:pic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64469" y="989527"/>
          <a:ext cx="4534694" cy="2617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053715" imgH="1766570" progId="Visio.Drawing.15">
                  <p:embed/>
                </p:oleObj>
              </mc:Choice>
              <mc:Fallback>
                <p:oleObj name="Visio" r:id="rId3" imgW="3053715" imgH="1766570" progId="Visio.Drawing.15">
                  <p:embed/>
                  <p:pic>
                    <p:nvPicPr>
                      <p:cNvPr id="0" name="图片 31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69" y="989527"/>
                        <a:ext cx="4534694" cy="26176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5004048" y="3573016"/>
          <a:ext cx="3546843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2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2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29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558" y="837116"/>
            <a:ext cx="4599169" cy="1809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68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有限状态自动机</a:t>
            </a:r>
          </a:p>
        </p:txBody>
      </p:sp>
      <p:sp>
        <p:nvSpPr>
          <p:cNvPr id="7" name="矩形 6"/>
          <p:cNvSpPr/>
          <p:nvPr/>
        </p:nvSpPr>
        <p:spPr>
          <a:xfrm>
            <a:off x="2123728" y="2348880"/>
            <a:ext cx="134644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</p:txBody>
      </p:sp>
      <p:sp>
        <p:nvSpPr>
          <p:cNvPr id="8" name="矩形 7"/>
          <p:cNvSpPr/>
          <p:nvPr/>
        </p:nvSpPr>
        <p:spPr>
          <a:xfrm>
            <a:off x="4283968" y="4530824"/>
            <a:ext cx="129614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有限自动机</a:t>
            </a:r>
          </a:p>
        </p:txBody>
      </p:sp>
      <p:sp>
        <p:nvSpPr>
          <p:cNvPr id="9" name="矩形 8"/>
          <p:cNvSpPr/>
          <p:nvPr/>
        </p:nvSpPr>
        <p:spPr>
          <a:xfrm>
            <a:off x="6195572" y="4520930"/>
            <a:ext cx="1328755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正规式</a:t>
            </a:r>
          </a:p>
        </p:txBody>
      </p:sp>
      <p:sp>
        <p:nvSpPr>
          <p:cNvPr id="10" name="矩形 9"/>
          <p:cNvSpPr/>
          <p:nvPr/>
        </p:nvSpPr>
        <p:spPr>
          <a:xfrm>
            <a:off x="5580112" y="2348880"/>
            <a:ext cx="194421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最简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123728" y="4520930"/>
            <a:ext cx="1346448" cy="924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</a:t>
            </a:r>
          </a:p>
        </p:txBody>
      </p:sp>
      <p:cxnSp>
        <p:nvCxnSpPr>
          <p:cNvPr id="13" name="直接箭头连接符 12"/>
          <p:cNvCxnSpPr>
            <a:stCxn id="9" idx="1"/>
            <a:endCxn id="8" idx="3"/>
          </p:cNvCxnSpPr>
          <p:nvPr/>
        </p:nvCxnSpPr>
        <p:spPr>
          <a:xfrm flipH="1">
            <a:off x="5580112" y="4978130"/>
            <a:ext cx="615460" cy="989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8" idx="1"/>
            <a:endCxn id="11" idx="3"/>
          </p:cNvCxnSpPr>
          <p:nvPr/>
        </p:nvCxnSpPr>
        <p:spPr>
          <a:xfrm flipH="1" flipV="1">
            <a:off x="3470176" y="4983077"/>
            <a:ext cx="813792" cy="4947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11" idx="0"/>
            <a:endCxn id="7" idx="2"/>
          </p:cNvCxnSpPr>
          <p:nvPr/>
        </p:nvCxnSpPr>
        <p:spPr>
          <a:xfrm flipV="1">
            <a:off x="2796952" y="3263280"/>
            <a:ext cx="0" cy="12576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7" idx="3"/>
            <a:endCxn id="10" idx="1"/>
          </p:cNvCxnSpPr>
          <p:nvPr/>
        </p:nvCxnSpPr>
        <p:spPr>
          <a:xfrm>
            <a:off x="3470176" y="2806080"/>
            <a:ext cx="2109936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395535" y="1796892"/>
            <a:ext cx="8320210" cy="1264162"/>
          </a:xfrm>
        </p:spPr>
        <p:txBody>
          <a:bodyPr>
            <a:noAutofit/>
          </a:bodyPr>
          <a:lstStyle/>
          <a:p>
            <a:pPr marL="112395" indent="0">
              <a:buNone/>
            </a:pPr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是一个词法分析器的自动产生系统。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并不是一种完整的语言，而是某种高级语言（宿主语言，如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语言）的扩充。</a:t>
            </a:r>
            <a:endParaRPr lang="en-US" altLang="zh-CN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 dirty="0"/>
              <a:t>邓伏虎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69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内容占位符 6"/>
          <p:cNvSpPr txBox="1"/>
          <p:nvPr/>
        </p:nvSpPr>
        <p:spPr>
          <a:xfrm>
            <a:off x="739140" y="404495"/>
            <a:ext cx="6929120" cy="93599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3.6 </a:t>
            </a:r>
            <a:r>
              <a:rPr lang="zh-CN" alt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词法分析程序生成器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</a:t>
            </a:r>
          </a:p>
        </p:txBody>
      </p:sp>
      <p:sp>
        <p:nvSpPr>
          <p:cNvPr id="11" name="内容占位符 6"/>
          <p:cNvSpPr txBox="1"/>
          <p:nvPr/>
        </p:nvSpPr>
        <p:spPr>
          <a:xfrm>
            <a:off x="395535" y="3808494"/>
            <a:ext cx="1668295" cy="14950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5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395" indent="0"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词法分析程序生成流程</a:t>
            </a:r>
          </a:p>
        </p:txBody>
      </p:sp>
      <p:grpSp>
        <p:nvGrpSpPr>
          <p:cNvPr id="61" name="组合 60"/>
          <p:cNvGrpSpPr/>
          <p:nvPr/>
        </p:nvGrpSpPr>
        <p:grpSpPr>
          <a:xfrm>
            <a:off x="1930841" y="3059594"/>
            <a:ext cx="7173122" cy="3412995"/>
            <a:chOff x="1930841" y="3059594"/>
            <a:chExt cx="7173122" cy="3412995"/>
          </a:xfrm>
        </p:grpSpPr>
        <p:sp>
          <p:nvSpPr>
            <p:cNvPr id="5" name="TextBox 4"/>
            <p:cNvSpPr txBox="1"/>
            <p:nvPr/>
          </p:nvSpPr>
          <p:spPr>
            <a:xfrm>
              <a:off x="3803805" y="3059594"/>
              <a:ext cx="2857689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/>
              </a:lvl1pPr>
            </a:lstStyle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语言的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LEX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源程序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" name="直接箭头连接符 7"/>
            <p:cNvCxnSpPr>
              <a:stCxn id="5" idx="2"/>
              <a:endCxn id="12" idx="0"/>
            </p:cNvCxnSpPr>
            <p:nvPr/>
          </p:nvCxnSpPr>
          <p:spPr>
            <a:xfrm>
              <a:off x="5232650" y="3521259"/>
              <a:ext cx="0" cy="48442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4141014" y="4005686"/>
              <a:ext cx="2183271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LEX</a:t>
              </a:r>
              <a:r>
                <a: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编译程序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" name="直接箭头连接符 15"/>
            <p:cNvCxnSpPr/>
            <p:nvPr/>
          </p:nvCxnSpPr>
          <p:spPr>
            <a:xfrm flipV="1">
              <a:off x="5249020" y="3753552"/>
              <a:ext cx="1192552" cy="1065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6637601" y="3522719"/>
              <a:ext cx="8977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lex.l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接箭头连接符 22"/>
            <p:cNvCxnSpPr>
              <a:stCxn id="12" idx="2"/>
            </p:cNvCxnSpPr>
            <p:nvPr/>
          </p:nvCxnSpPr>
          <p:spPr>
            <a:xfrm>
              <a:off x="5232650" y="4467351"/>
              <a:ext cx="0" cy="52222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4832538" y="5808881"/>
              <a:ext cx="800219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latin typeface="Times New Roman" panose="02020603050405020304" pitchFamily="18" charset="0"/>
                </a:rPr>
                <a:t>运行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930841" y="5800038"/>
              <a:ext cx="1723549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latin typeface="Times New Roman" panose="02020603050405020304" pitchFamily="18" charset="0"/>
                </a:rPr>
                <a:t>输入字符串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828110" y="5800041"/>
              <a:ext cx="2031325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latin typeface="Times New Roman" panose="02020603050405020304" pitchFamily="18" charset="0"/>
                </a:rPr>
                <a:t>输出记号序列</a:t>
              </a:r>
            </a:p>
          </p:txBody>
        </p:sp>
        <p:cxnSp>
          <p:nvCxnSpPr>
            <p:cNvPr id="43" name="直接箭头连接符 42"/>
            <p:cNvCxnSpPr>
              <a:endCxn id="28" idx="1"/>
            </p:cNvCxnSpPr>
            <p:nvPr/>
          </p:nvCxnSpPr>
          <p:spPr>
            <a:xfrm flipV="1">
              <a:off x="3983635" y="6039714"/>
              <a:ext cx="848903" cy="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>
              <a:stCxn id="28" idx="3"/>
              <a:endCxn id="30" idx="1"/>
            </p:cNvCxnSpPr>
            <p:nvPr/>
          </p:nvCxnSpPr>
          <p:spPr>
            <a:xfrm flipV="1">
              <a:off x="5632757" y="6030874"/>
              <a:ext cx="1195353" cy="884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3906934" y="4989571"/>
              <a:ext cx="2651429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latin typeface="Times New Roman" panose="02020603050405020304" pitchFamily="18" charset="0"/>
                </a:rPr>
                <a:t>高级语言编译程序</a:t>
              </a:r>
              <a:endParaRPr lang="en-US" sz="2400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40" name="直接箭头连接符 39"/>
            <p:cNvCxnSpPr>
              <a:stCxn id="39" idx="2"/>
              <a:endCxn id="28" idx="0"/>
            </p:cNvCxnSpPr>
            <p:nvPr/>
          </p:nvCxnSpPr>
          <p:spPr>
            <a:xfrm flipH="1">
              <a:off x="5232648" y="5451236"/>
              <a:ext cx="1" cy="35764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3803805" y="4884351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3803805" y="4869160"/>
              <a:ext cx="2833796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6661494" y="4869160"/>
              <a:ext cx="0" cy="160342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3803805" y="6453336"/>
              <a:ext cx="2833796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6539655" y="4407495"/>
              <a:ext cx="25643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语言词法分析器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3.6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词法分析程序生成器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LEX</a:t>
            </a:r>
            <a:endParaRPr lang="en-US" sz="3600" b="1" dirty="0"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7544" y="2060848"/>
            <a:ext cx="4068452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2395" indent="0">
              <a:spcBef>
                <a:spcPct val="20000"/>
              </a:spcBef>
              <a:buClr>
                <a:schemeClr val="accent1"/>
              </a:buClr>
              <a:buSzPct val="100000"/>
              <a:buNone/>
            </a:pP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源程序的一般格式：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90" indent="0">
              <a:buNone/>
            </a:pPr>
            <a:endParaRPr lang="en-US" altLang="zh-CN" sz="2400" dirty="0">
              <a:latin typeface="+mj-ea"/>
            </a:endParaRPr>
          </a:p>
          <a:p>
            <a:pPr marL="720090" indent="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辅助定义部分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720090" indent="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%%</a:t>
            </a:r>
          </a:p>
          <a:p>
            <a:pPr marL="720090" indent="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翻译规则部分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720090" indent="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%%</a:t>
            </a:r>
          </a:p>
          <a:p>
            <a:pPr marL="720090" indent="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用户子程序部分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71</a:t>
            </a:fld>
            <a:endParaRPr lang="zh-CN" altLang="en-US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337" y="1196752"/>
            <a:ext cx="8712968" cy="4686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*辅助定义部分*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%{</a:t>
            </a: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*显明常量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LT,LE,EQ,NE,GT,GE,IF,THEN,ELSE,ID,NUMBER,RELOP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的定义*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%}</a:t>
            </a: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# include&lt;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studio.h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char 	* 	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yylval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delim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[ \t\n]</a:t>
            </a: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ws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{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delim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}+</a:t>
            </a: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digit 		[0-9]</a:t>
            </a: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letter		[A-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Za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-z]</a:t>
            </a: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		{letter}({letter}|{digit})*</a:t>
            </a: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extern 		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yylval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yytext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yyleng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%}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51520" y="1052736"/>
            <a:ext cx="8712968" cy="50229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altLang="zh-CN" dirty="0">
                <a:latin typeface="+mj-ea"/>
              </a:rPr>
              <a:t>%%		</a:t>
            </a:r>
            <a:r>
              <a:rPr lang="en-US" dirty="0">
                <a:latin typeface="+mj-ea"/>
              </a:rPr>
              <a:t>/*</a:t>
            </a:r>
            <a:r>
              <a:rPr lang="zh-CN" altLang="en-US" dirty="0">
                <a:latin typeface="+mj-ea"/>
              </a:rPr>
              <a:t>翻译规则部分</a:t>
            </a:r>
            <a:r>
              <a:rPr lang="en-US" dirty="0">
                <a:latin typeface="+mj-ea"/>
              </a:rPr>
              <a:t>*/</a:t>
            </a: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dirty="0">
                <a:latin typeface="+mj-ea"/>
              </a:rPr>
              <a:t>{</a:t>
            </a:r>
            <a:r>
              <a:rPr lang="en-US" dirty="0" err="1">
                <a:latin typeface="+mj-ea"/>
              </a:rPr>
              <a:t>ws</a:t>
            </a:r>
            <a:r>
              <a:rPr lang="en-US" dirty="0">
                <a:latin typeface="+mj-ea"/>
              </a:rPr>
              <a:t>}		{}/*</a:t>
            </a:r>
            <a:r>
              <a:rPr lang="zh-CN" altLang="en-US" dirty="0">
                <a:latin typeface="+mj-ea"/>
              </a:rPr>
              <a:t>没有动作，也不返回，作用是跳过所有空字符</a:t>
            </a:r>
            <a:r>
              <a:rPr lang="en-US" dirty="0">
                <a:latin typeface="+mj-ea"/>
              </a:rPr>
              <a:t>*/</a:t>
            </a: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altLang="zh-CN" dirty="0">
                <a:latin typeface="+mj-ea"/>
              </a:rPr>
              <a:t>if		{return(IF);}</a:t>
            </a: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dirty="0">
                <a:latin typeface="+mj-ea"/>
              </a:rPr>
              <a:t>{id}		{</a:t>
            </a:r>
            <a:r>
              <a:rPr lang="en-US" dirty="0" err="1">
                <a:latin typeface="+mj-ea"/>
              </a:rPr>
              <a:t>yylval</a:t>
            </a:r>
            <a:r>
              <a:rPr lang="en-US" dirty="0">
                <a:latin typeface="+mj-ea"/>
              </a:rPr>
              <a:t>=</a:t>
            </a:r>
            <a:r>
              <a:rPr lang="en-US" dirty="0" err="1">
                <a:latin typeface="+mj-ea"/>
              </a:rPr>
              <a:t>install_id</a:t>
            </a:r>
            <a:r>
              <a:rPr lang="en-US" dirty="0">
                <a:latin typeface="+mj-ea"/>
              </a:rPr>
              <a:t>();return(ID);}</a:t>
            </a: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dirty="0">
                <a:latin typeface="+mj-ea"/>
              </a:rPr>
              <a:t>{number}	{</a:t>
            </a:r>
            <a:r>
              <a:rPr lang="en-US" dirty="0" err="1">
                <a:latin typeface="+mj-ea"/>
              </a:rPr>
              <a:t>yylval</a:t>
            </a:r>
            <a:r>
              <a:rPr lang="en-US" dirty="0">
                <a:latin typeface="+mj-ea"/>
              </a:rPr>
              <a:t>=</a:t>
            </a:r>
            <a:r>
              <a:rPr lang="en-US" dirty="0" err="1">
                <a:latin typeface="+mj-ea"/>
              </a:rPr>
              <a:t>install_number</a:t>
            </a:r>
            <a:r>
              <a:rPr lang="en-US" dirty="0">
                <a:latin typeface="+mj-ea"/>
              </a:rPr>
              <a:t>();return(NUMBER);}</a:t>
            </a: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dirty="0">
                <a:latin typeface="+mj-ea"/>
              </a:rPr>
              <a:t>“&lt;”		{</a:t>
            </a:r>
            <a:r>
              <a:rPr lang="en-US" dirty="0" err="1">
                <a:latin typeface="+mj-ea"/>
              </a:rPr>
              <a:t>yylval</a:t>
            </a:r>
            <a:r>
              <a:rPr lang="en-US" dirty="0">
                <a:latin typeface="+mj-ea"/>
              </a:rPr>
              <a:t>=</a:t>
            </a:r>
            <a:r>
              <a:rPr lang="en-US" dirty="0" err="1">
                <a:latin typeface="+mj-ea"/>
              </a:rPr>
              <a:t>LT;return</a:t>
            </a:r>
            <a:r>
              <a:rPr lang="en-US" dirty="0">
                <a:latin typeface="+mj-ea"/>
              </a:rPr>
              <a:t>(RELOP);</a:t>
            </a:r>
            <a:endParaRPr lang="en-US" sz="2400" dirty="0">
              <a:latin typeface="+mj-ea"/>
            </a:endParaRP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altLang="zh-CN" dirty="0">
                <a:latin typeface="+mj-ea"/>
              </a:rPr>
              <a:t>“&gt;”		{</a:t>
            </a:r>
            <a:r>
              <a:rPr lang="en-US" altLang="zh-CN" dirty="0" err="1">
                <a:latin typeface="+mj-ea"/>
              </a:rPr>
              <a:t>yylval</a:t>
            </a:r>
            <a:r>
              <a:rPr lang="en-US" altLang="zh-CN" dirty="0">
                <a:latin typeface="+mj-ea"/>
              </a:rPr>
              <a:t>=</a:t>
            </a:r>
            <a:r>
              <a:rPr lang="en-US" altLang="zh-CN" dirty="0" err="1">
                <a:latin typeface="+mj-ea"/>
              </a:rPr>
              <a:t>GT;return</a:t>
            </a:r>
            <a:r>
              <a:rPr lang="en-US" altLang="zh-CN" dirty="0">
                <a:latin typeface="+mj-ea"/>
              </a:rPr>
              <a:t>(RELOP);}</a:t>
            </a: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dirty="0">
                <a:latin typeface="+mj-ea"/>
              </a:rPr>
              <a:t>…</a:t>
            </a: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dirty="0">
                <a:latin typeface="+mj-ea"/>
              </a:rPr>
              <a:t>%%		</a:t>
            </a:r>
            <a:r>
              <a:rPr lang="en-US" altLang="zh-CN" dirty="0">
                <a:latin typeface="+mj-ea"/>
              </a:rPr>
              <a:t>/</a:t>
            </a:r>
            <a:r>
              <a:rPr lang="zh-CN" altLang="en-US" dirty="0">
                <a:latin typeface="+mj-ea"/>
              </a:rPr>
              <a:t>*用户子程序部分*</a:t>
            </a:r>
            <a:r>
              <a:rPr lang="en-US" altLang="zh-CN" dirty="0">
                <a:latin typeface="+mj-ea"/>
              </a:rPr>
              <a:t>/</a:t>
            </a:r>
            <a:endParaRPr lang="en-US" dirty="0">
              <a:latin typeface="+mj-ea"/>
            </a:endParaRP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dirty="0" err="1">
                <a:latin typeface="+mj-ea"/>
              </a:rPr>
              <a:t>install_id</a:t>
            </a:r>
            <a:r>
              <a:rPr lang="en-US" dirty="0">
                <a:latin typeface="+mj-ea"/>
              </a:rPr>
              <a:t>()</a:t>
            </a: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dirty="0">
                <a:latin typeface="+mj-ea"/>
              </a:rPr>
              <a:t>{/*</a:t>
            </a:r>
            <a:r>
              <a:rPr lang="zh-CN" altLang="en-US" dirty="0">
                <a:latin typeface="+mj-ea"/>
              </a:rPr>
              <a:t>把单词装入符号表并返回指针。</a:t>
            </a:r>
            <a:endParaRPr lang="en-US" dirty="0">
              <a:latin typeface="+mj-ea"/>
            </a:endParaRP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altLang="zh-CN" dirty="0" err="1">
                <a:latin typeface="+mj-ea"/>
              </a:rPr>
              <a:t>yytext</a:t>
            </a:r>
            <a:r>
              <a:rPr lang="zh-CN" altLang="en-US" dirty="0">
                <a:latin typeface="+mj-ea"/>
              </a:rPr>
              <a:t>指向该单词的第一个字符，</a:t>
            </a:r>
            <a:r>
              <a:rPr lang="en-US" altLang="zh-CN" dirty="0" err="1">
                <a:latin typeface="+mj-ea"/>
              </a:rPr>
              <a:t>yyleng</a:t>
            </a:r>
            <a:r>
              <a:rPr lang="zh-CN" altLang="en-US" dirty="0">
                <a:latin typeface="+mj-ea"/>
              </a:rPr>
              <a:t>给出它的长度*</a:t>
            </a:r>
            <a:r>
              <a:rPr lang="en-US" altLang="zh-CN" dirty="0">
                <a:latin typeface="+mj-ea"/>
              </a:rPr>
              <a:t>/</a:t>
            </a:r>
            <a:endParaRPr lang="en-US" dirty="0">
              <a:latin typeface="+mj-ea"/>
            </a:endParaRP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dirty="0">
                <a:latin typeface="+mj-ea"/>
              </a:rPr>
              <a:t>}</a:t>
            </a: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altLang="zh-CN" dirty="0" err="1">
                <a:latin typeface="+mj-ea"/>
              </a:rPr>
              <a:t>Install_number</a:t>
            </a:r>
            <a:r>
              <a:rPr lang="en-US" altLang="zh-CN" dirty="0">
                <a:latin typeface="+mj-ea"/>
              </a:rPr>
              <a:t>()</a:t>
            </a:r>
          </a:p>
          <a:p>
            <a:pPr marL="112395">
              <a:spcBef>
                <a:spcPct val="20000"/>
              </a:spcBef>
              <a:buClr>
                <a:schemeClr val="accent1"/>
              </a:buClr>
              <a:buSzPct val="100000"/>
            </a:pPr>
            <a:r>
              <a:rPr lang="en-US" dirty="0">
                <a:latin typeface="+mj-ea"/>
              </a:rPr>
              <a:t>{/*</a:t>
            </a:r>
            <a:r>
              <a:rPr lang="zh-CN" altLang="en-US" dirty="0">
                <a:latin typeface="+mj-ea"/>
              </a:rPr>
              <a:t>类似函数</a:t>
            </a:r>
            <a:r>
              <a:rPr lang="en-US" altLang="zh-CN" dirty="0" err="1">
                <a:latin typeface="+mj-ea"/>
              </a:rPr>
              <a:t>install_id</a:t>
            </a:r>
            <a:r>
              <a:rPr lang="en-US" altLang="zh-CN" dirty="0">
                <a:latin typeface="+mj-ea"/>
              </a:rPr>
              <a:t>()</a:t>
            </a:r>
            <a:r>
              <a:rPr lang="zh-CN" altLang="en-US" dirty="0">
                <a:latin typeface="+mj-ea"/>
              </a:rPr>
              <a:t>的动作*</a:t>
            </a:r>
            <a:r>
              <a:rPr lang="en-US" altLang="zh-CN" dirty="0">
                <a:latin typeface="+mj-ea"/>
              </a:rPr>
              <a:t>/</a:t>
            </a:r>
            <a:r>
              <a:rPr lang="en-US" dirty="0">
                <a:latin typeface="+mj-ea"/>
              </a:rPr>
              <a:t>}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源程序的规则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构造相应的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将所有的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合并成总的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NFA 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根据子集构造法转换成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化简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给出控制执行程序。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3.6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词法分析程序生成器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LEX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400" b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构造一个最简</a:t>
            </a:r>
            <a:r>
              <a:rPr lang="en-US" altLang="zh-CN" sz="2400" b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DFA</a:t>
            </a:r>
            <a:r>
              <a:rPr lang="zh-CN" altLang="en-US" sz="2400" b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，使其能够识别</a:t>
            </a:r>
            <a:r>
              <a:rPr lang="zh-CN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所有由偶数个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和偶数个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所组成串。</a:t>
            </a:r>
          </a:p>
          <a:p>
            <a:pPr marL="0" indent="0">
              <a:buNone/>
            </a:pPr>
            <a:r>
              <a:rPr lang="zh-CN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提示：</a:t>
            </a:r>
          </a:p>
          <a:p>
            <a:pPr marL="0" indent="0">
              <a:buNone/>
            </a:pPr>
            <a:r>
              <a:rPr lang="zh-CN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正则表达式</a:t>
            </a:r>
          </a:p>
          <a:p>
            <a:pPr marL="0" indent="0"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NFA</a:t>
            </a:r>
          </a:p>
          <a:p>
            <a:pPr marL="0" indent="0"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DFA</a:t>
            </a:r>
          </a:p>
          <a:p>
            <a:pPr marL="0" indent="0">
              <a:buNone/>
            </a:pPr>
            <a:r>
              <a:rPr lang="zh-CN" altLang="en-US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最简化</a:t>
            </a:r>
            <a:r>
              <a:rPr lang="en-US" altLang="zh-CN" sz="24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DFA</a:t>
            </a:r>
            <a:endParaRPr lang="zh-CN" altLang="zh-CN" sz="2400" b="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zh-CN" sz="2400" b="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练习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邓伏虎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信息与软件工程学院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74</a:t>
            </a:fld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bd81d0ca-b27e-4bb5-b008-44ad1784784e"/>
  <p:tag name="COMMONDATA" val="eyJoZGlkIjoiOTU2N2U5NDMyODQwMmI1ZmM5ZmFkYjFjOGNlMTU5Yj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6e43773-5672-4aaa-9f28-1e229d0a4bff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5f71c6f-ec98-4477-a20c-dfaccbfb31a0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29a750c-adc7-4953-a9b5-81527f217569}"/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804762c-54c8-4b7d-9d4f-c6d680ec922a}"/>
  <p:tag name="KSO_WM_BEAUTIFY_FLAG" val=""/>
</p:tagLst>
</file>

<file path=ppt/tags/tag171.xml><?xml version="1.0" encoding="utf-8"?>
<p:tagLst xmlns:p="http://schemas.openxmlformats.org/presentationml/2006/main">
  <p:tag name="KSO_WM_UNIT_TABLE_BEAUTIFY" val="smartTable{6804762c-54c8-4b7d-9d4f-c6d680ec922a}"/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29a750c-adc7-4953-a9b5-81527f217569}"/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cfd2968-3a97-49d8-baac-9367460df0ed}"/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317f822-c953-4423-855e-6a75f4eb3b24}"/>
  <p:tag name="KSO_WM_BEAUTIFY_FLAG" val=""/>
</p:tagLst>
</file>

<file path=ppt/tags/tag194.xml><?xml version="1.0" encoding="utf-8"?>
<p:tagLst xmlns:p="http://schemas.openxmlformats.org/presentationml/2006/main">
  <p:tag name="KSO_WM_UNIT_TABLE_BEAUTIFY" val="smartTable{1cfd2968-3a97-49d8-baac-9367460df0ed}"/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UNIT_TABLE_BEAUTIFY" val="smartTable{9317f822-c953-4423-855e-6a75f4eb3b24}"/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08*336"/>
  <p:tag name="TABLE_ENDDRAG_RECT" val="4*121*708*336"/>
</p:tagLst>
</file>

<file path=ppt/tags/tag1690.xml><?xml version="1.0" encoding="utf-8"?>
<p:tagLst xmlns:p="http://schemas.openxmlformats.org/presentationml/2006/main">
  <p:tag name="KSO_WM_UNIT_TABLE_BEAUTIFY" val="smartTable{929a750c-adc7-4953-a9b5-81527f217569}"/>
  <p:tag name="KSO_WM_BEAUTIFY_FLAG" val=""/>
</p:tagLst>
</file>

<file path=ppt/tags/tag1760.xml><?xml version="1.0" encoding="utf-8"?>
<p:tagLst xmlns:p="http://schemas.openxmlformats.org/presentationml/2006/main">
  <p:tag name="KSO_WM_UNIT_TABLE_BEAUTIFY" val="smartTable{929a750c-adc7-4953-a9b5-81527f217569}"/>
  <p:tag name="KSO_WM_BEAUTIFY_FLAG" val="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5038</Words>
  <Application>Microsoft Office PowerPoint</Application>
  <PresentationFormat>全屏显示(4:3)</PresentationFormat>
  <Paragraphs>1179</Paragraphs>
  <Slides>74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74</vt:i4>
      </vt:variant>
    </vt:vector>
  </HeadingPairs>
  <TitlesOfParts>
    <vt:vector size="87" baseType="lpstr">
      <vt:lpstr>华文楷体</vt:lpstr>
      <vt:lpstr>楷体_GB2312</vt:lpstr>
      <vt:lpstr>宋体</vt:lpstr>
      <vt:lpstr>Arial</vt:lpstr>
      <vt:lpstr>Calibri</vt:lpstr>
      <vt:lpstr>Cambria Math</vt:lpstr>
      <vt:lpstr>Candara</vt:lpstr>
      <vt:lpstr>Symbol</vt:lpstr>
      <vt:lpstr>Times New Roman</vt:lpstr>
      <vt:lpstr>Verdana</vt:lpstr>
      <vt:lpstr>Wingdings</vt:lpstr>
      <vt:lpstr>波形</vt:lpstr>
      <vt:lpstr>Visio</vt:lpstr>
      <vt:lpstr>编译流程</vt:lpstr>
      <vt:lpstr>第三章 词法分析器</vt:lpstr>
      <vt:lpstr>第三章  词法分析</vt:lpstr>
      <vt:lpstr>本章内容</vt:lpstr>
      <vt:lpstr>3.1 词法分析器概述</vt:lpstr>
      <vt:lpstr>3.1 词法分析概述</vt:lpstr>
      <vt:lpstr>3.1 词法分析概述</vt:lpstr>
      <vt:lpstr>3.2 单词的识别</vt:lpstr>
      <vt:lpstr>PowerPoint 演示文稿</vt:lpstr>
      <vt:lpstr>3.2 单词的识别</vt:lpstr>
      <vt:lpstr>思考</vt:lpstr>
      <vt:lpstr>思考</vt:lpstr>
      <vt:lpstr>词法分析器与语法分析器</vt:lpstr>
      <vt:lpstr>词法分析器与语法分析器</vt:lpstr>
      <vt:lpstr>3.3 状态转换图</vt:lpstr>
      <vt:lpstr>3.3 状态转换图</vt:lpstr>
      <vt:lpstr>3.3 状态转换图</vt:lpstr>
      <vt:lpstr>3.3 状态转换图</vt:lpstr>
      <vt:lpstr>3.3 状态转换图</vt:lpstr>
      <vt:lpstr>3.3 状态转换图</vt:lpstr>
      <vt:lpstr>3.3 状态转换图</vt:lpstr>
      <vt:lpstr>3.3 状态转换图</vt:lpstr>
      <vt:lpstr>3.3 状态转换图</vt:lpstr>
      <vt:lpstr>3.4 正则表达式</vt:lpstr>
      <vt:lpstr>3.4 正则表达式</vt:lpstr>
      <vt:lpstr>3.4 正则表达式</vt:lpstr>
      <vt:lpstr>3.4 正则表达式</vt:lpstr>
      <vt:lpstr>3.4 正则表达式</vt:lpstr>
      <vt:lpstr>3.4 正则表达式</vt:lpstr>
      <vt:lpstr>3.4 正则表达式</vt:lpstr>
      <vt:lpstr>3.5 有限状态自动机</vt:lpstr>
      <vt:lpstr>3.5 有限状态自动机</vt:lpstr>
      <vt:lpstr>3.5 有限状态自动机</vt:lpstr>
      <vt:lpstr>3.5 有限状态自动机</vt:lpstr>
      <vt:lpstr>3.5 有限状态自动机</vt:lpstr>
      <vt:lpstr>3.5 有限状态自动机</vt:lpstr>
      <vt:lpstr>3.5 有限状态自动机</vt:lpstr>
      <vt:lpstr>3.5 有限状态自动机</vt:lpstr>
      <vt:lpstr>3.5 有限状态自动机</vt:lpstr>
      <vt:lpstr>3.5 有限状态自动机</vt:lpstr>
      <vt:lpstr>3.5 有限状态自动机</vt:lpstr>
      <vt:lpstr>3.5 有限状态自动机</vt:lpstr>
      <vt:lpstr>3.5 有限状态自动机</vt:lpstr>
      <vt:lpstr>3.5 有限状态自动机</vt:lpstr>
      <vt:lpstr>PowerPoint 演示文稿</vt:lpstr>
      <vt:lpstr>3.5 有限状态自动机</vt:lpstr>
      <vt:lpstr>3.5 有限状态自动机</vt:lpstr>
      <vt:lpstr>3.5 有限状态自动机</vt:lpstr>
      <vt:lpstr>3.5 有限状态自动机</vt:lpstr>
      <vt:lpstr>3.5 有限状态自动机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3.5 有限状态自动机</vt:lpstr>
      <vt:lpstr>PowerPoint 演示文稿</vt:lpstr>
      <vt:lpstr>3.5 有限状态自动机</vt:lpstr>
      <vt:lpstr>3.5 有限状态自动机</vt:lpstr>
      <vt:lpstr>PowerPoint 演示文稿</vt:lpstr>
      <vt:lpstr>3.5 有限状态自动机</vt:lpstr>
      <vt:lpstr>PowerPoint 演示文稿</vt:lpstr>
      <vt:lpstr>3.6 词法分析程序生成器LEX</vt:lpstr>
      <vt:lpstr>PowerPoint 演示文稿</vt:lpstr>
      <vt:lpstr>PowerPoint 演示文稿</vt:lpstr>
      <vt:lpstr>3.6 词法分析程序生成器LEX</vt:lpstr>
      <vt:lpstr>练习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Fuhu Deng</dc:creator>
  <cp:lastModifiedBy>昌明 徐</cp:lastModifiedBy>
  <cp:revision>323</cp:revision>
  <dcterms:created xsi:type="dcterms:W3CDTF">2017-05-08T07:51:00Z</dcterms:created>
  <dcterms:modified xsi:type="dcterms:W3CDTF">2025-12-01T02:26:53Z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5C65F17BE388443A8F4D61F38E5EAB8D_12</vt:lpwstr>
  </property>
  <property fmtid="{D5CDD505-2E9C-101B-9397-08002B2CF9AE}" pid="3" name="KSOProductBuildVer">
    <vt:lpwstr>2052-11.1.0.14309</vt:lpwstr>
  </property>
</Properties>
</file>
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tags/tag7.xml" ContentType="application/vnd.openxmlformats-officedocument.presentationml.tags+xml"/>
  <Override PartName="/ppt/notesSlides/notesSlide3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37"/>
  </p:notesMasterIdLst>
  <p:handoutMasterIdLst>
    <p:handoutMasterId r:id="rId38"/>
  </p:handoutMasterIdLst>
  <p:sldIdLst>
    <p:sldId id="256" r:id="rId2"/>
    <p:sldId id="257" r:id="rId3"/>
    <p:sldId id="342" r:id="rId4"/>
    <p:sldId id="343" r:id="rId5"/>
    <p:sldId id="345" r:id="rId6"/>
    <p:sldId id="376" r:id="rId7"/>
    <p:sldId id="349" r:id="rId8"/>
    <p:sldId id="344" r:id="rId9"/>
    <p:sldId id="346" r:id="rId10"/>
    <p:sldId id="375" r:id="rId11"/>
    <p:sldId id="347" r:id="rId12"/>
    <p:sldId id="308" r:id="rId13"/>
    <p:sldId id="309" r:id="rId14"/>
    <p:sldId id="377" r:id="rId15"/>
    <p:sldId id="378" r:id="rId16"/>
    <p:sldId id="350" r:id="rId17"/>
    <p:sldId id="352" r:id="rId18"/>
    <p:sldId id="372" r:id="rId19"/>
    <p:sldId id="351" r:id="rId20"/>
    <p:sldId id="355" r:id="rId21"/>
    <p:sldId id="373" r:id="rId22"/>
    <p:sldId id="353" r:id="rId23"/>
    <p:sldId id="374" r:id="rId24"/>
    <p:sldId id="379" r:id="rId25"/>
    <p:sldId id="357" r:id="rId26"/>
    <p:sldId id="380" r:id="rId27"/>
    <p:sldId id="359" r:id="rId28"/>
    <p:sldId id="358" r:id="rId29"/>
    <p:sldId id="356" r:id="rId30"/>
    <p:sldId id="366" r:id="rId31"/>
    <p:sldId id="362" r:id="rId32"/>
    <p:sldId id="363" r:id="rId33"/>
    <p:sldId id="364" r:id="rId34"/>
    <p:sldId id="365" r:id="rId35"/>
    <p:sldId id="360" r:id="rId36"/>
  </p:sldIdLst>
  <p:sldSz cx="9144000" cy="6858000" type="screen4x3"/>
  <p:notesSz cx="6858000" cy="9144000"/>
  <p:custDataLst>
    <p:tags r:id="rId3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1" userDrawn="1">
          <p15:clr>
            <a:srgbClr val="A4A3A4"/>
          </p15:clr>
        </p15:guide>
        <p15:guide id="2" pos="287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68">
          <p15:clr>
            <a:srgbClr val="A4A3A4"/>
          </p15:clr>
        </p15:guide>
        <p15:guide id="2" pos="218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97" d="100"/>
          <a:sy n="97" d="100"/>
        </p:scale>
        <p:origin x="1480" y="60"/>
      </p:cViewPr>
      <p:guideLst>
        <p:guide orient="horz" pos="2151"/>
        <p:guide pos="287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4" d="100"/>
          <a:sy n="54" d="100"/>
        </p:scale>
        <p:origin x="-2916" y="-84"/>
      </p:cViewPr>
      <p:guideLst>
        <p:guide orient="horz" pos="2868"/>
        <p:guide pos="2189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gs" Target="tags/tag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9DBB7E-94B0-414B-AFBA-B90D4A3A866E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DF04E4-F1C4-4BD0-9D2B-45C0600EDC1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DF04E4-F1C4-4BD0-9D2B-45C0600EDC1E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DF04E4-F1C4-4BD0-9D2B-45C0600EDC1E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DF04E4-F1C4-4BD0-9D2B-45C0600EDC1E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228600" y="228600"/>
            <a:ext cx="8695944" cy="5791153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1" name="Freeform 14"/>
            <p:cNvSpPr/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2" name="Freeform 18"/>
            <p:cNvSpPr/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3" name="Freeform 22"/>
            <p:cNvSpPr/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4" name="Freeform 26"/>
            <p:cNvSpPr/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 useBgFill="1">
          <p:nvSpPr>
            <p:cNvPr id="15" name="Freeform 10"/>
            <p:cNvSpPr/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19672" y="2226898"/>
            <a:ext cx="6408712" cy="1780108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19672" y="4204271"/>
            <a:ext cx="64008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  <a:endParaRPr lang="en-US" dirty="0"/>
          </a:p>
        </p:txBody>
      </p:sp>
      <p:pic>
        <p:nvPicPr>
          <p:cNvPr id="17" name="Picture 1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28600"/>
            <a:ext cx="1998298" cy="1998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Date Placeholder 3"/>
          <p:cNvSpPr>
            <a:spLocks noGrp="1"/>
          </p:cNvSpPr>
          <p:nvPr>
            <p:ph type="dt" sz="half" idx="10"/>
          </p:nvPr>
        </p:nvSpPr>
        <p:spPr>
          <a:xfrm>
            <a:off x="5349092" y="6491295"/>
            <a:ext cx="378669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邓伏虎</a:t>
            </a:r>
            <a:endParaRPr lang="zh-CN" altLang="en-US" dirty="0"/>
          </a:p>
        </p:txBody>
      </p:sp>
      <p:sp>
        <p:nvSpPr>
          <p:cNvPr id="1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795" y="6498114"/>
            <a:ext cx="3786691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信息与软件工程学院</a:t>
            </a:r>
            <a:endParaRPr lang="zh-CN" altLang="en-US" dirty="0"/>
          </a:p>
        </p:txBody>
      </p:sp>
      <p:sp>
        <p:nvSpPr>
          <p:cNvPr id="2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75480" y="6492874"/>
            <a:ext cx="1161826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49092" y="6491295"/>
            <a:ext cx="378669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邓伏虎</a:t>
            </a:r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795" y="6498114"/>
            <a:ext cx="3786691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信息与软件工程学院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75480" y="6492874"/>
            <a:ext cx="1161826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755576" y="404664"/>
            <a:ext cx="7056784" cy="936104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4736592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14"/>
          <p:cNvSpPr/>
          <p:nvPr/>
        </p:nvSpPr>
        <p:spPr bwMode="hidden">
          <a:xfrm>
            <a:off x="6047438" y="4203592"/>
            <a:ext cx="2876429" cy="714026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0" name="Freeform 18"/>
          <p:cNvSpPr/>
          <p:nvPr/>
        </p:nvSpPr>
        <p:spPr bwMode="hidden">
          <a:xfrm>
            <a:off x="2619320" y="4075290"/>
            <a:ext cx="5544515" cy="850138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1" name="Freeform 22"/>
          <p:cNvSpPr/>
          <p:nvPr/>
        </p:nvSpPr>
        <p:spPr bwMode="hidden">
          <a:xfrm>
            <a:off x="2828728" y="4087562"/>
            <a:ext cx="5467980" cy="774272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2" name="Freeform 26"/>
          <p:cNvSpPr/>
          <p:nvPr/>
        </p:nvSpPr>
        <p:spPr bwMode="hidden">
          <a:xfrm>
            <a:off x="5609489" y="4074174"/>
            <a:ext cx="3308000" cy="651549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 useBgFill="1">
        <p:nvSpPr>
          <p:cNvPr id="13" name="Freeform 10"/>
          <p:cNvSpPr/>
          <p:nvPr/>
        </p:nvSpPr>
        <p:spPr bwMode="hidden">
          <a:xfrm>
            <a:off x="211665" y="4058555"/>
            <a:ext cx="8723376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32" y="2463560"/>
            <a:ext cx="77724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7365" y="1437448"/>
            <a:ext cx="6417734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5" name="Date Placeholder 3"/>
          <p:cNvSpPr>
            <a:spLocks noGrp="1"/>
          </p:cNvSpPr>
          <p:nvPr>
            <p:ph type="dt" sz="half" idx="10"/>
          </p:nvPr>
        </p:nvSpPr>
        <p:spPr>
          <a:xfrm>
            <a:off x="5349092" y="6491295"/>
            <a:ext cx="3786690" cy="365125"/>
          </a:xfrm>
        </p:spPr>
        <p:txBody>
          <a:bodyPr/>
          <a:lstStyle/>
          <a:p>
            <a:r>
              <a:rPr lang="zh-CN" altLang="en-US"/>
              <a:t>邓伏虎</a:t>
            </a:r>
            <a:endParaRPr lang="zh-CN" altLang="en-US" dirty="0"/>
          </a:p>
        </p:txBody>
      </p:sp>
      <p:sp>
        <p:nvSpPr>
          <p:cNvPr id="1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795" y="6498114"/>
            <a:ext cx="3786691" cy="365125"/>
          </a:xfrm>
        </p:spPr>
        <p:txBody>
          <a:bodyPr/>
          <a:lstStyle/>
          <a:p>
            <a:r>
              <a:rPr lang="zh-CN" altLang="en-US"/>
              <a:t>信息与软件工程学院</a:t>
            </a:r>
            <a:endParaRPr lang="zh-CN" altLang="en-US" dirty="0"/>
          </a:p>
        </p:txBody>
      </p:sp>
      <p:sp>
        <p:nvSpPr>
          <p:cNvPr id="1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75480" y="6492874"/>
            <a:ext cx="1161826" cy="365125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76655" y="2679192"/>
            <a:ext cx="3822192" cy="3447288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679192"/>
            <a:ext cx="3822192" cy="3447288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5349092" y="6491295"/>
            <a:ext cx="3786690" cy="365125"/>
          </a:xfrm>
        </p:spPr>
        <p:txBody>
          <a:bodyPr/>
          <a:lstStyle/>
          <a:p>
            <a:r>
              <a:rPr lang="zh-CN" altLang="en-US"/>
              <a:t>邓伏虎</a:t>
            </a:r>
            <a:endParaRPr lang="zh-CN" altLang="en-US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795" y="6498114"/>
            <a:ext cx="3786691" cy="365125"/>
          </a:xfrm>
        </p:spPr>
        <p:txBody>
          <a:bodyPr/>
          <a:lstStyle/>
          <a:p>
            <a:r>
              <a:rPr lang="zh-CN" altLang="en-US"/>
              <a:t>信息与软件工程学院</a:t>
            </a:r>
            <a:endParaRPr lang="zh-CN" altLang="en-US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75480" y="6492874"/>
            <a:ext cx="1161826" cy="365125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678114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7332" y="3429000"/>
            <a:ext cx="3820055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2678113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3429000"/>
            <a:ext cx="3822192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>
            <a:off x="5349092" y="6491295"/>
            <a:ext cx="3786690" cy="365125"/>
          </a:xfrm>
        </p:spPr>
        <p:txBody>
          <a:bodyPr/>
          <a:lstStyle/>
          <a:p>
            <a:r>
              <a:rPr lang="zh-CN" altLang="en-US"/>
              <a:t>邓伏虎</a:t>
            </a:r>
            <a:endParaRPr lang="zh-CN" altLang="en-US" dirty="0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795" y="6498114"/>
            <a:ext cx="3786691" cy="365125"/>
          </a:xfrm>
        </p:spPr>
        <p:txBody>
          <a:bodyPr/>
          <a:lstStyle/>
          <a:p>
            <a:r>
              <a:rPr lang="zh-CN" altLang="en-US"/>
              <a:t>信息与软件工程学院</a:t>
            </a:r>
            <a:endParaRPr lang="zh-CN" altLang="en-US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75480" y="6492874"/>
            <a:ext cx="1161826" cy="365125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6" name="Content Placeholder 8"/>
          <p:cNvSpPr>
            <a:spLocks noGrp="1"/>
          </p:cNvSpPr>
          <p:nvPr>
            <p:ph sz="quarter" idx="13"/>
          </p:nvPr>
        </p:nvSpPr>
        <p:spPr>
          <a:xfrm>
            <a:off x="676654" y="1628800"/>
            <a:ext cx="7927793" cy="449768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5349092" y="6491295"/>
            <a:ext cx="3786690" cy="365125"/>
          </a:xfrm>
        </p:spPr>
        <p:txBody>
          <a:bodyPr/>
          <a:lstStyle/>
          <a:p>
            <a:r>
              <a:rPr lang="zh-CN" altLang="en-US"/>
              <a:t>邓伏虎</a:t>
            </a:r>
            <a:endParaRPr lang="zh-CN" alt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795" y="6498114"/>
            <a:ext cx="3786691" cy="365125"/>
          </a:xfrm>
        </p:spPr>
        <p:txBody>
          <a:bodyPr/>
          <a:lstStyle/>
          <a:p>
            <a:r>
              <a:rPr lang="zh-CN" altLang="en-US"/>
              <a:t>信息与软件工程学院</a:t>
            </a:r>
            <a:endParaRPr lang="zh-CN" alt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75480" y="6492874"/>
            <a:ext cx="1161826" cy="365125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29874"/>
            <a:chOff x="-3905251" y="4294188"/>
            <a:chExt cx="13027839" cy="1892300"/>
          </a:xfrm>
        </p:grpSpPr>
        <p:sp>
          <p:nvSpPr>
            <p:cNvPr id="7" name="Freeform 14"/>
            <p:cNvSpPr/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8" name="Freeform 18"/>
            <p:cNvSpPr/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9" name="Freeform 22"/>
            <p:cNvSpPr/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0" name="Freeform 26"/>
            <p:cNvSpPr/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 useBgFill="1">
          <p:nvSpPr>
            <p:cNvPr id="11" name="Freeform 10"/>
            <p:cNvSpPr/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sp>
        <p:nvSpPr>
          <p:cNvPr id="13" name="Content Placeholder 8"/>
          <p:cNvSpPr>
            <a:spLocks noGrp="1"/>
          </p:cNvSpPr>
          <p:nvPr>
            <p:ph sz="quarter" idx="13"/>
          </p:nvPr>
        </p:nvSpPr>
        <p:spPr>
          <a:xfrm>
            <a:off x="676655" y="1055584"/>
            <a:ext cx="8240834" cy="5070896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14" name="Date Placeholder 3"/>
          <p:cNvSpPr>
            <a:spLocks noGrp="1"/>
          </p:cNvSpPr>
          <p:nvPr>
            <p:ph type="dt" sz="half" idx="10"/>
          </p:nvPr>
        </p:nvSpPr>
        <p:spPr>
          <a:xfrm>
            <a:off x="5349092" y="6491295"/>
            <a:ext cx="3786690" cy="365125"/>
          </a:xfrm>
        </p:spPr>
        <p:txBody>
          <a:bodyPr/>
          <a:lstStyle/>
          <a:p>
            <a:r>
              <a:rPr lang="zh-CN" altLang="en-US"/>
              <a:t>邓伏虎</a:t>
            </a:r>
            <a:endParaRPr lang="zh-CN" altLang="en-US" dirty="0"/>
          </a:p>
        </p:txBody>
      </p:sp>
      <p:sp>
        <p:nvSpPr>
          <p:cNvPr id="1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795" y="6498114"/>
            <a:ext cx="3786691" cy="365125"/>
          </a:xfrm>
        </p:spPr>
        <p:txBody>
          <a:bodyPr/>
          <a:lstStyle/>
          <a:p>
            <a:r>
              <a:rPr lang="zh-CN" altLang="en-US"/>
              <a:t>信息与软件工程学院</a:t>
            </a:r>
            <a:endParaRPr lang="zh-CN" altLang="en-US" dirty="0"/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75480" y="6492874"/>
            <a:ext cx="1161826" cy="365125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3581400"/>
            <a:ext cx="3352800" cy="19050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25" name="Freeform 14"/>
            <p:cNvSpPr/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26" name="Freeform 18"/>
            <p:cNvSpPr/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27" name="Freeform 22"/>
            <p:cNvSpPr/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28" name="Freeform 26"/>
            <p:cNvSpPr/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 useBgFill="1">
          <p:nvSpPr>
            <p:cNvPr id="29" name="Freeform 28"/>
            <p:cNvSpPr/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914400" y="2286000"/>
            <a:ext cx="33528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1962" y="1828800"/>
            <a:ext cx="3904076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16" name="Date Placeholder 3"/>
          <p:cNvSpPr>
            <a:spLocks noGrp="1"/>
          </p:cNvSpPr>
          <p:nvPr>
            <p:ph type="dt" sz="half" idx="10"/>
          </p:nvPr>
        </p:nvSpPr>
        <p:spPr>
          <a:xfrm>
            <a:off x="5349092" y="6491295"/>
            <a:ext cx="3786690" cy="365125"/>
          </a:xfrm>
        </p:spPr>
        <p:txBody>
          <a:bodyPr/>
          <a:lstStyle/>
          <a:p>
            <a:r>
              <a:rPr lang="zh-CN" altLang="en-US"/>
              <a:t>邓伏虎</a:t>
            </a:r>
            <a:endParaRPr lang="zh-CN" altLang="en-US" dirty="0"/>
          </a:p>
        </p:txBody>
      </p:sp>
      <p:sp>
        <p:nvSpPr>
          <p:cNvPr id="1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795" y="6498114"/>
            <a:ext cx="3786691" cy="365125"/>
          </a:xfrm>
        </p:spPr>
        <p:txBody>
          <a:bodyPr/>
          <a:lstStyle/>
          <a:p>
            <a:r>
              <a:rPr lang="zh-CN" altLang="en-US"/>
              <a:t>信息与软件工程学院</a:t>
            </a:r>
            <a:endParaRPr lang="zh-CN" altLang="en-US" dirty="0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75480" y="6492874"/>
            <a:ext cx="1161826" cy="365125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0" name="Freeform 14"/>
            <p:cNvSpPr/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1" name="Freeform 18"/>
            <p:cNvSpPr/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2" name="Freeform 22"/>
            <p:cNvSpPr/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3" name="Freeform 26"/>
            <p:cNvSpPr/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 useBgFill="1">
          <p:nvSpPr>
            <p:cNvPr id="14" name="Freeform 10"/>
            <p:cNvSpPr/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4155" y="338667"/>
            <a:ext cx="3812645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333" y="2785533"/>
            <a:ext cx="3818467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371600"/>
            <a:ext cx="356616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16" name="Date Placeholder 3"/>
          <p:cNvSpPr>
            <a:spLocks noGrp="1"/>
          </p:cNvSpPr>
          <p:nvPr>
            <p:ph type="dt" sz="half" idx="10"/>
          </p:nvPr>
        </p:nvSpPr>
        <p:spPr>
          <a:xfrm>
            <a:off x="5349092" y="6491295"/>
            <a:ext cx="3786690" cy="365125"/>
          </a:xfrm>
        </p:spPr>
        <p:txBody>
          <a:bodyPr/>
          <a:lstStyle/>
          <a:p>
            <a:r>
              <a:rPr lang="zh-CN" altLang="en-US"/>
              <a:t>邓伏虎</a:t>
            </a:r>
            <a:endParaRPr lang="zh-CN" altLang="en-US" dirty="0"/>
          </a:p>
        </p:txBody>
      </p:sp>
      <p:sp>
        <p:nvSpPr>
          <p:cNvPr id="1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795" y="6498114"/>
            <a:ext cx="3786691" cy="365125"/>
          </a:xfrm>
        </p:spPr>
        <p:txBody>
          <a:bodyPr/>
          <a:lstStyle/>
          <a:p>
            <a:r>
              <a:rPr lang="zh-CN" altLang="en-US"/>
              <a:t>信息与软件工程学院</a:t>
            </a:r>
            <a:endParaRPr lang="zh-CN" altLang="en-US" dirty="0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75480" y="6492874"/>
            <a:ext cx="1161826" cy="365125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5349092" y="6491295"/>
            <a:ext cx="3786690" cy="365125"/>
          </a:xfrm>
        </p:spPr>
        <p:txBody>
          <a:bodyPr/>
          <a:lstStyle/>
          <a:p>
            <a:r>
              <a:rPr lang="zh-CN" altLang="en-US"/>
              <a:t>邓伏虎</a:t>
            </a:r>
            <a:endParaRPr lang="zh-CN" alt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795" y="6498114"/>
            <a:ext cx="3786691" cy="365125"/>
          </a:xfrm>
        </p:spPr>
        <p:txBody>
          <a:bodyPr/>
          <a:lstStyle/>
          <a:p>
            <a:r>
              <a:rPr lang="zh-CN" altLang="en-US"/>
              <a:t>信息与软件工程学院</a:t>
            </a:r>
            <a:endParaRPr lang="zh-CN" alt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75480" y="6492874"/>
            <a:ext cx="1161826" cy="365125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5349092" y="6491295"/>
            <a:ext cx="3786690" cy="365125"/>
          </a:xfrm>
        </p:spPr>
        <p:txBody>
          <a:bodyPr/>
          <a:lstStyle/>
          <a:p>
            <a:r>
              <a:rPr lang="zh-CN" altLang="en-US"/>
              <a:t>邓伏虎</a:t>
            </a:r>
            <a:endParaRPr lang="zh-CN" alt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795" y="6498114"/>
            <a:ext cx="3786691" cy="365125"/>
          </a:xfrm>
        </p:spPr>
        <p:txBody>
          <a:bodyPr/>
          <a:lstStyle/>
          <a:p>
            <a:r>
              <a:rPr lang="zh-CN" altLang="en-US"/>
              <a:t>信息与软件工程学院</a:t>
            </a:r>
            <a:endParaRPr lang="zh-CN" alt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75480" y="6492874"/>
            <a:ext cx="1161826" cy="365125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>
          <a:xfrm>
            <a:off x="5349092" y="6491295"/>
            <a:ext cx="3786690" cy="365125"/>
          </a:xfrm>
        </p:spPr>
        <p:txBody>
          <a:bodyPr/>
          <a:lstStyle/>
          <a:p>
            <a:r>
              <a:rPr lang="zh-CN" altLang="en-US"/>
              <a:t>邓伏虎</a:t>
            </a:r>
            <a:endParaRPr lang="zh-CN" alt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795" y="6498114"/>
            <a:ext cx="3786691" cy="365125"/>
          </a:xfrm>
        </p:spPr>
        <p:txBody>
          <a:bodyPr/>
          <a:lstStyle/>
          <a:p>
            <a:r>
              <a:rPr lang="zh-CN" altLang="en-US"/>
              <a:t>信息与软件工程学院</a:t>
            </a:r>
            <a:endParaRPr lang="zh-CN" alt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75480" y="6492874"/>
            <a:ext cx="1161826" cy="365125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5515" y="442875"/>
            <a:ext cx="7056784" cy="9293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4397" y="1772816"/>
            <a:ext cx="8320210" cy="43533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pic>
        <p:nvPicPr>
          <p:cNvPr id="15" name="Picture 12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9898" y="126978"/>
            <a:ext cx="1206997" cy="1206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Rectangle 101"/>
          <p:cNvSpPr>
            <a:spLocks noChangeArrowheads="1"/>
          </p:cNvSpPr>
          <p:nvPr userDrawn="1"/>
        </p:nvSpPr>
        <p:spPr bwMode="auto">
          <a:xfrm>
            <a:off x="404396" y="106154"/>
            <a:ext cx="344487" cy="132744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" name="Rectangle 106"/>
          <p:cNvSpPr>
            <a:spLocks noChangeArrowheads="1"/>
          </p:cNvSpPr>
          <p:nvPr userDrawn="1"/>
        </p:nvSpPr>
        <p:spPr bwMode="auto">
          <a:xfrm>
            <a:off x="211665" y="260648"/>
            <a:ext cx="5662613" cy="77788"/>
          </a:xfrm>
          <a:prstGeom prst="rect">
            <a:avLst/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en-US" altLang="en-US" sz="2400" baseline="0"/>
          </a:p>
        </p:txBody>
      </p:sp>
      <p:sp>
        <p:nvSpPr>
          <p:cNvPr id="24" name="Rectangle 103"/>
          <p:cNvSpPr>
            <a:spLocks noChangeArrowheads="1"/>
          </p:cNvSpPr>
          <p:nvPr userDrawn="1"/>
        </p:nvSpPr>
        <p:spPr bwMode="auto">
          <a:xfrm>
            <a:off x="7054535" y="1372186"/>
            <a:ext cx="1474787" cy="26987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" name="Rectangle 110"/>
          <p:cNvSpPr>
            <a:spLocks noChangeArrowheads="1"/>
          </p:cNvSpPr>
          <p:nvPr userDrawn="1"/>
        </p:nvSpPr>
        <p:spPr bwMode="auto">
          <a:xfrm>
            <a:off x="2909594" y="1482951"/>
            <a:ext cx="5815012" cy="76200"/>
          </a:xfrm>
          <a:prstGeom prst="rect">
            <a:avLst/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" name="Date Placeholder 3"/>
          <p:cNvSpPr>
            <a:spLocks noGrp="1"/>
          </p:cNvSpPr>
          <p:nvPr>
            <p:ph type="dt" sz="half" idx="2"/>
          </p:nvPr>
        </p:nvSpPr>
        <p:spPr>
          <a:xfrm>
            <a:off x="5349092" y="6491295"/>
            <a:ext cx="378669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r>
              <a:rPr lang="zh-CN" altLang="en-US"/>
              <a:t>邓伏虎</a:t>
            </a:r>
            <a:endParaRPr lang="zh-CN" altLang="en-US" dirty="0"/>
          </a:p>
        </p:txBody>
      </p:sp>
      <p:sp>
        <p:nvSpPr>
          <p:cNvPr id="13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795" y="6498114"/>
            <a:ext cx="3786691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信息与软件工程学院</a:t>
            </a:r>
            <a:endParaRPr lang="zh-CN" altLang="en-US" dirty="0"/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75480" y="6492874"/>
            <a:ext cx="1161826" cy="365125"/>
          </a:xfrm>
          <a:prstGeom prst="rect">
            <a:avLst/>
          </a:prstGeom>
        </p:spPr>
        <p:txBody>
          <a:bodyPr/>
          <a:lstStyle>
            <a:lvl1pPr algn="ctr"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 autoUpdateAnimBg="0"/>
    </p:bldLst>
  </p:timing>
  <p:hf hdr="0"/>
  <p:txStyles>
    <p:titleStyle>
      <a:lvl1pPr algn="l" defTabSz="914400" rtl="0" eaLnBrk="1" latinLnBrk="0" hangingPunct="1">
        <a:spcBef>
          <a:spcPct val="0"/>
        </a:spcBef>
        <a:buNone/>
        <a:defRPr sz="3600" b="1" kern="1200">
          <a:solidFill>
            <a:schemeClr val="tx1"/>
          </a:solidFill>
          <a:latin typeface="+mn-ea"/>
          <a:ea typeface="+mn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anose="05050102010706020507" pitchFamily="18" charset="2"/>
        <a:buChar char=""/>
        <a:defRPr sz="2800" b="1" kern="1200">
          <a:solidFill>
            <a:schemeClr val="tx2"/>
          </a:solidFill>
          <a:latin typeface="+mn-lt"/>
          <a:ea typeface="+mn-ea"/>
          <a:cs typeface="+mn-cs"/>
        </a:defRPr>
      </a:lvl1pPr>
      <a:lvl2pPr marL="57658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anose="05050102010706020507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85598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anose="05050102010706020507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anose="05050102010706020507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5"/>
        </a:spcBef>
        <a:buClr>
          <a:schemeClr val="accent1"/>
        </a:buClr>
        <a:buFont typeface="Symbol" panose="05050102010706020507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5"/>
        </a:spcBef>
        <a:buClr>
          <a:schemeClr val="accent1"/>
        </a:buClr>
        <a:buFont typeface="Symbol" panose="05050102010706020507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5"/>
        </a:spcBef>
        <a:buClr>
          <a:schemeClr val="accent1"/>
        </a:buClr>
        <a:buFont typeface="Symbol" panose="05050102010706020507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5"/>
        </a:spcBef>
        <a:buClr>
          <a:schemeClr val="accent1"/>
        </a:buClr>
        <a:buFont typeface="Symbol" panose="05050102010706020507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4.GIF"/><Relationship Id="rId5" Type="http://schemas.openxmlformats.org/officeDocument/2006/relationships/image" Target="../media/image3.jpeg"/><Relationship Id="rId4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4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19.xml"/><Relationship Id="rId13" Type="http://schemas.openxmlformats.org/officeDocument/2006/relationships/tags" Target="../tags/tag24.xml"/><Relationship Id="rId18" Type="http://schemas.openxmlformats.org/officeDocument/2006/relationships/tags" Target="../tags/tag29.xml"/><Relationship Id="rId3" Type="http://schemas.openxmlformats.org/officeDocument/2006/relationships/tags" Target="../tags/tag14.xml"/><Relationship Id="rId21" Type="http://schemas.openxmlformats.org/officeDocument/2006/relationships/tags" Target="../tags/tag32.xml"/><Relationship Id="rId7" Type="http://schemas.openxmlformats.org/officeDocument/2006/relationships/tags" Target="../tags/tag18.xml"/><Relationship Id="rId12" Type="http://schemas.openxmlformats.org/officeDocument/2006/relationships/tags" Target="../tags/tag23.xml"/><Relationship Id="rId17" Type="http://schemas.openxmlformats.org/officeDocument/2006/relationships/tags" Target="../tags/tag28.xml"/><Relationship Id="rId25" Type="http://schemas.openxmlformats.org/officeDocument/2006/relationships/slideLayout" Target="../slideLayouts/slideLayout2.xml"/><Relationship Id="rId2" Type="http://schemas.openxmlformats.org/officeDocument/2006/relationships/tags" Target="../tags/tag13.xml"/><Relationship Id="rId16" Type="http://schemas.openxmlformats.org/officeDocument/2006/relationships/tags" Target="../tags/tag27.xml"/><Relationship Id="rId20" Type="http://schemas.openxmlformats.org/officeDocument/2006/relationships/tags" Target="../tags/tag31.xml"/><Relationship Id="rId1" Type="http://schemas.openxmlformats.org/officeDocument/2006/relationships/tags" Target="../tags/tag12.xml"/><Relationship Id="rId6" Type="http://schemas.openxmlformats.org/officeDocument/2006/relationships/tags" Target="../tags/tag17.xml"/><Relationship Id="rId11" Type="http://schemas.openxmlformats.org/officeDocument/2006/relationships/tags" Target="../tags/tag22.xml"/><Relationship Id="rId24" Type="http://schemas.openxmlformats.org/officeDocument/2006/relationships/tags" Target="../tags/tag35.xml"/><Relationship Id="rId5" Type="http://schemas.openxmlformats.org/officeDocument/2006/relationships/tags" Target="../tags/tag16.xml"/><Relationship Id="rId15" Type="http://schemas.openxmlformats.org/officeDocument/2006/relationships/tags" Target="../tags/tag26.xml"/><Relationship Id="rId23" Type="http://schemas.openxmlformats.org/officeDocument/2006/relationships/tags" Target="../tags/tag34.xml"/><Relationship Id="rId10" Type="http://schemas.openxmlformats.org/officeDocument/2006/relationships/tags" Target="../tags/tag21.xml"/><Relationship Id="rId19" Type="http://schemas.openxmlformats.org/officeDocument/2006/relationships/tags" Target="../tags/tag30.xml"/><Relationship Id="rId4" Type="http://schemas.openxmlformats.org/officeDocument/2006/relationships/tags" Target="../tags/tag15.xml"/><Relationship Id="rId9" Type="http://schemas.openxmlformats.org/officeDocument/2006/relationships/tags" Target="../tags/tag20.xml"/><Relationship Id="rId14" Type="http://schemas.openxmlformats.org/officeDocument/2006/relationships/tags" Target="../tags/tag25.xml"/><Relationship Id="rId22" Type="http://schemas.openxmlformats.org/officeDocument/2006/relationships/tags" Target="../tags/tag33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tags" Target="../tags/tag43.xml"/><Relationship Id="rId13" Type="http://schemas.openxmlformats.org/officeDocument/2006/relationships/tags" Target="../tags/tag48.xml"/><Relationship Id="rId3" Type="http://schemas.openxmlformats.org/officeDocument/2006/relationships/tags" Target="../tags/tag38.xml"/><Relationship Id="rId7" Type="http://schemas.openxmlformats.org/officeDocument/2006/relationships/tags" Target="../tags/tag42.xml"/><Relationship Id="rId12" Type="http://schemas.openxmlformats.org/officeDocument/2006/relationships/tags" Target="../tags/tag47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37.xml"/><Relationship Id="rId16" Type="http://schemas.openxmlformats.org/officeDocument/2006/relationships/tags" Target="../tags/tag51.xml"/><Relationship Id="rId1" Type="http://schemas.openxmlformats.org/officeDocument/2006/relationships/tags" Target="../tags/tag36.xml"/><Relationship Id="rId6" Type="http://schemas.openxmlformats.org/officeDocument/2006/relationships/tags" Target="../tags/tag41.xml"/><Relationship Id="rId11" Type="http://schemas.openxmlformats.org/officeDocument/2006/relationships/tags" Target="../tags/tag46.xml"/><Relationship Id="rId5" Type="http://schemas.openxmlformats.org/officeDocument/2006/relationships/tags" Target="../tags/tag40.xml"/><Relationship Id="rId15" Type="http://schemas.openxmlformats.org/officeDocument/2006/relationships/tags" Target="../tags/tag50.xml"/><Relationship Id="rId10" Type="http://schemas.openxmlformats.org/officeDocument/2006/relationships/tags" Target="../tags/tag45.xml"/><Relationship Id="rId4" Type="http://schemas.openxmlformats.org/officeDocument/2006/relationships/tags" Target="../tags/tag39.xml"/><Relationship Id="rId9" Type="http://schemas.openxmlformats.org/officeDocument/2006/relationships/tags" Target="../tags/tag44.xml"/><Relationship Id="rId14" Type="http://schemas.openxmlformats.org/officeDocument/2006/relationships/tags" Target="../tags/tag49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59.xml"/><Relationship Id="rId13" Type="http://schemas.openxmlformats.org/officeDocument/2006/relationships/tags" Target="../tags/tag64.xml"/><Relationship Id="rId18" Type="http://schemas.openxmlformats.org/officeDocument/2006/relationships/tags" Target="../tags/tag69.xml"/><Relationship Id="rId3" Type="http://schemas.openxmlformats.org/officeDocument/2006/relationships/tags" Target="../tags/tag54.xml"/><Relationship Id="rId21" Type="http://schemas.openxmlformats.org/officeDocument/2006/relationships/tags" Target="../tags/tag72.xml"/><Relationship Id="rId7" Type="http://schemas.openxmlformats.org/officeDocument/2006/relationships/tags" Target="../tags/tag58.xml"/><Relationship Id="rId12" Type="http://schemas.openxmlformats.org/officeDocument/2006/relationships/tags" Target="../tags/tag63.xml"/><Relationship Id="rId17" Type="http://schemas.openxmlformats.org/officeDocument/2006/relationships/tags" Target="../tags/tag68.xml"/><Relationship Id="rId25" Type="http://schemas.openxmlformats.org/officeDocument/2006/relationships/slideLayout" Target="../slideLayouts/slideLayout2.xml"/><Relationship Id="rId2" Type="http://schemas.openxmlformats.org/officeDocument/2006/relationships/tags" Target="../tags/tag53.xml"/><Relationship Id="rId16" Type="http://schemas.openxmlformats.org/officeDocument/2006/relationships/tags" Target="../tags/tag67.xml"/><Relationship Id="rId20" Type="http://schemas.openxmlformats.org/officeDocument/2006/relationships/tags" Target="../tags/tag71.xml"/><Relationship Id="rId1" Type="http://schemas.openxmlformats.org/officeDocument/2006/relationships/tags" Target="../tags/tag52.xml"/><Relationship Id="rId6" Type="http://schemas.openxmlformats.org/officeDocument/2006/relationships/tags" Target="../tags/tag57.xml"/><Relationship Id="rId11" Type="http://schemas.openxmlformats.org/officeDocument/2006/relationships/tags" Target="../tags/tag62.xml"/><Relationship Id="rId24" Type="http://schemas.openxmlformats.org/officeDocument/2006/relationships/tags" Target="../tags/tag75.xml"/><Relationship Id="rId5" Type="http://schemas.openxmlformats.org/officeDocument/2006/relationships/tags" Target="../tags/tag56.xml"/><Relationship Id="rId15" Type="http://schemas.openxmlformats.org/officeDocument/2006/relationships/tags" Target="../tags/tag66.xml"/><Relationship Id="rId23" Type="http://schemas.openxmlformats.org/officeDocument/2006/relationships/tags" Target="../tags/tag74.xml"/><Relationship Id="rId10" Type="http://schemas.openxmlformats.org/officeDocument/2006/relationships/tags" Target="../tags/tag61.xml"/><Relationship Id="rId19" Type="http://schemas.openxmlformats.org/officeDocument/2006/relationships/tags" Target="../tags/tag70.xml"/><Relationship Id="rId4" Type="http://schemas.openxmlformats.org/officeDocument/2006/relationships/tags" Target="../tags/tag55.xml"/><Relationship Id="rId9" Type="http://schemas.openxmlformats.org/officeDocument/2006/relationships/tags" Target="../tags/tag60.xml"/><Relationship Id="rId14" Type="http://schemas.openxmlformats.org/officeDocument/2006/relationships/tags" Target="../tags/tag65.xml"/><Relationship Id="rId22" Type="http://schemas.openxmlformats.org/officeDocument/2006/relationships/tags" Target="../tags/tag7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7.xml"/><Relationship Id="rId1" Type="http://schemas.openxmlformats.org/officeDocument/2006/relationships/tags" Target="../tags/tag76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tags" Target="../tags/tag85.xml"/><Relationship Id="rId13" Type="http://schemas.openxmlformats.org/officeDocument/2006/relationships/tags" Target="../tags/tag90.xml"/><Relationship Id="rId3" Type="http://schemas.openxmlformats.org/officeDocument/2006/relationships/tags" Target="../tags/tag80.xml"/><Relationship Id="rId7" Type="http://schemas.openxmlformats.org/officeDocument/2006/relationships/tags" Target="../tags/tag84.xml"/><Relationship Id="rId12" Type="http://schemas.openxmlformats.org/officeDocument/2006/relationships/tags" Target="../tags/tag89.xml"/><Relationship Id="rId2" Type="http://schemas.openxmlformats.org/officeDocument/2006/relationships/tags" Target="../tags/tag79.xml"/><Relationship Id="rId16" Type="http://schemas.openxmlformats.org/officeDocument/2006/relationships/slideLayout" Target="../slideLayouts/slideLayout2.xml"/><Relationship Id="rId1" Type="http://schemas.openxmlformats.org/officeDocument/2006/relationships/tags" Target="../tags/tag78.xml"/><Relationship Id="rId6" Type="http://schemas.openxmlformats.org/officeDocument/2006/relationships/tags" Target="../tags/tag83.xml"/><Relationship Id="rId11" Type="http://schemas.openxmlformats.org/officeDocument/2006/relationships/tags" Target="../tags/tag88.xml"/><Relationship Id="rId5" Type="http://schemas.openxmlformats.org/officeDocument/2006/relationships/tags" Target="../tags/tag82.xml"/><Relationship Id="rId15" Type="http://schemas.openxmlformats.org/officeDocument/2006/relationships/tags" Target="../tags/tag92.xml"/><Relationship Id="rId10" Type="http://schemas.openxmlformats.org/officeDocument/2006/relationships/tags" Target="../tags/tag87.xml"/><Relationship Id="rId4" Type="http://schemas.openxmlformats.org/officeDocument/2006/relationships/tags" Target="../tags/tag81.xml"/><Relationship Id="rId9" Type="http://schemas.openxmlformats.org/officeDocument/2006/relationships/tags" Target="../tags/tag86.xml"/><Relationship Id="rId14" Type="http://schemas.openxmlformats.org/officeDocument/2006/relationships/tags" Target="../tags/tag9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tags" Target="../tags/tag96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95.xml"/><Relationship Id="rId1" Type="http://schemas.openxmlformats.org/officeDocument/2006/relationships/tags" Target="../tags/tag94.xml"/><Relationship Id="rId6" Type="http://schemas.openxmlformats.org/officeDocument/2006/relationships/tags" Target="../tags/tag99.xml"/><Relationship Id="rId5" Type="http://schemas.openxmlformats.org/officeDocument/2006/relationships/tags" Target="../tags/tag98.xml"/><Relationship Id="rId4" Type="http://schemas.openxmlformats.org/officeDocument/2006/relationships/tags" Target="../tags/tag9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1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tags" Target="../tags/tag109.xml"/><Relationship Id="rId3" Type="http://schemas.openxmlformats.org/officeDocument/2006/relationships/tags" Target="../tags/tag104.xml"/><Relationship Id="rId7" Type="http://schemas.openxmlformats.org/officeDocument/2006/relationships/tags" Target="../tags/tag108.xml"/><Relationship Id="rId2" Type="http://schemas.openxmlformats.org/officeDocument/2006/relationships/tags" Target="../tags/tag103.xml"/><Relationship Id="rId1" Type="http://schemas.openxmlformats.org/officeDocument/2006/relationships/tags" Target="../tags/tag102.xml"/><Relationship Id="rId6" Type="http://schemas.openxmlformats.org/officeDocument/2006/relationships/tags" Target="../tags/tag107.xml"/><Relationship Id="rId5" Type="http://schemas.openxmlformats.org/officeDocument/2006/relationships/tags" Target="../tags/tag106.xml"/><Relationship Id="rId4" Type="http://schemas.openxmlformats.org/officeDocument/2006/relationships/tags" Target="../tags/tag105.xml"/><Relationship Id="rId9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0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tags" Target="../tags/tag118.xml"/><Relationship Id="rId13" Type="http://schemas.openxmlformats.org/officeDocument/2006/relationships/slideLayout" Target="../slideLayouts/slideLayout2.xml"/><Relationship Id="rId3" Type="http://schemas.openxmlformats.org/officeDocument/2006/relationships/tags" Target="../tags/tag113.xml"/><Relationship Id="rId7" Type="http://schemas.openxmlformats.org/officeDocument/2006/relationships/tags" Target="../tags/tag117.xml"/><Relationship Id="rId12" Type="http://schemas.openxmlformats.org/officeDocument/2006/relationships/tags" Target="../tags/tag122.xml"/><Relationship Id="rId2" Type="http://schemas.openxmlformats.org/officeDocument/2006/relationships/tags" Target="../tags/tag112.xml"/><Relationship Id="rId1" Type="http://schemas.openxmlformats.org/officeDocument/2006/relationships/tags" Target="../tags/tag111.xml"/><Relationship Id="rId6" Type="http://schemas.openxmlformats.org/officeDocument/2006/relationships/tags" Target="../tags/tag116.xml"/><Relationship Id="rId11" Type="http://schemas.openxmlformats.org/officeDocument/2006/relationships/tags" Target="../tags/tag121.xml"/><Relationship Id="rId5" Type="http://schemas.openxmlformats.org/officeDocument/2006/relationships/tags" Target="../tags/tag115.xml"/><Relationship Id="rId10" Type="http://schemas.openxmlformats.org/officeDocument/2006/relationships/tags" Target="../tags/tag120.xml"/><Relationship Id="rId4" Type="http://schemas.openxmlformats.org/officeDocument/2006/relationships/tags" Target="../tags/tag114.xml"/><Relationship Id="rId9" Type="http://schemas.openxmlformats.org/officeDocument/2006/relationships/tags" Target="../tags/tag11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6.xml"/><Relationship Id="rId1" Type="http://schemas.openxmlformats.org/officeDocument/2006/relationships/tags" Target="../tags/tag12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tags" Target="../tags/tag131.xml"/><Relationship Id="rId2" Type="http://schemas.openxmlformats.org/officeDocument/2006/relationships/tags" Target="../tags/tag130.xml"/><Relationship Id="rId1" Type="http://schemas.openxmlformats.org/officeDocument/2006/relationships/tags" Target="../tags/tag129.xml"/><Relationship Id="rId6" Type="http://schemas.openxmlformats.org/officeDocument/2006/relationships/image" Target="../media/image9.jpeg"/><Relationship Id="rId5" Type="http://schemas.openxmlformats.org/officeDocument/2006/relationships/image" Target="../media/image8.png"/><Relationship Id="rId4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tags" Target="../tags/tag134.xml"/><Relationship Id="rId2" Type="http://schemas.openxmlformats.org/officeDocument/2006/relationships/tags" Target="../tags/tag133.xml"/><Relationship Id="rId1" Type="http://schemas.openxmlformats.org/officeDocument/2006/relationships/tags" Target="../tags/tag132.xml"/><Relationship Id="rId5" Type="http://schemas.openxmlformats.org/officeDocument/2006/relationships/image" Target="../media/image10.jpeg"/><Relationship Id="rId4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tags" Target="../tags/tag137.xml"/><Relationship Id="rId2" Type="http://schemas.openxmlformats.org/officeDocument/2006/relationships/tags" Target="../tags/tag136.xml"/><Relationship Id="rId1" Type="http://schemas.openxmlformats.org/officeDocument/2006/relationships/tags" Target="../tags/tag135.xml"/><Relationship Id="rId5" Type="http://schemas.openxmlformats.org/officeDocument/2006/relationships/image" Target="../media/image11.jpeg"/><Relationship Id="rId4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tags" Target="../tags/tag140.xml"/><Relationship Id="rId2" Type="http://schemas.openxmlformats.org/officeDocument/2006/relationships/tags" Target="../tags/tag139.xml"/><Relationship Id="rId1" Type="http://schemas.openxmlformats.org/officeDocument/2006/relationships/tags" Target="../tags/tag138.xml"/><Relationship Id="rId5" Type="http://schemas.openxmlformats.org/officeDocument/2006/relationships/image" Target="../media/image12.png"/><Relationship Id="rId4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tags" Target="../tags/tag143.xml"/><Relationship Id="rId2" Type="http://schemas.openxmlformats.org/officeDocument/2006/relationships/tags" Target="../tags/tag142.xml"/><Relationship Id="rId1" Type="http://schemas.openxmlformats.org/officeDocument/2006/relationships/tags" Target="../tags/tag141.xml"/><Relationship Id="rId5" Type="http://schemas.openxmlformats.org/officeDocument/2006/relationships/image" Target="../media/image13.jpeg"/><Relationship Id="rId4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ctrTitle"/>
          </p:nvPr>
        </p:nvSpPr>
        <p:spPr>
          <a:xfrm>
            <a:off x="1619672" y="2276872"/>
            <a:ext cx="6408712" cy="1154070"/>
          </a:xfrm>
        </p:spPr>
        <p:txBody>
          <a:bodyPr>
            <a:normAutofit/>
          </a:bodyPr>
          <a:lstStyle/>
          <a:p>
            <a:r>
              <a:rPr lang="zh-CN" altLang="en-US" b="1" dirty="0">
                <a:latin typeface="+mn-ea"/>
                <a:ea typeface="+mn-ea"/>
              </a:rPr>
              <a:t>第</a:t>
            </a:r>
            <a:r>
              <a:rPr lang="en-US" altLang="zh-CN" b="1" dirty="0">
                <a:latin typeface="+mn-ea"/>
                <a:ea typeface="+mn-ea"/>
              </a:rPr>
              <a:t>1</a:t>
            </a:r>
            <a:r>
              <a:rPr lang="zh-CN" altLang="en-US" b="1" dirty="0">
                <a:latin typeface="+mn-ea"/>
                <a:ea typeface="+mn-ea"/>
              </a:rPr>
              <a:t>章 编译技术概述</a:t>
            </a:r>
            <a:endParaRPr lang="en-US" b="1" dirty="0">
              <a:latin typeface="+mn-ea"/>
              <a:ea typeface="+mn-ea"/>
            </a:endParaRPr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zh-CN" altLang="en-US" sz="2800" b="1" dirty="0">
                <a:latin typeface="+mn-ea"/>
                <a:cs typeface="+mj-cs"/>
              </a:rPr>
              <a:t>信息与软件工程学院</a:t>
            </a:r>
            <a:endParaRPr lang="en-US" altLang="zh-CN" sz="2800" b="1" dirty="0">
              <a:latin typeface="+mn-ea"/>
              <a:cs typeface="+mj-cs"/>
            </a:endParaRPr>
          </a:p>
          <a:p>
            <a:pPr>
              <a:spcBef>
                <a:spcPct val="0"/>
              </a:spcBef>
            </a:pPr>
            <a:endParaRPr lang="en-US" altLang="zh-CN" sz="2800" b="1" dirty="0">
              <a:latin typeface="+mn-ea"/>
              <a:cs typeface="+mj-cs"/>
            </a:endParaRPr>
          </a:p>
          <a:p>
            <a:pPr>
              <a:spcBef>
                <a:spcPct val="0"/>
              </a:spcBef>
            </a:pPr>
            <a:r>
              <a:rPr lang="zh-CN" altLang="en-US" sz="2800" b="1" dirty="0">
                <a:latin typeface="+mn-ea"/>
                <a:cs typeface="+mj-cs"/>
              </a:rPr>
              <a:t>邓伏虎</a:t>
            </a:r>
            <a:endParaRPr lang="en-US" sz="2800" b="1" dirty="0">
              <a:latin typeface="+mn-ea"/>
              <a:cs typeface="+mj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0" y="1916832"/>
            <a:ext cx="9143999" cy="4209331"/>
          </a:xfrm>
        </p:spPr>
        <p:txBody>
          <a:bodyPr>
            <a:normAutofit/>
          </a:bodyPr>
          <a:lstStyle/>
          <a:p>
            <a:pPr marL="0" indent="0" fontAlgn="auto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dirty="0">
                <a:latin typeface="宋体" panose="02010600030101010101" pitchFamily="2" charset="-122"/>
              </a:rPr>
              <a:t>1.1 </a:t>
            </a:r>
            <a:r>
              <a:rPr lang="zh-CN" altLang="en-US" sz="2800" dirty="0">
                <a:latin typeface="宋体" panose="02010600030101010101" pitchFamily="2" charset="-122"/>
              </a:rPr>
              <a:t>程序设计语言</a:t>
            </a:r>
          </a:p>
          <a:p>
            <a:pPr marL="0" indent="0" fontAlgn="auto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800" dirty="0">
                <a:latin typeface="宋体" panose="02010600030101010101" pitchFamily="2" charset="-122"/>
              </a:rPr>
              <a:t>1.2 </a:t>
            </a:r>
            <a:r>
              <a:rPr lang="zh-CN" altLang="en-US" sz="2800" dirty="0">
                <a:latin typeface="宋体" panose="02010600030101010101" pitchFamily="2" charset="-122"/>
              </a:rPr>
              <a:t>编译的作用与分类</a:t>
            </a:r>
            <a:endParaRPr lang="en-US" altLang="zh-CN" sz="2800" dirty="0">
              <a:latin typeface="宋体" panose="02010600030101010101" pitchFamily="2" charset="-122"/>
            </a:endParaRPr>
          </a:p>
          <a:p>
            <a:pPr marL="0" indent="0" fontAlgn="auto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800" dirty="0">
                <a:latin typeface="宋体" panose="02010600030101010101" pitchFamily="2" charset="-122"/>
              </a:rPr>
              <a:t>1.3 </a:t>
            </a:r>
            <a:r>
              <a:rPr lang="zh-CN" altLang="en-US" sz="2800" dirty="0">
                <a:latin typeface="宋体" panose="02010600030101010101" pitchFamily="2" charset="-122"/>
              </a:rPr>
              <a:t>编译器的结构</a:t>
            </a:r>
            <a:endParaRPr lang="en-US" altLang="zh-CN" sz="2800" dirty="0">
              <a:latin typeface="宋体" panose="02010600030101010101" pitchFamily="2" charset="-122"/>
            </a:endParaRPr>
          </a:p>
          <a:p>
            <a:pPr marL="0" indent="0" fontAlgn="auto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dirty="0">
                <a:latin typeface="宋体" panose="02010600030101010101" pitchFamily="2" charset="-122"/>
              </a:rPr>
              <a:t>1.4 </a:t>
            </a:r>
            <a:r>
              <a:rPr lang="zh-CN" altLang="en-US" dirty="0">
                <a:latin typeface="宋体" panose="02010600030101010101" pitchFamily="2" charset="-122"/>
              </a:rPr>
              <a:t>编译技术的应用</a:t>
            </a:r>
            <a:endParaRPr lang="en-US" sz="2800" dirty="0">
              <a:latin typeface="宋体" panose="02010600030101010101" pitchFamily="2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74700" y="404495"/>
            <a:ext cx="7922260" cy="1151890"/>
          </a:xfrm>
        </p:spPr>
        <p:txBody>
          <a:bodyPr>
            <a:normAutofit/>
          </a:bodyPr>
          <a:lstStyle/>
          <a:p>
            <a:pPr algn="l"/>
            <a:r>
              <a:rPr lang="zh-CN" altLang="en-US" sz="3600" b="1" dirty="0">
                <a:latin typeface="+mn-ea"/>
                <a:ea typeface="+mn-ea"/>
              </a:rPr>
              <a:t>本章内容</a:t>
            </a:r>
            <a:endParaRPr lang="en-US" sz="3600" b="1" dirty="0">
              <a:latin typeface="+mn-ea"/>
              <a:ea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邓伏虎</a:t>
            </a:r>
            <a:endParaRPr lang="zh-CN" altLang="en-US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信息与软件工程学院</a:t>
            </a:r>
            <a:endParaRPr lang="zh-CN" alt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2</a:t>
            </a:fld>
            <a:endParaRPr lang="zh-CN" alt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机器语言</a:t>
            </a:r>
            <a:endParaRPr lang="en-US" altLang="zh-CN" dirty="0"/>
          </a:p>
          <a:p>
            <a:pPr marL="539750">
              <a:buFont typeface="Wingdings" panose="05000000000000000000" pitchFamily="2" charset="2"/>
              <a:buChar char="Ø"/>
            </a:pPr>
            <a:r>
              <a:rPr lang="zh-CN" altLang="en-US" sz="2400" dirty="0"/>
              <a:t>能够被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2400" dirty="0"/>
              <a:t>直接理解并运行</a:t>
            </a:r>
            <a:endParaRPr lang="en-US" altLang="zh-CN" sz="2400" dirty="0"/>
          </a:p>
          <a:p>
            <a:pPr marL="539750">
              <a:buFont typeface="Wingdings" panose="05000000000000000000" pitchFamily="2" charset="2"/>
              <a:buChar char="Ø"/>
            </a:pPr>
            <a:r>
              <a:rPr lang="zh-CN" altLang="en-US" sz="2400" dirty="0"/>
              <a:t>和硬件相关，不同的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2400" dirty="0"/>
              <a:t>具有不同的指令系统。</a:t>
            </a:r>
            <a:endParaRPr lang="en-US" altLang="zh-CN" sz="2400" dirty="0"/>
          </a:p>
          <a:p>
            <a:pPr marL="539750">
              <a:buFont typeface="Wingdings" panose="05000000000000000000" pitchFamily="2" charset="2"/>
              <a:buChar char="Ø"/>
            </a:pPr>
            <a:r>
              <a:rPr lang="zh-CN" altLang="en-US" sz="2400" dirty="0"/>
              <a:t>难写、难懂、难维护</a:t>
            </a:r>
            <a:endParaRPr lang="en-US" altLang="zh-CN" sz="2400" dirty="0"/>
          </a:p>
          <a:p>
            <a:pPr>
              <a:spcBef>
                <a:spcPts val="1800"/>
              </a:spcBef>
            </a:pPr>
            <a:r>
              <a:rPr lang="zh-CN" altLang="en-US" dirty="0"/>
              <a:t>符号化的机器语言</a:t>
            </a:r>
            <a:r>
              <a:rPr lang="en-US" altLang="zh-CN" dirty="0"/>
              <a:t>--</a:t>
            </a:r>
            <a:r>
              <a:rPr lang="zh-CN" altLang="en-US" dirty="0"/>
              <a:t>汇编语言</a:t>
            </a:r>
            <a:endParaRPr lang="en-US" altLang="zh-CN" dirty="0"/>
          </a:p>
          <a:p>
            <a:pPr marL="539750">
              <a:buFont typeface="Wingdings" panose="05000000000000000000" pitchFamily="2" charset="2"/>
              <a:buChar char="Ø"/>
            </a:pPr>
            <a:r>
              <a:rPr lang="zh-CN" altLang="en-US" sz="2400" dirty="0"/>
              <a:t>与机器指令存在直接的对应关系</a:t>
            </a:r>
            <a:endParaRPr lang="en-US" altLang="zh-CN" sz="2400" dirty="0"/>
          </a:p>
          <a:p>
            <a:pPr marL="539750">
              <a:buFont typeface="Wingdings" panose="05000000000000000000" pitchFamily="2" charset="2"/>
              <a:buChar char="Ø"/>
            </a:pPr>
            <a:r>
              <a:rPr lang="zh-CN" altLang="en-US" sz="2400" dirty="0"/>
              <a:t>可直接访问系统接口</a:t>
            </a:r>
            <a:endParaRPr lang="en-US" altLang="zh-CN" sz="2400" dirty="0"/>
          </a:p>
          <a:p>
            <a:pPr marL="539750">
              <a:buFont typeface="Wingdings" panose="05000000000000000000" pitchFamily="2" charset="2"/>
              <a:buChar char="Ø"/>
            </a:pPr>
            <a:r>
              <a:rPr lang="zh-CN" altLang="en-US" sz="2400" dirty="0"/>
              <a:t>不能直接被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2400" dirty="0"/>
              <a:t>运行，需要翻译成机器语言</a:t>
            </a:r>
          </a:p>
          <a:p>
            <a:pPr marL="539750">
              <a:buFont typeface="Wingdings" panose="05000000000000000000" pitchFamily="2" charset="2"/>
              <a:buChar char="Ø"/>
            </a:pPr>
            <a:r>
              <a:rPr lang="zh-CN" altLang="en-US" sz="2400" dirty="0">
                <a:sym typeface="+mn-ea"/>
              </a:rPr>
              <a:t>难学难用、容易出错、维护困难</a:t>
            </a:r>
            <a:endParaRPr lang="en-US" altLang="zh-CN" sz="2400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邓伏虎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信息与软件工程学院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3</a:t>
            </a:fld>
            <a:endParaRPr lang="zh-CN" altLang="en-US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1.1 </a:t>
            </a:r>
            <a:r>
              <a:rPr lang="zh-CN" altLang="en-US" dirty="0"/>
              <a:t>程序设计语言</a:t>
            </a:r>
            <a:endParaRPr lang="en-US" dirty="0"/>
          </a:p>
        </p:txBody>
      </p:sp>
      <p:pic>
        <p:nvPicPr>
          <p:cNvPr id="1026" name="Picture 2" descr="C:\Users\Fuhu\Documents\编译技术\机器语言程序示例.jp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1628775"/>
            <a:ext cx="7461250" cy="4620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C:\Users\Fuhu\Documents\编译技术\汇编语言示例.gif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282" y="1700426"/>
            <a:ext cx="7926922" cy="4187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高级语言</a:t>
            </a:r>
            <a:endParaRPr lang="en-US" altLang="zh-CN" dirty="0"/>
          </a:p>
          <a:p>
            <a:pPr marL="539750">
              <a:buFont typeface="Wingdings" panose="05000000000000000000" pitchFamily="2" charset="2"/>
              <a:buChar char="Ø"/>
            </a:pPr>
            <a:r>
              <a:rPr lang="zh-CN" altLang="en-US" sz="2400" dirty="0"/>
              <a:t>面向用户，不特指一种具体的语言</a:t>
            </a:r>
            <a:endParaRPr lang="en-US" altLang="zh-CN" sz="2400" dirty="0"/>
          </a:p>
          <a:p>
            <a:pPr marL="539750">
              <a:buFont typeface="Wingdings" panose="05000000000000000000" pitchFamily="2" charset="2"/>
              <a:buChar char="Ø"/>
            </a:pPr>
            <a:r>
              <a:rPr lang="zh-CN" altLang="en-US" sz="2400" dirty="0"/>
              <a:t>独立于机器，易于移植</a:t>
            </a:r>
            <a:endParaRPr lang="en-US" altLang="zh-CN" sz="2400" dirty="0"/>
          </a:p>
          <a:p>
            <a:pPr marL="539750">
              <a:buFont typeface="Wingdings" panose="05000000000000000000" pitchFamily="2" charset="2"/>
              <a:buChar char="Ø"/>
            </a:pPr>
            <a:r>
              <a:rPr lang="zh-CN" altLang="en-US" sz="2400" dirty="0"/>
              <a:t>机器无法直接执行，需要转换成机器语言</a:t>
            </a:r>
          </a:p>
          <a:p>
            <a:pPr marL="539750">
              <a:buFont typeface="Wingdings" panose="05000000000000000000" pitchFamily="2" charset="2"/>
              <a:buChar char="Ø"/>
            </a:pPr>
            <a:r>
              <a:rPr lang="zh-CN" altLang="en-US" sz="2400" dirty="0">
                <a:sym typeface="+mn-ea"/>
              </a:rPr>
              <a:t>直观、自然、易于理解</a:t>
            </a:r>
            <a:endParaRPr lang="en-US" altLang="zh-CN" sz="2400" dirty="0"/>
          </a:p>
          <a:p>
            <a:pPr>
              <a:spcBef>
                <a:spcPts val="1800"/>
              </a:spcBef>
            </a:pPr>
            <a:r>
              <a:rPr lang="zh-CN" altLang="en-US" dirty="0"/>
              <a:t>说明性语言、函数式、逻辑式语言</a:t>
            </a:r>
            <a:endParaRPr lang="en-US" altLang="zh-CN" dirty="0"/>
          </a:p>
          <a:p>
            <a:pPr marL="539750">
              <a:buFont typeface="Wingdings" panose="05000000000000000000" pitchFamily="2" charset="2"/>
              <a:buChar char="Ø"/>
            </a:pPr>
            <a:endParaRPr lang="en-US" altLang="zh-CN" sz="2400" dirty="0"/>
          </a:p>
          <a:p>
            <a:pPr marL="539750">
              <a:buFont typeface="Wingdings" panose="05000000000000000000" pitchFamily="2" charset="2"/>
              <a:buChar char="Ø"/>
            </a:pPr>
            <a:endParaRPr lang="en-US" sz="2400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邓伏虎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信息与软件工程学院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4</a:t>
            </a:fld>
            <a:endParaRPr lang="zh-CN" altLang="en-US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1.1 </a:t>
            </a:r>
            <a:r>
              <a:rPr lang="zh-CN" altLang="en-US" dirty="0"/>
              <a:t>程序设计语言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286" y="1844953"/>
            <a:ext cx="8136904" cy="3816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rgbClr val="FF0000"/>
                </a:solidFill>
              </a:rPr>
              <a:t>高级语言的开发过程</a:t>
            </a:r>
          </a:p>
          <a:p>
            <a:pPr marL="0" indent="0">
              <a:buNone/>
            </a:pPr>
            <a:r>
              <a:rPr lang="zh-CN" altLang="en-US" sz="2400" dirty="0"/>
              <a:t>预处理</a:t>
            </a:r>
            <a:endParaRPr lang="en-US" altLang="zh-CN" sz="2400" dirty="0"/>
          </a:p>
          <a:p>
            <a:pPr marL="539750" indent="0">
              <a:buNone/>
            </a:pPr>
            <a:r>
              <a:rPr lang="zh-CN" altLang="en-US" sz="2000" dirty="0"/>
              <a:t>文件合并及宏展开</a:t>
            </a:r>
            <a:endParaRPr lang="en-US" altLang="zh-CN" sz="2000" dirty="0"/>
          </a:p>
          <a:p>
            <a:pPr marL="0" indent="0">
              <a:buNone/>
            </a:pPr>
            <a:r>
              <a:rPr lang="zh-CN" altLang="en-US" sz="2400" dirty="0"/>
              <a:t>编译</a:t>
            </a:r>
            <a:endParaRPr lang="en-US" altLang="zh-CN" sz="2400" dirty="0"/>
          </a:p>
          <a:p>
            <a:pPr marL="539750" indent="0">
              <a:buNone/>
            </a:pPr>
            <a:r>
              <a:rPr lang="zh-CN" altLang="en-US" sz="2000" dirty="0"/>
              <a:t>报告程序错误、生成目标代码程序</a:t>
            </a:r>
            <a:endParaRPr lang="en-US" altLang="zh-CN" sz="2000" dirty="0"/>
          </a:p>
          <a:p>
            <a:pPr marL="0" indent="0">
              <a:buNone/>
            </a:pPr>
            <a:r>
              <a:rPr lang="zh-CN" altLang="en-US" sz="2400" dirty="0"/>
              <a:t>汇编（可选择）</a:t>
            </a:r>
            <a:endParaRPr lang="en-US" altLang="zh-CN" sz="2400" dirty="0"/>
          </a:p>
          <a:p>
            <a:pPr marL="539750" indent="0">
              <a:buNone/>
            </a:pPr>
            <a:r>
              <a:rPr lang="zh-CN" altLang="en-US" sz="2000" dirty="0"/>
              <a:t>将目标代码程序汇编成机器代码程序</a:t>
            </a:r>
            <a:endParaRPr lang="en-US" altLang="zh-CN" sz="2000" dirty="0"/>
          </a:p>
          <a:p>
            <a:pPr marL="0" indent="0">
              <a:buNone/>
            </a:pPr>
            <a:r>
              <a:rPr lang="zh-CN" altLang="en-US" sz="2400" dirty="0"/>
              <a:t>装配</a:t>
            </a:r>
            <a:r>
              <a:rPr lang="en-US" altLang="zh-CN" sz="2400" dirty="0"/>
              <a:t>/</a:t>
            </a:r>
            <a:r>
              <a:rPr lang="zh-CN" altLang="en-US" sz="2400" dirty="0"/>
              <a:t>连接</a:t>
            </a:r>
            <a:endParaRPr lang="en-US" altLang="zh-CN" sz="2400" dirty="0"/>
          </a:p>
          <a:p>
            <a:pPr marL="539750" indent="0">
              <a:buNone/>
            </a:pPr>
            <a:r>
              <a:rPr lang="zh-CN" altLang="en-US" sz="2000" dirty="0"/>
              <a:t>连接库函数等、生成最终可执行的绝对机器代码程序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邓伏虎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信息与软件工程学院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5</a:t>
            </a:fld>
            <a:endParaRPr lang="zh-CN" altLang="en-US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1.1 </a:t>
            </a:r>
            <a:r>
              <a:rPr lang="zh-CN" altLang="en-US" dirty="0"/>
              <a:t>程序设计语言</a:t>
            </a:r>
            <a:endParaRPr lang="en-US" dirty="0"/>
          </a:p>
        </p:txBody>
      </p:sp>
      <p:pic>
        <p:nvPicPr>
          <p:cNvPr id="1229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75" y="2348865"/>
            <a:ext cx="8239125" cy="336169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rgbClr val="FF0000"/>
                </a:solidFill>
              </a:rPr>
              <a:t>高级语言的开发过程</a:t>
            </a:r>
          </a:p>
          <a:p>
            <a:pPr marL="0" indent="0">
              <a:buNone/>
            </a:pPr>
            <a:endParaRPr lang="zh-CN" altLang="en-US" sz="2000" dirty="0">
              <a:solidFill>
                <a:srgbClr val="FF0000"/>
              </a:solidFill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邓伏虎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信息与软件工程学院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6</a:t>
            </a:fld>
            <a:endParaRPr lang="zh-CN" altLang="en-US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1.1 </a:t>
            </a:r>
            <a:r>
              <a:rPr lang="zh-CN" altLang="en-US" dirty="0"/>
              <a:t>程序设计语言</a:t>
            </a:r>
            <a:endParaRPr lang="en-US" dirty="0"/>
          </a:p>
        </p:txBody>
      </p:sp>
      <p:pic>
        <p:nvPicPr>
          <p:cNvPr id="13317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30" y="2293620"/>
            <a:ext cx="9107170" cy="331216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318" name="文本框 2"/>
          <p:cNvSpPr txBox="1"/>
          <p:nvPr/>
        </p:nvSpPr>
        <p:spPr>
          <a:xfrm>
            <a:off x="2903855" y="5661025"/>
            <a:ext cx="3304540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indent="0"/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  <a:r>
              <a:rPr lang="zh-CN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语言的开发过程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8" grpId="0"/>
      <p:bldP spid="13318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邓伏虎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信息与软件工程学院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1.2 </a:t>
            </a:r>
            <a:r>
              <a:rPr lang="zh-CN" altLang="en-US" dirty="0"/>
              <a:t>编译的作用与分类</a:t>
            </a:r>
          </a:p>
        </p:txBody>
      </p:sp>
      <p:sp>
        <p:nvSpPr>
          <p:cNvPr id="7" name="内容占位符 1"/>
          <p:cNvSpPr txBox="1"/>
          <p:nvPr/>
        </p:nvSpPr>
        <p:spPr>
          <a:xfrm>
            <a:off x="404397" y="1672682"/>
            <a:ext cx="8320210" cy="93610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7432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7658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5598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4630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0312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2316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4320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翻译程序：将源程序完整地转换成机器语言或者汇编语言程序，然后再处理、执行的程序。</a:t>
            </a:r>
            <a:endParaRPr lang="en-US" dirty="0"/>
          </a:p>
          <a:p>
            <a:pPr marL="0" indent="0">
              <a:buFont typeface="Symbol" panose="05050102010706020507" pitchFamily="18" charset="2"/>
              <a:buNone/>
            </a:pP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1259030" y="4090463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源程序</a:t>
            </a:r>
            <a:endParaRPr lang="en-US" sz="2400" dirty="0"/>
          </a:p>
        </p:txBody>
      </p:sp>
      <p:sp>
        <p:nvSpPr>
          <p:cNvPr id="9" name="右箭头 8"/>
          <p:cNvSpPr/>
          <p:nvPr/>
        </p:nvSpPr>
        <p:spPr>
          <a:xfrm>
            <a:off x="2336442" y="4200137"/>
            <a:ext cx="978408" cy="2423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矩形 9"/>
          <p:cNvSpPr/>
          <p:nvPr/>
        </p:nvSpPr>
        <p:spPr>
          <a:xfrm>
            <a:off x="3334236" y="3864095"/>
            <a:ext cx="2175138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/>
              <a:t>翻译程序</a:t>
            </a:r>
            <a:endParaRPr lang="en-US" sz="2800" dirty="0"/>
          </a:p>
        </p:txBody>
      </p:sp>
      <p:sp>
        <p:nvSpPr>
          <p:cNvPr id="12" name="右箭头 11"/>
          <p:cNvSpPr/>
          <p:nvPr/>
        </p:nvSpPr>
        <p:spPr>
          <a:xfrm>
            <a:off x="5509374" y="4205004"/>
            <a:ext cx="978408" cy="2423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6660232" y="4095330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目标程序</a:t>
            </a:r>
            <a:endParaRPr lang="en-US" sz="2400" dirty="0"/>
          </a:p>
        </p:txBody>
      </p:sp>
      <p:sp>
        <p:nvSpPr>
          <p:cNvPr id="14" name="TextBox 13"/>
          <p:cNvSpPr txBox="1"/>
          <p:nvPr/>
        </p:nvSpPr>
        <p:spPr>
          <a:xfrm>
            <a:off x="1259030" y="2852936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源语言</a:t>
            </a:r>
            <a:endParaRPr lang="en-US" sz="2400" dirty="0"/>
          </a:p>
        </p:txBody>
      </p:sp>
      <p:cxnSp>
        <p:nvCxnSpPr>
          <p:cNvPr id="16" name="直接箭头连接符 15"/>
          <p:cNvCxnSpPr>
            <a:stCxn id="14" idx="2"/>
            <a:endCxn id="8" idx="0"/>
          </p:cNvCxnSpPr>
          <p:nvPr/>
        </p:nvCxnSpPr>
        <p:spPr>
          <a:xfrm>
            <a:off x="1813028" y="3314601"/>
            <a:ext cx="0" cy="77586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660232" y="2852936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目标语言</a:t>
            </a:r>
            <a:endParaRPr lang="en-US" dirty="0"/>
          </a:p>
        </p:txBody>
      </p:sp>
      <p:cxnSp>
        <p:nvCxnSpPr>
          <p:cNvPr id="19" name="直接箭头连接符 18"/>
          <p:cNvCxnSpPr>
            <a:stCxn id="17" idx="2"/>
            <a:endCxn id="13" idx="0"/>
          </p:cNvCxnSpPr>
          <p:nvPr/>
        </p:nvCxnSpPr>
        <p:spPr>
          <a:xfrm>
            <a:off x="7368118" y="3314601"/>
            <a:ext cx="0" cy="78072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713919" y="2852936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宿主语言</a:t>
            </a:r>
            <a:endParaRPr lang="en-US" dirty="0"/>
          </a:p>
        </p:txBody>
      </p:sp>
      <p:cxnSp>
        <p:nvCxnSpPr>
          <p:cNvPr id="22" name="直接箭头连接符 21"/>
          <p:cNvCxnSpPr>
            <a:stCxn id="20" idx="2"/>
            <a:endCxn id="10" idx="0"/>
          </p:cNvCxnSpPr>
          <p:nvPr/>
        </p:nvCxnSpPr>
        <p:spPr>
          <a:xfrm>
            <a:off x="4421805" y="3314601"/>
            <a:ext cx="0" cy="54949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  <p:bldP spid="10" grpId="0" animBg="1"/>
      <p:bldP spid="12" grpId="0" animBg="1"/>
      <p:bldP spid="13" grpId="0"/>
      <p:bldP spid="14" grpId="0"/>
      <p:bldP spid="17" grpId="0"/>
      <p:bldP spid="2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0" y="1646555"/>
            <a:ext cx="9144000" cy="4479925"/>
          </a:xfrm>
        </p:spPr>
        <p:txBody>
          <a:bodyPr/>
          <a:lstStyle/>
          <a:p>
            <a:r>
              <a:rPr lang="zh-CN" altLang="en-US" dirty="0"/>
              <a:t>作用：</a:t>
            </a:r>
            <a:endParaRPr lang="en-US" altLang="zh-CN" dirty="0"/>
          </a:p>
          <a:p>
            <a:pPr marL="539750" indent="0">
              <a:buNone/>
            </a:pPr>
            <a:r>
              <a:rPr lang="zh-CN" altLang="en-US" b="0" dirty="0"/>
              <a:t>将高级语言转换成机器语言</a:t>
            </a:r>
            <a:r>
              <a:rPr lang="en-US" altLang="zh-CN" b="0" dirty="0"/>
              <a:t>.</a:t>
            </a:r>
          </a:p>
          <a:p>
            <a:pPr>
              <a:spcBef>
                <a:spcPts val="1800"/>
              </a:spcBef>
            </a:pPr>
            <a:r>
              <a:rPr lang="zh-CN" altLang="en-US" dirty="0"/>
              <a:t>分类：</a:t>
            </a:r>
            <a:endParaRPr lang="en-US" altLang="zh-CN" dirty="0"/>
          </a:p>
          <a:p>
            <a:pPr marL="996950" indent="-457200">
              <a:buFont typeface="Wingdings" panose="05000000000000000000" pitchFamily="2" charset="2"/>
              <a:buChar char="Ø"/>
            </a:pPr>
            <a:r>
              <a:rPr lang="zh-CN" altLang="en-US" sz="2400" b="0" dirty="0"/>
              <a:t>编译</a:t>
            </a:r>
            <a:r>
              <a:rPr lang="en-US" altLang="zh-CN" sz="2400" b="0" dirty="0"/>
              <a:t>—</a:t>
            </a:r>
            <a:r>
              <a:rPr lang="zh-CN" altLang="en-US" sz="2400" b="0" dirty="0"/>
              <a:t>将一种高级语言程序（源程序）转换成另一种语言的等价程序（目标程序），然后执行目标程序。</a:t>
            </a:r>
            <a:endParaRPr lang="en-US" altLang="zh-CN" sz="2400" b="0" dirty="0"/>
          </a:p>
          <a:p>
            <a:pPr marL="996950" indent="-457200">
              <a:buFont typeface="Wingdings" panose="05000000000000000000" pitchFamily="2" charset="2"/>
              <a:buChar char="Ø"/>
            </a:pPr>
            <a:r>
              <a:rPr lang="zh-CN" altLang="en-US" sz="2400" b="0" dirty="0"/>
              <a:t>解释</a:t>
            </a:r>
            <a:r>
              <a:rPr lang="en-US" altLang="zh-CN" sz="2400" b="0" dirty="0"/>
              <a:t>—</a:t>
            </a:r>
            <a:r>
              <a:rPr lang="zh-CN" altLang="en-US" sz="2400" b="0" dirty="0"/>
              <a:t>将源程序的某一条语句翻译后立即执行这一条语句。</a:t>
            </a:r>
            <a:endParaRPr lang="en-US" sz="2400" b="0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邓伏虎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信息与软件工程学院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1.2 </a:t>
            </a:r>
            <a:r>
              <a:rPr lang="zh-CN" altLang="en-US" dirty="0"/>
              <a:t>编译的作用与分类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邓伏虎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信息与软件工程学院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1.2 </a:t>
            </a:r>
            <a:r>
              <a:rPr lang="zh-CN" altLang="en-US" dirty="0"/>
              <a:t>编译的作用与分类</a:t>
            </a:r>
          </a:p>
        </p:txBody>
      </p:sp>
      <p:grpSp>
        <p:nvGrpSpPr>
          <p:cNvPr id="14" name="组合 13"/>
          <p:cNvGrpSpPr/>
          <p:nvPr/>
        </p:nvGrpSpPr>
        <p:grpSpPr>
          <a:xfrm>
            <a:off x="459211" y="3439287"/>
            <a:ext cx="7919386" cy="2808295"/>
            <a:chOff x="792614" y="3266263"/>
            <a:chExt cx="7919386" cy="2808295"/>
          </a:xfrm>
        </p:grpSpPr>
        <p:sp>
          <p:nvSpPr>
            <p:cNvPr id="15" name="AutoShape 10"/>
            <p:cNvSpPr>
              <a:spLocks noChangeArrowheads="1"/>
            </p:cNvSpPr>
            <p:nvPr/>
          </p:nvSpPr>
          <p:spPr bwMode="auto">
            <a:xfrm>
              <a:off x="3265920" y="4261408"/>
              <a:ext cx="2024640" cy="914496"/>
            </a:xfrm>
            <a:prstGeom prst="flowChartAlternateProcess">
              <a:avLst/>
            </a:prstGeom>
            <a:solidFill>
              <a:srgbClr val="CFE7E5"/>
            </a:solidFill>
            <a:ln w="9525">
              <a:solidFill>
                <a:srgbClr val="808080"/>
              </a:solidFill>
              <a:miter lim="800000"/>
            </a:ln>
          </p:spPr>
          <p:txBody>
            <a:bodyPr wrap="none" lIns="81639" tIns="61393" rIns="81639" bIns="40820" anchor="ctr"/>
            <a:lstStyle>
              <a:lvl1pPr>
                <a:lnSpc>
                  <a:spcPct val="95000"/>
                </a:lnSpc>
                <a:spcAft>
                  <a:spcPts val="1415"/>
                </a:spcAft>
                <a:buSzPct val="100000"/>
                <a:buFont typeface="Times New Roman" panose="02020603050405020304" pitchFamily="18" charset="0"/>
                <a:buChar char="•"/>
                <a:tabLst>
                  <a:tab pos="723900" algn="l"/>
                  <a:tab pos="1447800" algn="l"/>
                  <a:tab pos="2171700" algn="l"/>
                </a:tabLst>
                <a:defRPr sz="3600">
                  <a:solidFill>
                    <a:srgbClr val="000000"/>
                  </a:solidFill>
                  <a:latin typeface="楷体" panose="02010609060101010101" charset="-122"/>
                  <a:ea typeface="楷体" panose="02010609060101010101" charset="-122"/>
                </a:defRPr>
              </a:lvl1pPr>
              <a:lvl2pPr>
                <a:lnSpc>
                  <a:spcPct val="95000"/>
                </a:lnSpc>
                <a:spcAft>
                  <a:spcPts val="1140"/>
                </a:spcAft>
                <a:buSzPct val="100000"/>
                <a:buFont typeface="Times New Roman" panose="02020603050405020304" pitchFamily="18" charset="0"/>
                <a:buChar char="–"/>
                <a:tabLst>
                  <a:tab pos="723900" algn="l"/>
                  <a:tab pos="1447800" algn="l"/>
                  <a:tab pos="2171700" algn="l"/>
                </a:tabLst>
                <a:defRPr sz="2800">
                  <a:solidFill>
                    <a:srgbClr val="000000"/>
                  </a:solidFill>
                  <a:latin typeface="楷体" panose="02010609060101010101" charset="-122"/>
                  <a:ea typeface="楷体" panose="02010609060101010101" charset="-122"/>
                </a:defRPr>
              </a:lvl2pPr>
              <a:lvl3pPr>
                <a:lnSpc>
                  <a:spcPct val="95000"/>
                </a:lnSpc>
                <a:spcAft>
                  <a:spcPts val="850"/>
                </a:spcAft>
                <a:buSzPct val="100000"/>
                <a:buFont typeface="Times New Roman" panose="02020603050405020304" pitchFamily="18" charset="0"/>
                <a:buChar char="•"/>
                <a:tabLst>
                  <a:tab pos="723900" algn="l"/>
                  <a:tab pos="1447800" algn="l"/>
                  <a:tab pos="2171700" algn="l"/>
                </a:tabLst>
                <a:defRPr sz="2400">
                  <a:solidFill>
                    <a:srgbClr val="000000"/>
                  </a:solidFill>
                  <a:latin typeface="楷体" panose="02010609060101010101" charset="-122"/>
                  <a:ea typeface="楷体" panose="02010609060101010101" charset="-122"/>
                </a:defRPr>
              </a:lvl3pPr>
              <a:lvl4pPr>
                <a:lnSpc>
                  <a:spcPct val="95000"/>
                </a:lnSpc>
                <a:spcAft>
                  <a:spcPts val="575"/>
                </a:spcAft>
                <a:buSzPct val="100000"/>
                <a:buFont typeface="Times New Roman" panose="02020603050405020304" pitchFamily="18" charset="0"/>
                <a:buChar char="–"/>
                <a:tabLst>
                  <a:tab pos="723900" algn="l"/>
                  <a:tab pos="1447800" algn="l"/>
                  <a:tab pos="2171700" algn="l"/>
                </a:tabLst>
                <a:defRPr sz="2000">
                  <a:solidFill>
                    <a:srgbClr val="000000"/>
                  </a:solidFill>
                  <a:latin typeface="楷体" panose="02010609060101010101" charset="-122"/>
                  <a:ea typeface="楷体" panose="02010609060101010101" charset="-122"/>
                </a:defRPr>
              </a:lvl4pPr>
              <a:lvl5pPr>
                <a:lnSpc>
                  <a:spcPct val="95000"/>
                </a:lnSpc>
                <a:spcAft>
                  <a:spcPts val="290"/>
                </a:spcAft>
                <a:buSzPct val="100000"/>
                <a:buFont typeface="Times New Roman" panose="02020603050405020304" pitchFamily="18" charset="0"/>
                <a:buChar char="»"/>
                <a:tabLst>
                  <a:tab pos="723900" algn="l"/>
                  <a:tab pos="1447800" algn="l"/>
                  <a:tab pos="2171700" algn="l"/>
                </a:tabLst>
                <a:defRPr sz="1400">
                  <a:solidFill>
                    <a:srgbClr val="000000"/>
                  </a:solidFill>
                  <a:latin typeface="楷体" panose="02010609060101010101" charset="-122"/>
                  <a:ea typeface="楷体" panose="02010609060101010101" charset="-122"/>
                </a:defRPr>
              </a:lvl5pPr>
              <a:lvl6pPr marL="2514600" indent="-228600" defTabSz="44958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ts val="290"/>
                </a:spcAft>
                <a:buSzPct val="100000"/>
                <a:buFont typeface="Times New Roman" panose="02020603050405020304" pitchFamily="18" charset="0"/>
                <a:buChar char="»"/>
                <a:tabLst>
                  <a:tab pos="723900" algn="l"/>
                  <a:tab pos="1447800" algn="l"/>
                  <a:tab pos="2171700" algn="l"/>
                </a:tabLst>
                <a:defRPr sz="1400">
                  <a:solidFill>
                    <a:srgbClr val="000000"/>
                  </a:solidFill>
                  <a:latin typeface="楷体" panose="02010609060101010101" charset="-122"/>
                  <a:ea typeface="楷体" panose="02010609060101010101" charset="-122"/>
                </a:defRPr>
              </a:lvl6pPr>
              <a:lvl7pPr marL="2971800" indent="-228600" defTabSz="44958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ts val="290"/>
                </a:spcAft>
                <a:buSzPct val="100000"/>
                <a:buFont typeface="Times New Roman" panose="02020603050405020304" pitchFamily="18" charset="0"/>
                <a:buChar char="»"/>
                <a:tabLst>
                  <a:tab pos="723900" algn="l"/>
                  <a:tab pos="1447800" algn="l"/>
                  <a:tab pos="2171700" algn="l"/>
                </a:tabLst>
                <a:defRPr sz="1400">
                  <a:solidFill>
                    <a:srgbClr val="000000"/>
                  </a:solidFill>
                  <a:latin typeface="楷体" panose="02010609060101010101" charset="-122"/>
                  <a:ea typeface="楷体" panose="02010609060101010101" charset="-122"/>
                </a:defRPr>
              </a:lvl7pPr>
              <a:lvl8pPr marL="3429000" indent="-228600" defTabSz="44958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ts val="290"/>
                </a:spcAft>
                <a:buSzPct val="100000"/>
                <a:buFont typeface="Times New Roman" panose="02020603050405020304" pitchFamily="18" charset="0"/>
                <a:buChar char="»"/>
                <a:tabLst>
                  <a:tab pos="723900" algn="l"/>
                  <a:tab pos="1447800" algn="l"/>
                  <a:tab pos="2171700" algn="l"/>
                </a:tabLst>
                <a:defRPr sz="1400">
                  <a:solidFill>
                    <a:srgbClr val="000000"/>
                  </a:solidFill>
                  <a:latin typeface="楷体" panose="02010609060101010101" charset="-122"/>
                  <a:ea typeface="楷体" panose="02010609060101010101" charset="-122"/>
                </a:defRPr>
              </a:lvl8pPr>
              <a:lvl9pPr marL="3886200" indent="-228600" defTabSz="44958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ts val="290"/>
                </a:spcAft>
                <a:buSzPct val="100000"/>
                <a:buFont typeface="Times New Roman" panose="02020603050405020304" pitchFamily="18" charset="0"/>
                <a:buChar char="»"/>
                <a:tabLst>
                  <a:tab pos="723900" algn="l"/>
                  <a:tab pos="1447800" algn="l"/>
                  <a:tab pos="2171700" algn="l"/>
                </a:tabLst>
                <a:defRPr sz="1400">
                  <a:solidFill>
                    <a:srgbClr val="000000"/>
                  </a:solidFill>
                  <a:latin typeface="楷体" panose="02010609060101010101" charset="-122"/>
                  <a:ea typeface="楷体" panose="02010609060101010101" charset="-122"/>
                </a:defRPr>
              </a:lvl9pPr>
            </a:lstStyle>
            <a:p>
              <a:pPr algn="ctr" eaLnBrk="1">
                <a:spcAft>
                  <a:spcPct val="0"/>
                </a:spcAft>
                <a:buFont typeface="Times New Roman" panose="02020603050405020304" pitchFamily="18" charset="0"/>
                <a:buNone/>
              </a:pPr>
              <a:r>
                <a:rPr lang="zh-CN" altLang="en-GB" sz="3200" dirty="0"/>
                <a:t>编译器</a:t>
              </a:r>
            </a:p>
          </p:txBody>
        </p:sp>
        <p:sp>
          <p:nvSpPr>
            <p:cNvPr id="16" name="Line 11"/>
            <p:cNvSpPr>
              <a:spLocks noChangeShapeType="1"/>
            </p:cNvSpPr>
            <p:nvPr/>
          </p:nvSpPr>
          <p:spPr bwMode="auto">
            <a:xfrm>
              <a:off x="2089440" y="4719376"/>
              <a:ext cx="1175040" cy="14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82945" tIns="41473" rIns="82945" bIns="41473"/>
            <a:lstStyle/>
            <a:p>
              <a:endParaRPr lang="zh-CN" altLang="en-US"/>
            </a:p>
          </p:txBody>
        </p:sp>
        <p:sp>
          <p:nvSpPr>
            <p:cNvPr id="17" name="Line 12"/>
            <p:cNvSpPr>
              <a:spLocks noChangeShapeType="1"/>
            </p:cNvSpPr>
            <p:nvPr/>
          </p:nvSpPr>
          <p:spPr bwMode="auto">
            <a:xfrm>
              <a:off x="5290560" y="4719376"/>
              <a:ext cx="1175040" cy="14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82945" tIns="41473" rIns="82945" bIns="41473"/>
            <a:lstStyle/>
            <a:p>
              <a:endParaRPr lang="zh-CN" altLang="en-US"/>
            </a:p>
          </p:txBody>
        </p:sp>
        <p:sp>
          <p:nvSpPr>
            <p:cNvPr id="18" name="Text Box 13"/>
            <p:cNvSpPr txBox="1">
              <a:spLocks noChangeArrowheads="1"/>
            </p:cNvSpPr>
            <p:nvPr/>
          </p:nvSpPr>
          <p:spPr bwMode="auto">
            <a:xfrm>
              <a:off x="792614" y="4443586"/>
              <a:ext cx="1201377" cy="5544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1639" tIns="61393" rIns="81639" bIns="40820"/>
            <a:lstStyle>
              <a:lvl1pPr>
                <a:lnSpc>
                  <a:spcPct val="95000"/>
                </a:lnSpc>
                <a:spcAft>
                  <a:spcPts val="1415"/>
                </a:spcAft>
                <a:buSzPct val="100000"/>
                <a:buFont typeface="Times New Roman" panose="02020603050405020304" pitchFamily="18" charset="0"/>
                <a:buChar char="•"/>
                <a:tabLst>
                  <a:tab pos="723900" algn="l"/>
                  <a:tab pos="1447800" algn="l"/>
                </a:tabLst>
                <a:defRPr sz="3600">
                  <a:solidFill>
                    <a:srgbClr val="000000"/>
                  </a:solidFill>
                  <a:latin typeface="楷体" panose="02010609060101010101" charset="-122"/>
                  <a:ea typeface="楷体" panose="02010609060101010101" charset="-122"/>
                </a:defRPr>
              </a:lvl1pPr>
              <a:lvl2pPr>
                <a:lnSpc>
                  <a:spcPct val="95000"/>
                </a:lnSpc>
                <a:spcAft>
                  <a:spcPts val="1140"/>
                </a:spcAft>
                <a:buSzPct val="100000"/>
                <a:buFont typeface="Times New Roman" panose="02020603050405020304" pitchFamily="18" charset="0"/>
                <a:buChar char="–"/>
                <a:tabLst>
                  <a:tab pos="723900" algn="l"/>
                  <a:tab pos="1447800" algn="l"/>
                </a:tabLst>
                <a:defRPr sz="2800">
                  <a:solidFill>
                    <a:srgbClr val="000000"/>
                  </a:solidFill>
                  <a:latin typeface="楷体" panose="02010609060101010101" charset="-122"/>
                  <a:ea typeface="楷体" panose="02010609060101010101" charset="-122"/>
                </a:defRPr>
              </a:lvl2pPr>
              <a:lvl3pPr>
                <a:lnSpc>
                  <a:spcPct val="95000"/>
                </a:lnSpc>
                <a:spcAft>
                  <a:spcPts val="850"/>
                </a:spcAft>
                <a:buSzPct val="100000"/>
                <a:buFont typeface="Times New Roman" panose="02020603050405020304" pitchFamily="18" charset="0"/>
                <a:buChar char="•"/>
                <a:tabLst>
                  <a:tab pos="723900" algn="l"/>
                  <a:tab pos="1447800" algn="l"/>
                </a:tabLst>
                <a:defRPr sz="2400">
                  <a:solidFill>
                    <a:srgbClr val="000000"/>
                  </a:solidFill>
                  <a:latin typeface="楷体" panose="02010609060101010101" charset="-122"/>
                  <a:ea typeface="楷体" panose="02010609060101010101" charset="-122"/>
                </a:defRPr>
              </a:lvl3pPr>
              <a:lvl4pPr>
                <a:lnSpc>
                  <a:spcPct val="95000"/>
                </a:lnSpc>
                <a:spcAft>
                  <a:spcPts val="575"/>
                </a:spcAft>
                <a:buSzPct val="100000"/>
                <a:buFont typeface="Times New Roman" panose="02020603050405020304" pitchFamily="18" charset="0"/>
                <a:buChar char="–"/>
                <a:tabLst>
                  <a:tab pos="723900" algn="l"/>
                  <a:tab pos="1447800" algn="l"/>
                </a:tabLst>
                <a:defRPr sz="2000">
                  <a:solidFill>
                    <a:srgbClr val="000000"/>
                  </a:solidFill>
                  <a:latin typeface="楷体" panose="02010609060101010101" charset="-122"/>
                  <a:ea typeface="楷体" panose="02010609060101010101" charset="-122"/>
                </a:defRPr>
              </a:lvl4pPr>
              <a:lvl5pPr>
                <a:lnSpc>
                  <a:spcPct val="95000"/>
                </a:lnSpc>
                <a:spcAft>
                  <a:spcPts val="290"/>
                </a:spcAft>
                <a:buSzPct val="100000"/>
                <a:buFont typeface="Times New Roman" panose="02020603050405020304" pitchFamily="18" charset="0"/>
                <a:buChar char="»"/>
                <a:tabLst>
                  <a:tab pos="723900" algn="l"/>
                  <a:tab pos="1447800" algn="l"/>
                </a:tabLst>
                <a:defRPr sz="1400">
                  <a:solidFill>
                    <a:srgbClr val="000000"/>
                  </a:solidFill>
                  <a:latin typeface="楷体" panose="02010609060101010101" charset="-122"/>
                  <a:ea typeface="楷体" panose="02010609060101010101" charset="-122"/>
                </a:defRPr>
              </a:lvl5pPr>
              <a:lvl6pPr marL="2514600" indent="-228600" defTabSz="44958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ts val="290"/>
                </a:spcAft>
                <a:buSzPct val="100000"/>
                <a:buFont typeface="Times New Roman" panose="02020603050405020304" pitchFamily="18" charset="0"/>
                <a:buChar char="»"/>
                <a:tabLst>
                  <a:tab pos="723900" algn="l"/>
                  <a:tab pos="1447800" algn="l"/>
                </a:tabLst>
                <a:defRPr sz="1400">
                  <a:solidFill>
                    <a:srgbClr val="000000"/>
                  </a:solidFill>
                  <a:latin typeface="楷体" panose="02010609060101010101" charset="-122"/>
                  <a:ea typeface="楷体" panose="02010609060101010101" charset="-122"/>
                </a:defRPr>
              </a:lvl6pPr>
              <a:lvl7pPr marL="2971800" indent="-228600" defTabSz="44958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ts val="290"/>
                </a:spcAft>
                <a:buSzPct val="100000"/>
                <a:buFont typeface="Times New Roman" panose="02020603050405020304" pitchFamily="18" charset="0"/>
                <a:buChar char="»"/>
                <a:tabLst>
                  <a:tab pos="723900" algn="l"/>
                  <a:tab pos="1447800" algn="l"/>
                </a:tabLst>
                <a:defRPr sz="1400">
                  <a:solidFill>
                    <a:srgbClr val="000000"/>
                  </a:solidFill>
                  <a:latin typeface="楷体" panose="02010609060101010101" charset="-122"/>
                  <a:ea typeface="楷体" panose="02010609060101010101" charset="-122"/>
                </a:defRPr>
              </a:lvl7pPr>
              <a:lvl8pPr marL="3429000" indent="-228600" defTabSz="44958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ts val="290"/>
                </a:spcAft>
                <a:buSzPct val="100000"/>
                <a:buFont typeface="Times New Roman" panose="02020603050405020304" pitchFamily="18" charset="0"/>
                <a:buChar char="»"/>
                <a:tabLst>
                  <a:tab pos="723900" algn="l"/>
                  <a:tab pos="1447800" algn="l"/>
                </a:tabLst>
                <a:defRPr sz="1400">
                  <a:solidFill>
                    <a:srgbClr val="000000"/>
                  </a:solidFill>
                  <a:latin typeface="楷体" panose="02010609060101010101" charset="-122"/>
                  <a:ea typeface="楷体" panose="02010609060101010101" charset="-122"/>
                </a:defRPr>
              </a:lvl8pPr>
              <a:lvl9pPr marL="3886200" indent="-228600" defTabSz="44958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ts val="290"/>
                </a:spcAft>
                <a:buSzPct val="100000"/>
                <a:buFont typeface="Times New Roman" panose="02020603050405020304" pitchFamily="18" charset="0"/>
                <a:buChar char="»"/>
                <a:tabLst>
                  <a:tab pos="723900" algn="l"/>
                  <a:tab pos="1447800" algn="l"/>
                </a:tabLst>
                <a:defRPr sz="1400">
                  <a:solidFill>
                    <a:srgbClr val="000000"/>
                  </a:solidFill>
                  <a:latin typeface="楷体" panose="02010609060101010101" charset="-122"/>
                  <a:ea typeface="楷体" panose="02010609060101010101" charset="-122"/>
                </a:defRPr>
              </a:lvl9pPr>
            </a:lstStyle>
            <a:p>
              <a:pPr eaLnBrk="1">
                <a:spcAft>
                  <a:spcPct val="0"/>
                </a:spcAft>
                <a:buFont typeface="Times New Roman" panose="02020603050405020304" pitchFamily="18" charset="0"/>
                <a:buNone/>
              </a:pPr>
              <a:r>
                <a:rPr lang="zh-CN" altLang="en-GB" sz="2800" dirty="0"/>
                <a:t>源程序</a:t>
              </a:r>
              <a:endParaRPr lang="zh-CN" altLang="en-GB" dirty="0"/>
            </a:p>
          </p:txBody>
        </p:sp>
        <p:sp>
          <p:nvSpPr>
            <p:cNvPr id="19" name="Text Box 14"/>
            <p:cNvSpPr txBox="1">
              <a:spLocks noChangeArrowheads="1"/>
            </p:cNvSpPr>
            <p:nvPr/>
          </p:nvSpPr>
          <p:spPr bwMode="auto">
            <a:xfrm>
              <a:off x="6444001" y="3266263"/>
              <a:ext cx="993600" cy="5544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1639" tIns="61393" rIns="81639" bIns="40820"/>
            <a:lstStyle>
              <a:lvl1pPr>
                <a:lnSpc>
                  <a:spcPct val="95000"/>
                </a:lnSpc>
                <a:spcAft>
                  <a:spcPts val="1415"/>
                </a:spcAft>
                <a:buSzPct val="100000"/>
                <a:buFont typeface="Times New Roman" panose="02020603050405020304" pitchFamily="18" charset="0"/>
                <a:buChar char="•"/>
                <a:tabLst>
                  <a:tab pos="723900" algn="l"/>
                </a:tabLst>
                <a:defRPr sz="3600">
                  <a:solidFill>
                    <a:srgbClr val="000000"/>
                  </a:solidFill>
                  <a:latin typeface="楷体" panose="02010609060101010101" charset="-122"/>
                  <a:ea typeface="楷体" panose="02010609060101010101" charset="-122"/>
                </a:defRPr>
              </a:lvl1pPr>
              <a:lvl2pPr>
                <a:lnSpc>
                  <a:spcPct val="95000"/>
                </a:lnSpc>
                <a:spcAft>
                  <a:spcPts val="1140"/>
                </a:spcAft>
                <a:buSzPct val="100000"/>
                <a:buFont typeface="Times New Roman" panose="02020603050405020304" pitchFamily="18" charset="0"/>
                <a:buChar char="–"/>
                <a:tabLst>
                  <a:tab pos="723900" algn="l"/>
                </a:tabLst>
                <a:defRPr sz="2800">
                  <a:solidFill>
                    <a:srgbClr val="000000"/>
                  </a:solidFill>
                  <a:latin typeface="楷体" panose="02010609060101010101" charset="-122"/>
                  <a:ea typeface="楷体" panose="02010609060101010101" charset="-122"/>
                </a:defRPr>
              </a:lvl2pPr>
              <a:lvl3pPr>
                <a:lnSpc>
                  <a:spcPct val="95000"/>
                </a:lnSpc>
                <a:spcAft>
                  <a:spcPts val="850"/>
                </a:spcAft>
                <a:buSzPct val="100000"/>
                <a:buFont typeface="Times New Roman" panose="02020603050405020304" pitchFamily="18" charset="0"/>
                <a:buChar char="•"/>
                <a:tabLst>
                  <a:tab pos="723900" algn="l"/>
                </a:tabLst>
                <a:defRPr sz="2400">
                  <a:solidFill>
                    <a:srgbClr val="000000"/>
                  </a:solidFill>
                  <a:latin typeface="楷体" panose="02010609060101010101" charset="-122"/>
                  <a:ea typeface="楷体" panose="02010609060101010101" charset="-122"/>
                </a:defRPr>
              </a:lvl3pPr>
              <a:lvl4pPr>
                <a:lnSpc>
                  <a:spcPct val="95000"/>
                </a:lnSpc>
                <a:spcAft>
                  <a:spcPts val="575"/>
                </a:spcAft>
                <a:buSzPct val="100000"/>
                <a:buFont typeface="Times New Roman" panose="02020603050405020304" pitchFamily="18" charset="0"/>
                <a:buChar char="–"/>
                <a:tabLst>
                  <a:tab pos="723900" algn="l"/>
                </a:tabLst>
                <a:defRPr sz="2000">
                  <a:solidFill>
                    <a:srgbClr val="000000"/>
                  </a:solidFill>
                  <a:latin typeface="楷体" panose="02010609060101010101" charset="-122"/>
                  <a:ea typeface="楷体" panose="02010609060101010101" charset="-122"/>
                </a:defRPr>
              </a:lvl4pPr>
              <a:lvl5pPr>
                <a:lnSpc>
                  <a:spcPct val="95000"/>
                </a:lnSpc>
                <a:spcAft>
                  <a:spcPts val="290"/>
                </a:spcAft>
                <a:buSzPct val="100000"/>
                <a:buFont typeface="Times New Roman" panose="02020603050405020304" pitchFamily="18" charset="0"/>
                <a:buChar char="»"/>
                <a:tabLst>
                  <a:tab pos="723900" algn="l"/>
                </a:tabLst>
                <a:defRPr sz="1400">
                  <a:solidFill>
                    <a:srgbClr val="000000"/>
                  </a:solidFill>
                  <a:latin typeface="楷体" panose="02010609060101010101" charset="-122"/>
                  <a:ea typeface="楷体" panose="02010609060101010101" charset="-122"/>
                </a:defRPr>
              </a:lvl5pPr>
              <a:lvl6pPr marL="2514600" indent="-228600" defTabSz="44958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ts val="290"/>
                </a:spcAft>
                <a:buSzPct val="100000"/>
                <a:buFont typeface="Times New Roman" panose="02020603050405020304" pitchFamily="18" charset="0"/>
                <a:buChar char="»"/>
                <a:tabLst>
                  <a:tab pos="723900" algn="l"/>
                </a:tabLst>
                <a:defRPr sz="1400">
                  <a:solidFill>
                    <a:srgbClr val="000000"/>
                  </a:solidFill>
                  <a:latin typeface="楷体" panose="02010609060101010101" charset="-122"/>
                  <a:ea typeface="楷体" panose="02010609060101010101" charset="-122"/>
                </a:defRPr>
              </a:lvl6pPr>
              <a:lvl7pPr marL="2971800" indent="-228600" defTabSz="44958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ts val="290"/>
                </a:spcAft>
                <a:buSzPct val="100000"/>
                <a:buFont typeface="Times New Roman" panose="02020603050405020304" pitchFamily="18" charset="0"/>
                <a:buChar char="»"/>
                <a:tabLst>
                  <a:tab pos="723900" algn="l"/>
                </a:tabLst>
                <a:defRPr sz="1400">
                  <a:solidFill>
                    <a:srgbClr val="000000"/>
                  </a:solidFill>
                  <a:latin typeface="楷体" panose="02010609060101010101" charset="-122"/>
                  <a:ea typeface="楷体" panose="02010609060101010101" charset="-122"/>
                </a:defRPr>
              </a:lvl7pPr>
              <a:lvl8pPr marL="3429000" indent="-228600" defTabSz="44958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ts val="290"/>
                </a:spcAft>
                <a:buSzPct val="100000"/>
                <a:buFont typeface="Times New Roman" panose="02020603050405020304" pitchFamily="18" charset="0"/>
                <a:buChar char="»"/>
                <a:tabLst>
                  <a:tab pos="723900" algn="l"/>
                </a:tabLst>
                <a:defRPr sz="1400">
                  <a:solidFill>
                    <a:srgbClr val="000000"/>
                  </a:solidFill>
                  <a:latin typeface="楷体" panose="02010609060101010101" charset="-122"/>
                  <a:ea typeface="楷体" panose="02010609060101010101" charset="-122"/>
                </a:defRPr>
              </a:lvl8pPr>
              <a:lvl9pPr marL="3886200" indent="-228600" defTabSz="44958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ts val="290"/>
                </a:spcAft>
                <a:buSzPct val="100000"/>
                <a:buFont typeface="Times New Roman" panose="02020603050405020304" pitchFamily="18" charset="0"/>
                <a:buChar char="»"/>
                <a:tabLst>
                  <a:tab pos="723900" algn="l"/>
                </a:tabLst>
                <a:defRPr sz="1400">
                  <a:solidFill>
                    <a:srgbClr val="000000"/>
                  </a:solidFill>
                  <a:latin typeface="楷体" panose="02010609060101010101" charset="-122"/>
                  <a:ea typeface="楷体" panose="02010609060101010101" charset="-122"/>
                </a:defRPr>
              </a:lvl9pPr>
            </a:lstStyle>
            <a:p>
              <a:pPr eaLnBrk="1">
                <a:spcAft>
                  <a:spcPct val="0"/>
                </a:spcAft>
                <a:buFont typeface="Times New Roman" panose="02020603050405020304" pitchFamily="18" charset="0"/>
                <a:buNone/>
              </a:pPr>
              <a:r>
                <a:rPr lang="zh-CN" altLang="en-GB" sz="2800" dirty="0"/>
                <a:t>数据</a:t>
              </a:r>
              <a:endParaRPr lang="zh-CN" altLang="en-GB" dirty="0"/>
            </a:p>
          </p:txBody>
        </p:sp>
        <p:sp>
          <p:nvSpPr>
            <p:cNvPr id="20" name="Line 15"/>
            <p:cNvSpPr>
              <a:spLocks noChangeShapeType="1"/>
            </p:cNvSpPr>
            <p:nvPr/>
          </p:nvSpPr>
          <p:spPr bwMode="auto">
            <a:xfrm>
              <a:off x="6940800" y="3764556"/>
              <a:ext cx="1440" cy="42484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82945" tIns="41473" rIns="82945" bIns="41473"/>
            <a:lstStyle/>
            <a:p>
              <a:endParaRPr lang="zh-CN" altLang="en-US"/>
            </a:p>
          </p:txBody>
        </p:sp>
        <p:sp>
          <p:nvSpPr>
            <p:cNvPr id="21" name="Text Box 16"/>
            <p:cNvSpPr txBox="1">
              <a:spLocks noChangeArrowheads="1"/>
            </p:cNvSpPr>
            <p:nvPr/>
          </p:nvSpPr>
          <p:spPr bwMode="auto">
            <a:xfrm>
              <a:off x="6236641" y="4205242"/>
              <a:ext cx="1408320" cy="10282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1639" tIns="61393" rIns="81639" bIns="40820"/>
            <a:lstStyle>
              <a:lvl1pPr>
                <a:lnSpc>
                  <a:spcPct val="95000"/>
                </a:lnSpc>
                <a:spcAft>
                  <a:spcPts val="1415"/>
                </a:spcAft>
                <a:buSzPct val="100000"/>
                <a:buFont typeface="Times New Roman" panose="02020603050405020304" pitchFamily="18" charset="0"/>
                <a:buChar char="•"/>
                <a:tabLst>
                  <a:tab pos="723900" algn="l"/>
                  <a:tab pos="1447800" algn="l"/>
                </a:tabLst>
                <a:defRPr sz="3600">
                  <a:solidFill>
                    <a:srgbClr val="000000"/>
                  </a:solidFill>
                  <a:latin typeface="楷体" panose="02010609060101010101" charset="-122"/>
                  <a:ea typeface="楷体" panose="02010609060101010101" charset="-122"/>
                </a:defRPr>
              </a:lvl1pPr>
              <a:lvl2pPr>
                <a:lnSpc>
                  <a:spcPct val="95000"/>
                </a:lnSpc>
                <a:spcAft>
                  <a:spcPts val="1140"/>
                </a:spcAft>
                <a:buSzPct val="100000"/>
                <a:buFont typeface="Times New Roman" panose="02020603050405020304" pitchFamily="18" charset="0"/>
                <a:buChar char="–"/>
                <a:tabLst>
                  <a:tab pos="723900" algn="l"/>
                  <a:tab pos="1447800" algn="l"/>
                </a:tabLst>
                <a:defRPr sz="2800">
                  <a:solidFill>
                    <a:srgbClr val="000000"/>
                  </a:solidFill>
                  <a:latin typeface="楷体" panose="02010609060101010101" charset="-122"/>
                  <a:ea typeface="楷体" panose="02010609060101010101" charset="-122"/>
                </a:defRPr>
              </a:lvl2pPr>
              <a:lvl3pPr>
                <a:lnSpc>
                  <a:spcPct val="95000"/>
                </a:lnSpc>
                <a:spcAft>
                  <a:spcPts val="850"/>
                </a:spcAft>
                <a:buSzPct val="100000"/>
                <a:buFont typeface="Times New Roman" panose="02020603050405020304" pitchFamily="18" charset="0"/>
                <a:buChar char="•"/>
                <a:tabLst>
                  <a:tab pos="723900" algn="l"/>
                  <a:tab pos="1447800" algn="l"/>
                </a:tabLst>
                <a:defRPr sz="2400">
                  <a:solidFill>
                    <a:srgbClr val="000000"/>
                  </a:solidFill>
                  <a:latin typeface="楷体" panose="02010609060101010101" charset="-122"/>
                  <a:ea typeface="楷体" panose="02010609060101010101" charset="-122"/>
                </a:defRPr>
              </a:lvl3pPr>
              <a:lvl4pPr>
                <a:lnSpc>
                  <a:spcPct val="95000"/>
                </a:lnSpc>
                <a:spcAft>
                  <a:spcPts val="575"/>
                </a:spcAft>
                <a:buSzPct val="100000"/>
                <a:buFont typeface="Times New Roman" panose="02020603050405020304" pitchFamily="18" charset="0"/>
                <a:buChar char="–"/>
                <a:tabLst>
                  <a:tab pos="723900" algn="l"/>
                  <a:tab pos="1447800" algn="l"/>
                </a:tabLst>
                <a:defRPr sz="2000">
                  <a:solidFill>
                    <a:srgbClr val="000000"/>
                  </a:solidFill>
                  <a:latin typeface="楷体" panose="02010609060101010101" charset="-122"/>
                  <a:ea typeface="楷体" panose="02010609060101010101" charset="-122"/>
                </a:defRPr>
              </a:lvl4pPr>
              <a:lvl5pPr>
                <a:lnSpc>
                  <a:spcPct val="95000"/>
                </a:lnSpc>
                <a:spcAft>
                  <a:spcPts val="290"/>
                </a:spcAft>
                <a:buSzPct val="100000"/>
                <a:buFont typeface="Times New Roman" panose="02020603050405020304" pitchFamily="18" charset="0"/>
                <a:buChar char="»"/>
                <a:tabLst>
                  <a:tab pos="723900" algn="l"/>
                  <a:tab pos="1447800" algn="l"/>
                </a:tabLst>
                <a:defRPr sz="1400">
                  <a:solidFill>
                    <a:srgbClr val="000000"/>
                  </a:solidFill>
                  <a:latin typeface="楷体" panose="02010609060101010101" charset="-122"/>
                  <a:ea typeface="楷体" panose="02010609060101010101" charset="-122"/>
                </a:defRPr>
              </a:lvl5pPr>
              <a:lvl6pPr marL="2514600" indent="-228600" defTabSz="44958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ts val="290"/>
                </a:spcAft>
                <a:buSzPct val="100000"/>
                <a:buFont typeface="Times New Roman" panose="02020603050405020304" pitchFamily="18" charset="0"/>
                <a:buChar char="»"/>
                <a:tabLst>
                  <a:tab pos="723900" algn="l"/>
                  <a:tab pos="1447800" algn="l"/>
                </a:tabLst>
                <a:defRPr sz="1400">
                  <a:solidFill>
                    <a:srgbClr val="000000"/>
                  </a:solidFill>
                  <a:latin typeface="楷体" panose="02010609060101010101" charset="-122"/>
                  <a:ea typeface="楷体" panose="02010609060101010101" charset="-122"/>
                </a:defRPr>
              </a:lvl6pPr>
              <a:lvl7pPr marL="2971800" indent="-228600" defTabSz="44958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ts val="290"/>
                </a:spcAft>
                <a:buSzPct val="100000"/>
                <a:buFont typeface="Times New Roman" panose="02020603050405020304" pitchFamily="18" charset="0"/>
                <a:buChar char="»"/>
                <a:tabLst>
                  <a:tab pos="723900" algn="l"/>
                  <a:tab pos="1447800" algn="l"/>
                </a:tabLst>
                <a:defRPr sz="1400">
                  <a:solidFill>
                    <a:srgbClr val="000000"/>
                  </a:solidFill>
                  <a:latin typeface="楷体" panose="02010609060101010101" charset="-122"/>
                  <a:ea typeface="楷体" panose="02010609060101010101" charset="-122"/>
                </a:defRPr>
              </a:lvl7pPr>
              <a:lvl8pPr marL="3429000" indent="-228600" defTabSz="44958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ts val="290"/>
                </a:spcAft>
                <a:buSzPct val="100000"/>
                <a:buFont typeface="Times New Roman" panose="02020603050405020304" pitchFamily="18" charset="0"/>
                <a:buChar char="»"/>
                <a:tabLst>
                  <a:tab pos="723900" algn="l"/>
                  <a:tab pos="1447800" algn="l"/>
                </a:tabLst>
                <a:defRPr sz="1400">
                  <a:solidFill>
                    <a:srgbClr val="000000"/>
                  </a:solidFill>
                  <a:latin typeface="楷体" panose="02010609060101010101" charset="-122"/>
                  <a:ea typeface="楷体" panose="02010609060101010101" charset="-122"/>
                </a:defRPr>
              </a:lvl8pPr>
              <a:lvl9pPr marL="3886200" indent="-228600" defTabSz="44958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ts val="290"/>
                </a:spcAft>
                <a:buSzPct val="100000"/>
                <a:buFont typeface="Times New Roman" panose="02020603050405020304" pitchFamily="18" charset="0"/>
                <a:buChar char="»"/>
                <a:tabLst>
                  <a:tab pos="723900" algn="l"/>
                  <a:tab pos="1447800" algn="l"/>
                </a:tabLst>
                <a:defRPr sz="1400">
                  <a:solidFill>
                    <a:srgbClr val="000000"/>
                  </a:solidFill>
                  <a:latin typeface="楷体" panose="02010609060101010101" charset="-122"/>
                  <a:ea typeface="楷体" panose="02010609060101010101" charset="-122"/>
                </a:defRPr>
              </a:lvl9pPr>
            </a:lstStyle>
            <a:p>
              <a:pPr algn="ctr" eaLnBrk="1">
                <a:spcAft>
                  <a:spcPct val="0"/>
                </a:spcAft>
                <a:buFont typeface="Times New Roman" panose="02020603050405020304" pitchFamily="18" charset="0"/>
                <a:buNone/>
              </a:pPr>
              <a:r>
                <a:rPr lang="zh-CN" altLang="en-GB" sz="2800" dirty="0"/>
                <a:t>可执行</a:t>
              </a:r>
            </a:p>
            <a:p>
              <a:pPr algn="ctr" eaLnBrk="1">
                <a:spcAft>
                  <a:spcPct val="0"/>
                </a:spcAft>
                <a:buFont typeface="Times New Roman" panose="02020603050405020304" pitchFamily="18" charset="0"/>
                <a:buNone/>
              </a:pPr>
              <a:r>
                <a:rPr lang="zh-CN" altLang="en-GB" sz="2800" dirty="0"/>
                <a:t>文件</a:t>
              </a:r>
            </a:p>
          </p:txBody>
        </p:sp>
        <p:sp>
          <p:nvSpPr>
            <p:cNvPr id="22" name="Line 17"/>
            <p:cNvSpPr>
              <a:spLocks noChangeShapeType="1"/>
            </p:cNvSpPr>
            <p:nvPr/>
          </p:nvSpPr>
          <p:spPr bwMode="auto">
            <a:xfrm>
              <a:off x="6940800" y="5151421"/>
              <a:ext cx="1440" cy="42484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82945" tIns="41473" rIns="82945" bIns="41473"/>
            <a:lstStyle/>
            <a:p>
              <a:endParaRPr lang="zh-CN" altLang="en-US"/>
            </a:p>
          </p:txBody>
        </p:sp>
        <p:sp>
          <p:nvSpPr>
            <p:cNvPr id="23" name="Text Box 18"/>
            <p:cNvSpPr txBox="1">
              <a:spLocks noChangeArrowheads="1"/>
            </p:cNvSpPr>
            <p:nvPr/>
          </p:nvSpPr>
          <p:spPr bwMode="auto">
            <a:xfrm>
              <a:off x="6444001" y="5520100"/>
              <a:ext cx="993600" cy="5544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1639" tIns="61393" rIns="81639" bIns="40820"/>
            <a:lstStyle>
              <a:lvl1pPr>
                <a:lnSpc>
                  <a:spcPct val="95000"/>
                </a:lnSpc>
                <a:spcAft>
                  <a:spcPts val="1415"/>
                </a:spcAft>
                <a:buSzPct val="100000"/>
                <a:buFont typeface="Times New Roman" panose="02020603050405020304" pitchFamily="18" charset="0"/>
                <a:buChar char="•"/>
                <a:tabLst>
                  <a:tab pos="723900" algn="l"/>
                </a:tabLst>
                <a:defRPr sz="3600">
                  <a:solidFill>
                    <a:srgbClr val="000000"/>
                  </a:solidFill>
                  <a:latin typeface="楷体" panose="02010609060101010101" charset="-122"/>
                  <a:ea typeface="楷体" panose="02010609060101010101" charset="-122"/>
                </a:defRPr>
              </a:lvl1pPr>
              <a:lvl2pPr>
                <a:lnSpc>
                  <a:spcPct val="95000"/>
                </a:lnSpc>
                <a:spcAft>
                  <a:spcPts val="1140"/>
                </a:spcAft>
                <a:buSzPct val="100000"/>
                <a:buFont typeface="Times New Roman" panose="02020603050405020304" pitchFamily="18" charset="0"/>
                <a:buChar char="–"/>
                <a:tabLst>
                  <a:tab pos="723900" algn="l"/>
                </a:tabLst>
                <a:defRPr sz="2800">
                  <a:solidFill>
                    <a:srgbClr val="000000"/>
                  </a:solidFill>
                  <a:latin typeface="楷体" panose="02010609060101010101" charset="-122"/>
                  <a:ea typeface="楷体" panose="02010609060101010101" charset="-122"/>
                </a:defRPr>
              </a:lvl2pPr>
              <a:lvl3pPr>
                <a:lnSpc>
                  <a:spcPct val="95000"/>
                </a:lnSpc>
                <a:spcAft>
                  <a:spcPts val="850"/>
                </a:spcAft>
                <a:buSzPct val="100000"/>
                <a:buFont typeface="Times New Roman" panose="02020603050405020304" pitchFamily="18" charset="0"/>
                <a:buChar char="•"/>
                <a:tabLst>
                  <a:tab pos="723900" algn="l"/>
                </a:tabLst>
                <a:defRPr sz="2400">
                  <a:solidFill>
                    <a:srgbClr val="000000"/>
                  </a:solidFill>
                  <a:latin typeface="楷体" panose="02010609060101010101" charset="-122"/>
                  <a:ea typeface="楷体" panose="02010609060101010101" charset="-122"/>
                </a:defRPr>
              </a:lvl3pPr>
              <a:lvl4pPr>
                <a:lnSpc>
                  <a:spcPct val="95000"/>
                </a:lnSpc>
                <a:spcAft>
                  <a:spcPts val="575"/>
                </a:spcAft>
                <a:buSzPct val="100000"/>
                <a:buFont typeface="Times New Roman" panose="02020603050405020304" pitchFamily="18" charset="0"/>
                <a:buChar char="–"/>
                <a:tabLst>
                  <a:tab pos="723900" algn="l"/>
                </a:tabLst>
                <a:defRPr sz="2000">
                  <a:solidFill>
                    <a:srgbClr val="000000"/>
                  </a:solidFill>
                  <a:latin typeface="楷体" panose="02010609060101010101" charset="-122"/>
                  <a:ea typeface="楷体" panose="02010609060101010101" charset="-122"/>
                </a:defRPr>
              </a:lvl4pPr>
              <a:lvl5pPr>
                <a:lnSpc>
                  <a:spcPct val="95000"/>
                </a:lnSpc>
                <a:spcAft>
                  <a:spcPts val="290"/>
                </a:spcAft>
                <a:buSzPct val="100000"/>
                <a:buFont typeface="Times New Roman" panose="02020603050405020304" pitchFamily="18" charset="0"/>
                <a:buChar char="»"/>
                <a:tabLst>
                  <a:tab pos="723900" algn="l"/>
                </a:tabLst>
                <a:defRPr sz="1400">
                  <a:solidFill>
                    <a:srgbClr val="000000"/>
                  </a:solidFill>
                  <a:latin typeface="楷体" panose="02010609060101010101" charset="-122"/>
                  <a:ea typeface="楷体" panose="02010609060101010101" charset="-122"/>
                </a:defRPr>
              </a:lvl5pPr>
              <a:lvl6pPr marL="2514600" indent="-228600" defTabSz="44958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ts val="290"/>
                </a:spcAft>
                <a:buSzPct val="100000"/>
                <a:buFont typeface="Times New Roman" panose="02020603050405020304" pitchFamily="18" charset="0"/>
                <a:buChar char="»"/>
                <a:tabLst>
                  <a:tab pos="723900" algn="l"/>
                </a:tabLst>
                <a:defRPr sz="1400">
                  <a:solidFill>
                    <a:srgbClr val="000000"/>
                  </a:solidFill>
                  <a:latin typeface="楷体" panose="02010609060101010101" charset="-122"/>
                  <a:ea typeface="楷体" panose="02010609060101010101" charset="-122"/>
                </a:defRPr>
              </a:lvl6pPr>
              <a:lvl7pPr marL="2971800" indent="-228600" defTabSz="44958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ts val="290"/>
                </a:spcAft>
                <a:buSzPct val="100000"/>
                <a:buFont typeface="Times New Roman" panose="02020603050405020304" pitchFamily="18" charset="0"/>
                <a:buChar char="»"/>
                <a:tabLst>
                  <a:tab pos="723900" algn="l"/>
                </a:tabLst>
                <a:defRPr sz="1400">
                  <a:solidFill>
                    <a:srgbClr val="000000"/>
                  </a:solidFill>
                  <a:latin typeface="楷体" panose="02010609060101010101" charset="-122"/>
                  <a:ea typeface="楷体" panose="02010609060101010101" charset="-122"/>
                </a:defRPr>
              </a:lvl7pPr>
              <a:lvl8pPr marL="3429000" indent="-228600" defTabSz="44958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ts val="290"/>
                </a:spcAft>
                <a:buSzPct val="100000"/>
                <a:buFont typeface="Times New Roman" panose="02020603050405020304" pitchFamily="18" charset="0"/>
                <a:buChar char="»"/>
                <a:tabLst>
                  <a:tab pos="723900" algn="l"/>
                </a:tabLst>
                <a:defRPr sz="1400">
                  <a:solidFill>
                    <a:srgbClr val="000000"/>
                  </a:solidFill>
                  <a:latin typeface="楷体" panose="02010609060101010101" charset="-122"/>
                  <a:ea typeface="楷体" panose="02010609060101010101" charset="-122"/>
                </a:defRPr>
              </a:lvl8pPr>
              <a:lvl9pPr marL="3886200" indent="-228600" defTabSz="44958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ts val="290"/>
                </a:spcAft>
                <a:buSzPct val="100000"/>
                <a:buFont typeface="Times New Roman" panose="02020603050405020304" pitchFamily="18" charset="0"/>
                <a:buChar char="»"/>
                <a:tabLst>
                  <a:tab pos="723900" algn="l"/>
                </a:tabLst>
                <a:defRPr sz="1400">
                  <a:solidFill>
                    <a:srgbClr val="000000"/>
                  </a:solidFill>
                  <a:latin typeface="楷体" panose="02010609060101010101" charset="-122"/>
                  <a:ea typeface="楷体" panose="02010609060101010101" charset="-122"/>
                </a:defRPr>
              </a:lvl9pPr>
            </a:lstStyle>
            <a:p>
              <a:pPr eaLnBrk="1">
                <a:spcAft>
                  <a:spcPct val="0"/>
                </a:spcAft>
                <a:buFont typeface="Times New Roman" panose="02020603050405020304" pitchFamily="18" charset="0"/>
                <a:buNone/>
              </a:pPr>
              <a:r>
                <a:rPr lang="zh-CN" altLang="en-GB" sz="2800" dirty="0"/>
                <a:t>输出</a:t>
              </a:r>
              <a:endParaRPr lang="zh-CN" altLang="en-GB" dirty="0"/>
            </a:p>
          </p:txBody>
        </p:sp>
        <p:sp>
          <p:nvSpPr>
            <p:cNvPr id="24" name="Text Box 20"/>
            <p:cNvSpPr txBox="1">
              <a:spLocks noChangeArrowheads="1"/>
            </p:cNvSpPr>
            <p:nvPr/>
          </p:nvSpPr>
          <p:spPr bwMode="auto">
            <a:xfrm>
              <a:off x="7718400" y="4441426"/>
              <a:ext cx="993600" cy="5544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1639" tIns="61393" rIns="81639" bIns="40820"/>
            <a:lstStyle>
              <a:lvl1pPr>
                <a:lnSpc>
                  <a:spcPct val="95000"/>
                </a:lnSpc>
                <a:spcAft>
                  <a:spcPts val="1415"/>
                </a:spcAft>
                <a:buSzPct val="100000"/>
                <a:buFont typeface="Times New Roman" panose="02020603050405020304" pitchFamily="18" charset="0"/>
                <a:buChar char="•"/>
                <a:tabLst>
                  <a:tab pos="723900" algn="l"/>
                </a:tabLst>
                <a:defRPr sz="3600">
                  <a:solidFill>
                    <a:srgbClr val="000000"/>
                  </a:solidFill>
                  <a:latin typeface="楷体" panose="02010609060101010101" charset="-122"/>
                  <a:ea typeface="楷体" panose="02010609060101010101" charset="-122"/>
                </a:defRPr>
              </a:lvl1pPr>
              <a:lvl2pPr>
                <a:lnSpc>
                  <a:spcPct val="95000"/>
                </a:lnSpc>
                <a:spcAft>
                  <a:spcPts val="1140"/>
                </a:spcAft>
                <a:buSzPct val="100000"/>
                <a:buFont typeface="Times New Roman" panose="02020603050405020304" pitchFamily="18" charset="0"/>
                <a:buChar char="–"/>
                <a:tabLst>
                  <a:tab pos="723900" algn="l"/>
                </a:tabLst>
                <a:defRPr sz="2800">
                  <a:solidFill>
                    <a:srgbClr val="000000"/>
                  </a:solidFill>
                  <a:latin typeface="楷体" panose="02010609060101010101" charset="-122"/>
                  <a:ea typeface="楷体" panose="02010609060101010101" charset="-122"/>
                </a:defRPr>
              </a:lvl2pPr>
              <a:lvl3pPr>
                <a:lnSpc>
                  <a:spcPct val="95000"/>
                </a:lnSpc>
                <a:spcAft>
                  <a:spcPts val="850"/>
                </a:spcAft>
                <a:buSzPct val="100000"/>
                <a:buFont typeface="Times New Roman" panose="02020603050405020304" pitchFamily="18" charset="0"/>
                <a:buChar char="•"/>
                <a:tabLst>
                  <a:tab pos="723900" algn="l"/>
                </a:tabLst>
                <a:defRPr sz="2400">
                  <a:solidFill>
                    <a:srgbClr val="000000"/>
                  </a:solidFill>
                  <a:latin typeface="楷体" panose="02010609060101010101" charset="-122"/>
                  <a:ea typeface="楷体" panose="02010609060101010101" charset="-122"/>
                </a:defRPr>
              </a:lvl3pPr>
              <a:lvl4pPr>
                <a:lnSpc>
                  <a:spcPct val="95000"/>
                </a:lnSpc>
                <a:spcAft>
                  <a:spcPts val="575"/>
                </a:spcAft>
                <a:buSzPct val="100000"/>
                <a:buFont typeface="Times New Roman" panose="02020603050405020304" pitchFamily="18" charset="0"/>
                <a:buChar char="–"/>
                <a:tabLst>
                  <a:tab pos="723900" algn="l"/>
                </a:tabLst>
                <a:defRPr sz="2000">
                  <a:solidFill>
                    <a:srgbClr val="000000"/>
                  </a:solidFill>
                  <a:latin typeface="楷体" panose="02010609060101010101" charset="-122"/>
                  <a:ea typeface="楷体" panose="02010609060101010101" charset="-122"/>
                </a:defRPr>
              </a:lvl4pPr>
              <a:lvl5pPr>
                <a:lnSpc>
                  <a:spcPct val="95000"/>
                </a:lnSpc>
                <a:spcAft>
                  <a:spcPts val="290"/>
                </a:spcAft>
                <a:buSzPct val="100000"/>
                <a:buFont typeface="Times New Roman" panose="02020603050405020304" pitchFamily="18" charset="0"/>
                <a:buChar char="»"/>
                <a:tabLst>
                  <a:tab pos="723900" algn="l"/>
                </a:tabLst>
                <a:defRPr sz="1400">
                  <a:solidFill>
                    <a:srgbClr val="000000"/>
                  </a:solidFill>
                  <a:latin typeface="楷体" panose="02010609060101010101" charset="-122"/>
                  <a:ea typeface="楷体" panose="02010609060101010101" charset="-122"/>
                </a:defRPr>
              </a:lvl5pPr>
              <a:lvl6pPr marL="2514600" indent="-228600" defTabSz="44958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ts val="290"/>
                </a:spcAft>
                <a:buSzPct val="100000"/>
                <a:buFont typeface="Times New Roman" panose="02020603050405020304" pitchFamily="18" charset="0"/>
                <a:buChar char="»"/>
                <a:tabLst>
                  <a:tab pos="723900" algn="l"/>
                </a:tabLst>
                <a:defRPr sz="1400">
                  <a:solidFill>
                    <a:srgbClr val="000000"/>
                  </a:solidFill>
                  <a:latin typeface="楷体" panose="02010609060101010101" charset="-122"/>
                  <a:ea typeface="楷体" panose="02010609060101010101" charset="-122"/>
                </a:defRPr>
              </a:lvl6pPr>
              <a:lvl7pPr marL="2971800" indent="-228600" defTabSz="44958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ts val="290"/>
                </a:spcAft>
                <a:buSzPct val="100000"/>
                <a:buFont typeface="Times New Roman" panose="02020603050405020304" pitchFamily="18" charset="0"/>
                <a:buChar char="»"/>
                <a:tabLst>
                  <a:tab pos="723900" algn="l"/>
                </a:tabLst>
                <a:defRPr sz="1400">
                  <a:solidFill>
                    <a:srgbClr val="000000"/>
                  </a:solidFill>
                  <a:latin typeface="楷体" panose="02010609060101010101" charset="-122"/>
                  <a:ea typeface="楷体" panose="02010609060101010101" charset="-122"/>
                </a:defRPr>
              </a:lvl7pPr>
              <a:lvl8pPr marL="3429000" indent="-228600" defTabSz="44958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ts val="290"/>
                </a:spcAft>
                <a:buSzPct val="100000"/>
                <a:buFont typeface="Times New Roman" panose="02020603050405020304" pitchFamily="18" charset="0"/>
                <a:buChar char="»"/>
                <a:tabLst>
                  <a:tab pos="723900" algn="l"/>
                </a:tabLst>
                <a:defRPr sz="1400">
                  <a:solidFill>
                    <a:srgbClr val="000000"/>
                  </a:solidFill>
                  <a:latin typeface="楷体" panose="02010609060101010101" charset="-122"/>
                  <a:ea typeface="楷体" panose="02010609060101010101" charset="-122"/>
                </a:defRPr>
              </a:lvl8pPr>
              <a:lvl9pPr marL="3886200" indent="-228600" defTabSz="44958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ts val="290"/>
                </a:spcAft>
                <a:buSzPct val="100000"/>
                <a:buFont typeface="Times New Roman" panose="02020603050405020304" pitchFamily="18" charset="0"/>
                <a:buChar char="»"/>
                <a:tabLst>
                  <a:tab pos="723900" algn="l"/>
                </a:tabLst>
                <a:defRPr sz="1400">
                  <a:solidFill>
                    <a:srgbClr val="000000"/>
                  </a:solidFill>
                  <a:latin typeface="楷体" panose="02010609060101010101" charset="-122"/>
                  <a:ea typeface="楷体" panose="02010609060101010101" charset="-122"/>
                </a:defRPr>
              </a:lvl9pPr>
            </a:lstStyle>
            <a:p>
              <a:pPr eaLnBrk="1">
                <a:spcAft>
                  <a:spcPct val="0"/>
                </a:spcAft>
                <a:buFont typeface="Times New Roman" panose="02020603050405020304" pitchFamily="18" charset="0"/>
                <a:buNone/>
              </a:pPr>
              <a:r>
                <a:rPr lang="zh-CN" altLang="en-GB" dirty="0">
                  <a:solidFill>
                    <a:srgbClr val="0000FF"/>
                  </a:solidFill>
                </a:rPr>
                <a:t>离线</a:t>
              </a: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459211" y="1994618"/>
            <a:ext cx="7949418" cy="1012427"/>
            <a:chOff x="689143" y="2139576"/>
            <a:chExt cx="7949418" cy="1012427"/>
          </a:xfrm>
        </p:grpSpPr>
        <p:grpSp>
          <p:nvGrpSpPr>
            <p:cNvPr id="26" name="组合 25"/>
            <p:cNvGrpSpPr/>
            <p:nvPr/>
          </p:nvGrpSpPr>
          <p:grpSpPr>
            <a:xfrm>
              <a:off x="689143" y="2139576"/>
              <a:ext cx="6748458" cy="1012427"/>
              <a:chOff x="689143" y="1583446"/>
              <a:chExt cx="6748458" cy="1012427"/>
            </a:xfrm>
          </p:grpSpPr>
          <p:sp>
            <p:nvSpPr>
              <p:cNvPr id="28" name="AutoShape 3"/>
              <p:cNvSpPr>
                <a:spLocks noChangeArrowheads="1"/>
              </p:cNvSpPr>
              <p:nvPr/>
            </p:nvSpPr>
            <p:spPr bwMode="auto">
              <a:xfrm>
                <a:off x="3265920" y="1633132"/>
                <a:ext cx="2024640" cy="914496"/>
              </a:xfrm>
              <a:prstGeom prst="flowChartAlternateProcess">
                <a:avLst/>
              </a:prstGeom>
              <a:solidFill>
                <a:srgbClr val="CFE7E5"/>
              </a:solidFill>
              <a:ln w="9525">
                <a:solidFill>
                  <a:srgbClr val="808080"/>
                </a:solidFill>
                <a:miter lim="800000"/>
              </a:ln>
            </p:spPr>
            <p:txBody>
              <a:bodyPr wrap="none" lIns="81639" tIns="61393" rIns="81639" bIns="40820" anchor="ctr"/>
              <a:lstStyle>
                <a:lvl1pPr>
                  <a:lnSpc>
                    <a:spcPct val="95000"/>
                  </a:lnSpc>
                  <a:spcAft>
                    <a:spcPts val="1415"/>
                  </a:spcAft>
                  <a:buSzPct val="100000"/>
                  <a:buFont typeface="Times New Roman" panose="02020603050405020304" pitchFamily="18" charset="0"/>
                  <a:buChar char="•"/>
                  <a:tabLst>
                    <a:tab pos="723900" algn="l"/>
                    <a:tab pos="1447800" algn="l"/>
                    <a:tab pos="2171700" algn="l"/>
                  </a:tabLst>
                  <a:defRPr sz="3600">
                    <a:solidFill>
                      <a:srgbClr val="000000"/>
                    </a:solidFill>
                    <a:latin typeface="楷体" panose="02010609060101010101" charset="-122"/>
                    <a:ea typeface="楷体" panose="02010609060101010101" charset="-122"/>
                  </a:defRPr>
                </a:lvl1pPr>
                <a:lvl2pPr>
                  <a:lnSpc>
                    <a:spcPct val="95000"/>
                  </a:lnSpc>
                  <a:spcAft>
                    <a:spcPts val="1140"/>
                  </a:spcAft>
                  <a:buSzPct val="100000"/>
                  <a:buFont typeface="Times New Roman" panose="02020603050405020304" pitchFamily="18" charset="0"/>
                  <a:buChar char="–"/>
                  <a:tabLst>
                    <a:tab pos="723900" algn="l"/>
                    <a:tab pos="1447800" algn="l"/>
                    <a:tab pos="2171700" algn="l"/>
                  </a:tabLst>
                  <a:defRPr sz="2800">
                    <a:solidFill>
                      <a:srgbClr val="000000"/>
                    </a:solidFill>
                    <a:latin typeface="楷体" panose="02010609060101010101" charset="-122"/>
                    <a:ea typeface="楷体" panose="02010609060101010101" charset="-122"/>
                  </a:defRPr>
                </a:lvl2pPr>
                <a:lvl3pPr>
                  <a:lnSpc>
                    <a:spcPct val="95000"/>
                  </a:lnSpc>
                  <a:spcAft>
                    <a:spcPts val="850"/>
                  </a:spcAft>
                  <a:buSzPct val="100000"/>
                  <a:buFont typeface="Times New Roman" panose="02020603050405020304" pitchFamily="18" charset="0"/>
                  <a:buChar char="•"/>
                  <a:tabLst>
                    <a:tab pos="723900" algn="l"/>
                    <a:tab pos="1447800" algn="l"/>
                    <a:tab pos="2171700" algn="l"/>
                  </a:tabLst>
                  <a:defRPr sz="2400">
                    <a:solidFill>
                      <a:srgbClr val="000000"/>
                    </a:solidFill>
                    <a:latin typeface="楷体" panose="02010609060101010101" charset="-122"/>
                    <a:ea typeface="楷体" panose="02010609060101010101" charset="-122"/>
                  </a:defRPr>
                </a:lvl3pPr>
                <a:lvl4pPr>
                  <a:lnSpc>
                    <a:spcPct val="95000"/>
                  </a:lnSpc>
                  <a:spcAft>
                    <a:spcPts val="575"/>
                  </a:spcAft>
                  <a:buSzPct val="100000"/>
                  <a:buFont typeface="Times New Roman" panose="02020603050405020304" pitchFamily="18" charset="0"/>
                  <a:buChar char="–"/>
                  <a:tabLst>
                    <a:tab pos="723900" algn="l"/>
                    <a:tab pos="1447800" algn="l"/>
                    <a:tab pos="2171700" algn="l"/>
                  </a:tabLst>
                  <a:defRPr sz="2000">
                    <a:solidFill>
                      <a:srgbClr val="000000"/>
                    </a:solidFill>
                    <a:latin typeface="楷体" panose="02010609060101010101" charset="-122"/>
                    <a:ea typeface="楷体" panose="02010609060101010101" charset="-122"/>
                  </a:defRPr>
                </a:lvl4pPr>
                <a:lvl5pPr>
                  <a:lnSpc>
                    <a:spcPct val="95000"/>
                  </a:lnSpc>
                  <a:spcAft>
                    <a:spcPts val="290"/>
                  </a:spcAft>
                  <a:buSzPct val="100000"/>
                  <a:buFont typeface="Times New Roman" panose="02020603050405020304" pitchFamily="18" charset="0"/>
                  <a:buChar char="»"/>
                  <a:tabLst>
                    <a:tab pos="723900" algn="l"/>
                    <a:tab pos="1447800" algn="l"/>
                    <a:tab pos="2171700" algn="l"/>
                  </a:tabLst>
                  <a:defRPr sz="1400">
                    <a:solidFill>
                      <a:srgbClr val="000000"/>
                    </a:solidFill>
                    <a:latin typeface="楷体" panose="02010609060101010101" charset="-122"/>
                    <a:ea typeface="楷体" panose="02010609060101010101" charset="-122"/>
                  </a:defRPr>
                </a:lvl5pPr>
                <a:lvl6pPr marL="2514600" indent="-228600" defTabSz="449580" eaLnBrk="0" fontAlgn="base" hangingPunct="0">
                  <a:lnSpc>
                    <a:spcPct val="95000"/>
                  </a:lnSpc>
                  <a:spcBef>
                    <a:spcPct val="0"/>
                  </a:spcBef>
                  <a:spcAft>
                    <a:spcPts val="290"/>
                  </a:spcAft>
                  <a:buSzPct val="100000"/>
                  <a:buFont typeface="Times New Roman" panose="02020603050405020304" pitchFamily="18" charset="0"/>
                  <a:buChar char="»"/>
                  <a:tabLst>
                    <a:tab pos="723900" algn="l"/>
                    <a:tab pos="1447800" algn="l"/>
                    <a:tab pos="2171700" algn="l"/>
                  </a:tabLst>
                  <a:defRPr sz="1400">
                    <a:solidFill>
                      <a:srgbClr val="000000"/>
                    </a:solidFill>
                    <a:latin typeface="楷体" panose="02010609060101010101" charset="-122"/>
                    <a:ea typeface="楷体" panose="02010609060101010101" charset="-122"/>
                  </a:defRPr>
                </a:lvl6pPr>
                <a:lvl7pPr marL="2971800" indent="-228600" defTabSz="449580" eaLnBrk="0" fontAlgn="base" hangingPunct="0">
                  <a:lnSpc>
                    <a:spcPct val="95000"/>
                  </a:lnSpc>
                  <a:spcBef>
                    <a:spcPct val="0"/>
                  </a:spcBef>
                  <a:spcAft>
                    <a:spcPts val="290"/>
                  </a:spcAft>
                  <a:buSzPct val="100000"/>
                  <a:buFont typeface="Times New Roman" panose="02020603050405020304" pitchFamily="18" charset="0"/>
                  <a:buChar char="»"/>
                  <a:tabLst>
                    <a:tab pos="723900" algn="l"/>
                    <a:tab pos="1447800" algn="l"/>
                    <a:tab pos="2171700" algn="l"/>
                  </a:tabLst>
                  <a:defRPr sz="1400">
                    <a:solidFill>
                      <a:srgbClr val="000000"/>
                    </a:solidFill>
                    <a:latin typeface="楷体" panose="02010609060101010101" charset="-122"/>
                    <a:ea typeface="楷体" panose="02010609060101010101" charset="-122"/>
                  </a:defRPr>
                </a:lvl7pPr>
                <a:lvl8pPr marL="3429000" indent="-228600" defTabSz="449580" eaLnBrk="0" fontAlgn="base" hangingPunct="0">
                  <a:lnSpc>
                    <a:spcPct val="95000"/>
                  </a:lnSpc>
                  <a:spcBef>
                    <a:spcPct val="0"/>
                  </a:spcBef>
                  <a:spcAft>
                    <a:spcPts val="290"/>
                  </a:spcAft>
                  <a:buSzPct val="100000"/>
                  <a:buFont typeface="Times New Roman" panose="02020603050405020304" pitchFamily="18" charset="0"/>
                  <a:buChar char="»"/>
                  <a:tabLst>
                    <a:tab pos="723900" algn="l"/>
                    <a:tab pos="1447800" algn="l"/>
                    <a:tab pos="2171700" algn="l"/>
                  </a:tabLst>
                  <a:defRPr sz="1400">
                    <a:solidFill>
                      <a:srgbClr val="000000"/>
                    </a:solidFill>
                    <a:latin typeface="楷体" panose="02010609060101010101" charset="-122"/>
                    <a:ea typeface="楷体" panose="02010609060101010101" charset="-122"/>
                  </a:defRPr>
                </a:lvl8pPr>
                <a:lvl9pPr marL="3886200" indent="-228600" defTabSz="449580" eaLnBrk="0" fontAlgn="base" hangingPunct="0">
                  <a:lnSpc>
                    <a:spcPct val="95000"/>
                  </a:lnSpc>
                  <a:spcBef>
                    <a:spcPct val="0"/>
                  </a:spcBef>
                  <a:spcAft>
                    <a:spcPts val="290"/>
                  </a:spcAft>
                  <a:buSzPct val="100000"/>
                  <a:buFont typeface="Times New Roman" panose="02020603050405020304" pitchFamily="18" charset="0"/>
                  <a:buChar char="»"/>
                  <a:tabLst>
                    <a:tab pos="723900" algn="l"/>
                    <a:tab pos="1447800" algn="l"/>
                    <a:tab pos="2171700" algn="l"/>
                  </a:tabLst>
                  <a:defRPr sz="1400">
                    <a:solidFill>
                      <a:srgbClr val="000000"/>
                    </a:solidFill>
                    <a:latin typeface="楷体" panose="02010609060101010101" charset="-122"/>
                    <a:ea typeface="楷体" panose="02010609060101010101" charset="-122"/>
                  </a:defRPr>
                </a:lvl9pPr>
              </a:lstStyle>
              <a:p>
                <a:pPr algn="ctr" eaLnBrk="1">
                  <a:spcAft>
                    <a:spcPct val="0"/>
                  </a:spcAft>
                  <a:buFont typeface="Times New Roman" panose="02020603050405020304" pitchFamily="18" charset="0"/>
                  <a:buNone/>
                </a:pPr>
                <a:r>
                  <a:rPr lang="zh-CN" altLang="en-GB" sz="3200" dirty="0"/>
                  <a:t>解释器</a:t>
                </a:r>
                <a:endParaRPr lang="zh-CN" altLang="en-GB" sz="2800" dirty="0"/>
              </a:p>
            </p:txBody>
          </p:sp>
          <p:sp>
            <p:nvSpPr>
              <p:cNvPr id="29" name="Line 4"/>
              <p:cNvSpPr>
                <a:spLocks noChangeShapeType="1"/>
              </p:cNvSpPr>
              <p:nvPr/>
            </p:nvSpPr>
            <p:spPr bwMode="auto">
              <a:xfrm>
                <a:off x="2089440" y="1828992"/>
                <a:ext cx="1175040" cy="144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82945" tIns="41473" rIns="82945" bIns="41473"/>
              <a:lstStyle/>
              <a:p>
                <a:endParaRPr lang="zh-CN" altLang="en-US"/>
              </a:p>
            </p:txBody>
          </p:sp>
          <p:sp>
            <p:nvSpPr>
              <p:cNvPr id="30" name="Line 5"/>
              <p:cNvSpPr>
                <a:spLocks noChangeShapeType="1"/>
              </p:cNvSpPr>
              <p:nvPr/>
            </p:nvSpPr>
            <p:spPr bwMode="auto">
              <a:xfrm>
                <a:off x="2089440" y="2351768"/>
                <a:ext cx="1175040" cy="144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82945" tIns="41473" rIns="82945" bIns="41473"/>
              <a:lstStyle/>
              <a:p>
                <a:endParaRPr lang="zh-CN" altLang="en-US"/>
              </a:p>
            </p:txBody>
          </p:sp>
          <p:sp>
            <p:nvSpPr>
              <p:cNvPr id="31" name="Text Box 6"/>
              <p:cNvSpPr txBox="1">
                <a:spLocks noChangeArrowheads="1"/>
              </p:cNvSpPr>
              <p:nvPr/>
            </p:nvSpPr>
            <p:spPr bwMode="auto">
              <a:xfrm>
                <a:off x="689143" y="1583446"/>
                <a:ext cx="1408320" cy="10124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81639" tIns="61393" rIns="81639" bIns="40820" anchor="ctr"/>
              <a:lstStyle>
                <a:lvl1pPr>
                  <a:lnSpc>
                    <a:spcPct val="95000"/>
                  </a:lnSpc>
                  <a:spcAft>
                    <a:spcPts val="1415"/>
                  </a:spcAft>
                  <a:buSzPct val="100000"/>
                  <a:buFont typeface="Times New Roman" panose="02020603050405020304" pitchFamily="18" charset="0"/>
                  <a:buChar char="•"/>
                  <a:tabLst>
                    <a:tab pos="723900" algn="l"/>
                    <a:tab pos="1447800" algn="l"/>
                  </a:tabLst>
                  <a:defRPr sz="3600">
                    <a:solidFill>
                      <a:srgbClr val="000000"/>
                    </a:solidFill>
                    <a:latin typeface="楷体" panose="02010609060101010101" charset="-122"/>
                    <a:ea typeface="楷体" panose="02010609060101010101" charset="-122"/>
                  </a:defRPr>
                </a:lvl1pPr>
                <a:lvl2pPr>
                  <a:lnSpc>
                    <a:spcPct val="95000"/>
                  </a:lnSpc>
                  <a:spcAft>
                    <a:spcPts val="1140"/>
                  </a:spcAft>
                  <a:buSzPct val="100000"/>
                  <a:buFont typeface="Times New Roman" panose="02020603050405020304" pitchFamily="18" charset="0"/>
                  <a:buChar char="–"/>
                  <a:tabLst>
                    <a:tab pos="723900" algn="l"/>
                    <a:tab pos="1447800" algn="l"/>
                  </a:tabLst>
                  <a:defRPr sz="2800">
                    <a:solidFill>
                      <a:srgbClr val="000000"/>
                    </a:solidFill>
                    <a:latin typeface="楷体" panose="02010609060101010101" charset="-122"/>
                    <a:ea typeface="楷体" panose="02010609060101010101" charset="-122"/>
                  </a:defRPr>
                </a:lvl2pPr>
                <a:lvl3pPr>
                  <a:lnSpc>
                    <a:spcPct val="95000"/>
                  </a:lnSpc>
                  <a:spcAft>
                    <a:spcPts val="850"/>
                  </a:spcAft>
                  <a:buSzPct val="100000"/>
                  <a:buFont typeface="Times New Roman" panose="02020603050405020304" pitchFamily="18" charset="0"/>
                  <a:buChar char="•"/>
                  <a:tabLst>
                    <a:tab pos="723900" algn="l"/>
                    <a:tab pos="1447800" algn="l"/>
                  </a:tabLst>
                  <a:defRPr sz="2400">
                    <a:solidFill>
                      <a:srgbClr val="000000"/>
                    </a:solidFill>
                    <a:latin typeface="楷体" panose="02010609060101010101" charset="-122"/>
                    <a:ea typeface="楷体" panose="02010609060101010101" charset="-122"/>
                  </a:defRPr>
                </a:lvl3pPr>
                <a:lvl4pPr>
                  <a:lnSpc>
                    <a:spcPct val="95000"/>
                  </a:lnSpc>
                  <a:spcAft>
                    <a:spcPts val="575"/>
                  </a:spcAft>
                  <a:buSzPct val="100000"/>
                  <a:buFont typeface="Times New Roman" panose="02020603050405020304" pitchFamily="18" charset="0"/>
                  <a:buChar char="–"/>
                  <a:tabLst>
                    <a:tab pos="723900" algn="l"/>
                    <a:tab pos="1447800" algn="l"/>
                  </a:tabLst>
                  <a:defRPr sz="2000">
                    <a:solidFill>
                      <a:srgbClr val="000000"/>
                    </a:solidFill>
                    <a:latin typeface="楷体" panose="02010609060101010101" charset="-122"/>
                    <a:ea typeface="楷体" panose="02010609060101010101" charset="-122"/>
                  </a:defRPr>
                </a:lvl4pPr>
                <a:lvl5pPr>
                  <a:lnSpc>
                    <a:spcPct val="95000"/>
                  </a:lnSpc>
                  <a:spcAft>
                    <a:spcPts val="290"/>
                  </a:spcAft>
                  <a:buSzPct val="100000"/>
                  <a:buFont typeface="Times New Roman" panose="02020603050405020304" pitchFamily="18" charset="0"/>
                  <a:buChar char="»"/>
                  <a:tabLst>
                    <a:tab pos="723900" algn="l"/>
                    <a:tab pos="1447800" algn="l"/>
                  </a:tabLst>
                  <a:defRPr sz="1400">
                    <a:solidFill>
                      <a:srgbClr val="000000"/>
                    </a:solidFill>
                    <a:latin typeface="楷体" panose="02010609060101010101" charset="-122"/>
                    <a:ea typeface="楷体" panose="02010609060101010101" charset="-122"/>
                  </a:defRPr>
                </a:lvl5pPr>
                <a:lvl6pPr marL="2514600" indent="-228600" defTabSz="449580" eaLnBrk="0" fontAlgn="base" hangingPunct="0">
                  <a:lnSpc>
                    <a:spcPct val="95000"/>
                  </a:lnSpc>
                  <a:spcBef>
                    <a:spcPct val="0"/>
                  </a:spcBef>
                  <a:spcAft>
                    <a:spcPts val="290"/>
                  </a:spcAft>
                  <a:buSzPct val="100000"/>
                  <a:buFont typeface="Times New Roman" panose="02020603050405020304" pitchFamily="18" charset="0"/>
                  <a:buChar char="»"/>
                  <a:tabLst>
                    <a:tab pos="723900" algn="l"/>
                    <a:tab pos="1447800" algn="l"/>
                  </a:tabLst>
                  <a:defRPr sz="1400">
                    <a:solidFill>
                      <a:srgbClr val="000000"/>
                    </a:solidFill>
                    <a:latin typeface="楷体" panose="02010609060101010101" charset="-122"/>
                    <a:ea typeface="楷体" panose="02010609060101010101" charset="-122"/>
                  </a:defRPr>
                </a:lvl6pPr>
                <a:lvl7pPr marL="2971800" indent="-228600" defTabSz="449580" eaLnBrk="0" fontAlgn="base" hangingPunct="0">
                  <a:lnSpc>
                    <a:spcPct val="95000"/>
                  </a:lnSpc>
                  <a:spcBef>
                    <a:spcPct val="0"/>
                  </a:spcBef>
                  <a:spcAft>
                    <a:spcPts val="290"/>
                  </a:spcAft>
                  <a:buSzPct val="100000"/>
                  <a:buFont typeface="Times New Roman" panose="02020603050405020304" pitchFamily="18" charset="0"/>
                  <a:buChar char="»"/>
                  <a:tabLst>
                    <a:tab pos="723900" algn="l"/>
                    <a:tab pos="1447800" algn="l"/>
                  </a:tabLst>
                  <a:defRPr sz="1400">
                    <a:solidFill>
                      <a:srgbClr val="000000"/>
                    </a:solidFill>
                    <a:latin typeface="楷体" panose="02010609060101010101" charset="-122"/>
                    <a:ea typeface="楷体" panose="02010609060101010101" charset="-122"/>
                  </a:defRPr>
                </a:lvl7pPr>
                <a:lvl8pPr marL="3429000" indent="-228600" defTabSz="449580" eaLnBrk="0" fontAlgn="base" hangingPunct="0">
                  <a:lnSpc>
                    <a:spcPct val="95000"/>
                  </a:lnSpc>
                  <a:spcBef>
                    <a:spcPct val="0"/>
                  </a:spcBef>
                  <a:spcAft>
                    <a:spcPts val="290"/>
                  </a:spcAft>
                  <a:buSzPct val="100000"/>
                  <a:buFont typeface="Times New Roman" panose="02020603050405020304" pitchFamily="18" charset="0"/>
                  <a:buChar char="»"/>
                  <a:tabLst>
                    <a:tab pos="723900" algn="l"/>
                    <a:tab pos="1447800" algn="l"/>
                  </a:tabLst>
                  <a:defRPr sz="1400">
                    <a:solidFill>
                      <a:srgbClr val="000000"/>
                    </a:solidFill>
                    <a:latin typeface="楷体" panose="02010609060101010101" charset="-122"/>
                    <a:ea typeface="楷体" panose="02010609060101010101" charset="-122"/>
                  </a:defRPr>
                </a:lvl8pPr>
                <a:lvl9pPr marL="3886200" indent="-228600" defTabSz="449580" eaLnBrk="0" fontAlgn="base" hangingPunct="0">
                  <a:lnSpc>
                    <a:spcPct val="95000"/>
                  </a:lnSpc>
                  <a:spcBef>
                    <a:spcPct val="0"/>
                  </a:spcBef>
                  <a:spcAft>
                    <a:spcPts val="290"/>
                  </a:spcAft>
                  <a:buSzPct val="100000"/>
                  <a:buFont typeface="Times New Roman" panose="02020603050405020304" pitchFamily="18" charset="0"/>
                  <a:buChar char="»"/>
                  <a:tabLst>
                    <a:tab pos="723900" algn="l"/>
                    <a:tab pos="1447800" algn="l"/>
                  </a:tabLst>
                  <a:defRPr sz="1400">
                    <a:solidFill>
                      <a:srgbClr val="000000"/>
                    </a:solidFill>
                    <a:latin typeface="楷体" panose="02010609060101010101" charset="-122"/>
                    <a:ea typeface="楷体" panose="02010609060101010101" charset="-122"/>
                  </a:defRPr>
                </a:lvl9pPr>
              </a:lstStyle>
              <a:p>
                <a:pPr algn="ctr" eaLnBrk="1">
                  <a:spcAft>
                    <a:spcPct val="0"/>
                  </a:spcAft>
                  <a:buFont typeface="Times New Roman" panose="02020603050405020304" pitchFamily="18" charset="0"/>
                  <a:buNone/>
                </a:pPr>
                <a:r>
                  <a:rPr lang="zh-CN" altLang="en-GB" sz="2800" dirty="0"/>
                  <a:t>源程序</a:t>
                </a:r>
                <a:endParaRPr lang="en-US" altLang="zh-CN" sz="2800" dirty="0"/>
              </a:p>
              <a:p>
                <a:pPr algn="ctr" eaLnBrk="1">
                  <a:spcAft>
                    <a:spcPct val="0"/>
                  </a:spcAft>
                  <a:buFont typeface="Times New Roman" panose="02020603050405020304" pitchFamily="18" charset="0"/>
                  <a:buNone/>
                </a:pPr>
                <a:r>
                  <a:rPr lang="zh-CN" altLang="en-US" sz="2800" dirty="0"/>
                  <a:t>数据</a:t>
                </a:r>
                <a:endParaRPr lang="zh-CN" altLang="en-GB" sz="2800" dirty="0"/>
              </a:p>
            </p:txBody>
          </p:sp>
          <p:sp>
            <p:nvSpPr>
              <p:cNvPr id="32" name="Line 8"/>
              <p:cNvSpPr>
                <a:spLocks noChangeShapeType="1"/>
              </p:cNvSpPr>
              <p:nvPr/>
            </p:nvSpPr>
            <p:spPr bwMode="auto">
              <a:xfrm>
                <a:off x="5322240" y="2089660"/>
                <a:ext cx="1175040" cy="144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82945" tIns="41473" rIns="82945" bIns="41473"/>
              <a:lstStyle/>
              <a:p>
                <a:endParaRPr lang="zh-CN" altLang="en-US"/>
              </a:p>
            </p:txBody>
          </p:sp>
          <p:sp>
            <p:nvSpPr>
              <p:cNvPr id="33" name="Text Box 9"/>
              <p:cNvSpPr txBox="1">
                <a:spLocks noChangeArrowheads="1"/>
              </p:cNvSpPr>
              <p:nvPr/>
            </p:nvSpPr>
            <p:spPr bwMode="auto">
              <a:xfrm>
                <a:off x="6444001" y="1828992"/>
                <a:ext cx="993600" cy="5544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81639" tIns="61393" rIns="81639" bIns="40820"/>
              <a:lstStyle>
                <a:lvl1pPr>
                  <a:lnSpc>
                    <a:spcPct val="95000"/>
                  </a:lnSpc>
                  <a:spcAft>
                    <a:spcPts val="1415"/>
                  </a:spcAft>
                  <a:buSzPct val="100000"/>
                  <a:buFont typeface="Times New Roman" panose="02020603050405020304" pitchFamily="18" charset="0"/>
                  <a:buChar char="•"/>
                  <a:tabLst>
                    <a:tab pos="723900" algn="l"/>
                  </a:tabLst>
                  <a:defRPr sz="3600">
                    <a:solidFill>
                      <a:srgbClr val="000000"/>
                    </a:solidFill>
                    <a:latin typeface="楷体" panose="02010609060101010101" charset="-122"/>
                    <a:ea typeface="楷体" panose="02010609060101010101" charset="-122"/>
                  </a:defRPr>
                </a:lvl1pPr>
                <a:lvl2pPr>
                  <a:lnSpc>
                    <a:spcPct val="95000"/>
                  </a:lnSpc>
                  <a:spcAft>
                    <a:spcPts val="1140"/>
                  </a:spcAft>
                  <a:buSzPct val="100000"/>
                  <a:buFont typeface="Times New Roman" panose="02020603050405020304" pitchFamily="18" charset="0"/>
                  <a:buChar char="–"/>
                  <a:tabLst>
                    <a:tab pos="723900" algn="l"/>
                  </a:tabLst>
                  <a:defRPr sz="2800">
                    <a:solidFill>
                      <a:srgbClr val="000000"/>
                    </a:solidFill>
                    <a:latin typeface="楷体" panose="02010609060101010101" charset="-122"/>
                    <a:ea typeface="楷体" panose="02010609060101010101" charset="-122"/>
                  </a:defRPr>
                </a:lvl2pPr>
                <a:lvl3pPr>
                  <a:lnSpc>
                    <a:spcPct val="95000"/>
                  </a:lnSpc>
                  <a:spcAft>
                    <a:spcPts val="850"/>
                  </a:spcAft>
                  <a:buSzPct val="100000"/>
                  <a:buFont typeface="Times New Roman" panose="02020603050405020304" pitchFamily="18" charset="0"/>
                  <a:buChar char="•"/>
                  <a:tabLst>
                    <a:tab pos="723900" algn="l"/>
                  </a:tabLst>
                  <a:defRPr sz="2400">
                    <a:solidFill>
                      <a:srgbClr val="000000"/>
                    </a:solidFill>
                    <a:latin typeface="楷体" panose="02010609060101010101" charset="-122"/>
                    <a:ea typeface="楷体" panose="02010609060101010101" charset="-122"/>
                  </a:defRPr>
                </a:lvl3pPr>
                <a:lvl4pPr>
                  <a:lnSpc>
                    <a:spcPct val="95000"/>
                  </a:lnSpc>
                  <a:spcAft>
                    <a:spcPts val="575"/>
                  </a:spcAft>
                  <a:buSzPct val="100000"/>
                  <a:buFont typeface="Times New Roman" panose="02020603050405020304" pitchFamily="18" charset="0"/>
                  <a:buChar char="–"/>
                  <a:tabLst>
                    <a:tab pos="723900" algn="l"/>
                  </a:tabLst>
                  <a:defRPr sz="2000">
                    <a:solidFill>
                      <a:srgbClr val="000000"/>
                    </a:solidFill>
                    <a:latin typeface="楷体" panose="02010609060101010101" charset="-122"/>
                    <a:ea typeface="楷体" panose="02010609060101010101" charset="-122"/>
                  </a:defRPr>
                </a:lvl4pPr>
                <a:lvl5pPr>
                  <a:lnSpc>
                    <a:spcPct val="95000"/>
                  </a:lnSpc>
                  <a:spcAft>
                    <a:spcPts val="290"/>
                  </a:spcAft>
                  <a:buSzPct val="100000"/>
                  <a:buFont typeface="Times New Roman" panose="02020603050405020304" pitchFamily="18" charset="0"/>
                  <a:buChar char="»"/>
                  <a:tabLst>
                    <a:tab pos="723900" algn="l"/>
                  </a:tabLst>
                  <a:defRPr sz="1400">
                    <a:solidFill>
                      <a:srgbClr val="000000"/>
                    </a:solidFill>
                    <a:latin typeface="楷体" panose="02010609060101010101" charset="-122"/>
                    <a:ea typeface="楷体" panose="02010609060101010101" charset="-122"/>
                  </a:defRPr>
                </a:lvl5pPr>
                <a:lvl6pPr marL="2514600" indent="-228600" defTabSz="449580" eaLnBrk="0" fontAlgn="base" hangingPunct="0">
                  <a:lnSpc>
                    <a:spcPct val="95000"/>
                  </a:lnSpc>
                  <a:spcBef>
                    <a:spcPct val="0"/>
                  </a:spcBef>
                  <a:spcAft>
                    <a:spcPts val="290"/>
                  </a:spcAft>
                  <a:buSzPct val="100000"/>
                  <a:buFont typeface="Times New Roman" panose="02020603050405020304" pitchFamily="18" charset="0"/>
                  <a:buChar char="»"/>
                  <a:tabLst>
                    <a:tab pos="723900" algn="l"/>
                  </a:tabLst>
                  <a:defRPr sz="1400">
                    <a:solidFill>
                      <a:srgbClr val="000000"/>
                    </a:solidFill>
                    <a:latin typeface="楷体" panose="02010609060101010101" charset="-122"/>
                    <a:ea typeface="楷体" panose="02010609060101010101" charset="-122"/>
                  </a:defRPr>
                </a:lvl6pPr>
                <a:lvl7pPr marL="2971800" indent="-228600" defTabSz="449580" eaLnBrk="0" fontAlgn="base" hangingPunct="0">
                  <a:lnSpc>
                    <a:spcPct val="95000"/>
                  </a:lnSpc>
                  <a:spcBef>
                    <a:spcPct val="0"/>
                  </a:spcBef>
                  <a:spcAft>
                    <a:spcPts val="290"/>
                  </a:spcAft>
                  <a:buSzPct val="100000"/>
                  <a:buFont typeface="Times New Roman" panose="02020603050405020304" pitchFamily="18" charset="0"/>
                  <a:buChar char="»"/>
                  <a:tabLst>
                    <a:tab pos="723900" algn="l"/>
                  </a:tabLst>
                  <a:defRPr sz="1400">
                    <a:solidFill>
                      <a:srgbClr val="000000"/>
                    </a:solidFill>
                    <a:latin typeface="楷体" panose="02010609060101010101" charset="-122"/>
                    <a:ea typeface="楷体" panose="02010609060101010101" charset="-122"/>
                  </a:defRPr>
                </a:lvl7pPr>
                <a:lvl8pPr marL="3429000" indent="-228600" defTabSz="449580" eaLnBrk="0" fontAlgn="base" hangingPunct="0">
                  <a:lnSpc>
                    <a:spcPct val="95000"/>
                  </a:lnSpc>
                  <a:spcBef>
                    <a:spcPct val="0"/>
                  </a:spcBef>
                  <a:spcAft>
                    <a:spcPts val="290"/>
                  </a:spcAft>
                  <a:buSzPct val="100000"/>
                  <a:buFont typeface="Times New Roman" panose="02020603050405020304" pitchFamily="18" charset="0"/>
                  <a:buChar char="»"/>
                  <a:tabLst>
                    <a:tab pos="723900" algn="l"/>
                  </a:tabLst>
                  <a:defRPr sz="1400">
                    <a:solidFill>
                      <a:srgbClr val="000000"/>
                    </a:solidFill>
                    <a:latin typeface="楷体" panose="02010609060101010101" charset="-122"/>
                    <a:ea typeface="楷体" panose="02010609060101010101" charset="-122"/>
                  </a:defRPr>
                </a:lvl8pPr>
                <a:lvl9pPr marL="3886200" indent="-228600" defTabSz="449580" eaLnBrk="0" fontAlgn="base" hangingPunct="0">
                  <a:lnSpc>
                    <a:spcPct val="95000"/>
                  </a:lnSpc>
                  <a:spcBef>
                    <a:spcPct val="0"/>
                  </a:spcBef>
                  <a:spcAft>
                    <a:spcPts val="290"/>
                  </a:spcAft>
                  <a:buSzPct val="100000"/>
                  <a:buFont typeface="Times New Roman" panose="02020603050405020304" pitchFamily="18" charset="0"/>
                  <a:buChar char="»"/>
                  <a:tabLst>
                    <a:tab pos="723900" algn="l"/>
                  </a:tabLst>
                  <a:defRPr sz="1400">
                    <a:solidFill>
                      <a:srgbClr val="000000"/>
                    </a:solidFill>
                    <a:latin typeface="楷体" panose="02010609060101010101" charset="-122"/>
                    <a:ea typeface="楷体" panose="02010609060101010101" charset="-122"/>
                  </a:defRPr>
                </a:lvl9pPr>
              </a:lstStyle>
              <a:p>
                <a:pPr eaLnBrk="1">
                  <a:spcAft>
                    <a:spcPct val="0"/>
                  </a:spcAft>
                  <a:buFont typeface="Times New Roman" panose="02020603050405020304" pitchFamily="18" charset="0"/>
                  <a:buNone/>
                </a:pPr>
                <a:r>
                  <a:rPr lang="zh-CN" altLang="en-GB" sz="2800" dirty="0"/>
                  <a:t>输出</a:t>
                </a:r>
                <a:endParaRPr lang="zh-CN" altLang="en-GB" sz="4000" dirty="0"/>
              </a:p>
            </p:txBody>
          </p:sp>
        </p:grpSp>
        <p:sp>
          <p:nvSpPr>
            <p:cNvPr id="27" name="Text Box 19"/>
            <p:cNvSpPr txBox="1">
              <a:spLocks noChangeArrowheads="1"/>
            </p:cNvSpPr>
            <p:nvPr/>
          </p:nvSpPr>
          <p:spPr bwMode="auto">
            <a:xfrm>
              <a:off x="7644961" y="2368559"/>
              <a:ext cx="993600" cy="5544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1639" tIns="61393" rIns="81639" bIns="40820"/>
            <a:lstStyle>
              <a:lvl1pPr>
                <a:lnSpc>
                  <a:spcPct val="95000"/>
                </a:lnSpc>
                <a:spcAft>
                  <a:spcPts val="1415"/>
                </a:spcAft>
                <a:buSzPct val="100000"/>
                <a:buFont typeface="Times New Roman" panose="02020603050405020304" pitchFamily="18" charset="0"/>
                <a:buChar char="•"/>
                <a:tabLst>
                  <a:tab pos="723900" algn="l"/>
                </a:tabLst>
                <a:defRPr sz="3600">
                  <a:solidFill>
                    <a:srgbClr val="000000"/>
                  </a:solidFill>
                  <a:latin typeface="楷体" panose="02010609060101010101" charset="-122"/>
                  <a:ea typeface="楷体" panose="02010609060101010101" charset="-122"/>
                </a:defRPr>
              </a:lvl1pPr>
              <a:lvl2pPr>
                <a:lnSpc>
                  <a:spcPct val="95000"/>
                </a:lnSpc>
                <a:spcAft>
                  <a:spcPts val="1140"/>
                </a:spcAft>
                <a:buSzPct val="100000"/>
                <a:buFont typeface="Times New Roman" panose="02020603050405020304" pitchFamily="18" charset="0"/>
                <a:buChar char="–"/>
                <a:tabLst>
                  <a:tab pos="723900" algn="l"/>
                </a:tabLst>
                <a:defRPr sz="2800">
                  <a:solidFill>
                    <a:srgbClr val="000000"/>
                  </a:solidFill>
                  <a:latin typeface="楷体" panose="02010609060101010101" charset="-122"/>
                  <a:ea typeface="楷体" panose="02010609060101010101" charset="-122"/>
                </a:defRPr>
              </a:lvl2pPr>
              <a:lvl3pPr>
                <a:lnSpc>
                  <a:spcPct val="95000"/>
                </a:lnSpc>
                <a:spcAft>
                  <a:spcPts val="850"/>
                </a:spcAft>
                <a:buSzPct val="100000"/>
                <a:buFont typeface="Times New Roman" panose="02020603050405020304" pitchFamily="18" charset="0"/>
                <a:buChar char="•"/>
                <a:tabLst>
                  <a:tab pos="723900" algn="l"/>
                </a:tabLst>
                <a:defRPr sz="2400">
                  <a:solidFill>
                    <a:srgbClr val="000000"/>
                  </a:solidFill>
                  <a:latin typeface="楷体" panose="02010609060101010101" charset="-122"/>
                  <a:ea typeface="楷体" panose="02010609060101010101" charset="-122"/>
                </a:defRPr>
              </a:lvl3pPr>
              <a:lvl4pPr>
                <a:lnSpc>
                  <a:spcPct val="95000"/>
                </a:lnSpc>
                <a:spcAft>
                  <a:spcPts val="575"/>
                </a:spcAft>
                <a:buSzPct val="100000"/>
                <a:buFont typeface="Times New Roman" panose="02020603050405020304" pitchFamily="18" charset="0"/>
                <a:buChar char="–"/>
                <a:tabLst>
                  <a:tab pos="723900" algn="l"/>
                </a:tabLst>
                <a:defRPr sz="2000">
                  <a:solidFill>
                    <a:srgbClr val="000000"/>
                  </a:solidFill>
                  <a:latin typeface="楷体" panose="02010609060101010101" charset="-122"/>
                  <a:ea typeface="楷体" panose="02010609060101010101" charset="-122"/>
                </a:defRPr>
              </a:lvl4pPr>
              <a:lvl5pPr>
                <a:lnSpc>
                  <a:spcPct val="95000"/>
                </a:lnSpc>
                <a:spcAft>
                  <a:spcPts val="290"/>
                </a:spcAft>
                <a:buSzPct val="100000"/>
                <a:buFont typeface="Times New Roman" panose="02020603050405020304" pitchFamily="18" charset="0"/>
                <a:buChar char="»"/>
                <a:tabLst>
                  <a:tab pos="723900" algn="l"/>
                </a:tabLst>
                <a:defRPr sz="1400">
                  <a:solidFill>
                    <a:srgbClr val="000000"/>
                  </a:solidFill>
                  <a:latin typeface="楷体" panose="02010609060101010101" charset="-122"/>
                  <a:ea typeface="楷体" panose="02010609060101010101" charset="-122"/>
                </a:defRPr>
              </a:lvl5pPr>
              <a:lvl6pPr marL="2514600" indent="-228600" defTabSz="44958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ts val="290"/>
                </a:spcAft>
                <a:buSzPct val="100000"/>
                <a:buFont typeface="Times New Roman" panose="02020603050405020304" pitchFamily="18" charset="0"/>
                <a:buChar char="»"/>
                <a:tabLst>
                  <a:tab pos="723900" algn="l"/>
                </a:tabLst>
                <a:defRPr sz="1400">
                  <a:solidFill>
                    <a:srgbClr val="000000"/>
                  </a:solidFill>
                  <a:latin typeface="楷体" panose="02010609060101010101" charset="-122"/>
                  <a:ea typeface="楷体" panose="02010609060101010101" charset="-122"/>
                </a:defRPr>
              </a:lvl6pPr>
              <a:lvl7pPr marL="2971800" indent="-228600" defTabSz="44958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ts val="290"/>
                </a:spcAft>
                <a:buSzPct val="100000"/>
                <a:buFont typeface="Times New Roman" panose="02020603050405020304" pitchFamily="18" charset="0"/>
                <a:buChar char="»"/>
                <a:tabLst>
                  <a:tab pos="723900" algn="l"/>
                </a:tabLst>
                <a:defRPr sz="1400">
                  <a:solidFill>
                    <a:srgbClr val="000000"/>
                  </a:solidFill>
                  <a:latin typeface="楷体" panose="02010609060101010101" charset="-122"/>
                  <a:ea typeface="楷体" panose="02010609060101010101" charset="-122"/>
                </a:defRPr>
              </a:lvl7pPr>
              <a:lvl8pPr marL="3429000" indent="-228600" defTabSz="44958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ts val="290"/>
                </a:spcAft>
                <a:buSzPct val="100000"/>
                <a:buFont typeface="Times New Roman" panose="02020603050405020304" pitchFamily="18" charset="0"/>
                <a:buChar char="»"/>
                <a:tabLst>
                  <a:tab pos="723900" algn="l"/>
                </a:tabLst>
                <a:defRPr sz="1400">
                  <a:solidFill>
                    <a:srgbClr val="000000"/>
                  </a:solidFill>
                  <a:latin typeface="楷体" panose="02010609060101010101" charset="-122"/>
                  <a:ea typeface="楷体" panose="02010609060101010101" charset="-122"/>
                </a:defRPr>
              </a:lvl8pPr>
              <a:lvl9pPr marL="3886200" indent="-228600" defTabSz="44958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ts val="290"/>
                </a:spcAft>
                <a:buSzPct val="100000"/>
                <a:buFont typeface="Times New Roman" panose="02020603050405020304" pitchFamily="18" charset="0"/>
                <a:buChar char="»"/>
                <a:tabLst>
                  <a:tab pos="723900" algn="l"/>
                </a:tabLst>
                <a:defRPr sz="1400">
                  <a:solidFill>
                    <a:srgbClr val="000000"/>
                  </a:solidFill>
                  <a:latin typeface="楷体" panose="02010609060101010101" charset="-122"/>
                  <a:ea typeface="楷体" panose="02010609060101010101" charset="-122"/>
                </a:defRPr>
              </a:lvl9pPr>
            </a:lstStyle>
            <a:p>
              <a:pPr eaLnBrk="1">
                <a:spcAft>
                  <a:spcPct val="0"/>
                </a:spcAft>
                <a:buFont typeface="Times New Roman" panose="02020603050405020304" pitchFamily="18" charset="0"/>
                <a:buNone/>
              </a:pPr>
              <a:r>
                <a:rPr lang="zh-CN" altLang="en-GB" dirty="0">
                  <a:solidFill>
                    <a:srgbClr val="0000FF"/>
                  </a:solidFill>
                </a:rPr>
                <a:t>在线</a:t>
              </a:r>
            </a:p>
          </p:txBody>
        </p:sp>
      </p:grpSp>
      <p:cxnSp>
        <p:nvCxnSpPr>
          <p:cNvPr id="35" name="直接连接符 34"/>
          <p:cNvCxnSpPr/>
          <p:nvPr/>
        </p:nvCxnSpPr>
        <p:spPr>
          <a:xfrm>
            <a:off x="611560" y="3439287"/>
            <a:ext cx="7797069" cy="0"/>
          </a:xfrm>
          <a:prstGeom prst="line">
            <a:avLst/>
          </a:prstGeom>
          <a:ln w="571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邓伏虎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信息与软件工程学院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1.2 </a:t>
            </a:r>
            <a:r>
              <a:rPr lang="zh-CN" altLang="en-US" dirty="0"/>
              <a:t>编译的作用与分类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0" y="1646555"/>
            <a:ext cx="9144000" cy="4479925"/>
          </a:xfrm>
        </p:spPr>
        <p:txBody>
          <a:bodyPr/>
          <a:lstStyle/>
          <a:p>
            <a:pPr marL="0" lvl="1" indent="-323850" defTabSz="449580" fontAlgn="auto">
              <a:spcBef>
                <a:spcPts val="0"/>
              </a:spcBef>
              <a:buSzPct val="45000"/>
              <a:buFont typeface="StarSymbol" charset="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2400" dirty="0">
                <a:latin typeface="+mn-ea"/>
                <a:cs typeface="+mn-ea"/>
                <a:sym typeface="+mn-ea"/>
              </a:rPr>
              <a:t>编译还是解释？</a:t>
            </a:r>
            <a:endParaRPr lang="zh-CN" altLang="en-US" sz="2400" b="1" dirty="0">
              <a:latin typeface="+mn-ea"/>
              <a:cs typeface="+mn-ea"/>
            </a:endParaRPr>
          </a:p>
          <a:p>
            <a:pPr marL="0" lvl="2" indent="-287020" algn="ctr" defTabSz="449580" fontAlgn="auto">
              <a:spcBef>
                <a:spcPts val="0"/>
              </a:spcBef>
              <a:buSzPct val="75000"/>
              <a:buFont typeface="StarSymbol" charset="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Pascal、C/C++、Object-C、Java、C#、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Python</a:t>
            </a:r>
            <a:r>
              <a:rPr lang="zh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、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Go</a:t>
            </a:r>
          </a:p>
          <a:p>
            <a:pPr marL="0" lvl="2" indent="-287020" defTabSz="449580" fontAlgn="auto">
              <a:spcBef>
                <a:spcPts val="0"/>
              </a:spcBef>
              <a:buSzPct val="75000"/>
              <a:buFont typeface="StarSymbol" charset="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endParaRPr lang="zh-CN" altLang="en-US" sz="2400" b="1" dirty="0">
              <a:latin typeface="+mn-ea"/>
              <a:cs typeface="+mn-ea"/>
            </a:endParaRPr>
          </a:p>
          <a:p>
            <a:pPr marL="0" lvl="1" indent="-323850" defTabSz="449580" fontAlgn="auto">
              <a:spcBef>
                <a:spcPts val="0"/>
              </a:spcBef>
              <a:buSzPct val="45000"/>
              <a:buFont typeface="StarSymbol" charset="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2400" dirty="0">
                <a:latin typeface="+mn-ea"/>
                <a:cs typeface="+mn-ea"/>
                <a:sym typeface="+mn-ea"/>
              </a:rPr>
              <a:t>编译的：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Fortran、Vala</a:t>
            </a:r>
            <a:endParaRPr lang="zh-CN" altLang="en-US" sz="2400" b="1" dirty="0">
              <a:latin typeface="+mn-ea"/>
              <a:cs typeface="+mn-ea"/>
            </a:endParaRPr>
          </a:p>
          <a:p>
            <a:pPr marL="0" lvl="1" indent="-323850" defTabSz="449580" fontAlgn="auto">
              <a:spcBef>
                <a:spcPts val="0"/>
              </a:spcBef>
              <a:buSzPct val="45000"/>
              <a:buFont typeface="StarSymbol" charset="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2400" dirty="0">
                <a:latin typeface="+mn-ea"/>
                <a:cs typeface="+mn-ea"/>
                <a:sym typeface="+mn-ea"/>
              </a:rPr>
              <a:t>解释的：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JavaScript、PHP</a:t>
            </a:r>
            <a:r>
              <a:rPr lang="zh-CN" altLang="en-US" sz="2400" dirty="0">
                <a:latin typeface="+mn-ea"/>
                <a:cs typeface="+mn-ea"/>
                <a:sym typeface="+mn-ea"/>
              </a:rPr>
              <a:t>等</a:t>
            </a:r>
            <a:endParaRPr lang="zh-CN" altLang="en-US" sz="2400" b="1" dirty="0">
              <a:latin typeface="+mn-ea"/>
              <a:cs typeface="+mn-ea"/>
            </a:endParaRPr>
          </a:p>
          <a:p>
            <a:pPr marL="0" indent="0" fontAlgn="auto">
              <a:spcBef>
                <a:spcPts val="0"/>
              </a:spcBef>
              <a:buNone/>
            </a:pPr>
            <a:endParaRPr lang="en-US" sz="2400" b="0" dirty="0">
              <a:latin typeface="+mn-ea"/>
              <a:cs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3477895" cy="928370"/>
          </a:xfrm>
        </p:spPr>
        <p:txBody>
          <a:bodyPr>
            <a:normAutofit fontScale="90000"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1.3 </a:t>
            </a:r>
            <a:r>
              <a:rPr lang="zh-CN" altLang="en-US" dirty="0"/>
              <a:t>编译器的结构</a:t>
            </a:r>
          </a:p>
        </p:txBody>
      </p:sp>
      <p:grpSp>
        <p:nvGrpSpPr>
          <p:cNvPr id="17" name="组合 16"/>
          <p:cNvGrpSpPr/>
          <p:nvPr/>
        </p:nvGrpSpPr>
        <p:grpSpPr>
          <a:xfrm>
            <a:off x="1065266" y="1114057"/>
            <a:ext cx="457200" cy="4752528"/>
            <a:chOff x="1043608" y="1412776"/>
            <a:chExt cx="457200" cy="4752528"/>
          </a:xfrm>
        </p:grpSpPr>
        <p:sp>
          <p:nvSpPr>
            <p:cNvPr id="7" name="矩形 6"/>
            <p:cNvSpPr/>
            <p:nvPr/>
          </p:nvSpPr>
          <p:spPr>
            <a:xfrm>
              <a:off x="1043608" y="1412776"/>
              <a:ext cx="457200" cy="475252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043608" y="2594535"/>
              <a:ext cx="457200" cy="230832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zh-CN" altLang="en-US" sz="2400" dirty="0"/>
                <a:t>信息表的管理</a:t>
              </a:r>
              <a:endParaRPr lang="en-US" sz="2400" dirty="0"/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8137828" y="1141600"/>
            <a:ext cx="474486" cy="4752528"/>
            <a:chOff x="8155114" y="1372433"/>
            <a:chExt cx="474486" cy="4752528"/>
          </a:xfrm>
        </p:grpSpPr>
        <p:sp>
          <p:nvSpPr>
            <p:cNvPr id="9" name="矩形 8"/>
            <p:cNvSpPr/>
            <p:nvPr/>
          </p:nvSpPr>
          <p:spPr>
            <a:xfrm>
              <a:off x="8155114" y="1372433"/>
              <a:ext cx="457200" cy="475252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8172400" y="2409869"/>
              <a:ext cx="457200" cy="267765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zh-CN" altLang="en-US" sz="2400" dirty="0"/>
                <a:t>错误诊断及处理</a:t>
              </a:r>
              <a:endParaRPr lang="en-US" sz="2400" dirty="0"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4257619" y="54402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源程序</a:t>
            </a:r>
            <a:endParaRPr lang="en-US" sz="2400" dirty="0"/>
          </a:p>
        </p:txBody>
      </p:sp>
      <p:grpSp>
        <p:nvGrpSpPr>
          <p:cNvPr id="18" name="组合 17"/>
          <p:cNvGrpSpPr/>
          <p:nvPr/>
        </p:nvGrpSpPr>
        <p:grpSpPr>
          <a:xfrm>
            <a:off x="3203848" y="1211923"/>
            <a:ext cx="3240360" cy="461665"/>
            <a:chOff x="1043608" y="1256391"/>
            <a:chExt cx="457200" cy="4984621"/>
          </a:xfrm>
        </p:grpSpPr>
        <p:sp>
          <p:nvSpPr>
            <p:cNvPr id="19" name="矩形 18"/>
            <p:cNvSpPr/>
            <p:nvPr/>
          </p:nvSpPr>
          <p:spPr>
            <a:xfrm>
              <a:off x="1043608" y="1412776"/>
              <a:ext cx="457200" cy="475252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043608" y="1256391"/>
              <a:ext cx="457200" cy="49846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CN" altLang="en-US" sz="2400" dirty="0"/>
                <a:t>词法分析</a:t>
              </a:r>
              <a:endParaRPr lang="en-US" sz="2400" dirty="0"/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3203848" y="2092526"/>
            <a:ext cx="3240360" cy="461665"/>
            <a:chOff x="1043608" y="1256391"/>
            <a:chExt cx="457200" cy="4984621"/>
          </a:xfrm>
        </p:grpSpPr>
        <p:sp>
          <p:nvSpPr>
            <p:cNvPr id="22" name="矩形 21"/>
            <p:cNvSpPr/>
            <p:nvPr/>
          </p:nvSpPr>
          <p:spPr>
            <a:xfrm>
              <a:off x="1043608" y="1412776"/>
              <a:ext cx="457200" cy="475252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043608" y="1256391"/>
              <a:ext cx="457200" cy="49846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CN" altLang="en-US" sz="2400" dirty="0"/>
                <a:t>语法分析</a:t>
              </a:r>
              <a:endParaRPr lang="en-US" sz="2400" dirty="0"/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3203848" y="3070682"/>
            <a:ext cx="3240360" cy="461665"/>
            <a:chOff x="1043608" y="1256391"/>
            <a:chExt cx="457200" cy="4984621"/>
          </a:xfrm>
        </p:grpSpPr>
        <p:sp>
          <p:nvSpPr>
            <p:cNvPr id="25" name="矩形 24"/>
            <p:cNvSpPr/>
            <p:nvPr/>
          </p:nvSpPr>
          <p:spPr>
            <a:xfrm>
              <a:off x="1043608" y="1412776"/>
              <a:ext cx="457200" cy="475252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043608" y="1256391"/>
              <a:ext cx="457200" cy="49846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CN" altLang="en-US" sz="2400" dirty="0"/>
                <a:t>语义分析</a:t>
              </a:r>
              <a:endParaRPr lang="en-US" sz="2400" dirty="0"/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3219604" y="4293741"/>
            <a:ext cx="3240360" cy="460375"/>
            <a:chOff x="1043608" y="1263355"/>
            <a:chExt cx="457200" cy="4970693"/>
          </a:xfrm>
        </p:grpSpPr>
        <p:sp>
          <p:nvSpPr>
            <p:cNvPr id="28" name="矩形 27"/>
            <p:cNvSpPr/>
            <p:nvPr/>
          </p:nvSpPr>
          <p:spPr>
            <a:xfrm>
              <a:off x="1043608" y="1412776"/>
              <a:ext cx="457200" cy="475252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043608" y="1263355"/>
              <a:ext cx="457200" cy="497069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CN" altLang="en-US" sz="2400" dirty="0"/>
                <a:t>中间代码生成及优化</a:t>
              </a: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3215283" y="5142136"/>
            <a:ext cx="3240360" cy="460375"/>
            <a:chOff x="1043608" y="1263355"/>
            <a:chExt cx="457200" cy="4970693"/>
          </a:xfrm>
        </p:grpSpPr>
        <p:sp>
          <p:nvSpPr>
            <p:cNvPr id="31" name="矩形 30"/>
            <p:cNvSpPr/>
            <p:nvPr/>
          </p:nvSpPr>
          <p:spPr>
            <a:xfrm>
              <a:off x="1043608" y="1412776"/>
              <a:ext cx="457200" cy="475252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043608" y="1263355"/>
              <a:ext cx="457200" cy="497069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CN" altLang="en-US" sz="2400" dirty="0"/>
                <a:t>目标代码生成及优化</a:t>
              </a:r>
            </a:p>
          </p:txBody>
        </p:sp>
      </p:grpSp>
      <p:cxnSp>
        <p:nvCxnSpPr>
          <p:cNvPr id="35" name="直接箭头连接符 34"/>
          <p:cNvCxnSpPr>
            <a:stCxn id="12" idx="2"/>
            <a:endCxn id="20" idx="0"/>
          </p:cNvCxnSpPr>
          <p:nvPr/>
        </p:nvCxnSpPr>
        <p:spPr>
          <a:xfrm>
            <a:off x="4811617" y="516067"/>
            <a:ext cx="12700" cy="695960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/>
          <p:cNvCxnSpPr>
            <a:stCxn id="19" idx="2"/>
            <a:endCxn id="22" idx="0"/>
          </p:cNvCxnSpPr>
          <p:nvPr/>
        </p:nvCxnSpPr>
        <p:spPr>
          <a:xfrm>
            <a:off x="4824028" y="1666576"/>
            <a:ext cx="0" cy="440434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/>
          <p:cNvCxnSpPr>
            <a:stCxn id="22" idx="2"/>
            <a:endCxn id="26" idx="0"/>
          </p:cNvCxnSpPr>
          <p:nvPr/>
        </p:nvCxnSpPr>
        <p:spPr>
          <a:xfrm>
            <a:off x="4824028" y="2547179"/>
            <a:ext cx="0" cy="523503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/>
          <p:cNvCxnSpPr>
            <a:stCxn id="25" idx="2"/>
            <a:endCxn id="28" idx="0"/>
          </p:cNvCxnSpPr>
          <p:nvPr/>
        </p:nvCxnSpPr>
        <p:spPr>
          <a:xfrm>
            <a:off x="4824028" y="3525335"/>
            <a:ext cx="15875" cy="782320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/>
          <p:cNvCxnSpPr>
            <a:stCxn id="28" idx="2"/>
            <a:endCxn id="32" idx="0"/>
          </p:cNvCxnSpPr>
          <p:nvPr/>
        </p:nvCxnSpPr>
        <p:spPr>
          <a:xfrm flipH="1">
            <a:off x="4835339" y="4747749"/>
            <a:ext cx="4445" cy="394335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4129737" y="5863035"/>
            <a:ext cx="14020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机器代码</a:t>
            </a:r>
          </a:p>
        </p:txBody>
      </p:sp>
      <p:cxnSp>
        <p:nvCxnSpPr>
          <p:cNvPr id="47" name="直接箭头连接符 46"/>
          <p:cNvCxnSpPr>
            <a:stCxn id="31" idx="2"/>
            <a:endCxn id="45" idx="0"/>
          </p:cNvCxnSpPr>
          <p:nvPr/>
        </p:nvCxnSpPr>
        <p:spPr>
          <a:xfrm flipH="1">
            <a:off x="4831018" y="5596144"/>
            <a:ext cx="4445" cy="266700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/>
          <p:cNvCxnSpPr>
            <a:stCxn id="20" idx="1"/>
          </p:cNvCxnSpPr>
          <p:nvPr/>
        </p:nvCxnSpPr>
        <p:spPr>
          <a:xfrm flipH="1">
            <a:off x="1500810" y="1442756"/>
            <a:ext cx="17030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/>
          <p:cNvCxnSpPr>
            <a:stCxn id="19" idx="3"/>
          </p:cNvCxnSpPr>
          <p:nvPr/>
        </p:nvCxnSpPr>
        <p:spPr>
          <a:xfrm>
            <a:off x="6444208" y="1446492"/>
            <a:ext cx="16936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55"/>
          <p:cNvCxnSpPr>
            <a:stCxn id="22" idx="3"/>
          </p:cNvCxnSpPr>
          <p:nvPr/>
        </p:nvCxnSpPr>
        <p:spPr>
          <a:xfrm flipV="1">
            <a:off x="6444208" y="2323359"/>
            <a:ext cx="1693620" cy="37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/>
          <p:cNvCxnSpPr>
            <a:stCxn id="26" idx="3"/>
          </p:cNvCxnSpPr>
          <p:nvPr/>
        </p:nvCxnSpPr>
        <p:spPr>
          <a:xfrm>
            <a:off x="6444208" y="3301515"/>
            <a:ext cx="1693620" cy="37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9"/>
          <p:cNvCxnSpPr>
            <a:stCxn id="28" idx="3"/>
          </p:cNvCxnSpPr>
          <p:nvPr/>
        </p:nvCxnSpPr>
        <p:spPr>
          <a:xfrm>
            <a:off x="6459964" y="4528300"/>
            <a:ext cx="168924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连接符 61"/>
          <p:cNvCxnSpPr>
            <a:stCxn id="31" idx="3"/>
          </p:cNvCxnSpPr>
          <p:nvPr/>
        </p:nvCxnSpPr>
        <p:spPr>
          <a:xfrm>
            <a:off x="6455643" y="5376695"/>
            <a:ext cx="169244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连接符 62"/>
          <p:cNvCxnSpPr>
            <a:endCxn id="22" idx="1"/>
          </p:cNvCxnSpPr>
          <p:nvPr/>
        </p:nvCxnSpPr>
        <p:spPr>
          <a:xfrm>
            <a:off x="1522466" y="2323359"/>
            <a:ext cx="1681382" cy="37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连接符 63"/>
          <p:cNvCxnSpPr>
            <a:endCxn id="25" idx="1"/>
          </p:cNvCxnSpPr>
          <p:nvPr/>
        </p:nvCxnSpPr>
        <p:spPr>
          <a:xfrm>
            <a:off x="1522466" y="3301514"/>
            <a:ext cx="1681382" cy="37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连接符 64"/>
          <p:cNvCxnSpPr>
            <a:endCxn id="29" idx="1"/>
          </p:cNvCxnSpPr>
          <p:nvPr/>
        </p:nvCxnSpPr>
        <p:spPr>
          <a:xfrm flipV="1">
            <a:off x="1547345" y="4524564"/>
            <a:ext cx="1672259" cy="1465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/>
          <p:cNvCxnSpPr>
            <a:endCxn id="32" idx="1"/>
          </p:cNvCxnSpPr>
          <p:nvPr/>
        </p:nvCxnSpPr>
        <p:spPr>
          <a:xfrm flipV="1">
            <a:off x="1533901" y="5372959"/>
            <a:ext cx="1681382" cy="37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连接符 67"/>
          <p:cNvCxnSpPr/>
          <p:nvPr/>
        </p:nvCxnSpPr>
        <p:spPr>
          <a:xfrm>
            <a:off x="7475190" y="769718"/>
            <a:ext cx="8643" cy="2875306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连接符 71"/>
          <p:cNvCxnSpPr/>
          <p:nvPr/>
        </p:nvCxnSpPr>
        <p:spPr>
          <a:xfrm flipH="1">
            <a:off x="2195736" y="3645024"/>
            <a:ext cx="5279454" cy="0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连接符 73"/>
          <p:cNvCxnSpPr/>
          <p:nvPr/>
        </p:nvCxnSpPr>
        <p:spPr>
          <a:xfrm flipV="1">
            <a:off x="2195736" y="769718"/>
            <a:ext cx="0" cy="2875306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连接符 75"/>
          <p:cNvCxnSpPr/>
          <p:nvPr/>
        </p:nvCxnSpPr>
        <p:spPr>
          <a:xfrm>
            <a:off x="2195736" y="769718"/>
            <a:ext cx="5288097" cy="0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2198321" y="775398"/>
            <a:ext cx="800219" cy="46166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>
            <a:spAutoFit/>
          </a:bodyPr>
          <a:lstStyle/>
          <a:p>
            <a:r>
              <a:rPr lang="zh-CN" altLang="en-US" sz="2400" b="1" dirty="0"/>
              <a:t>分析</a:t>
            </a:r>
            <a:endParaRPr lang="en-US" sz="2400" b="1" dirty="0"/>
          </a:p>
        </p:txBody>
      </p:sp>
      <p:cxnSp>
        <p:nvCxnSpPr>
          <p:cNvPr id="82" name="直接连接符 81"/>
          <p:cNvCxnSpPr/>
          <p:nvPr/>
        </p:nvCxnSpPr>
        <p:spPr>
          <a:xfrm flipH="1">
            <a:off x="2217946" y="4128448"/>
            <a:ext cx="5290943" cy="0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连接符 83"/>
          <p:cNvCxnSpPr/>
          <p:nvPr/>
        </p:nvCxnSpPr>
        <p:spPr>
          <a:xfrm>
            <a:off x="7483833" y="4128448"/>
            <a:ext cx="0" cy="1596972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接连接符 85"/>
          <p:cNvCxnSpPr/>
          <p:nvPr/>
        </p:nvCxnSpPr>
        <p:spPr>
          <a:xfrm>
            <a:off x="2217946" y="4128448"/>
            <a:ext cx="5249" cy="1581924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接连接符 88"/>
          <p:cNvCxnSpPr/>
          <p:nvPr/>
        </p:nvCxnSpPr>
        <p:spPr>
          <a:xfrm>
            <a:off x="2223195" y="5710372"/>
            <a:ext cx="5260638" cy="15048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TextBox 91"/>
          <p:cNvSpPr txBox="1"/>
          <p:nvPr/>
        </p:nvSpPr>
        <p:spPr>
          <a:xfrm>
            <a:off x="2217946" y="4128448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/>
              <a:t>综合</a:t>
            </a:r>
            <a:endParaRPr lang="en-US" sz="2400" b="1" dirty="0"/>
          </a:p>
        </p:txBody>
      </p:sp>
      <p:sp>
        <p:nvSpPr>
          <p:cNvPr id="93" name="TextBox 92"/>
          <p:cNvSpPr txBox="1"/>
          <p:nvPr/>
        </p:nvSpPr>
        <p:spPr>
          <a:xfrm>
            <a:off x="4901036" y="40606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字符序列</a:t>
            </a:r>
            <a:endParaRPr lang="en-US" dirty="0"/>
          </a:p>
        </p:txBody>
      </p:sp>
      <p:sp>
        <p:nvSpPr>
          <p:cNvPr id="97" name="TextBox 96"/>
          <p:cNvSpPr txBox="1"/>
          <p:nvPr/>
        </p:nvSpPr>
        <p:spPr>
          <a:xfrm>
            <a:off x="4901036" y="1702127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字符序列</a:t>
            </a:r>
            <a:endParaRPr lang="en-US" dirty="0"/>
          </a:p>
        </p:txBody>
      </p:sp>
      <p:cxnSp>
        <p:nvCxnSpPr>
          <p:cNvPr id="108" name="直接连接符 107"/>
          <p:cNvCxnSpPr/>
          <p:nvPr/>
        </p:nvCxnSpPr>
        <p:spPr>
          <a:xfrm>
            <a:off x="3027090" y="863995"/>
            <a:ext cx="3506266" cy="0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接连接符 109"/>
          <p:cNvCxnSpPr/>
          <p:nvPr/>
        </p:nvCxnSpPr>
        <p:spPr>
          <a:xfrm>
            <a:off x="6566098" y="863995"/>
            <a:ext cx="0" cy="1772917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接连接符 111"/>
          <p:cNvCxnSpPr/>
          <p:nvPr/>
        </p:nvCxnSpPr>
        <p:spPr>
          <a:xfrm flipH="1">
            <a:off x="3075588" y="2636912"/>
            <a:ext cx="3490510" cy="0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接连接符 113"/>
          <p:cNvCxnSpPr/>
          <p:nvPr/>
        </p:nvCxnSpPr>
        <p:spPr>
          <a:xfrm>
            <a:off x="3059832" y="863995"/>
            <a:ext cx="7878" cy="1772917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TextBox 131"/>
          <p:cNvSpPr txBox="1"/>
          <p:nvPr/>
        </p:nvSpPr>
        <p:spPr>
          <a:xfrm>
            <a:off x="4901036" y="82156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结构分析</a:t>
            </a:r>
            <a:endParaRPr lang="en-US" dirty="0"/>
          </a:p>
        </p:txBody>
      </p:sp>
      <p:sp>
        <p:nvSpPr>
          <p:cNvPr id="139" name="TextBox 138"/>
          <p:cNvSpPr txBox="1"/>
          <p:nvPr/>
        </p:nvSpPr>
        <p:spPr>
          <a:xfrm>
            <a:off x="5016452" y="2648851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语法树</a:t>
            </a:r>
            <a:endParaRPr lang="en-US" dirty="0"/>
          </a:p>
        </p:txBody>
      </p:sp>
      <p:sp>
        <p:nvSpPr>
          <p:cNvPr id="144" name="TextBox 143"/>
          <p:cNvSpPr txBox="1"/>
          <p:nvPr/>
        </p:nvSpPr>
        <p:spPr>
          <a:xfrm>
            <a:off x="4785620" y="3746332"/>
            <a:ext cx="17576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带语义的树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AST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4901035" y="477558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中间代码</a:t>
            </a:r>
            <a:endParaRPr 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邓伏虎</a:t>
            </a:r>
            <a:endParaRPr lang="zh-CN" altLang="en-US" dirty="0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dirty="0"/>
              <a:t>信息与软件工程学院</a:t>
            </a:r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755576" y="273628"/>
            <a:ext cx="6818824" cy="1067139"/>
          </a:xfrm>
        </p:spPr>
        <p:txBody>
          <a:bodyPr>
            <a:normAutofit/>
          </a:bodyPr>
          <a:lstStyle/>
          <a:p>
            <a:pPr eaLnBrk="1" hangingPunct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1.3 </a:t>
            </a:r>
            <a:r>
              <a:rPr lang="zh-CN" altLang="en-US" dirty="0"/>
              <a:t>编译器的结构</a:t>
            </a:r>
            <a:endParaRPr lang="en-US" altLang="zh-CN" dirty="0"/>
          </a:p>
        </p:txBody>
      </p:sp>
      <p:sp>
        <p:nvSpPr>
          <p:cNvPr id="5918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5" y="1642745"/>
            <a:ext cx="9143365" cy="4521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>
                <a:solidFill>
                  <a:srgbClr val="FF0000"/>
                </a:solidFill>
                <a:cs typeface="Times New Roman" panose="02020603050405020304" pitchFamily="18" charset="0"/>
              </a:rPr>
              <a:t>词法分析</a:t>
            </a:r>
          </a:p>
          <a:p>
            <a:pPr marL="0" indent="0">
              <a:buNone/>
            </a:pPr>
            <a:r>
              <a:rPr lang="zh-CN" altLang="en-US" sz="2400" dirty="0">
                <a:cs typeface="Times New Roman" panose="02020603050405020304" pitchFamily="18" charset="0"/>
              </a:rPr>
              <a:t>编译器将源程序当作一个字符串，对它进行从左到右的扫描，并分析，</a:t>
            </a:r>
            <a:r>
              <a:rPr lang="zh-CN" altLang="en-US" sz="2400" dirty="0">
                <a:solidFill>
                  <a:schemeClr val="accent2"/>
                </a:solidFill>
                <a:cs typeface="Times New Roman" panose="02020603050405020304" pitchFamily="18" charset="0"/>
              </a:rPr>
              <a:t>识别</a:t>
            </a:r>
            <a:r>
              <a:rPr lang="zh-CN" altLang="en-US" sz="2400" dirty="0">
                <a:cs typeface="Times New Roman" panose="02020603050405020304" pitchFamily="18" charset="0"/>
              </a:rPr>
              <a:t>出符合</a:t>
            </a:r>
            <a:r>
              <a:rPr lang="zh-CN" altLang="en-US" sz="2400" dirty="0">
                <a:solidFill>
                  <a:schemeClr val="accent2"/>
                </a:solidFill>
                <a:cs typeface="Times New Roman" panose="02020603050405020304" pitchFamily="18" charset="0"/>
              </a:rPr>
              <a:t>词法规则</a:t>
            </a:r>
            <a:r>
              <a:rPr lang="zh-CN" altLang="en-US" sz="2400" dirty="0">
                <a:cs typeface="Times New Roman" panose="02020603050405020304" pitchFamily="18" charset="0"/>
              </a:rPr>
              <a:t>的</a:t>
            </a:r>
            <a:r>
              <a:rPr lang="zh-CN" altLang="en-US" sz="2400" dirty="0">
                <a:solidFill>
                  <a:schemeClr val="accent2"/>
                </a:solidFill>
                <a:cs typeface="Times New Roman" panose="02020603050405020304" pitchFamily="18" charset="0"/>
              </a:rPr>
              <a:t>单词符号。</a:t>
            </a:r>
            <a:r>
              <a:rPr lang="zh-CN" altLang="en-US" sz="2400" dirty="0">
                <a:cs typeface="Times New Roman" panose="02020603050405020304" pitchFamily="18" charset="0"/>
              </a:rPr>
              <a:t>如</a:t>
            </a:r>
            <a:r>
              <a:rPr lang="zh-CN" altLang="en-US" sz="2400" dirty="0">
                <a:solidFill>
                  <a:schemeClr val="accent2"/>
                </a:solidFill>
                <a:cs typeface="Times New Roman" panose="02020603050405020304" pitchFamily="18" charset="0"/>
              </a:rPr>
              <a:t>基本字</a:t>
            </a:r>
            <a:r>
              <a:rPr lang="zh-CN" altLang="en-US" sz="2400" dirty="0">
                <a:cs typeface="Times New Roman" panose="02020603050405020304" pitchFamily="18" charset="0"/>
              </a:rPr>
              <a:t>、</a:t>
            </a:r>
            <a:r>
              <a:rPr lang="zh-CN" altLang="en-US" sz="2400" dirty="0">
                <a:solidFill>
                  <a:schemeClr val="accent2"/>
                </a:solidFill>
                <a:cs typeface="Times New Roman" panose="02020603050405020304" pitchFamily="18" charset="0"/>
              </a:rPr>
              <a:t>标识符</a:t>
            </a:r>
            <a:r>
              <a:rPr lang="zh-CN" altLang="en-US" sz="2400" dirty="0">
                <a:cs typeface="Times New Roman" panose="02020603050405020304" pitchFamily="18" charset="0"/>
              </a:rPr>
              <a:t>、</a:t>
            </a:r>
            <a:r>
              <a:rPr lang="zh-CN" altLang="en-US" sz="2400" dirty="0">
                <a:solidFill>
                  <a:schemeClr val="accent2"/>
                </a:solidFill>
                <a:cs typeface="Times New Roman" panose="02020603050405020304" pitchFamily="18" charset="0"/>
              </a:rPr>
              <a:t>常量</a:t>
            </a:r>
            <a:r>
              <a:rPr lang="zh-CN" altLang="en-US" sz="2400" dirty="0">
                <a:cs typeface="Times New Roman" panose="02020603050405020304" pitchFamily="18" charset="0"/>
              </a:rPr>
              <a:t>、</a:t>
            </a:r>
            <a:r>
              <a:rPr lang="zh-CN" altLang="en-US" sz="2400" dirty="0">
                <a:solidFill>
                  <a:schemeClr val="accent2"/>
                </a:solidFill>
                <a:cs typeface="Times New Roman" panose="02020603050405020304" pitchFamily="18" charset="0"/>
              </a:rPr>
              <a:t>运算符、界符</a:t>
            </a:r>
            <a:r>
              <a:rPr lang="zh-CN" altLang="en-US" sz="2400" dirty="0">
                <a:cs typeface="Times New Roman" panose="02020603050405020304" pitchFamily="18" charset="0"/>
              </a:rPr>
              <a:t>等。</a:t>
            </a:r>
            <a:endParaRPr lang="en-US" altLang="zh-CN" sz="2400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zh-CN" altLang="en-US" sz="2000" b="1" dirty="0"/>
          </a:p>
          <a:p>
            <a:pPr marL="0" indent="0">
              <a:buNone/>
            </a:pPr>
            <a:endParaRPr lang="zh-CN" altLang="en-US" sz="2000" b="1" dirty="0"/>
          </a:p>
          <a:p>
            <a:pPr marL="0" indent="0">
              <a:buNone/>
            </a:pPr>
            <a:endParaRPr lang="zh-CN" altLang="en-US" sz="2000" b="1" dirty="0"/>
          </a:p>
          <a:p>
            <a:pPr marL="0" indent="0">
              <a:buNone/>
            </a:pPr>
            <a:endParaRPr lang="zh-CN" altLang="en-US" sz="2000" b="1" dirty="0"/>
          </a:p>
          <a:p>
            <a:pPr marL="0" indent="0">
              <a:buNone/>
            </a:pPr>
            <a:r>
              <a:rPr lang="zh-CN" altLang="en-US" sz="2400" dirty="0">
                <a:cs typeface="Times New Roman" panose="02020603050405020304" pitchFamily="18" charset="0"/>
              </a:rPr>
              <a:t>描述工具：</a:t>
            </a:r>
            <a:r>
              <a:rPr lang="zh-CN" altLang="en-US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有限自动机、正规表达式、状态转换图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邓伏虎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dirty="0"/>
              <a:t>信息与软件工程学院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6" name="圆角矩形 5"/>
          <p:cNvSpPr/>
          <p:nvPr>
            <p:custDataLst>
              <p:tags r:id="rId4"/>
            </p:custDataLst>
          </p:nvPr>
        </p:nvSpPr>
        <p:spPr>
          <a:xfrm>
            <a:off x="785474" y="3645024"/>
            <a:ext cx="1308756" cy="457200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position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圆角矩形 13"/>
          <p:cNvSpPr/>
          <p:nvPr>
            <p:custDataLst>
              <p:tags r:id="rId5"/>
            </p:custDataLst>
          </p:nvPr>
        </p:nvSpPr>
        <p:spPr>
          <a:xfrm>
            <a:off x="2115809" y="3645024"/>
            <a:ext cx="728788" cy="457200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圆角矩形 14"/>
          <p:cNvSpPr/>
          <p:nvPr>
            <p:custDataLst>
              <p:tags r:id="rId6"/>
            </p:custDataLst>
          </p:nvPr>
        </p:nvSpPr>
        <p:spPr>
          <a:xfrm>
            <a:off x="3134581" y="3645024"/>
            <a:ext cx="1215428" cy="457200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initial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圆角矩形 15"/>
          <p:cNvSpPr/>
          <p:nvPr>
            <p:custDataLst>
              <p:tags r:id="rId7"/>
            </p:custDataLst>
          </p:nvPr>
        </p:nvSpPr>
        <p:spPr>
          <a:xfrm>
            <a:off x="4898504" y="3645024"/>
            <a:ext cx="1316687" cy="457200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rate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圆角矩形 16"/>
          <p:cNvSpPr/>
          <p:nvPr>
            <p:custDataLst>
              <p:tags r:id="rId8"/>
            </p:custDataLst>
          </p:nvPr>
        </p:nvSpPr>
        <p:spPr>
          <a:xfrm>
            <a:off x="4349870" y="3645024"/>
            <a:ext cx="728788" cy="457200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圆角矩形 17"/>
          <p:cNvSpPr/>
          <p:nvPr>
            <p:custDataLst>
              <p:tags r:id="rId9"/>
            </p:custDataLst>
          </p:nvPr>
        </p:nvSpPr>
        <p:spPr>
          <a:xfrm>
            <a:off x="6249374" y="3683467"/>
            <a:ext cx="728788" cy="457200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圆角矩形 18"/>
          <p:cNvSpPr/>
          <p:nvPr>
            <p:custDataLst>
              <p:tags r:id="rId10"/>
            </p:custDataLst>
          </p:nvPr>
        </p:nvSpPr>
        <p:spPr>
          <a:xfrm>
            <a:off x="6914862" y="3645024"/>
            <a:ext cx="1215428" cy="457200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60</a:t>
            </a:r>
          </a:p>
        </p:txBody>
      </p:sp>
      <p:sp>
        <p:nvSpPr>
          <p:cNvPr id="20" name="圆角矩形 19"/>
          <p:cNvSpPr/>
          <p:nvPr>
            <p:custDataLst>
              <p:tags r:id="rId11"/>
            </p:custDataLst>
          </p:nvPr>
        </p:nvSpPr>
        <p:spPr>
          <a:xfrm>
            <a:off x="785474" y="4389420"/>
            <a:ext cx="1308756" cy="457200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&lt;id, 1&gt;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圆角矩形 20"/>
          <p:cNvSpPr/>
          <p:nvPr>
            <p:custDataLst>
              <p:tags r:id="rId12"/>
            </p:custDataLst>
          </p:nvPr>
        </p:nvSpPr>
        <p:spPr>
          <a:xfrm>
            <a:off x="3087917" y="4382041"/>
            <a:ext cx="1308756" cy="457200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&lt;id, 2&gt;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圆角矩形 21"/>
          <p:cNvSpPr/>
          <p:nvPr>
            <p:custDataLst>
              <p:tags r:id="rId13"/>
            </p:custDataLst>
          </p:nvPr>
        </p:nvSpPr>
        <p:spPr>
          <a:xfrm>
            <a:off x="4902469" y="4368224"/>
            <a:ext cx="1308756" cy="457200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&lt;id, 3&gt;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圆角矩形 22"/>
          <p:cNvSpPr/>
          <p:nvPr>
            <p:custDataLst>
              <p:tags r:id="rId14"/>
            </p:custDataLst>
          </p:nvPr>
        </p:nvSpPr>
        <p:spPr>
          <a:xfrm>
            <a:off x="1825825" y="4382041"/>
            <a:ext cx="1308756" cy="457200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&lt;=&gt;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圆角矩形 23"/>
          <p:cNvSpPr/>
          <p:nvPr>
            <p:custDataLst>
              <p:tags r:id="rId15"/>
            </p:custDataLst>
          </p:nvPr>
        </p:nvSpPr>
        <p:spPr>
          <a:xfrm>
            <a:off x="4247515" y="4382135"/>
            <a:ext cx="934085" cy="457200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&lt;+&gt;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圆角矩形 24"/>
          <p:cNvSpPr/>
          <p:nvPr>
            <p:custDataLst>
              <p:tags r:id="rId16"/>
            </p:custDataLst>
          </p:nvPr>
        </p:nvSpPr>
        <p:spPr>
          <a:xfrm>
            <a:off x="5959390" y="4382041"/>
            <a:ext cx="1308756" cy="457200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400"/>
              </a:spcBef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 2" panose="05020102010507070707"/>
              </a:rPr>
              <a:t>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圆角矩形 25"/>
          <p:cNvSpPr/>
          <p:nvPr>
            <p:custDataLst>
              <p:tags r:id="rId17"/>
            </p:custDataLst>
          </p:nvPr>
        </p:nvSpPr>
        <p:spPr>
          <a:xfrm>
            <a:off x="6868198" y="4363234"/>
            <a:ext cx="1308756" cy="457200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&lt;60&gt;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" name="直接连接符 12"/>
          <p:cNvCxnSpPr>
            <a:stCxn id="6" idx="2"/>
            <a:endCxn id="20" idx="0"/>
          </p:cNvCxnSpPr>
          <p:nvPr>
            <p:custDataLst>
              <p:tags r:id="rId18"/>
            </p:custDataLst>
          </p:nvPr>
        </p:nvCxnSpPr>
        <p:spPr>
          <a:xfrm>
            <a:off x="1439852" y="4102224"/>
            <a:ext cx="0" cy="2871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>
            <a:stCxn id="15" idx="2"/>
            <a:endCxn id="21" idx="0"/>
          </p:cNvCxnSpPr>
          <p:nvPr>
            <p:custDataLst>
              <p:tags r:id="rId19"/>
            </p:custDataLst>
          </p:nvPr>
        </p:nvCxnSpPr>
        <p:spPr>
          <a:xfrm>
            <a:off x="3742295" y="4102224"/>
            <a:ext cx="0" cy="2798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>
            <a:stCxn id="16" idx="2"/>
            <a:endCxn id="22" idx="0"/>
          </p:cNvCxnSpPr>
          <p:nvPr>
            <p:custDataLst>
              <p:tags r:id="rId20"/>
            </p:custDataLst>
          </p:nvPr>
        </p:nvCxnSpPr>
        <p:spPr>
          <a:xfrm flipH="1">
            <a:off x="5556847" y="4102224"/>
            <a:ext cx="1" cy="26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>
            <a:stCxn id="19" idx="2"/>
            <a:endCxn id="26" idx="0"/>
          </p:cNvCxnSpPr>
          <p:nvPr>
            <p:custDataLst>
              <p:tags r:id="rId21"/>
            </p:custDataLst>
          </p:nvPr>
        </p:nvCxnSpPr>
        <p:spPr>
          <a:xfrm>
            <a:off x="7522576" y="4102224"/>
            <a:ext cx="0" cy="2610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>
            <a:stCxn id="18" idx="2"/>
            <a:endCxn id="25" idx="0"/>
          </p:cNvCxnSpPr>
          <p:nvPr>
            <p:custDataLst>
              <p:tags r:id="rId22"/>
            </p:custDataLst>
          </p:nvPr>
        </p:nvCxnSpPr>
        <p:spPr>
          <a:xfrm>
            <a:off x="6613768" y="4140667"/>
            <a:ext cx="0" cy="2413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>
            <a:stCxn id="14" idx="2"/>
            <a:endCxn id="23" idx="0"/>
          </p:cNvCxnSpPr>
          <p:nvPr>
            <p:custDataLst>
              <p:tags r:id="rId23"/>
            </p:custDataLst>
          </p:nvPr>
        </p:nvCxnSpPr>
        <p:spPr>
          <a:xfrm>
            <a:off x="2480203" y="4102224"/>
            <a:ext cx="0" cy="2798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>
            <a:stCxn id="17" idx="2"/>
            <a:endCxn id="24" idx="0"/>
          </p:cNvCxnSpPr>
          <p:nvPr>
            <p:custDataLst>
              <p:tags r:id="rId24"/>
            </p:custDataLst>
          </p:nvPr>
        </p:nvCxnSpPr>
        <p:spPr>
          <a:xfrm>
            <a:off x="4714264" y="4102224"/>
            <a:ext cx="635" cy="2800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8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  <p:bldP spid="14" grpId="0" bldLvl="0" animBg="1"/>
      <p:bldP spid="15" grpId="0" bldLvl="0" animBg="1"/>
      <p:bldP spid="16" grpId="0" bldLvl="0" animBg="1"/>
      <p:bldP spid="17" grpId="0" bldLvl="0" animBg="1"/>
      <p:bldP spid="18" grpId="0" bldLvl="0" animBg="1"/>
      <p:bldP spid="19" grpId="0" bldLvl="0" animBg="1"/>
      <p:bldP spid="20" grpId="0" bldLvl="0" animBg="1"/>
      <p:bldP spid="21" grpId="0" bldLvl="0" animBg="1"/>
      <p:bldP spid="22" grpId="0" bldLvl="0" animBg="1"/>
      <p:bldP spid="23" grpId="0" bldLvl="0" animBg="1"/>
      <p:bldP spid="24" grpId="0" bldLvl="0" animBg="1"/>
      <p:bldP spid="25" grpId="0" bldLvl="0" animBg="1"/>
      <p:bldP spid="26" grpId="0" bldLvl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755576" y="273628"/>
            <a:ext cx="6818824" cy="1067139"/>
          </a:xfrm>
        </p:spPr>
        <p:txBody>
          <a:bodyPr>
            <a:normAutofit/>
          </a:bodyPr>
          <a:lstStyle/>
          <a:p>
            <a:pPr eaLnBrk="1" hangingPunct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1.3</a:t>
            </a:r>
            <a:r>
              <a:rPr lang="en-US" dirty="0"/>
              <a:t> </a:t>
            </a:r>
            <a:r>
              <a:rPr lang="zh-CN" altLang="en-US" dirty="0"/>
              <a:t>编译器的结构</a:t>
            </a:r>
          </a:p>
        </p:txBody>
      </p:sp>
      <p:sp>
        <p:nvSpPr>
          <p:cNvPr id="5928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80" y="1633855"/>
            <a:ext cx="9129395" cy="137350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>
                <a:solidFill>
                  <a:srgbClr val="FF0000"/>
                </a:solidFill>
              </a:rPr>
              <a:t>语法分析</a:t>
            </a:r>
          </a:p>
          <a:p>
            <a:pPr marL="0" indent="0">
              <a:buNone/>
            </a:pPr>
            <a:r>
              <a:rPr lang="zh-CN" altLang="en-US" sz="2400" dirty="0"/>
              <a:t>根据</a:t>
            </a:r>
            <a:r>
              <a:rPr lang="zh-CN" altLang="en-US" sz="2400" dirty="0">
                <a:solidFill>
                  <a:schemeClr val="accent2"/>
                </a:solidFill>
              </a:rPr>
              <a:t>语法规则</a:t>
            </a:r>
            <a:r>
              <a:rPr lang="zh-CN" altLang="en-US" sz="2400" dirty="0"/>
              <a:t>，将单词符号构成各类语法单位，进行</a:t>
            </a:r>
            <a:r>
              <a:rPr lang="zh-CN" altLang="en-US" sz="2400" dirty="0">
                <a:solidFill>
                  <a:schemeClr val="accent2"/>
                </a:solidFill>
              </a:rPr>
              <a:t>语法检查</a:t>
            </a:r>
            <a:r>
              <a:rPr lang="zh-CN" altLang="en-US" sz="2400" dirty="0"/>
              <a:t>，生成语法树。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邓伏虎</a:t>
            </a:r>
            <a:endParaRPr lang="zh-CN" altLang="en-US" dirty="0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dirty="0"/>
              <a:t>信息与软件工程学院</a:t>
            </a: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44" name="圆角矩形 43"/>
          <p:cNvSpPr/>
          <p:nvPr>
            <p:custDataLst>
              <p:tags r:id="rId4"/>
            </p:custDataLst>
          </p:nvPr>
        </p:nvSpPr>
        <p:spPr>
          <a:xfrm>
            <a:off x="1299401" y="3364371"/>
            <a:ext cx="1308756" cy="457200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&lt;id, 1&gt;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圆角矩形 44"/>
          <p:cNvSpPr/>
          <p:nvPr>
            <p:custDataLst>
              <p:tags r:id="rId5"/>
            </p:custDataLst>
          </p:nvPr>
        </p:nvSpPr>
        <p:spPr>
          <a:xfrm>
            <a:off x="3601844" y="3356992"/>
            <a:ext cx="1308756" cy="457200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&lt;id, 2&gt;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圆角矩形 45"/>
          <p:cNvSpPr/>
          <p:nvPr>
            <p:custDataLst>
              <p:tags r:id="rId6"/>
            </p:custDataLst>
          </p:nvPr>
        </p:nvSpPr>
        <p:spPr>
          <a:xfrm>
            <a:off x="5416396" y="3343175"/>
            <a:ext cx="1308756" cy="457200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&lt;id, 3&gt;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圆角矩形 49"/>
          <p:cNvSpPr/>
          <p:nvPr>
            <p:custDataLst>
              <p:tags r:id="rId7"/>
            </p:custDataLst>
          </p:nvPr>
        </p:nvSpPr>
        <p:spPr>
          <a:xfrm>
            <a:off x="2339752" y="3356992"/>
            <a:ext cx="1308756" cy="457200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&lt;=&gt;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圆角矩形 50"/>
          <p:cNvSpPr/>
          <p:nvPr>
            <p:custDataLst>
              <p:tags r:id="rId8"/>
            </p:custDataLst>
          </p:nvPr>
        </p:nvSpPr>
        <p:spPr>
          <a:xfrm>
            <a:off x="4734560" y="3357245"/>
            <a:ext cx="938530" cy="457200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&lt;+&gt;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圆角矩形 51"/>
          <p:cNvSpPr/>
          <p:nvPr>
            <p:custDataLst>
              <p:tags r:id="rId9"/>
            </p:custDataLst>
          </p:nvPr>
        </p:nvSpPr>
        <p:spPr>
          <a:xfrm>
            <a:off x="6473317" y="3356992"/>
            <a:ext cx="1308756" cy="457200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400"/>
              </a:spcBef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 2" panose="05020102010507070707"/>
              </a:rPr>
              <a:t>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圆角矩形 52"/>
          <p:cNvSpPr/>
          <p:nvPr>
            <p:custDataLst>
              <p:tags r:id="rId10"/>
            </p:custDataLst>
          </p:nvPr>
        </p:nvSpPr>
        <p:spPr>
          <a:xfrm>
            <a:off x="7382125" y="3338185"/>
            <a:ext cx="1308756" cy="457200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&lt;60&gt;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1" name="直接连接符 20"/>
          <p:cNvCxnSpPr/>
          <p:nvPr>
            <p:custDataLst>
              <p:tags r:id="rId11"/>
            </p:custDataLst>
          </p:nvPr>
        </p:nvCxnSpPr>
        <p:spPr>
          <a:xfrm flipH="1">
            <a:off x="2123728" y="3795385"/>
            <a:ext cx="654378" cy="4789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>
            <p:custDataLst>
              <p:tags r:id="rId12"/>
            </p:custDataLst>
          </p:nvPr>
        </p:nvCxnSpPr>
        <p:spPr>
          <a:xfrm flipH="1">
            <a:off x="3601844" y="4653136"/>
            <a:ext cx="654378" cy="4320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>
            <p:custDataLst>
              <p:tags r:id="rId13"/>
            </p:custDataLst>
          </p:nvPr>
        </p:nvCxnSpPr>
        <p:spPr>
          <a:xfrm>
            <a:off x="3601844" y="3821571"/>
            <a:ext cx="654378" cy="45271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>
            <p:custDataLst>
              <p:tags r:id="rId14"/>
            </p:custDataLst>
          </p:nvPr>
        </p:nvCxnSpPr>
        <p:spPr>
          <a:xfrm>
            <a:off x="4910600" y="4653136"/>
            <a:ext cx="813528" cy="5760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55"/>
          <p:cNvCxnSpPr/>
          <p:nvPr>
            <p:custDataLst>
              <p:tags r:id="rId15"/>
            </p:custDataLst>
          </p:nvPr>
        </p:nvCxnSpPr>
        <p:spPr>
          <a:xfrm flipH="1">
            <a:off x="4860032" y="5445224"/>
            <a:ext cx="813528" cy="50405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连接符 61"/>
          <p:cNvCxnSpPr/>
          <p:nvPr>
            <p:custDataLst>
              <p:tags r:id="rId16"/>
            </p:custDataLst>
          </p:nvPr>
        </p:nvCxnSpPr>
        <p:spPr>
          <a:xfrm>
            <a:off x="6156176" y="5445224"/>
            <a:ext cx="899511" cy="50405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92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8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928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4" presetClass="emph" presetSubtype="0" fill="hold" grpId="2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32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33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34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35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36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Motion origin="layout" path="M -3.88889E-6 3.33333E-6 L -0.12986 0.26064 " pathEditMode="relative" rAng="0" ptsTypes="AA">
                                      <p:cBhvr>
                                        <p:cTn id="40" dur="2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493" y="1303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111E-6 -3.33333E-6 L -0.1875 0.38866 " pathEditMode="relative" rAng="0" ptsTypes="AA">
                                      <p:cBhvr>
                                        <p:cTn id="50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375" y="1942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1.11111E-6 L -0.09531 0.37893 " pathEditMode="relative" rAng="0" ptsTypes="AA">
                                      <p:cBhvr>
                                        <p:cTn id="54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774" y="1893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4" presetClass="emph" presetSubtype="0" fill="hold" grpId="2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58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59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60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61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62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Motion origin="layout" path="M -3.33333E-6 -4.81481E-6 L -0.07864 0.13635 " pathEditMode="relative" rAng="0" ptsTypes="AA">
                                      <p:cBhvr>
                                        <p:cTn id="66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41" y="680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3.33333E-6 L -0.14653 0.25 " pathEditMode="relative" rAng="0" ptsTypes="AA">
                                      <p:cBhvr>
                                        <p:cTn id="76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326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34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80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81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2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3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84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Motion origin="layout" path="M 0.00712 -0.03334 L 0.02222 0.02662 " pathEditMode="relative" rAng="0" ptsTypes="AA">
                                      <p:cBhvr>
                                        <p:cTn id="88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47" y="298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77 0.00764 L 0.00277 0.14392 " pathEditMode="relative" rAng="0" ptsTypes="AA">
                                      <p:cBhvr>
                                        <p:cTn id="98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80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bldLvl="0" animBg="1"/>
      <p:bldP spid="44" grpId="1" bldLvl="0" animBg="1"/>
      <p:bldP spid="45" grpId="0" bldLvl="0" animBg="1"/>
      <p:bldP spid="45" grpId="1" bldLvl="0" animBg="1"/>
      <p:bldP spid="46" grpId="0" bldLvl="0" animBg="1"/>
      <p:bldP spid="46" grpId="1" bldLvl="0" animBg="1"/>
      <p:bldP spid="50" grpId="0" bldLvl="0" animBg="1"/>
      <p:bldP spid="50" grpId="1" animBg="1"/>
      <p:bldP spid="50" grpId="2" bldLvl="0" animBg="1"/>
      <p:bldP spid="51" grpId="0" bldLvl="0" animBg="1"/>
      <p:bldP spid="51" grpId="1" bldLvl="0" animBg="1"/>
      <p:bldP spid="51" grpId="2" animBg="1"/>
      <p:bldP spid="52" grpId="0" bldLvl="0" animBg="1"/>
      <p:bldP spid="52" grpId="1" bldLvl="0" animBg="1"/>
      <p:bldP spid="52" grpId="2" animBg="1"/>
      <p:bldP spid="53" grpId="0" bldLvl="0" animBg="1"/>
      <p:bldP spid="53" grpId="1" bldLvl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755576" y="273628"/>
            <a:ext cx="6818824" cy="1067139"/>
          </a:xfrm>
        </p:spPr>
        <p:txBody>
          <a:bodyPr>
            <a:normAutofit/>
          </a:bodyPr>
          <a:lstStyle/>
          <a:p>
            <a:pPr eaLnBrk="1" hangingPunct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1.3</a:t>
            </a:r>
            <a:r>
              <a:rPr lang="en-US" dirty="0"/>
              <a:t> </a:t>
            </a:r>
            <a:r>
              <a:rPr lang="zh-CN" altLang="en-US" dirty="0"/>
              <a:t>编译器的结构</a:t>
            </a:r>
          </a:p>
        </p:txBody>
      </p:sp>
      <p:sp>
        <p:nvSpPr>
          <p:cNvPr id="5928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80" y="1633855"/>
            <a:ext cx="9129395" cy="137350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>
                <a:solidFill>
                  <a:srgbClr val="FF0000"/>
                </a:solidFill>
              </a:rPr>
              <a:t>语法分析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邓伏虎</a:t>
            </a:r>
            <a:endParaRPr lang="zh-CN" altLang="en-US" dirty="0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dirty="0"/>
              <a:t>信息与软件工程学院</a:t>
            </a: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22530" name="TextBox 4"/>
          <p:cNvSpPr txBox="1"/>
          <p:nvPr/>
        </p:nvSpPr>
        <p:spPr>
          <a:xfrm>
            <a:off x="6444615" y="1628458"/>
            <a:ext cx="2435225" cy="132207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indent="0" hangingPunct="0"/>
            <a:r>
              <a:rPr lang="es-ES" altLang="en-US" sz="2000" b="1" dirty="0">
                <a:latin typeface="Times New Roman" panose="02020603050405020304" pitchFamily="18" charset="0"/>
                <a:ea typeface="新宋体" panose="02010609030101010101" charset="-122"/>
                <a:cs typeface="Times New Roman" panose="02020603050405020304" pitchFamily="18" charset="0"/>
              </a:rPr>
              <a:t>while</a:t>
            </a:r>
            <a:r>
              <a:rPr lang="es-ES" altLang="en-US" sz="2000" dirty="0">
                <a:latin typeface="Times New Roman" panose="02020603050405020304" pitchFamily="18" charset="0"/>
                <a:ea typeface="新宋体" panose="02010609030101010101" charset="-122"/>
                <a:cs typeface="Times New Roman" panose="02020603050405020304" pitchFamily="18" charset="0"/>
              </a:rPr>
              <a:t> (y &lt; z) {</a:t>
            </a:r>
          </a:p>
          <a:p>
            <a:pPr indent="0" hangingPunct="0"/>
            <a:r>
              <a:rPr lang="es-ES" altLang="en-US" sz="2000" dirty="0">
                <a:latin typeface="Times New Roman" panose="02020603050405020304" pitchFamily="18" charset="0"/>
                <a:ea typeface="新宋体" panose="02010609030101010101" charset="-122"/>
                <a:cs typeface="Times New Roman" panose="02020603050405020304" pitchFamily="18" charset="0"/>
              </a:rPr>
              <a:t>	</a:t>
            </a:r>
            <a:r>
              <a:rPr lang="es-ES" altLang="en-US" sz="2000" b="1" dirty="0">
                <a:latin typeface="Times New Roman" panose="02020603050405020304" pitchFamily="18" charset="0"/>
                <a:ea typeface="新宋体" panose="02010609030101010101" charset="-122"/>
                <a:cs typeface="Times New Roman" panose="02020603050405020304" pitchFamily="18" charset="0"/>
              </a:rPr>
              <a:t>int</a:t>
            </a:r>
            <a:r>
              <a:rPr lang="es-ES" altLang="en-US" sz="2000" dirty="0">
                <a:latin typeface="Times New Roman" panose="02020603050405020304" pitchFamily="18" charset="0"/>
                <a:ea typeface="新宋体" panose="02010609030101010101" charset="-122"/>
                <a:cs typeface="Times New Roman" panose="02020603050405020304" pitchFamily="18" charset="0"/>
              </a:rPr>
              <a:t> x = a + b;</a:t>
            </a:r>
          </a:p>
          <a:p>
            <a:pPr indent="0" hangingPunct="0"/>
            <a:r>
              <a:rPr lang="es-ES" altLang="en-US" sz="2000" dirty="0">
                <a:latin typeface="Times New Roman" panose="02020603050405020304" pitchFamily="18" charset="0"/>
                <a:ea typeface="新宋体" panose="02010609030101010101" charset="-122"/>
                <a:cs typeface="Times New Roman" panose="02020603050405020304" pitchFamily="18" charset="0"/>
              </a:rPr>
              <a:t>	y += x;</a:t>
            </a:r>
          </a:p>
          <a:p>
            <a:pPr indent="0" hangingPunct="0"/>
            <a:r>
              <a:rPr lang="es-ES" altLang="en-US" sz="2000" dirty="0">
                <a:latin typeface="Times New Roman" panose="02020603050405020304" pitchFamily="18" charset="0"/>
                <a:ea typeface="新宋体" panose="02010609030101010101" charset="-122"/>
                <a:cs typeface="Times New Roman" panose="02020603050405020304" pitchFamily="18" charset="0"/>
              </a:rPr>
              <a:t>}</a:t>
            </a:r>
          </a:p>
        </p:txBody>
      </p:sp>
      <p:grpSp>
        <p:nvGrpSpPr>
          <p:cNvPr id="19460" name="组合 19459"/>
          <p:cNvGrpSpPr/>
          <p:nvPr/>
        </p:nvGrpSpPr>
        <p:grpSpPr>
          <a:xfrm>
            <a:off x="1091843" y="1769745"/>
            <a:ext cx="3138191" cy="2064568"/>
            <a:chOff x="-35502" y="-83698"/>
            <a:chExt cx="3275639" cy="2543243"/>
          </a:xfrm>
        </p:grpSpPr>
        <p:sp>
          <p:nvSpPr>
            <p:cNvPr id="22532" name="Rounded Rectangle 15"/>
            <p:cNvSpPr/>
            <p:nvPr>
              <p:custDataLst>
                <p:tags r:id="rId22"/>
              </p:custDataLst>
            </p:nvPr>
          </p:nvSpPr>
          <p:spPr>
            <a:xfrm>
              <a:off x="1349775" y="-83698"/>
              <a:ext cx="1260006" cy="533478"/>
            </a:xfrm>
            <a:prstGeom prst="roundRect">
              <a:avLst>
                <a:gd name="adj" fmla="val 16667"/>
              </a:avLst>
            </a:prstGeom>
            <a:solidFill>
              <a:srgbClr val="FFFF99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ctr" anchorCtr="0"/>
            <a:lstStyle/>
            <a:p>
              <a:pPr indent="0" algn="ctr" hangingPunct="0"/>
              <a:r>
                <a:rPr lang="en-US" altLang="zh-CN" sz="28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while</a:t>
              </a:r>
            </a:p>
          </p:txBody>
        </p:sp>
        <p:cxnSp>
          <p:nvCxnSpPr>
            <p:cNvPr id="22533" name="Straight Arrow Connector 31"/>
            <p:cNvCxnSpPr>
              <a:stCxn id="22532" idx="2"/>
              <a:endCxn id="22536" idx="0"/>
            </p:cNvCxnSpPr>
            <p:nvPr>
              <p:custDataLst>
                <p:tags r:id="rId23"/>
              </p:custDataLst>
            </p:nvPr>
          </p:nvCxnSpPr>
          <p:spPr>
            <a:xfrm flipH="1">
              <a:off x="-35502" y="450006"/>
              <a:ext cx="2015611" cy="2009539"/>
            </a:xfrm>
            <a:prstGeom prst="straightConnector1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cxnSp>
          <p:nvCxnSpPr>
            <p:cNvPr id="22534" name="Straight Arrow Connector 33"/>
            <p:cNvCxnSpPr>
              <a:stCxn id="22532" idx="2"/>
              <a:endCxn id="22553" idx="0"/>
            </p:cNvCxnSpPr>
            <p:nvPr>
              <p:custDataLst>
                <p:tags r:id="rId24"/>
              </p:custDataLst>
            </p:nvPr>
          </p:nvCxnSpPr>
          <p:spPr>
            <a:xfrm>
              <a:off x="1980131" y="450030"/>
              <a:ext cx="1260006" cy="532696"/>
            </a:xfrm>
            <a:prstGeom prst="straightConnector1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</p:cxnSp>
      </p:grpSp>
      <p:sp>
        <p:nvSpPr>
          <p:cNvPr id="22536" name="Rounded Rectangle 16"/>
          <p:cNvSpPr/>
          <p:nvPr/>
        </p:nvSpPr>
        <p:spPr>
          <a:xfrm>
            <a:off x="832485" y="3834130"/>
            <a:ext cx="518160" cy="365760"/>
          </a:xfrm>
          <a:prstGeom prst="roundRect">
            <a:avLst>
              <a:gd name="adj" fmla="val 16667"/>
            </a:avLst>
          </a:prstGeom>
          <a:solidFill>
            <a:srgbClr val="FFFF99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anchorCtr="0"/>
          <a:lstStyle/>
          <a:p>
            <a:pPr indent="0" algn="ctr" hangingPunct="0"/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</a:p>
        </p:txBody>
      </p:sp>
      <p:sp>
        <p:nvSpPr>
          <p:cNvPr id="22537" name="Rounded Rectangle 17"/>
          <p:cNvSpPr/>
          <p:nvPr/>
        </p:nvSpPr>
        <p:spPr>
          <a:xfrm>
            <a:off x="467360" y="4674870"/>
            <a:ext cx="505460" cy="365760"/>
          </a:xfrm>
          <a:prstGeom prst="roundRect">
            <a:avLst>
              <a:gd name="adj" fmla="val 16667"/>
            </a:avLst>
          </a:prstGeom>
          <a:solidFill>
            <a:srgbClr val="FFFF99"/>
          </a:solidFill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anchorCtr="0"/>
          <a:lstStyle/>
          <a:p>
            <a:pPr indent="0" algn="ctr" hangingPunct="0"/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</a:p>
        </p:txBody>
      </p:sp>
      <p:sp>
        <p:nvSpPr>
          <p:cNvPr id="22538" name="Rounded Rectangle 18"/>
          <p:cNvSpPr/>
          <p:nvPr/>
        </p:nvSpPr>
        <p:spPr>
          <a:xfrm>
            <a:off x="1136015" y="4674870"/>
            <a:ext cx="602615" cy="365760"/>
          </a:xfrm>
          <a:prstGeom prst="roundRect">
            <a:avLst>
              <a:gd name="adj" fmla="val 16667"/>
            </a:avLst>
          </a:prstGeom>
          <a:solidFill>
            <a:srgbClr val="FFFF99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anchorCtr="0"/>
          <a:lstStyle/>
          <a:p>
            <a:pPr indent="0" algn="ctr" hangingPunct="0"/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</a:t>
            </a:r>
          </a:p>
        </p:txBody>
      </p:sp>
      <p:cxnSp>
        <p:nvCxnSpPr>
          <p:cNvPr id="22539" name="Straight Arrow Connector 39"/>
          <p:cNvCxnSpPr>
            <a:stCxn id="22536" idx="2"/>
            <a:endCxn id="22537" idx="0"/>
          </p:cNvCxnSpPr>
          <p:nvPr/>
        </p:nvCxnSpPr>
        <p:spPr>
          <a:xfrm flipH="1">
            <a:off x="720090" y="4199890"/>
            <a:ext cx="371475" cy="474980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22540" name="Straight Arrow Connector 41"/>
          <p:cNvCxnSpPr>
            <a:stCxn id="22536" idx="2"/>
            <a:endCxn id="22538" idx="0"/>
          </p:cNvCxnSpPr>
          <p:nvPr/>
        </p:nvCxnSpPr>
        <p:spPr>
          <a:xfrm>
            <a:off x="1091565" y="4199890"/>
            <a:ext cx="346075" cy="474980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grpSp>
        <p:nvGrpSpPr>
          <p:cNvPr id="19470" name="组合 19469"/>
          <p:cNvGrpSpPr/>
          <p:nvPr/>
        </p:nvGrpSpPr>
        <p:grpSpPr>
          <a:xfrm>
            <a:off x="2458085" y="3855720"/>
            <a:ext cx="1261088" cy="1206500"/>
            <a:chOff x="-105889" y="0"/>
            <a:chExt cx="1314330" cy="1485099"/>
          </a:xfrm>
        </p:grpSpPr>
        <p:sp>
          <p:nvSpPr>
            <p:cNvPr id="22542" name="Rounded Rectangle 19"/>
            <p:cNvSpPr/>
            <p:nvPr>
              <p:custDataLst>
                <p:tags r:id="rId18"/>
              </p:custDataLst>
            </p:nvPr>
          </p:nvSpPr>
          <p:spPr>
            <a:xfrm>
              <a:off x="360023" y="0"/>
              <a:ext cx="540036" cy="450030"/>
            </a:xfrm>
            <a:prstGeom prst="roundRect">
              <a:avLst>
                <a:gd name="adj" fmla="val 16667"/>
              </a:avLst>
            </a:prstGeom>
            <a:solidFill>
              <a:srgbClr val="FFFF99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ctr" anchorCtr="0"/>
            <a:lstStyle/>
            <a:p>
              <a:pPr indent="0" algn="ctr" hangingPunct="0"/>
              <a:r>
                <a:rPr lang="en-US" altLang="zh-CN" sz="28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</a:p>
          </p:txBody>
        </p:sp>
        <p:sp>
          <p:nvSpPr>
            <p:cNvPr id="22543" name="Rounded Rectangle 20"/>
            <p:cNvSpPr/>
            <p:nvPr>
              <p:custDataLst>
                <p:tags r:id="rId19"/>
              </p:custDataLst>
            </p:nvPr>
          </p:nvSpPr>
          <p:spPr>
            <a:xfrm>
              <a:off x="-105889" y="1035069"/>
              <a:ext cx="585039" cy="450030"/>
            </a:xfrm>
            <a:prstGeom prst="roundRect">
              <a:avLst>
                <a:gd name="adj" fmla="val 16667"/>
              </a:avLst>
            </a:prstGeom>
            <a:solidFill>
              <a:srgbClr val="FFFF99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ctr" anchorCtr="0"/>
            <a:lstStyle/>
            <a:p>
              <a:pPr indent="0" algn="ctr" hangingPunct="0"/>
              <a:r>
                <a:rPr lang="en-US" altLang="zh-CN" sz="28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</a:p>
          </p:txBody>
        </p:sp>
        <p:cxnSp>
          <p:nvCxnSpPr>
            <p:cNvPr id="22544" name="Straight Arrow Connector 43"/>
            <p:cNvCxnSpPr>
              <a:stCxn id="22542" idx="2"/>
              <a:endCxn id="22543" idx="0"/>
            </p:cNvCxnSpPr>
            <p:nvPr>
              <p:custDataLst>
                <p:tags r:id="rId20"/>
              </p:custDataLst>
            </p:nvPr>
          </p:nvCxnSpPr>
          <p:spPr>
            <a:xfrm flipH="1">
              <a:off x="186608" y="450008"/>
              <a:ext cx="443412" cy="584660"/>
            </a:xfrm>
            <a:prstGeom prst="straightConnector1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cxnSp>
          <p:nvCxnSpPr>
            <p:cNvPr id="22545" name="Straight Arrow Connector 45"/>
            <p:cNvCxnSpPr>
              <a:stCxn id="22542" idx="2"/>
              <a:endCxn id="22547" idx="0"/>
            </p:cNvCxnSpPr>
            <p:nvPr>
              <p:custDataLst>
                <p:tags r:id="rId21"/>
              </p:custDataLst>
            </p:nvPr>
          </p:nvCxnSpPr>
          <p:spPr>
            <a:xfrm>
              <a:off x="630020" y="450007"/>
              <a:ext cx="578421" cy="584660"/>
            </a:xfrm>
            <a:prstGeom prst="straightConnector1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</p:cxnSp>
      </p:grpSp>
      <p:grpSp>
        <p:nvGrpSpPr>
          <p:cNvPr id="19475" name="组合 19474"/>
          <p:cNvGrpSpPr/>
          <p:nvPr/>
        </p:nvGrpSpPr>
        <p:grpSpPr>
          <a:xfrm>
            <a:off x="3032125" y="4674870"/>
            <a:ext cx="1293495" cy="1498600"/>
            <a:chOff x="0" y="0"/>
            <a:chExt cx="1350090" cy="1845123"/>
          </a:xfrm>
        </p:grpSpPr>
        <p:sp>
          <p:nvSpPr>
            <p:cNvPr id="22547" name="Rounded Rectangle 21"/>
            <p:cNvSpPr/>
            <p:nvPr>
              <p:custDataLst>
                <p:tags r:id="rId13"/>
              </p:custDataLst>
            </p:nvPr>
          </p:nvSpPr>
          <p:spPr>
            <a:xfrm>
              <a:off x="405027" y="0"/>
              <a:ext cx="540036" cy="450030"/>
            </a:xfrm>
            <a:prstGeom prst="roundRect">
              <a:avLst>
                <a:gd name="adj" fmla="val 16667"/>
              </a:avLst>
            </a:prstGeom>
            <a:solidFill>
              <a:srgbClr val="FFFF99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ctr" anchorCtr="0"/>
            <a:lstStyle/>
            <a:p>
              <a:pPr indent="0" algn="ctr" hangingPunct="0"/>
              <a:r>
                <a:rPr lang="en-US" altLang="zh-CN" sz="28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22548" name="Rounded Rectangle 26"/>
            <p:cNvSpPr/>
            <p:nvPr>
              <p:custDataLst>
                <p:tags r:id="rId14"/>
              </p:custDataLst>
            </p:nvPr>
          </p:nvSpPr>
          <p:spPr>
            <a:xfrm>
              <a:off x="0" y="1395093"/>
              <a:ext cx="585039" cy="450030"/>
            </a:xfrm>
            <a:prstGeom prst="roundRect">
              <a:avLst>
                <a:gd name="adj" fmla="val 16667"/>
              </a:avLst>
            </a:prstGeom>
            <a:solidFill>
              <a:srgbClr val="FFFF99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ctr" anchorCtr="0"/>
            <a:lstStyle/>
            <a:p>
              <a:pPr indent="0" algn="ctr" hangingPunct="0"/>
              <a:r>
                <a:rPr lang="en-US" altLang="zh-CN" sz="28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22549" name="Rounded Rectangle 27"/>
            <p:cNvSpPr/>
            <p:nvPr>
              <p:custDataLst>
                <p:tags r:id="rId15"/>
              </p:custDataLst>
            </p:nvPr>
          </p:nvSpPr>
          <p:spPr>
            <a:xfrm>
              <a:off x="810054" y="1395093"/>
              <a:ext cx="540036" cy="450030"/>
            </a:xfrm>
            <a:prstGeom prst="roundRect">
              <a:avLst>
                <a:gd name="adj" fmla="val 16667"/>
              </a:avLst>
            </a:prstGeom>
            <a:solidFill>
              <a:srgbClr val="FFFF99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ctr" anchorCtr="0"/>
            <a:lstStyle/>
            <a:p>
              <a:pPr indent="0" algn="ctr" hangingPunct="0"/>
              <a:r>
                <a:rPr lang="en-US" altLang="zh-CN" sz="28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</a:p>
          </p:txBody>
        </p:sp>
        <p:cxnSp>
          <p:nvCxnSpPr>
            <p:cNvPr id="22550" name="Straight Arrow Connector 47"/>
            <p:cNvCxnSpPr>
              <a:stCxn id="22547" idx="2"/>
              <a:endCxn id="22548" idx="0"/>
            </p:cNvCxnSpPr>
            <p:nvPr>
              <p:custDataLst>
                <p:tags r:id="rId16"/>
              </p:custDataLst>
            </p:nvPr>
          </p:nvCxnSpPr>
          <p:spPr>
            <a:xfrm rot="5400000">
              <a:off x="11230" y="731277"/>
              <a:ext cx="945063" cy="382525"/>
            </a:xfrm>
            <a:prstGeom prst="straightConnector1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cxnSp>
          <p:nvCxnSpPr>
            <p:cNvPr id="22551" name="Straight Arrow Connector 49"/>
            <p:cNvCxnSpPr>
              <a:stCxn id="22547" idx="2"/>
              <a:endCxn id="22549" idx="0"/>
            </p:cNvCxnSpPr>
            <p:nvPr>
              <p:custDataLst>
                <p:tags r:id="rId17"/>
              </p:custDataLst>
            </p:nvPr>
          </p:nvCxnSpPr>
          <p:spPr>
            <a:xfrm rot="-5400000" flipH="1">
              <a:off x="405005" y="720025"/>
              <a:ext cx="945063" cy="405027"/>
            </a:xfrm>
            <a:prstGeom prst="straightConnector1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</p:cxnSp>
      </p:grpSp>
      <p:grpSp>
        <p:nvGrpSpPr>
          <p:cNvPr id="19481" name="组合 19480"/>
          <p:cNvGrpSpPr/>
          <p:nvPr/>
        </p:nvGrpSpPr>
        <p:grpSpPr>
          <a:xfrm>
            <a:off x="3164384" y="2635488"/>
            <a:ext cx="2316651" cy="1220298"/>
            <a:chOff x="26" y="-145"/>
            <a:chExt cx="3805" cy="2254"/>
          </a:xfrm>
        </p:grpSpPr>
        <p:sp>
          <p:nvSpPr>
            <p:cNvPr id="22553" name="Rounded Rectangle 25"/>
            <p:cNvSpPr/>
            <p:nvPr>
              <p:custDataLst>
                <p:tags r:id="rId10"/>
              </p:custDataLst>
            </p:nvPr>
          </p:nvSpPr>
          <p:spPr>
            <a:xfrm>
              <a:off x="286" y="-145"/>
              <a:ext cx="2978" cy="853"/>
            </a:xfrm>
            <a:prstGeom prst="roundRect">
              <a:avLst>
                <a:gd name="adj" fmla="val 16667"/>
              </a:avLst>
            </a:prstGeom>
            <a:solidFill>
              <a:srgbClr val="FFFF99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ctr" anchorCtr="0"/>
            <a:lstStyle/>
            <a:p>
              <a:pPr indent="0" algn="ctr" hangingPunct="0"/>
              <a:r>
                <a:rPr lang="en-US" altLang="zh-CN" sz="28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Sequence</a:t>
              </a:r>
            </a:p>
          </p:txBody>
        </p:sp>
        <p:cxnSp>
          <p:nvCxnSpPr>
            <p:cNvPr id="22554" name="Straight Arrow Connector 35"/>
            <p:cNvCxnSpPr>
              <a:stCxn id="22553" idx="2"/>
              <a:endCxn id="22542" idx="0"/>
            </p:cNvCxnSpPr>
            <p:nvPr>
              <p:custDataLst>
                <p:tags r:id="rId11"/>
              </p:custDataLst>
            </p:nvPr>
          </p:nvCxnSpPr>
          <p:spPr>
            <a:xfrm flipH="1">
              <a:off x="26" y="707"/>
              <a:ext cx="1750" cy="1402"/>
            </a:xfrm>
            <a:prstGeom prst="straightConnector1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cxnSp>
          <p:nvCxnSpPr>
            <p:cNvPr id="22555" name="Straight Arrow Connector 37"/>
            <p:cNvCxnSpPr>
              <a:stCxn id="22553" idx="2"/>
              <a:endCxn id="22558" idx="0"/>
            </p:cNvCxnSpPr>
            <p:nvPr>
              <p:custDataLst>
                <p:tags r:id="rId12"/>
              </p:custDataLst>
            </p:nvPr>
          </p:nvCxnSpPr>
          <p:spPr>
            <a:xfrm>
              <a:off x="1776" y="707"/>
              <a:ext cx="2055" cy="1362"/>
            </a:xfrm>
            <a:prstGeom prst="straightConnector1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</p:cxnSp>
      </p:grpSp>
      <p:grpSp>
        <p:nvGrpSpPr>
          <p:cNvPr id="19485" name="组合 19484"/>
          <p:cNvGrpSpPr/>
          <p:nvPr/>
        </p:nvGrpSpPr>
        <p:grpSpPr>
          <a:xfrm>
            <a:off x="4726305" y="3834130"/>
            <a:ext cx="1583699" cy="1206500"/>
            <a:chOff x="0" y="0"/>
            <a:chExt cx="2602" cy="2340"/>
          </a:xfrm>
        </p:grpSpPr>
        <p:sp>
          <p:nvSpPr>
            <p:cNvPr id="22557" name="Rounded Rectangle 24"/>
            <p:cNvSpPr/>
            <p:nvPr>
              <p:custDataLst>
                <p:tags r:id="rId5"/>
              </p:custDataLst>
            </p:nvPr>
          </p:nvSpPr>
          <p:spPr>
            <a:xfrm>
              <a:off x="1751" y="1629"/>
              <a:ext cx="851" cy="709"/>
            </a:xfrm>
            <a:prstGeom prst="roundRect">
              <a:avLst>
                <a:gd name="adj" fmla="val 16667"/>
              </a:avLst>
            </a:prstGeom>
            <a:solidFill>
              <a:srgbClr val="FFFF99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ctr" anchorCtr="0"/>
            <a:lstStyle/>
            <a:p>
              <a:pPr indent="0" algn="ctr" hangingPunct="0"/>
              <a:r>
                <a:rPr lang="en-US" altLang="zh-CN" sz="28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22558" name="Rounded Rectangle 22"/>
            <p:cNvSpPr/>
            <p:nvPr>
              <p:custDataLst>
                <p:tags r:id="rId6"/>
              </p:custDataLst>
            </p:nvPr>
          </p:nvSpPr>
          <p:spPr>
            <a:xfrm>
              <a:off x="637" y="0"/>
              <a:ext cx="1204" cy="710"/>
            </a:xfrm>
            <a:prstGeom prst="roundRect">
              <a:avLst>
                <a:gd name="adj" fmla="val 16667"/>
              </a:avLst>
            </a:prstGeom>
            <a:solidFill>
              <a:srgbClr val="FFFF99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ctr" anchorCtr="0"/>
            <a:lstStyle/>
            <a:p>
              <a:pPr indent="0" algn="ctr" hangingPunct="0"/>
              <a:r>
                <a:rPr lang="zh-CN" altLang="en-US" sz="28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+</a:t>
              </a:r>
              <a:r>
                <a:rPr lang="en-US" altLang="zh-CN" sz="28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</a:p>
          </p:txBody>
        </p:sp>
        <p:sp>
          <p:nvSpPr>
            <p:cNvPr id="22559" name="Rounded Rectangle 23"/>
            <p:cNvSpPr/>
            <p:nvPr>
              <p:custDataLst>
                <p:tags r:id="rId7"/>
              </p:custDataLst>
            </p:nvPr>
          </p:nvSpPr>
          <p:spPr>
            <a:xfrm>
              <a:off x="0" y="1630"/>
              <a:ext cx="920" cy="710"/>
            </a:xfrm>
            <a:prstGeom prst="roundRect">
              <a:avLst>
                <a:gd name="adj" fmla="val 16667"/>
              </a:avLst>
            </a:prstGeom>
            <a:solidFill>
              <a:srgbClr val="FFFF99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ctr" anchorCtr="0"/>
            <a:lstStyle/>
            <a:p>
              <a:pPr indent="0" algn="ctr" hangingPunct="0"/>
              <a:r>
                <a:rPr lang="en-US" altLang="zh-CN" sz="28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y</a:t>
              </a:r>
            </a:p>
          </p:txBody>
        </p:sp>
        <p:cxnSp>
          <p:nvCxnSpPr>
            <p:cNvPr id="22560" name="Straight Arrow Connector 56"/>
            <p:cNvCxnSpPr>
              <a:stCxn id="22558" idx="2"/>
              <a:endCxn id="22559" idx="0"/>
            </p:cNvCxnSpPr>
            <p:nvPr>
              <p:custDataLst>
                <p:tags r:id="rId8"/>
              </p:custDataLst>
            </p:nvPr>
          </p:nvCxnSpPr>
          <p:spPr>
            <a:xfrm flipH="1">
              <a:off x="459" y="710"/>
              <a:ext cx="779" cy="920"/>
            </a:xfrm>
            <a:prstGeom prst="straightConnector1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cxnSp>
          <p:nvCxnSpPr>
            <p:cNvPr id="22561" name="Straight Arrow Connector 58"/>
            <p:cNvCxnSpPr>
              <a:stCxn id="22558" idx="2"/>
              <a:endCxn id="22557" idx="0"/>
            </p:cNvCxnSpPr>
            <p:nvPr>
              <p:custDataLst>
                <p:tags r:id="rId9"/>
              </p:custDataLst>
            </p:nvPr>
          </p:nvCxnSpPr>
          <p:spPr>
            <a:xfrm>
              <a:off x="1239" y="710"/>
              <a:ext cx="937" cy="920"/>
            </a:xfrm>
            <a:prstGeom prst="straightConnector1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</p:cxnSp>
      </p:grpSp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6084253" y="5805170"/>
            <a:ext cx="2864485" cy="460375"/>
          </a:xfrm>
          <a:prstGeom prst="rect">
            <a:avLst/>
          </a:prstGeom>
          <a:solidFill>
            <a:srgbClr val="92D050"/>
          </a:solidFill>
          <a:ln w="9525">
            <a:noFill/>
          </a:ln>
        </p:spPr>
        <p:txBody>
          <a:bodyPr wrap="none" anchor="t" anchorCtr="0">
            <a:spAutoFit/>
          </a:bodyPr>
          <a:lstStyle/>
          <a:p>
            <a:pPr indent="0"/>
            <a:r>
              <a:rPr lang="zh-CN" altLang="zh-CN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) 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zh-CN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 } 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zh-CN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zh-CN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还需要吗？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9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9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9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9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9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0" grpId="0"/>
      <p:bldP spid="22530" grpId="1"/>
      <p:bldP spid="22536" grpId="0" animBg="1"/>
      <p:bldP spid="22536" grpId="1" animBg="1"/>
      <p:bldP spid="22537" grpId="0" animBg="1"/>
      <p:bldP spid="22537" grpId="1" animBg="1"/>
      <p:bldP spid="22538" grpId="0" animBg="1"/>
      <p:bldP spid="22538" grpId="1" animBg="1"/>
      <p:bldP spid="8" grpId="0" bldLvl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0" y="1640205"/>
            <a:ext cx="9135110" cy="4486275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rgbClr val="FF0000"/>
                </a:solidFill>
              </a:rPr>
              <a:t>语义分析 </a:t>
            </a:r>
          </a:p>
          <a:p>
            <a:pPr marL="0" indent="0">
              <a:buNone/>
            </a:pPr>
            <a:r>
              <a:rPr lang="en-US" altLang="zh-CN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  <a:sym typeface="+mn-ea"/>
              </a:rPr>
              <a:t>Jack  said  Jerry  left  his  assignment at home</a:t>
            </a:r>
          </a:p>
          <a:p>
            <a:pPr marL="0" indent="0">
              <a:buNone/>
            </a:pPr>
            <a:endParaRPr lang="zh-CN" altLang="en-US" sz="2400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  <a:sym typeface="+mn-ea"/>
              </a:rPr>
              <a:t>Jack  said  </a:t>
            </a:r>
            <a:r>
              <a:rPr lang="en-US" altLang="zh-CN" sz="2400">
                <a:solidFill>
                  <a:srgbClr val="FF3300"/>
                </a:solidFill>
                <a:latin typeface="Times New Roman" panose="02020603050405020304" pitchFamily="18" charset="0"/>
                <a:ea typeface="楷体_GB2312" panose="02010609030101010101" charset="-122"/>
                <a:sym typeface="+mn-ea"/>
              </a:rPr>
              <a:t>Jack</a:t>
            </a:r>
            <a:r>
              <a:rPr lang="en-US" altLang="zh-CN" sz="24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charset="-122"/>
                <a:sym typeface="+mn-ea"/>
              </a:rPr>
              <a:t>  left  his  assignment at home.</a:t>
            </a:r>
            <a:endParaRPr lang="en-US" altLang="zh-CN" sz="2400">
              <a:solidFill>
                <a:schemeClr val="tx1"/>
              </a:solidFill>
              <a:latin typeface="Times New Roman" panose="02020603050405020304" pitchFamily="18" charset="0"/>
              <a:ea typeface="楷体_GB2312" panose="02010609030101010101" charset="-122"/>
            </a:endParaRPr>
          </a:p>
          <a:p>
            <a:pPr marL="0" indent="0">
              <a:buNone/>
            </a:pPr>
            <a:endParaRPr lang="zh-CN" altLang="en-US" sz="2400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CN" altLang="en-US" sz="2400" dirty="0">
                <a:cs typeface="Times New Roman" panose="02020603050405020304" pitchFamily="18" charset="0"/>
              </a:rPr>
              <a:t>程序设计语言中通常采用</a:t>
            </a:r>
            <a:r>
              <a:rPr lang="zh-CN" altLang="en-US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严格</a:t>
            </a:r>
            <a:r>
              <a:rPr lang="zh-CN" altLang="en-US" sz="2400" dirty="0">
                <a:cs typeface="Times New Roman" panose="02020603050405020304" pitchFamily="18" charset="0"/>
              </a:rPr>
              <a:t>的规则来避免歧义。</a:t>
            </a:r>
          </a:p>
          <a:p>
            <a:pPr marL="0" indent="0">
              <a:buNone/>
            </a:pPr>
            <a:endParaRPr lang="zh-CN" altLang="en-US" sz="2400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CN" altLang="en-US" sz="2400" dirty="0">
                <a:cs typeface="Times New Roman" panose="02020603050405020304" pitchFamily="18" charset="0"/>
              </a:rPr>
              <a:t>编译器通常仅仅完成</a:t>
            </a:r>
            <a:r>
              <a:rPr lang="zh-CN" altLang="en-US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有限</a:t>
            </a:r>
            <a:r>
              <a:rPr lang="zh-CN" altLang="en-US" sz="2400" dirty="0">
                <a:cs typeface="Times New Roman" panose="02020603050405020304" pitchFamily="18" charset="0"/>
              </a:rPr>
              <a:t>的语义分析。</a:t>
            </a:r>
          </a:p>
          <a:p>
            <a:pPr marL="0" indent="0">
              <a:buNone/>
            </a:pPr>
            <a:endParaRPr lang="zh-CN" altLang="en-US" sz="2400" dirty="0">
              <a:cs typeface="Times New Roman" panose="02020603050405020304" pitchFamily="18" charset="0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邓伏虎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信息与软件工程学院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15362" name="Rectangle 2"/>
          <p:cNvSpPr>
            <a:spLocks noGrp="1" noChangeArrowheads="1"/>
          </p:cNvSpPr>
          <p:nvPr>
            <p:custDataLst>
              <p:tags r:id="rId1"/>
            </p:custDataLst>
          </p:nvPr>
        </p:nvSpPr>
        <p:spPr>
          <a:xfrm>
            <a:off x="755576" y="273628"/>
            <a:ext cx="6818824" cy="10671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n-ea"/>
                <a:ea typeface="+mn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eaLnBrk="1" hangingPunct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1.3</a:t>
            </a:r>
            <a:r>
              <a:rPr lang="en-US" dirty="0"/>
              <a:t> </a:t>
            </a:r>
            <a:r>
              <a:rPr lang="zh-CN" altLang="en-US" dirty="0"/>
              <a:t>编译器的结构</a:t>
            </a:r>
          </a:p>
        </p:txBody>
      </p:sp>
      <p:sp>
        <p:nvSpPr>
          <p:cNvPr id="21520" name="文本框 21519"/>
          <p:cNvSpPr txBox="1"/>
          <p:nvPr>
            <p:custDataLst>
              <p:tags r:id="rId2"/>
            </p:custDataLst>
          </p:nvPr>
        </p:nvSpPr>
        <p:spPr>
          <a:xfrm>
            <a:off x="2843848" y="2132965"/>
            <a:ext cx="555625" cy="460375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 anchorCtr="0">
            <a:spAutoFit/>
          </a:bodyPr>
          <a:lstStyle/>
          <a:p>
            <a:pPr indent="0" hangingPunct="0"/>
            <a:r>
              <a:rPr lang="en-US" altLang="zh-CN" sz="2400" b="1">
                <a:solidFill>
                  <a:srgbClr val="FF3300"/>
                </a:solidFill>
                <a:latin typeface="Times New Roman" panose="02020603050405020304" pitchFamily="18" charset="0"/>
                <a:ea typeface="楷体_GB2312" panose="02010609030101010101" charset="-122"/>
                <a:cs typeface="Times New Roman" panose="02020603050405020304" pitchFamily="18" charset="0"/>
              </a:rPr>
              <a:t>his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1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20" grpId="0" bldLvl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0" y="1640205"/>
            <a:ext cx="9135110" cy="4486275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rgbClr val="FF0000"/>
                </a:solidFill>
              </a:rPr>
              <a:t>语义分析 </a:t>
            </a:r>
          </a:p>
          <a:p>
            <a:pPr marL="0" indent="0">
              <a:buNone/>
            </a:pPr>
            <a:r>
              <a:rPr lang="zh-CN" altLang="en-US" sz="2400" dirty="0"/>
              <a:t>根据语义规则，对</a:t>
            </a:r>
            <a:r>
              <a:rPr lang="zh-CN" altLang="en-US" sz="2400" dirty="0">
                <a:solidFill>
                  <a:schemeClr val="bg2">
                    <a:lumMod val="75000"/>
                  </a:schemeClr>
                </a:solidFill>
              </a:rPr>
              <a:t>语法正确</a:t>
            </a:r>
            <a:r>
              <a:rPr lang="zh-CN" altLang="en-US" sz="2400" dirty="0"/>
              <a:t>的语法单位进行</a:t>
            </a:r>
            <a:r>
              <a:rPr lang="zh-CN" altLang="en-US" sz="2400" dirty="0">
                <a:solidFill>
                  <a:schemeClr val="accent2"/>
                </a:solidFill>
              </a:rPr>
              <a:t>初步翻译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pPr marL="0" indent="0">
              <a:spcBef>
                <a:spcPts val="1200"/>
              </a:spcBef>
              <a:buNone/>
            </a:pPr>
            <a:r>
              <a:rPr lang="zh-CN" altLang="en-US" sz="2400" dirty="0"/>
              <a:t> 静态语义检查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zh-CN" altLang="en-US" sz="2400" dirty="0"/>
              <a:t> </a:t>
            </a:r>
            <a:r>
              <a:rPr lang="en-US" altLang="zh-CN" sz="2400" dirty="0"/>
              <a:t>   </a:t>
            </a:r>
            <a:r>
              <a:rPr lang="zh-CN" altLang="en-US" sz="2000" dirty="0">
                <a:cs typeface="Times New Roman" panose="02020603050405020304" pitchFamily="18" charset="0"/>
              </a:rPr>
              <a:t>类型检查、控制流检查、唯一性检查、关联名检查</a:t>
            </a:r>
            <a:endParaRPr lang="en-US" altLang="zh-CN" sz="2400" dirty="0">
              <a:cs typeface="Times New Roman" panose="02020603050405020304" pitchFamily="18" charset="0"/>
            </a:endParaRPr>
          </a:p>
          <a:p>
            <a:pPr marL="0" algn="l">
              <a:spcBef>
                <a:spcPts val="1200"/>
              </a:spcBef>
              <a:buSzTx/>
              <a:buNone/>
            </a:pPr>
            <a:r>
              <a:rPr lang="zh-CN" altLang="en-US" sz="2400" dirty="0"/>
              <a:t>动态语义检查</a:t>
            </a:r>
          </a:p>
          <a:p>
            <a:pPr marL="539750" algn="l">
              <a:spcBef>
                <a:spcPct val="20000"/>
              </a:spcBef>
              <a:buSzTx/>
              <a:buNone/>
            </a:pPr>
            <a:r>
              <a:rPr lang="zh-CN" altLang="en-US" sz="2000" dirty="0">
                <a:cs typeface="Times New Roman" panose="02020603050405020304" pitchFamily="18" charset="0"/>
              </a:rPr>
              <a:t>除零检查、数组溢出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邓伏虎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信息与软件工程学院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15362" name="Rectangle 2"/>
          <p:cNvSpPr>
            <a:spLocks noGrp="1" noChangeArrowheads="1"/>
          </p:cNvSpPr>
          <p:nvPr>
            <p:custDataLst>
              <p:tags r:id="rId1"/>
            </p:custDataLst>
          </p:nvPr>
        </p:nvSpPr>
        <p:spPr>
          <a:xfrm>
            <a:off x="755576" y="273628"/>
            <a:ext cx="6818824" cy="10671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n-ea"/>
                <a:ea typeface="+mn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eaLnBrk="1" hangingPunct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1.3</a:t>
            </a:r>
            <a:r>
              <a:rPr lang="en-US" dirty="0"/>
              <a:t> </a:t>
            </a:r>
            <a:r>
              <a:rPr lang="zh-CN" altLang="en-US" dirty="0"/>
              <a:t>编译器的结构</a:t>
            </a:r>
          </a:p>
        </p:txBody>
      </p:sp>
      <p:sp>
        <p:nvSpPr>
          <p:cNvPr id="12" name="圆角矩形 11"/>
          <p:cNvSpPr/>
          <p:nvPr>
            <p:custDataLst>
              <p:tags r:id="rId2"/>
            </p:custDataLst>
          </p:nvPr>
        </p:nvSpPr>
        <p:spPr>
          <a:xfrm>
            <a:off x="2800229" y="4354304"/>
            <a:ext cx="1308756" cy="457200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&lt;id, 1&gt;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圆角矩形 12"/>
          <p:cNvSpPr/>
          <p:nvPr>
            <p:custDataLst>
              <p:tags r:id="rId3"/>
            </p:custDataLst>
          </p:nvPr>
        </p:nvSpPr>
        <p:spPr>
          <a:xfrm>
            <a:off x="3790309" y="4858360"/>
            <a:ext cx="1308756" cy="457200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&lt;id, 2&gt;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圆角矩形 13"/>
          <p:cNvSpPr/>
          <p:nvPr>
            <p:custDataLst>
              <p:tags r:id="rId4"/>
            </p:custDataLst>
          </p:nvPr>
        </p:nvSpPr>
        <p:spPr>
          <a:xfrm>
            <a:off x="4654405" y="5290408"/>
            <a:ext cx="1308756" cy="457200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&lt;id, 3&gt;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圆角矩形 14"/>
          <p:cNvSpPr/>
          <p:nvPr>
            <p:custDataLst>
              <p:tags r:id="rId5"/>
            </p:custDataLst>
          </p:nvPr>
        </p:nvSpPr>
        <p:spPr>
          <a:xfrm>
            <a:off x="3815792" y="3778240"/>
            <a:ext cx="1308756" cy="457200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&lt;=&gt;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圆角矩形 15"/>
          <p:cNvSpPr/>
          <p:nvPr>
            <p:custDataLst>
              <p:tags r:id="rId6"/>
            </p:custDataLst>
          </p:nvPr>
        </p:nvSpPr>
        <p:spPr>
          <a:xfrm>
            <a:off x="4595009" y="4329152"/>
            <a:ext cx="1308756" cy="457200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&lt;+&gt;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圆角矩形 16"/>
          <p:cNvSpPr/>
          <p:nvPr>
            <p:custDataLst>
              <p:tags r:id="rId7"/>
            </p:custDataLst>
          </p:nvPr>
        </p:nvSpPr>
        <p:spPr>
          <a:xfrm>
            <a:off x="5315089" y="4761200"/>
            <a:ext cx="1308756" cy="457200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400"/>
              </a:spcBef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 2" panose="05020102010507070707"/>
              </a:rPr>
              <a:t>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圆角矩形 17"/>
          <p:cNvSpPr/>
          <p:nvPr>
            <p:custDataLst>
              <p:tags r:id="rId8"/>
            </p:custDataLst>
          </p:nvPr>
        </p:nvSpPr>
        <p:spPr>
          <a:xfrm>
            <a:off x="6107177" y="5290408"/>
            <a:ext cx="1308756" cy="457200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&lt;60&gt;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7" name="直接连接符 26"/>
          <p:cNvCxnSpPr/>
          <p:nvPr>
            <p:custDataLst>
              <p:tags r:id="rId9"/>
            </p:custDataLst>
          </p:nvPr>
        </p:nvCxnSpPr>
        <p:spPr>
          <a:xfrm flipH="1">
            <a:off x="3757008" y="4242819"/>
            <a:ext cx="327189" cy="2188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>
            <p:custDataLst>
              <p:tags r:id="rId10"/>
            </p:custDataLst>
          </p:nvPr>
        </p:nvCxnSpPr>
        <p:spPr>
          <a:xfrm>
            <a:off x="4739025" y="4242819"/>
            <a:ext cx="324036" cy="2188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>
            <p:custDataLst>
              <p:tags r:id="rId11"/>
            </p:custDataLst>
          </p:nvPr>
        </p:nvCxnSpPr>
        <p:spPr>
          <a:xfrm>
            <a:off x="5419911" y="4680423"/>
            <a:ext cx="327189" cy="1800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>
            <p:custDataLst>
              <p:tags r:id="rId12"/>
            </p:custDataLst>
          </p:nvPr>
        </p:nvCxnSpPr>
        <p:spPr>
          <a:xfrm>
            <a:off x="6174051" y="5077951"/>
            <a:ext cx="432048" cy="2520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>
            <p:custDataLst>
              <p:tags r:id="rId13"/>
            </p:custDataLst>
          </p:nvPr>
        </p:nvCxnSpPr>
        <p:spPr>
          <a:xfrm flipH="1">
            <a:off x="4595009" y="4680423"/>
            <a:ext cx="306034" cy="1800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>
            <p:custDataLst>
              <p:tags r:id="rId14"/>
            </p:custDataLst>
          </p:nvPr>
        </p:nvCxnSpPr>
        <p:spPr>
          <a:xfrm flipH="1">
            <a:off x="5419911" y="5086960"/>
            <a:ext cx="327189" cy="2034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圆角矩形 42"/>
          <p:cNvSpPr/>
          <p:nvPr>
            <p:custDataLst>
              <p:tags r:id="rId15"/>
            </p:custDataLst>
          </p:nvPr>
        </p:nvSpPr>
        <p:spPr>
          <a:xfrm>
            <a:off x="6228385" y="5519008"/>
            <a:ext cx="1308756" cy="457200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inttofloat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4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-8.33333E-7 0.07222 L -8.33333E-7 1.11111E-6 " pathEditMode="relative" rAng="0" ptsTypes="AA">
                                      <p:cBhvr>
                                        <p:cTn id="54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611"/>
                                    </p:animMotion>
                                    <p:animRot by="1500000">
                                      <p:cBhvr>
                                        <p:cTn id="55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56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57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58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Motion origin="layout" path="M 4.72222E-6 2.96296E-6 L -0.0007 0.10486 " pathEditMode="relative" rAng="0" ptsTypes="AA">
                                      <p:cBhvr>
                                        <p:cTn id="62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5" y="52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 animBg="1"/>
      <p:bldP spid="13" grpId="0" bldLvl="0" animBg="1"/>
      <p:bldP spid="14" grpId="0" bldLvl="0" animBg="1"/>
      <p:bldP spid="15" grpId="0" bldLvl="0" animBg="1"/>
      <p:bldP spid="16" grpId="0" bldLvl="0" animBg="1"/>
      <p:bldP spid="17" grpId="0" bldLvl="0" animBg="1"/>
      <p:bldP spid="18" grpId="0" bldLvl="0" animBg="1"/>
      <p:bldP spid="18" grpId="1" animBg="1"/>
      <p:bldP spid="18" grpId="2" bldLvl="0" animBg="1"/>
      <p:bldP spid="43" grpId="0" bldLvl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0" y="1635125"/>
            <a:ext cx="9135110" cy="449135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zh-CN" altLang="en-US" dirty="0">
                <a:solidFill>
                  <a:srgbClr val="FF0000"/>
                </a:solidFill>
              </a:rPr>
              <a:t>语法制导翻译</a:t>
            </a:r>
          </a:p>
          <a:p>
            <a:pPr marL="0" indent="0">
              <a:buNone/>
            </a:pPr>
            <a:r>
              <a:rPr lang="zh-CN" altLang="en-US" dirty="0"/>
              <a:t>将静态检查和中间代码生成结合到语法分析中进行的技术。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主要思想：</a:t>
            </a:r>
            <a:r>
              <a:rPr lang="zh-CN" altLang="en-US" dirty="0">
                <a:solidFill>
                  <a:srgbClr val="FF0000"/>
                </a:solidFill>
              </a:rPr>
              <a:t>在进行语法分析的同时完成相应的语义处理</a:t>
            </a:r>
            <a:r>
              <a:rPr lang="zh-CN" altLang="en-US" dirty="0"/>
              <a:t>。</a:t>
            </a:r>
          </a:p>
          <a:p>
            <a:pPr marL="0" indent="0">
              <a:buNone/>
            </a:pPr>
            <a:r>
              <a:rPr lang="en-US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分析过程</a:t>
            </a:r>
          </a:p>
          <a:p>
            <a:pPr marL="0" indent="0">
              <a:buNone/>
            </a:pPr>
            <a:r>
              <a:rPr lang="en-US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</a:t>
            </a:r>
            <a:r>
              <a:rPr lang="zh-CN" altLang="en-US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为</a:t>
            </a:r>
            <a:r>
              <a:rPr lang="en-US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每个产生式配上一个</a:t>
            </a:r>
            <a:r>
              <a:rPr lang="en-US" dirty="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语义子程序</a:t>
            </a:r>
            <a:endParaRPr lang="en-US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marL="0" indent="0">
              <a:buNone/>
            </a:pPr>
            <a:r>
              <a:rPr lang="en-US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当对产生式进行</a:t>
            </a:r>
            <a:r>
              <a:rPr lang="en-US" dirty="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推导</a:t>
            </a:r>
            <a:r>
              <a:rPr lang="en-US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或</a:t>
            </a:r>
            <a:r>
              <a:rPr lang="en-US" dirty="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归约</a:t>
            </a:r>
            <a:r>
              <a:rPr lang="en-US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时</a:t>
            </a:r>
          </a:p>
          <a:p>
            <a:pPr marL="0" indent="0">
              <a:buNone/>
            </a:pPr>
            <a:r>
              <a:rPr lang="en-US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 调用相应的语义程序</a:t>
            </a:r>
          </a:p>
          <a:p>
            <a:pPr marL="0" indent="0">
              <a:buNone/>
            </a:pPr>
            <a:r>
              <a:rPr lang="en-US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 进行语义分析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邓伏虎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信息与软件工程学院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15362" name="Rectangle 2"/>
          <p:cNvSpPr>
            <a:spLocks noGrp="1" noChangeArrowheads="1"/>
          </p:cNvSpPr>
          <p:nvPr>
            <p:custDataLst>
              <p:tags r:id="rId1"/>
            </p:custDataLst>
          </p:nvPr>
        </p:nvSpPr>
        <p:spPr>
          <a:xfrm>
            <a:off x="755576" y="273628"/>
            <a:ext cx="6818824" cy="10671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n-ea"/>
                <a:ea typeface="+mn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eaLnBrk="1" hangingPunct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1.3</a:t>
            </a:r>
            <a:r>
              <a:rPr lang="en-US" dirty="0"/>
              <a:t> </a:t>
            </a:r>
            <a:r>
              <a:rPr lang="zh-CN" altLang="en-US" dirty="0"/>
              <a:t>编译器的结构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0" y="1640205"/>
            <a:ext cx="9135110" cy="4486275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rgbClr val="FF0000"/>
                </a:solidFill>
              </a:rPr>
              <a:t>中间代码生成 </a:t>
            </a:r>
          </a:p>
          <a:p>
            <a:pPr marL="0" algn="l">
              <a:spcBef>
                <a:spcPct val="20000"/>
              </a:spcBef>
              <a:buSzTx/>
              <a:buNone/>
            </a:pPr>
            <a:r>
              <a:rPr lang="zh-CN" altLang="en-US" sz="2400" dirty="0"/>
              <a:t>在静态语义正确的前提下翻译成中间代码或者目标代码。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邓伏虎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信息与软件工程学院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15362" name="Rectangle 2"/>
          <p:cNvSpPr>
            <a:spLocks noGrp="1" noChangeArrowheads="1"/>
          </p:cNvSpPr>
          <p:nvPr>
            <p:custDataLst>
              <p:tags r:id="rId1"/>
            </p:custDataLst>
          </p:nvPr>
        </p:nvSpPr>
        <p:spPr>
          <a:xfrm>
            <a:off x="755576" y="273628"/>
            <a:ext cx="6818824" cy="10671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n-ea"/>
                <a:ea typeface="+mn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eaLnBrk="1" hangingPunct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1.3</a:t>
            </a:r>
            <a:r>
              <a:rPr lang="en-US" dirty="0"/>
              <a:t> </a:t>
            </a:r>
            <a:r>
              <a:rPr lang="zh-CN" altLang="en-US" dirty="0"/>
              <a:t>编译器的结构</a:t>
            </a:r>
          </a:p>
        </p:txBody>
      </p:sp>
      <p:sp>
        <p:nvSpPr>
          <p:cNvPr id="12" name="圆角矩形 11"/>
          <p:cNvSpPr/>
          <p:nvPr/>
        </p:nvSpPr>
        <p:spPr>
          <a:xfrm>
            <a:off x="-102991" y="3526264"/>
            <a:ext cx="1308756" cy="457200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&lt;id, 1&gt;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887089" y="4030320"/>
            <a:ext cx="1308756" cy="457200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&lt;id, 2&gt;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1751185" y="4462368"/>
            <a:ext cx="1308756" cy="457200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&lt;id, 3&gt;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912572" y="2950200"/>
            <a:ext cx="1308756" cy="457200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&lt;=&gt;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1691789" y="3501112"/>
            <a:ext cx="1308756" cy="457200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&lt;+&gt;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2411869" y="3933160"/>
            <a:ext cx="1308756" cy="457200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400"/>
              </a:spcBef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 2" panose="05020102010507070707"/>
              </a:rPr>
              <a:t>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3203322" y="5085303"/>
            <a:ext cx="1308756" cy="457200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&lt;60&gt;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7" name="直接连接符 26"/>
          <p:cNvCxnSpPr/>
          <p:nvPr/>
        </p:nvCxnSpPr>
        <p:spPr>
          <a:xfrm flipH="1">
            <a:off x="853788" y="3414779"/>
            <a:ext cx="327189" cy="2188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1835805" y="3414779"/>
            <a:ext cx="324036" cy="2188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2516691" y="3852383"/>
            <a:ext cx="327189" cy="1800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3270831" y="4249911"/>
            <a:ext cx="432048" cy="2520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 flipH="1">
            <a:off x="1691789" y="3852383"/>
            <a:ext cx="306034" cy="1800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 flipH="1">
            <a:off x="2516691" y="4258920"/>
            <a:ext cx="327189" cy="2034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圆角矩形 42"/>
          <p:cNvSpPr/>
          <p:nvPr/>
        </p:nvSpPr>
        <p:spPr>
          <a:xfrm>
            <a:off x="3271190" y="4502373"/>
            <a:ext cx="1308756" cy="457200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inttofloat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1"/>
          <p:cNvSpPr txBox="1"/>
          <p:nvPr>
            <p:custDataLst>
              <p:tags r:id="rId2"/>
            </p:custDataLst>
          </p:nvPr>
        </p:nvSpPr>
        <p:spPr>
          <a:xfrm>
            <a:off x="4580255" y="2896870"/>
            <a:ext cx="2160270" cy="3987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三地址代码</a:t>
            </a:r>
          </a:p>
        </p:txBody>
      </p:sp>
      <p:sp>
        <p:nvSpPr>
          <p:cNvPr id="7" name="TextBox 3"/>
          <p:cNvSpPr txBox="1"/>
          <p:nvPr>
            <p:custDataLst>
              <p:tags r:id="rId3"/>
            </p:custDataLst>
          </p:nvPr>
        </p:nvSpPr>
        <p:spPr>
          <a:xfrm>
            <a:off x="4580003" y="3488060"/>
            <a:ext cx="2160239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t1 =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inttofloat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(60)</a:t>
            </a:r>
          </a:p>
        </p:txBody>
      </p:sp>
      <p:sp>
        <p:nvSpPr>
          <p:cNvPr id="24" name="TextBox 23"/>
          <p:cNvSpPr txBox="1"/>
          <p:nvPr>
            <p:custDataLst>
              <p:tags r:id="rId4"/>
            </p:custDataLst>
          </p:nvPr>
        </p:nvSpPr>
        <p:spPr>
          <a:xfrm>
            <a:off x="4581613" y="4079465"/>
            <a:ext cx="2158630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t2 = id3 *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tl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/>
          <p:cNvSpPr txBox="1"/>
          <p:nvPr>
            <p:custDataLst>
              <p:tags r:id="rId5"/>
            </p:custDataLst>
          </p:nvPr>
        </p:nvSpPr>
        <p:spPr>
          <a:xfrm>
            <a:off x="4580003" y="4670870"/>
            <a:ext cx="2160240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t3 = id2 + t2</a:t>
            </a:r>
          </a:p>
        </p:txBody>
      </p:sp>
      <p:sp>
        <p:nvSpPr>
          <p:cNvPr id="26" name="TextBox 25"/>
          <p:cNvSpPr txBox="1"/>
          <p:nvPr>
            <p:custDataLst>
              <p:tags r:id="rId6"/>
            </p:custDataLst>
          </p:nvPr>
        </p:nvSpPr>
        <p:spPr>
          <a:xfrm>
            <a:off x="4581612" y="5262274"/>
            <a:ext cx="2158631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id1 = t3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8" grpId="0" bldLvl="0" animBg="1"/>
      <p:bldP spid="18" grpId="1" animBg="1"/>
      <p:bldP spid="43" grpId="0" bldLvl="0" animBg="1"/>
      <p:bldP spid="43" grpId="1" animBg="1"/>
      <p:bldP spid="6" grpId="0" bldLvl="0" animBg="1"/>
      <p:bldP spid="7" grpId="0" bldLvl="0" animBg="1"/>
      <p:bldP spid="24" grpId="0" bldLvl="0" animBg="1"/>
      <p:bldP spid="25" grpId="0" bldLvl="0" animBg="1"/>
      <p:bldP spid="26" grpId="0" bldLvl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 dirty="0"/>
              <a:t>邓伏虎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信息与软件工程学院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19</a:t>
            </a:fld>
            <a:endParaRPr lang="zh-CN" altLang="en-US"/>
          </a:p>
        </p:txBody>
      </p:sp>
      <p:sp>
        <p:nvSpPr>
          <p:cNvPr id="8" name="内容占位符 1"/>
          <p:cNvSpPr txBox="1"/>
          <p:nvPr/>
        </p:nvSpPr>
        <p:spPr>
          <a:xfrm>
            <a:off x="0" y="1658620"/>
            <a:ext cx="9134475" cy="457835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7432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7658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5598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4630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0312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2316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4320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C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a=b*</a:t>
            </a:r>
            <a:r>
              <a:rPr lang="en-US" altLang="zh-CN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c+b</a:t>
            </a:r>
            <a:r>
              <a:rPr lang="en-US" altLang="zh-C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*d</a:t>
            </a:r>
          </a:p>
          <a:p>
            <a:pPr marL="0" indent="0">
              <a:buNone/>
            </a:pPr>
            <a:r>
              <a:rPr lang="zh-CN" altLang="en-US" dirty="0"/>
              <a:t>逆波兰式</a:t>
            </a:r>
            <a:r>
              <a:rPr lang="en-US" altLang="zh-CN" dirty="0"/>
              <a:t>:  	</a:t>
            </a:r>
          </a:p>
          <a:p>
            <a:pPr marL="0" indent="0"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abc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bd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*+=</a:t>
            </a:r>
          </a:p>
          <a:p>
            <a:pPr marL="0" indent="0">
              <a:buNone/>
            </a:pPr>
            <a:r>
              <a:rPr lang="zh-CN" altLang="en-US" dirty="0"/>
              <a:t>三元式</a:t>
            </a:r>
            <a:r>
              <a:rPr lang="en-US" altLang="zh-CN" dirty="0"/>
              <a:t>                       </a:t>
            </a:r>
            <a:r>
              <a:rPr lang="zh-CN" altLang="en-US" dirty="0"/>
              <a:t>四元式</a:t>
            </a:r>
            <a:endParaRPr lang="en-US" altLang="zh-CN" dirty="0"/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 (*, b, c)		(*, b, c, T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 (*,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b, 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		(*, b, d, T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(3) (+, (1), (2))	(+, T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(4) (:=, a, (3))	(:=, a, T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a)</a:t>
            </a:r>
          </a:p>
          <a:p>
            <a:pPr marL="0" indent="0">
              <a:buNone/>
            </a:pPr>
            <a:r>
              <a:rPr lang="zh-CN" altLang="en-US" dirty="0"/>
              <a:t>图表示法：</a:t>
            </a:r>
            <a:endParaRPr lang="en-US" dirty="0"/>
          </a:p>
        </p:txBody>
      </p:sp>
      <p:grpSp>
        <p:nvGrpSpPr>
          <p:cNvPr id="23" name="组合 22"/>
          <p:cNvGrpSpPr/>
          <p:nvPr/>
        </p:nvGrpSpPr>
        <p:grpSpPr>
          <a:xfrm>
            <a:off x="5537112" y="2276285"/>
            <a:ext cx="3612105" cy="3385549"/>
            <a:chOff x="4322293" y="2197304"/>
            <a:chExt cx="3612105" cy="3385549"/>
          </a:xfrm>
        </p:grpSpPr>
        <p:grpSp>
          <p:nvGrpSpPr>
            <p:cNvPr id="38" name="组合 37"/>
            <p:cNvGrpSpPr/>
            <p:nvPr/>
          </p:nvGrpSpPr>
          <p:grpSpPr>
            <a:xfrm>
              <a:off x="4505241" y="2672916"/>
              <a:ext cx="1392603" cy="648072"/>
              <a:chOff x="3275856" y="3112017"/>
              <a:chExt cx="2785210" cy="1181079"/>
            </a:xfrm>
          </p:grpSpPr>
          <p:cxnSp>
            <p:nvCxnSpPr>
              <p:cNvPr id="20" name="直接连接符 19"/>
              <p:cNvCxnSpPr/>
              <p:nvPr/>
            </p:nvCxnSpPr>
            <p:spPr>
              <a:xfrm flipH="1">
                <a:off x="3275856" y="3112017"/>
                <a:ext cx="1392605" cy="118107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/>
              <p:cNvCxnSpPr/>
              <p:nvPr/>
            </p:nvCxnSpPr>
            <p:spPr>
              <a:xfrm>
                <a:off x="4668461" y="3112017"/>
                <a:ext cx="1392605" cy="118107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" name="组合 9"/>
            <p:cNvGrpSpPr/>
            <p:nvPr/>
          </p:nvGrpSpPr>
          <p:grpSpPr>
            <a:xfrm>
              <a:off x="5353943" y="3573016"/>
              <a:ext cx="1392603" cy="648072"/>
              <a:chOff x="3275856" y="3112017"/>
              <a:chExt cx="2785210" cy="1181079"/>
            </a:xfrm>
          </p:grpSpPr>
          <p:cxnSp>
            <p:nvCxnSpPr>
              <p:cNvPr id="11" name="直接连接符 10"/>
              <p:cNvCxnSpPr/>
              <p:nvPr/>
            </p:nvCxnSpPr>
            <p:spPr>
              <a:xfrm flipH="1">
                <a:off x="3275856" y="3112017"/>
                <a:ext cx="1392605" cy="118107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接连接符 11"/>
              <p:cNvCxnSpPr/>
              <p:nvPr/>
            </p:nvCxnSpPr>
            <p:spPr>
              <a:xfrm>
                <a:off x="4668461" y="3112017"/>
                <a:ext cx="1392605" cy="118107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" name="组合 12"/>
            <p:cNvGrpSpPr/>
            <p:nvPr/>
          </p:nvGrpSpPr>
          <p:grpSpPr>
            <a:xfrm>
              <a:off x="6354884" y="4473116"/>
              <a:ext cx="1392603" cy="648072"/>
              <a:chOff x="3275856" y="3112017"/>
              <a:chExt cx="2785210" cy="1181079"/>
            </a:xfrm>
          </p:grpSpPr>
          <p:cxnSp>
            <p:nvCxnSpPr>
              <p:cNvPr id="14" name="直接连接符 13"/>
              <p:cNvCxnSpPr/>
              <p:nvPr/>
            </p:nvCxnSpPr>
            <p:spPr>
              <a:xfrm flipH="1">
                <a:off x="3275856" y="3112017"/>
                <a:ext cx="1392605" cy="118107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 14"/>
              <p:cNvCxnSpPr/>
              <p:nvPr/>
            </p:nvCxnSpPr>
            <p:spPr>
              <a:xfrm>
                <a:off x="4668461" y="3112017"/>
                <a:ext cx="1392605" cy="118107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" name="组合 15"/>
            <p:cNvGrpSpPr/>
            <p:nvPr/>
          </p:nvGrpSpPr>
          <p:grpSpPr>
            <a:xfrm>
              <a:off x="4505241" y="4473116"/>
              <a:ext cx="1392603" cy="648072"/>
              <a:chOff x="3275856" y="3112017"/>
              <a:chExt cx="2785210" cy="1181079"/>
            </a:xfrm>
          </p:grpSpPr>
          <p:cxnSp>
            <p:nvCxnSpPr>
              <p:cNvPr id="17" name="直接连接符 16"/>
              <p:cNvCxnSpPr/>
              <p:nvPr/>
            </p:nvCxnSpPr>
            <p:spPr>
              <a:xfrm flipH="1">
                <a:off x="3275856" y="3112017"/>
                <a:ext cx="1392605" cy="118107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/>
              <p:cNvCxnSpPr/>
              <p:nvPr/>
            </p:nvCxnSpPr>
            <p:spPr>
              <a:xfrm>
                <a:off x="4668461" y="3112017"/>
                <a:ext cx="1392605" cy="118107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" name="TextBox 1"/>
            <p:cNvSpPr txBox="1"/>
            <p:nvPr/>
          </p:nvSpPr>
          <p:spPr>
            <a:xfrm>
              <a:off x="4709515" y="2197304"/>
              <a:ext cx="944880" cy="460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assign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4337567" y="3320988"/>
              <a:ext cx="33534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897845" y="3259429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068283" y="4199891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*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881107" y="4199892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*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4322293" y="5121188"/>
              <a:ext cx="35618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5698216" y="5121187"/>
              <a:ext cx="32412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6187210" y="5121186"/>
              <a:ext cx="35618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7579814" y="5121188"/>
              <a:ext cx="35458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</a:p>
          </p:txBody>
        </p:sp>
      </p:grpSp>
      <p:sp>
        <p:nvSpPr>
          <p:cNvPr id="15362" name="Rectangle 2"/>
          <p:cNvSpPr>
            <a:spLocks noGrp="1" noChangeArrowheads="1"/>
          </p:cNvSpPr>
          <p:nvPr>
            <p:custDataLst>
              <p:tags r:id="rId1"/>
            </p:custDataLst>
          </p:nvPr>
        </p:nvSpPr>
        <p:spPr>
          <a:xfrm>
            <a:off x="755576" y="273628"/>
            <a:ext cx="6818824" cy="10671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n-ea"/>
                <a:ea typeface="+mn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eaLnBrk="1" hangingPunct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1.3</a:t>
            </a:r>
            <a:r>
              <a:rPr lang="en-US" dirty="0"/>
              <a:t> </a:t>
            </a:r>
            <a:r>
              <a:rPr lang="zh-CN" altLang="en-US" dirty="0"/>
              <a:t>编译器的结构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0" y="1651635"/>
            <a:ext cx="9137650" cy="447484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zh-CN" altLang="en-US" dirty="0">
                <a:solidFill>
                  <a:srgbClr val="FF0000"/>
                </a:solidFill>
              </a:rPr>
              <a:t>中间代码优化</a:t>
            </a:r>
          </a:p>
          <a:p>
            <a:pPr marL="0" indent="0">
              <a:buNone/>
            </a:pPr>
            <a:r>
              <a:rPr lang="zh-CN" altLang="en-US" sz="2400" dirty="0"/>
              <a:t>为了提高目标程序的效率，对程序进行合理变换，在保持功能不变的前提下，使得目标代码具有更高的时间效率和</a:t>
            </a:r>
            <a:r>
              <a:rPr lang="en-US" altLang="zh-CN" sz="2400" dirty="0"/>
              <a:t>/</a:t>
            </a:r>
            <a:r>
              <a:rPr lang="zh-CN" altLang="en-US" sz="2400" dirty="0"/>
              <a:t>或空间效率。</a:t>
            </a:r>
            <a:endParaRPr lang="en-US" altLang="zh-CN" sz="2400" dirty="0"/>
          </a:p>
          <a:p>
            <a:endParaRPr lang="en-US" dirty="0"/>
          </a:p>
          <a:p>
            <a:pPr marL="0" indent="0">
              <a:buNone/>
            </a:pPr>
            <a:r>
              <a:rPr lang="zh-CN" altLang="en-US" sz="2400" dirty="0"/>
              <a:t>代码优化贯穿</a:t>
            </a:r>
            <a:r>
              <a:rPr lang="zh-CN" altLang="en-US" sz="2400" dirty="0">
                <a:solidFill>
                  <a:srgbClr val="FF0000"/>
                </a:solidFill>
              </a:rPr>
              <a:t>整个编译过程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zh-CN" altLang="en-US" sz="2400" dirty="0"/>
              <a:t>主要方法：控制流分析、数据流分析、变换。</a:t>
            </a:r>
            <a:endParaRPr lang="en-US" altLang="zh-CN" sz="2400" dirty="0"/>
          </a:p>
          <a:p>
            <a:pPr marL="0" indent="0">
              <a:buNone/>
            </a:pPr>
            <a:r>
              <a:rPr lang="zh-CN" altLang="en-US" sz="2400" dirty="0"/>
              <a:t>局部优化、循环优化、全局优化。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邓伏虎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信息与软件工程学院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20</a:t>
            </a:fld>
            <a:endParaRPr lang="zh-CN" altLang="en-US"/>
          </a:p>
        </p:txBody>
      </p:sp>
      <p:sp>
        <p:nvSpPr>
          <p:cNvPr id="15362" name="Rectangle 2"/>
          <p:cNvSpPr>
            <a:spLocks noGrp="1" noChangeArrowheads="1"/>
          </p:cNvSpPr>
          <p:nvPr>
            <p:custDataLst>
              <p:tags r:id="rId1"/>
            </p:custDataLst>
          </p:nvPr>
        </p:nvSpPr>
        <p:spPr>
          <a:xfrm>
            <a:off x="755576" y="273628"/>
            <a:ext cx="6818824" cy="10671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n-ea"/>
                <a:ea typeface="+mn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eaLnBrk="1" hangingPunct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1.3</a:t>
            </a:r>
            <a:r>
              <a:rPr lang="en-US" dirty="0"/>
              <a:t> </a:t>
            </a:r>
            <a:r>
              <a:rPr lang="zh-CN" altLang="en-US" dirty="0"/>
              <a:t>编译器的结构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0" y="1646555"/>
            <a:ext cx="9137650" cy="447992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zh-CN" altLang="en-US" dirty="0">
                <a:solidFill>
                  <a:srgbClr val="FF0000"/>
                </a:solidFill>
              </a:rPr>
              <a:t>中间代码优化</a:t>
            </a:r>
          </a:p>
          <a:p>
            <a:pPr marL="0" indent="0">
              <a:buNone/>
            </a:pPr>
            <a:endParaRPr lang="zh-CN" altLang="en-US" sz="2400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邓伏虎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信息与软件工程学院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21</a:t>
            </a:fld>
            <a:endParaRPr lang="zh-CN" altLang="en-US"/>
          </a:p>
        </p:txBody>
      </p:sp>
      <p:sp>
        <p:nvSpPr>
          <p:cNvPr id="15362" name="Rectangle 2"/>
          <p:cNvSpPr>
            <a:spLocks noGrp="1" noChangeArrowheads="1"/>
          </p:cNvSpPr>
          <p:nvPr>
            <p:custDataLst>
              <p:tags r:id="rId1"/>
            </p:custDataLst>
          </p:nvPr>
        </p:nvSpPr>
        <p:spPr>
          <a:xfrm>
            <a:off x="755576" y="273628"/>
            <a:ext cx="6818824" cy="10671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n-ea"/>
                <a:ea typeface="+mn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eaLnBrk="1" hangingPunct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1.3</a:t>
            </a:r>
            <a:r>
              <a:rPr lang="en-US" dirty="0"/>
              <a:t> </a:t>
            </a:r>
            <a:r>
              <a:rPr lang="zh-CN" altLang="en-US" dirty="0"/>
              <a:t>编译器的结构</a:t>
            </a:r>
          </a:p>
        </p:txBody>
      </p:sp>
      <p:sp>
        <p:nvSpPr>
          <p:cNvPr id="6" name="TextBox 1"/>
          <p:cNvSpPr txBox="1"/>
          <p:nvPr>
            <p:custDataLst>
              <p:tags r:id="rId2"/>
            </p:custDataLst>
          </p:nvPr>
        </p:nvSpPr>
        <p:spPr>
          <a:xfrm>
            <a:off x="611818" y="2776220"/>
            <a:ext cx="4460928" cy="3987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三地址代码</a:t>
            </a:r>
          </a:p>
        </p:txBody>
      </p:sp>
      <p:sp>
        <p:nvSpPr>
          <p:cNvPr id="7" name="TextBox 3"/>
          <p:cNvSpPr txBox="1"/>
          <p:nvPr>
            <p:custDataLst>
              <p:tags r:id="rId3"/>
            </p:custDataLst>
          </p:nvPr>
        </p:nvSpPr>
        <p:spPr>
          <a:xfrm>
            <a:off x="611819" y="3367624"/>
            <a:ext cx="2160239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t1 =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inttofloat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(60)</a:t>
            </a:r>
          </a:p>
        </p:txBody>
      </p:sp>
      <p:sp>
        <p:nvSpPr>
          <p:cNvPr id="24" name="TextBox 23"/>
          <p:cNvSpPr txBox="1"/>
          <p:nvPr>
            <p:custDataLst>
              <p:tags r:id="rId4"/>
            </p:custDataLst>
          </p:nvPr>
        </p:nvSpPr>
        <p:spPr>
          <a:xfrm>
            <a:off x="613429" y="3959029"/>
            <a:ext cx="2158630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t2 = id3 *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tl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/>
          <p:cNvSpPr txBox="1"/>
          <p:nvPr>
            <p:custDataLst>
              <p:tags r:id="rId5"/>
            </p:custDataLst>
          </p:nvPr>
        </p:nvSpPr>
        <p:spPr>
          <a:xfrm>
            <a:off x="611819" y="4550434"/>
            <a:ext cx="2160240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t3 = id2 + t2</a:t>
            </a:r>
          </a:p>
        </p:txBody>
      </p:sp>
      <p:sp>
        <p:nvSpPr>
          <p:cNvPr id="26" name="TextBox 25"/>
          <p:cNvSpPr txBox="1"/>
          <p:nvPr>
            <p:custDataLst>
              <p:tags r:id="rId6"/>
            </p:custDataLst>
          </p:nvPr>
        </p:nvSpPr>
        <p:spPr>
          <a:xfrm>
            <a:off x="613428" y="5141838"/>
            <a:ext cx="2158631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id1 = t3</a:t>
            </a:r>
          </a:p>
        </p:txBody>
      </p:sp>
      <p:sp>
        <p:nvSpPr>
          <p:cNvPr id="28" name="TextBox 27"/>
          <p:cNvSpPr txBox="1"/>
          <p:nvPr>
            <p:custDataLst>
              <p:tags r:id="rId7"/>
            </p:custDataLst>
          </p:nvPr>
        </p:nvSpPr>
        <p:spPr>
          <a:xfrm>
            <a:off x="6516474" y="3353303"/>
            <a:ext cx="2158631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t1 = id3 * 60.0</a:t>
            </a:r>
          </a:p>
        </p:txBody>
      </p:sp>
      <p:sp>
        <p:nvSpPr>
          <p:cNvPr id="30" name="TextBox 29"/>
          <p:cNvSpPr txBox="1"/>
          <p:nvPr>
            <p:custDataLst>
              <p:tags r:id="rId8"/>
            </p:custDataLst>
          </p:nvPr>
        </p:nvSpPr>
        <p:spPr>
          <a:xfrm>
            <a:off x="6506130" y="3922199"/>
            <a:ext cx="2158631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id1 = id2 + t1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  <p:bldP spid="7" grpId="0" bldLvl="0" animBg="1"/>
      <p:bldP spid="24" grpId="0" bldLvl="0" animBg="1"/>
      <p:bldP spid="25" grpId="0" bldLvl="0" animBg="1"/>
      <p:bldP spid="26" grpId="0" bldLvl="0" animBg="1"/>
      <p:bldP spid="28" grpId="0" bldLvl="0" animBg="1"/>
      <p:bldP spid="30" grpId="0" bldLvl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0" y="1640205"/>
            <a:ext cx="8724900" cy="4486275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rgbClr val="FF0000"/>
                </a:solidFill>
              </a:rPr>
              <a:t>目标代码生成</a:t>
            </a:r>
          </a:p>
          <a:p>
            <a:pPr marL="0" indent="0">
              <a:buNone/>
            </a:pPr>
            <a:r>
              <a:rPr lang="zh-CN" altLang="en-US" sz="2400" dirty="0"/>
              <a:t>将中间代码转换成等价的、具有较高质量的目标代码，以充分利用目标机器的资源。</a:t>
            </a:r>
            <a:endParaRPr lang="en-US" altLang="zh-CN" sz="2400" dirty="0"/>
          </a:p>
          <a:p>
            <a:pPr marL="0" indent="0">
              <a:buNone/>
            </a:pPr>
            <a:r>
              <a:rPr lang="zh-CN" altLang="en-US" sz="2400" dirty="0"/>
              <a:t>依赖于</a:t>
            </a:r>
            <a:r>
              <a:rPr lang="zh-CN" altLang="en-US" sz="2400" dirty="0">
                <a:solidFill>
                  <a:srgbClr val="FF0000"/>
                </a:solidFill>
              </a:rPr>
              <a:t>硬件系统结构</a:t>
            </a:r>
            <a:r>
              <a:rPr lang="zh-CN" altLang="en-US" sz="2400" dirty="0"/>
              <a:t>和</a:t>
            </a:r>
            <a:r>
              <a:rPr lang="zh-CN" altLang="en-US" sz="2400" dirty="0">
                <a:solidFill>
                  <a:srgbClr val="FF0000"/>
                </a:solidFill>
              </a:rPr>
              <a:t>机器指令。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zh-CN" altLang="en-US" sz="2400" dirty="0"/>
              <a:t>目标代码的形式：</a:t>
            </a:r>
            <a:endParaRPr lang="en-US" altLang="zh-CN" sz="2400" dirty="0"/>
          </a:p>
          <a:p>
            <a:pPr marL="265430" indent="0">
              <a:buNone/>
            </a:pPr>
            <a:r>
              <a:rPr lang="zh-CN" altLang="en-US" sz="2000" dirty="0"/>
              <a:t>绝对机器语言代码</a:t>
            </a:r>
            <a:r>
              <a:rPr lang="en-US" altLang="zh-CN" sz="2000" dirty="0"/>
              <a:t>----</a:t>
            </a:r>
            <a:r>
              <a:rPr lang="zh-CN" altLang="en-US" sz="2000" dirty="0">
                <a:solidFill>
                  <a:srgbClr val="FF0000"/>
                </a:solidFill>
              </a:rPr>
              <a:t>可直接运行</a:t>
            </a:r>
            <a:endParaRPr lang="en-US" altLang="zh-CN" sz="2000" dirty="0">
              <a:solidFill>
                <a:srgbClr val="FF0000"/>
              </a:solidFill>
            </a:endParaRPr>
          </a:p>
          <a:p>
            <a:pPr marL="265430" indent="0">
              <a:buNone/>
            </a:pPr>
            <a:r>
              <a:rPr lang="zh-CN" altLang="en-US" sz="2000" dirty="0"/>
              <a:t>可重定位的机器语言代码</a:t>
            </a:r>
            <a:r>
              <a:rPr lang="en-US" altLang="zh-CN" sz="2000" dirty="0"/>
              <a:t>----</a:t>
            </a:r>
            <a:r>
              <a:rPr lang="zh-CN" altLang="en-US" sz="2000" dirty="0">
                <a:solidFill>
                  <a:srgbClr val="FF0000"/>
                </a:solidFill>
              </a:rPr>
              <a:t>需要连接装配</a:t>
            </a:r>
            <a:endParaRPr lang="en-US" altLang="zh-CN" sz="2000" dirty="0">
              <a:solidFill>
                <a:srgbClr val="FF0000"/>
              </a:solidFill>
            </a:endParaRPr>
          </a:p>
          <a:p>
            <a:pPr marL="265430" indent="0">
              <a:buNone/>
            </a:pPr>
            <a:r>
              <a:rPr lang="zh-CN" altLang="en-US" sz="2000" dirty="0"/>
              <a:t>汇编语言代码</a:t>
            </a:r>
            <a:r>
              <a:rPr lang="en-US" altLang="zh-CN" sz="2000" dirty="0"/>
              <a:t>----</a:t>
            </a:r>
            <a:r>
              <a:rPr lang="zh-CN" altLang="en-US" sz="2000" dirty="0">
                <a:solidFill>
                  <a:srgbClr val="FF0000"/>
                </a:solidFill>
              </a:rPr>
              <a:t>需要汇编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邓伏虎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信息与软件工程学院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22</a:t>
            </a:fld>
            <a:endParaRPr lang="zh-CN" altLang="en-US"/>
          </a:p>
        </p:txBody>
      </p:sp>
      <p:sp>
        <p:nvSpPr>
          <p:cNvPr id="15362" name="Rectangle 2"/>
          <p:cNvSpPr>
            <a:spLocks noGrp="1" noChangeArrowheads="1"/>
          </p:cNvSpPr>
          <p:nvPr>
            <p:custDataLst>
              <p:tags r:id="rId1"/>
            </p:custDataLst>
          </p:nvPr>
        </p:nvSpPr>
        <p:spPr>
          <a:xfrm>
            <a:off x="755576" y="273628"/>
            <a:ext cx="6818824" cy="10671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n-ea"/>
                <a:ea typeface="+mn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eaLnBrk="1" hangingPunct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1.3</a:t>
            </a:r>
            <a:r>
              <a:rPr lang="en-US" dirty="0"/>
              <a:t> </a:t>
            </a:r>
            <a:r>
              <a:rPr lang="zh-CN" altLang="en-US" dirty="0"/>
              <a:t>编译器的结构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0" y="1640205"/>
            <a:ext cx="9135745" cy="4486275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rgbClr val="FF0000"/>
                </a:solidFill>
              </a:rPr>
              <a:t>目标代码生成</a:t>
            </a:r>
          </a:p>
          <a:p>
            <a:pPr marL="0" indent="0">
              <a:buNone/>
            </a:pPr>
            <a:endParaRPr lang="zh-CN" altLang="en-US" sz="2000" dirty="0">
              <a:solidFill>
                <a:srgbClr val="FF0000"/>
              </a:solidFill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邓伏虎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信息与软件工程学院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23</a:t>
            </a:fld>
            <a:endParaRPr lang="zh-CN" altLang="en-US"/>
          </a:p>
        </p:txBody>
      </p:sp>
      <p:sp>
        <p:nvSpPr>
          <p:cNvPr id="15362" name="Rectangle 2"/>
          <p:cNvSpPr>
            <a:spLocks noGrp="1" noChangeArrowheads="1"/>
          </p:cNvSpPr>
          <p:nvPr>
            <p:custDataLst>
              <p:tags r:id="rId1"/>
            </p:custDataLst>
          </p:nvPr>
        </p:nvSpPr>
        <p:spPr>
          <a:xfrm>
            <a:off x="755576" y="273628"/>
            <a:ext cx="6818824" cy="10671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n-ea"/>
                <a:ea typeface="+mn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eaLnBrk="1" hangingPunct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1.3</a:t>
            </a:r>
            <a:r>
              <a:rPr lang="en-US" dirty="0"/>
              <a:t> </a:t>
            </a:r>
            <a:r>
              <a:rPr lang="zh-CN" altLang="en-US" dirty="0"/>
              <a:t>编译器的结构</a:t>
            </a:r>
          </a:p>
        </p:txBody>
      </p:sp>
      <p:sp>
        <p:nvSpPr>
          <p:cNvPr id="6" name="TextBox 3"/>
          <p:cNvSpPr txBox="1"/>
          <p:nvPr>
            <p:custDataLst>
              <p:tags r:id="rId2"/>
            </p:custDataLst>
          </p:nvPr>
        </p:nvSpPr>
        <p:spPr>
          <a:xfrm>
            <a:off x="923024" y="2342778"/>
            <a:ext cx="2160239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t1 =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inttofloat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(60)</a:t>
            </a:r>
          </a:p>
        </p:txBody>
      </p:sp>
      <p:sp>
        <p:nvSpPr>
          <p:cNvPr id="24" name="TextBox 23"/>
          <p:cNvSpPr txBox="1"/>
          <p:nvPr>
            <p:custDataLst>
              <p:tags r:id="rId3"/>
            </p:custDataLst>
          </p:nvPr>
        </p:nvSpPr>
        <p:spPr>
          <a:xfrm>
            <a:off x="899845" y="3488904"/>
            <a:ext cx="2158630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t2 = id3 *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tl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/>
          <p:cNvSpPr txBox="1"/>
          <p:nvPr>
            <p:custDataLst>
              <p:tags r:id="rId4"/>
            </p:custDataLst>
          </p:nvPr>
        </p:nvSpPr>
        <p:spPr>
          <a:xfrm>
            <a:off x="916203" y="4794726"/>
            <a:ext cx="2160240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t3 = id2 + t2</a:t>
            </a:r>
          </a:p>
        </p:txBody>
      </p:sp>
      <p:sp>
        <p:nvSpPr>
          <p:cNvPr id="26" name="TextBox 25"/>
          <p:cNvSpPr txBox="1"/>
          <p:nvPr>
            <p:custDataLst>
              <p:tags r:id="rId5"/>
            </p:custDataLst>
          </p:nvPr>
        </p:nvSpPr>
        <p:spPr>
          <a:xfrm>
            <a:off x="901453" y="5615076"/>
            <a:ext cx="2158631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id1 = t3</a:t>
            </a:r>
          </a:p>
        </p:txBody>
      </p:sp>
      <p:sp>
        <p:nvSpPr>
          <p:cNvPr id="32" name="TextBox 31"/>
          <p:cNvSpPr txBox="1"/>
          <p:nvPr>
            <p:custDataLst>
              <p:tags r:id="rId6"/>
            </p:custDataLst>
          </p:nvPr>
        </p:nvSpPr>
        <p:spPr>
          <a:xfrm>
            <a:off x="4932293" y="2889418"/>
            <a:ext cx="3168352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 R2, id3</a:t>
            </a:r>
          </a:p>
        </p:txBody>
      </p:sp>
      <p:sp>
        <p:nvSpPr>
          <p:cNvPr id="34" name="TextBox 33"/>
          <p:cNvSpPr txBox="1"/>
          <p:nvPr>
            <p:custDataLst>
              <p:tags r:id="rId7"/>
            </p:custDataLst>
          </p:nvPr>
        </p:nvSpPr>
        <p:spPr>
          <a:xfrm>
            <a:off x="4932293" y="3488904"/>
            <a:ext cx="3168352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MULF R2, R2, #60.0</a:t>
            </a:r>
          </a:p>
        </p:txBody>
      </p:sp>
      <p:sp>
        <p:nvSpPr>
          <p:cNvPr id="35" name="TextBox 34"/>
          <p:cNvSpPr txBox="1"/>
          <p:nvPr>
            <p:custDataLst>
              <p:tags r:id="rId8"/>
            </p:custDataLst>
          </p:nvPr>
        </p:nvSpPr>
        <p:spPr>
          <a:xfrm>
            <a:off x="4932185" y="4214986"/>
            <a:ext cx="3168459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 R1, id2</a:t>
            </a:r>
          </a:p>
        </p:txBody>
      </p:sp>
      <p:sp>
        <p:nvSpPr>
          <p:cNvPr id="36" name="TextBox 35"/>
          <p:cNvSpPr txBox="1"/>
          <p:nvPr>
            <p:custDataLst>
              <p:tags r:id="rId9"/>
            </p:custDataLst>
          </p:nvPr>
        </p:nvSpPr>
        <p:spPr>
          <a:xfrm>
            <a:off x="4933901" y="4794726"/>
            <a:ext cx="3166744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R1, R1, R2</a:t>
            </a:r>
          </a:p>
        </p:txBody>
      </p:sp>
      <p:sp>
        <p:nvSpPr>
          <p:cNvPr id="37" name="TextBox 36"/>
          <p:cNvSpPr txBox="1"/>
          <p:nvPr>
            <p:custDataLst>
              <p:tags r:id="rId10"/>
            </p:custDataLst>
          </p:nvPr>
        </p:nvSpPr>
        <p:spPr>
          <a:xfrm>
            <a:off x="4927886" y="5615076"/>
            <a:ext cx="3172759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STF id1, R1</a:t>
            </a:r>
          </a:p>
        </p:txBody>
      </p:sp>
      <p:sp>
        <p:nvSpPr>
          <p:cNvPr id="7" name="圆角矩形 6"/>
          <p:cNvSpPr/>
          <p:nvPr>
            <p:custDataLst>
              <p:tags r:id="rId11"/>
            </p:custDataLst>
          </p:nvPr>
        </p:nvSpPr>
        <p:spPr>
          <a:xfrm>
            <a:off x="683821" y="2852836"/>
            <a:ext cx="7632848" cy="1146126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圆角矩形 37"/>
          <p:cNvSpPr/>
          <p:nvPr>
            <p:custDataLst>
              <p:tags r:id="rId12"/>
            </p:custDataLst>
          </p:nvPr>
        </p:nvSpPr>
        <p:spPr>
          <a:xfrm>
            <a:off x="683821" y="4151362"/>
            <a:ext cx="7632848" cy="1146126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  <p:bldP spid="24" grpId="0" bldLvl="0" animBg="1"/>
      <p:bldP spid="25" grpId="0" bldLvl="0" animBg="1"/>
      <p:bldP spid="26" grpId="0" bldLvl="0" animBg="1"/>
      <p:bldP spid="32" grpId="0" bldLvl="0" animBg="1"/>
      <p:bldP spid="34" grpId="0" bldLvl="0" animBg="1"/>
      <p:bldP spid="35" grpId="0" bldLvl="0" animBg="1"/>
      <p:bldP spid="36" grpId="0" bldLvl="0" animBg="1"/>
      <p:bldP spid="37" grpId="0" bldLvl="0" animBg="1"/>
      <p:bldP spid="7" grpId="0" bldLvl="0" animBg="1"/>
      <p:bldP spid="38" grpId="0" bldLvl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0" y="1640205"/>
            <a:ext cx="9135745" cy="44862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zh-CN" altLang="en-US" dirty="0">
                <a:solidFill>
                  <a:srgbClr val="FF0000"/>
                </a:solidFill>
              </a:rPr>
              <a:t>目标代码生成</a:t>
            </a:r>
          </a:p>
          <a:p>
            <a:pPr indent="0" hangingPunct="0">
              <a:buNone/>
            </a:pP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新宋体" panose="02010609030101010101" charset="-122"/>
                <a:cs typeface="Times New Roman" panose="02020603050405020304" pitchFamily="18" charset="0"/>
                <a:sym typeface="+mn-ea"/>
              </a:rPr>
              <a:t>MIPS Instructions              Meaning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ea typeface="新宋体" panose="02010609030101010101" charset="-122"/>
              <a:cs typeface="Times New Roman" panose="02020603050405020304" pitchFamily="18" charset="0"/>
            </a:endParaRPr>
          </a:p>
          <a:p>
            <a:pPr indent="0" hangingPunct="0">
              <a:buNone/>
            </a:pPr>
            <a:endParaRPr lang="en-US" altLang="zh-CN" sz="2000" b="1" dirty="0">
              <a:solidFill>
                <a:schemeClr val="tx1"/>
              </a:solidFill>
              <a:latin typeface="Times New Roman" panose="02020603050405020304" pitchFamily="18" charset="0"/>
              <a:ea typeface="新宋体" panose="02010609030101010101" charset="-122"/>
              <a:cs typeface="Times New Roman" panose="02020603050405020304" pitchFamily="18" charset="0"/>
            </a:endParaRPr>
          </a:p>
          <a:p>
            <a:pPr indent="0" hangingPunct="0">
              <a:buNone/>
            </a:pPr>
            <a:r>
              <a:rPr lang="en-US" altLang="zh-CN" sz="2400" b="0" dirty="0">
                <a:solidFill>
                  <a:srgbClr val="FF0000"/>
                </a:solidFill>
                <a:latin typeface="Times New Roman" panose="02020603050405020304" pitchFamily="18" charset="0"/>
                <a:ea typeface="新宋体" panose="02010609030101010101" charset="-122"/>
                <a:cs typeface="Times New Roman" panose="02020603050405020304" pitchFamily="18" charset="0"/>
                <a:sym typeface="+mn-ea"/>
              </a:rPr>
              <a:t>add</a:t>
            </a:r>
            <a:r>
              <a: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  <a:ea typeface="新宋体" panose="02010609030101010101" charset="-122"/>
                <a:cs typeface="Times New Roman" panose="02020603050405020304" pitchFamily="18" charset="0"/>
                <a:sym typeface="+mn-ea"/>
              </a:rPr>
              <a:t> $s1,$s2,$s3         	</a:t>
            </a:r>
            <a:r>
              <a:rPr lang="en-US" altLang="zh-CN" sz="2400" b="0" dirty="0">
                <a:solidFill>
                  <a:srgbClr val="00B050"/>
                </a:solidFill>
                <a:latin typeface="Times New Roman" panose="02020603050405020304" pitchFamily="18" charset="0"/>
                <a:ea typeface="新宋体" panose="02010609030101010101" charset="-122"/>
                <a:cs typeface="Times New Roman" panose="02020603050405020304" pitchFamily="18" charset="0"/>
                <a:sym typeface="+mn-ea"/>
              </a:rPr>
              <a:t>$s1 = $s2 + $s3</a:t>
            </a:r>
          </a:p>
          <a:p>
            <a:pPr indent="0" hangingPunct="0">
              <a:buNone/>
            </a:pPr>
            <a:r>
              <a:rPr lang="en-US" altLang="zh-CN" sz="2400" b="0" dirty="0">
                <a:solidFill>
                  <a:srgbClr val="FF0000"/>
                </a:solidFill>
                <a:latin typeface="Times New Roman" panose="02020603050405020304" pitchFamily="18" charset="0"/>
                <a:ea typeface="新宋体" panose="02010609030101010101" charset="-122"/>
                <a:cs typeface="Times New Roman" panose="02020603050405020304" pitchFamily="18" charset="0"/>
                <a:sym typeface="+mn-ea"/>
              </a:rPr>
              <a:t>sub</a:t>
            </a:r>
            <a:r>
              <a: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  <a:ea typeface="新宋体" panose="02010609030101010101" charset="-122"/>
                <a:cs typeface="Times New Roman" panose="02020603050405020304" pitchFamily="18" charset="0"/>
                <a:sym typeface="+mn-ea"/>
              </a:rPr>
              <a:t> $s1,$s2,$s3         	</a:t>
            </a:r>
            <a:r>
              <a:rPr lang="en-US" altLang="zh-CN" sz="2400" b="0" dirty="0">
                <a:solidFill>
                  <a:srgbClr val="00B050"/>
                </a:solidFill>
                <a:latin typeface="Times New Roman" panose="02020603050405020304" pitchFamily="18" charset="0"/>
                <a:ea typeface="新宋体" panose="02010609030101010101" charset="-122"/>
                <a:cs typeface="Times New Roman" panose="02020603050405020304" pitchFamily="18" charset="0"/>
                <a:sym typeface="+mn-ea"/>
              </a:rPr>
              <a:t>$s1 = $s2 – $s3</a:t>
            </a:r>
          </a:p>
          <a:p>
            <a:pPr indent="0" hangingPunct="0">
              <a:buNone/>
            </a:pPr>
            <a:r>
              <a:rPr lang="en-US" altLang="zh-CN" sz="2400" b="0" dirty="0">
                <a:solidFill>
                  <a:srgbClr val="FF0000"/>
                </a:solidFill>
                <a:latin typeface="Times New Roman" panose="02020603050405020304" pitchFamily="18" charset="0"/>
                <a:ea typeface="新宋体" panose="02010609030101010101" charset="-122"/>
                <a:cs typeface="Times New Roman" panose="02020603050405020304" pitchFamily="18" charset="0"/>
                <a:sym typeface="+mn-ea"/>
              </a:rPr>
              <a:t>bne</a:t>
            </a:r>
            <a:r>
              <a: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  <a:ea typeface="新宋体" panose="02010609030101010101" charset="-122"/>
                <a:cs typeface="Times New Roman" panose="02020603050405020304" pitchFamily="18" charset="0"/>
                <a:sym typeface="+mn-ea"/>
              </a:rPr>
              <a:t> $s4,$s5,Label  		</a:t>
            </a:r>
            <a:r>
              <a:rPr lang="zh-CN" altLang="en-US" sz="2400" b="0" dirty="0">
                <a:solidFill>
                  <a:srgbClr val="00B050"/>
                </a:solidFill>
                <a:latin typeface="Times New Roman" panose="02020603050405020304" pitchFamily="18" charset="0"/>
                <a:ea typeface="楷体_GB2312" panose="02010609030101010101" charset="-122"/>
                <a:cs typeface="Times New Roman" panose="02020603050405020304" pitchFamily="18" charset="0"/>
                <a:sym typeface="+mn-ea"/>
              </a:rPr>
              <a:t>下一条指令在</a:t>
            </a:r>
            <a:r>
              <a:rPr lang="en-US" altLang="zh-CN" sz="2400" b="0" dirty="0">
                <a:solidFill>
                  <a:srgbClr val="00B050"/>
                </a:solidFill>
                <a:latin typeface="Times New Roman" panose="02020603050405020304" pitchFamily="18" charset="0"/>
                <a:ea typeface="新宋体" panose="02010609030101010101" charset="-122"/>
                <a:cs typeface="Times New Roman" panose="02020603050405020304" pitchFamily="18" charset="0"/>
                <a:sym typeface="+mn-ea"/>
              </a:rPr>
              <a:t> Label if $s4 ≠ $s5</a:t>
            </a:r>
            <a:r>
              <a: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  <a:ea typeface="新宋体" panose="02010609030101010101" charset="-122"/>
                <a:cs typeface="Times New Roman" panose="02020603050405020304" pitchFamily="18" charset="0"/>
                <a:sym typeface="+mn-ea"/>
              </a:rPr>
              <a:t>                   </a:t>
            </a:r>
            <a:endParaRPr lang="en-US" altLang="zh-CN" sz="2400" b="0" dirty="0">
              <a:solidFill>
                <a:schemeClr val="tx1"/>
              </a:solidFill>
              <a:latin typeface="Times New Roman" panose="02020603050405020304" pitchFamily="18" charset="0"/>
              <a:ea typeface="新宋体" panose="02010609030101010101" charset="-122"/>
              <a:cs typeface="Times New Roman" panose="02020603050405020304" pitchFamily="18" charset="0"/>
            </a:endParaRPr>
          </a:p>
          <a:p>
            <a:pPr indent="0" hangingPunct="0">
              <a:buNone/>
            </a:pPr>
            <a:r>
              <a:rPr lang="en-US" altLang="zh-CN" sz="2400" b="0" dirty="0">
                <a:solidFill>
                  <a:srgbClr val="FF0000"/>
                </a:solidFill>
                <a:latin typeface="Times New Roman" panose="02020603050405020304" pitchFamily="18" charset="0"/>
                <a:ea typeface="新宋体" panose="02010609030101010101" charset="-122"/>
                <a:cs typeface="Times New Roman" panose="02020603050405020304" pitchFamily="18" charset="0"/>
                <a:sym typeface="+mn-ea"/>
              </a:rPr>
              <a:t>beq</a:t>
            </a:r>
            <a:r>
              <a: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  <a:ea typeface="新宋体" panose="02010609030101010101" charset="-122"/>
                <a:cs typeface="Times New Roman" panose="02020603050405020304" pitchFamily="18" charset="0"/>
                <a:sym typeface="+mn-ea"/>
              </a:rPr>
              <a:t> $s4,$s5,Label  		</a:t>
            </a:r>
            <a:r>
              <a:rPr lang="zh-CN" altLang="en-US" sz="2400" b="0" dirty="0">
                <a:solidFill>
                  <a:srgbClr val="00B050"/>
                </a:solidFill>
                <a:latin typeface="Times New Roman" panose="02020603050405020304" pitchFamily="18" charset="0"/>
                <a:ea typeface="楷体_GB2312" panose="02010609030101010101" charset="-122"/>
                <a:cs typeface="Times New Roman" panose="02020603050405020304" pitchFamily="18" charset="0"/>
                <a:sym typeface="+mn-ea"/>
              </a:rPr>
              <a:t>下一条指令在</a:t>
            </a:r>
            <a:r>
              <a:rPr lang="en-US" altLang="zh-CN" sz="2400" b="0" dirty="0">
                <a:solidFill>
                  <a:srgbClr val="00B050"/>
                </a:solidFill>
                <a:latin typeface="Times New Roman" panose="02020603050405020304" pitchFamily="18" charset="0"/>
                <a:ea typeface="新宋体" panose="02010609030101010101" charset="-122"/>
                <a:cs typeface="Times New Roman" panose="02020603050405020304" pitchFamily="18" charset="0"/>
                <a:sym typeface="+mn-ea"/>
              </a:rPr>
              <a:t> Label if $s4 == $s5</a:t>
            </a:r>
            <a:r>
              <a: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  <a:ea typeface="新宋体" panose="02010609030101010101" charset="-122"/>
                <a:cs typeface="Times New Roman" panose="02020603050405020304" pitchFamily="18" charset="0"/>
                <a:sym typeface="+mn-ea"/>
              </a:rPr>
              <a:t>                  </a:t>
            </a:r>
            <a:endParaRPr lang="en-US" altLang="zh-CN" sz="2400" b="0" dirty="0">
              <a:solidFill>
                <a:schemeClr val="tx1"/>
              </a:solidFill>
              <a:latin typeface="Times New Roman" panose="02020603050405020304" pitchFamily="18" charset="0"/>
              <a:ea typeface="新宋体" panose="02010609030101010101" charset="-122"/>
              <a:cs typeface="Times New Roman" panose="02020603050405020304" pitchFamily="18" charset="0"/>
            </a:endParaRPr>
          </a:p>
          <a:p>
            <a:pPr indent="0" hangingPunct="0">
              <a:buNone/>
            </a:pPr>
            <a:r>
              <a:rPr lang="en-US" altLang="zh-CN" sz="2400" b="0" dirty="0">
                <a:solidFill>
                  <a:srgbClr val="FF0000"/>
                </a:solidFill>
                <a:latin typeface="Times New Roman" panose="02020603050405020304" pitchFamily="18" charset="0"/>
                <a:ea typeface="新宋体" panose="02010609030101010101" charset="-122"/>
                <a:cs typeface="Times New Roman" panose="02020603050405020304" pitchFamily="18" charset="0"/>
                <a:sym typeface="+mn-ea"/>
              </a:rPr>
              <a:t>     j</a:t>
            </a:r>
            <a:r>
              <a: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  <a:ea typeface="新宋体" panose="02010609030101010101" charset="-122"/>
                <a:cs typeface="Times New Roman" panose="02020603050405020304" pitchFamily="18" charset="0"/>
                <a:sym typeface="+mn-ea"/>
              </a:rPr>
              <a:t> Label               		</a:t>
            </a:r>
            <a:r>
              <a:rPr lang="zh-CN" altLang="en-US" sz="2400" b="0" dirty="0">
                <a:solidFill>
                  <a:srgbClr val="00B050"/>
                </a:solidFill>
                <a:latin typeface="Times New Roman" panose="02020603050405020304" pitchFamily="18" charset="0"/>
                <a:ea typeface="楷体_GB2312" panose="02010609030101010101" charset="-122"/>
                <a:cs typeface="Times New Roman" panose="02020603050405020304" pitchFamily="18" charset="0"/>
                <a:sym typeface="+mn-ea"/>
              </a:rPr>
              <a:t>下一条指令在</a:t>
            </a:r>
            <a:r>
              <a:rPr lang="zh-CN" altLang="en-US" sz="2400" b="0" dirty="0">
                <a:solidFill>
                  <a:srgbClr val="00B050"/>
                </a:solidFill>
                <a:latin typeface="Times New Roman" panose="02020603050405020304" pitchFamily="18" charset="0"/>
                <a:ea typeface="新宋体" panose="02010609030101010101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2400" b="0" dirty="0">
                <a:solidFill>
                  <a:srgbClr val="00B050"/>
                </a:solidFill>
                <a:latin typeface="Times New Roman" panose="02020603050405020304" pitchFamily="18" charset="0"/>
                <a:ea typeface="新宋体" panose="02010609030101010101" charset="-122"/>
                <a:cs typeface="Times New Roman" panose="02020603050405020304" pitchFamily="18" charset="0"/>
                <a:sym typeface="+mn-ea"/>
              </a:rPr>
              <a:t>Label</a:t>
            </a:r>
            <a:r>
              <a:rPr lang="zh-CN" altLang="en-US" sz="2400" b="0" dirty="0">
                <a:solidFill>
                  <a:srgbClr val="00B050"/>
                </a:solidFill>
                <a:latin typeface="Times New Roman" panose="02020603050405020304" pitchFamily="18" charset="0"/>
                <a:ea typeface="新宋体" panose="02010609030101010101" charset="-122"/>
                <a:cs typeface="Times New Roman" panose="02020603050405020304" pitchFamily="18" charset="0"/>
                <a:sym typeface="+mn-ea"/>
              </a:rPr>
              <a:t>处</a:t>
            </a:r>
            <a:endParaRPr lang="en-US" altLang="zh-CN" sz="2400" b="0" dirty="0">
              <a:solidFill>
                <a:srgbClr val="00B050"/>
              </a:solidFill>
              <a:latin typeface="Times New Roman" panose="02020603050405020304" pitchFamily="18" charset="0"/>
              <a:ea typeface="新宋体" panose="02010609030101010101" charset="-122"/>
              <a:cs typeface="Times New Roman" panose="02020603050405020304" pitchFamily="18" charset="0"/>
            </a:endParaRPr>
          </a:p>
          <a:p>
            <a:pPr indent="0" hangingPunct="0">
              <a:buNone/>
            </a:pPr>
            <a:r>
              <a:rPr lang="en-US" altLang="zh-CN" sz="2400" b="0" dirty="0">
                <a:solidFill>
                  <a:srgbClr val="FF0000"/>
                </a:solidFill>
                <a:latin typeface="Times New Roman" panose="02020603050405020304" pitchFamily="18" charset="0"/>
                <a:ea typeface="新宋体" panose="02010609030101010101" charset="-122"/>
                <a:cs typeface="Times New Roman" panose="02020603050405020304" pitchFamily="18" charset="0"/>
                <a:sym typeface="+mn-ea"/>
              </a:rPr>
              <a:t>slt</a:t>
            </a:r>
            <a:r>
              <a: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  <a:ea typeface="新宋体" panose="02010609030101010101" charset="-122"/>
                <a:cs typeface="Times New Roman" panose="02020603050405020304" pitchFamily="18" charset="0"/>
                <a:sym typeface="+mn-ea"/>
              </a:rPr>
              <a:t> $t1,$s2,$s3    		</a:t>
            </a:r>
            <a:r>
              <a:rPr lang="en-US" altLang="zh-CN" sz="2400" b="0" dirty="0">
                <a:solidFill>
                  <a:srgbClr val="00B050"/>
                </a:solidFill>
                <a:latin typeface="Times New Roman" panose="02020603050405020304" pitchFamily="18" charset="0"/>
                <a:ea typeface="新宋体" panose="02010609030101010101" charset="-122"/>
                <a:cs typeface="Times New Roman" panose="02020603050405020304" pitchFamily="18" charset="0"/>
                <a:sym typeface="+mn-ea"/>
              </a:rPr>
              <a:t>if $s2 &lt; $s3, $t1 = 1 else $t1 = 0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邓伏虎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信息与软件工程学院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24</a:t>
            </a:fld>
            <a:endParaRPr lang="zh-CN" altLang="en-US"/>
          </a:p>
        </p:txBody>
      </p:sp>
      <p:sp>
        <p:nvSpPr>
          <p:cNvPr id="15362" name="Rectangle 2"/>
          <p:cNvSpPr>
            <a:spLocks noGrp="1" noChangeArrowheads="1"/>
          </p:cNvSpPr>
          <p:nvPr>
            <p:custDataLst>
              <p:tags r:id="rId1"/>
            </p:custDataLst>
          </p:nvPr>
        </p:nvSpPr>
        <p:spPr>
          <a:xfrm>
            <a:off x="755576" y="273628"/>
            <a:ext cx="6818824" cy="10671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n-ea"/>
                <a:ea typeface="+mn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eaLnBrk="1" hangingPunct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1.3</a:t>
            </a:r>
            <a:r>
              <a:rPr lang="en-US" dirty="0"/>
              <a:t> </a:t>
            </a:r>
            <a:r>
              <a:rPr lang="zh-CN" altLang="en-US" dirty="0"/>
              <a:t>编译器的结构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0" y="1656080"/>
            <a:ext cx="9135745" cy="48679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>
                <a:solidFill>
                  <a:srgbClr val="FF0000"/>
                </a:solidFill>
              </a:rPr>
              <a:t>符号表</a:t>
            </a:r>
          </a:p>
          <a:p>
            <a:pPr marL="0" indent="0">
              <a:buNone/>
            </a:pPr>
            <a:r>
              <a:rPr lang="zh-CN" altLang="en-US" sz="2400" dirty="0"/>
              <a:t>用来保存已收集信息的一种数据结构</a:t>
            </a:r>
          </a:p>
          <a:p>
            <a:pPr marL="0" indent="0">
              <a:buNone/>
            </a:pPr>
            <a:r>
              <a:rPr lang="zh-CN" altLang="en-US" sz="2400" dirty="0">
                <a:sym typeface="+mn-ea"/>
              </a:rPr>
              <a:t>将信息从声明的地方传递到实际使用的地方</a:t>
            </a:r>
            <a:endParaRPr lang="en-US" altLang="zh-CN" sz="2400" dirty="0"/>
          </a:p>
          <a:p>
            <a:pPr marL="0" indent="0">
              <a:buNone/>
            </a:pPr>
            <a:r>
              <a:rPr lang="zh-CN" altLang="en-US" sz="2400" dirty="0">
                <a:solidFill>
                  <a:srgbClr val="FF0000"/>
                </a:solidFill>
                <a:sym typeface="+mn-ea"/>
              </a:rPr>
              <a:t>声明阶段</a:t>
            </a:r>
            <a:r>
              <a:rPr lang="zh-CN" altLang="en-US" sz="2400" dirty="0">
                <a:sym typeface="+mn-ea"/>
              </a:rPr>
              <a:t>：将信息存进符号表中</a:t>
            </a:r>
            <a:endParaRPr lang="en-US" sz="2400" dirty="0"/>
          </a:p>
          <a:p>
            <a:pPr marL="0" indent="0">
              <a:buNone/>
            </a:pPr>
            <a:r>
              <a:rPr lang="zh-CN" altLang="en-US" sz="2400" dirty="0">
                <a:solidFill>
                  <a:srgbClr val="FF0000"/>
                </a:solidFill>
                <a:sym typeface="+mn-ea"/>
              </a:rPr>
              <a:t>赋值阶段</a:t>
            </a:r>
            <a:r>
              <a:rPr lang="zh-CN" altLang="en-US" sz="2400" dirty="0">
                <a:sym typeface="+mn-ea"/>
              </a:rPr>
              <a:t>：取出符号表中的信息</a:t>
            </a:r>
            <a:endParaRPr lang="en-US" sz="2400" dirty="0"/>
          </a:p>
          <a:p>
            <a:pPr marL="0" indent="0">
              <a:buNone/>
            </a:pPr>
            <a:r>
              <a:rPr lang="zh-CN" altLang="en-US" sz="2400" dirty="0"/>
              <a:t>符号表操作：</a:t>
            </a:r>
            <a:endParaRPr lang="en-US" altLang="zh-CN" sz="2400" dirty="0"/>
          </a:p>
          <a:p>
            <a:pPr marL="265430" indent="0">
              <a:buNone/>
            </a:pPr>
            <a:r>
              <a:rPr lang="zh-CN" altLang="en-US" sz="2000" dirty="0"/>
              <a:t>识别到的名字，查询是否已经在表中。</a:t>
            </a:r>
            <a:endParaRPr lang="en-US" altLang="zh-CN" sz="2000" dirty="0"/>
          </a:p>
          <a:p>
            <a:pPr marL="265430" indent="0">
              <a:buNone/>
            </a:pPr>
            <a:r>
              <a:rPr lang="zh-CN" altLang="en-US" sz="2000" dirty="0"/>
              <a:t>将未登记的名字添加到表中。</a:t>
            </a:r>
            <a:endParaRPr lang="en-US" altLang="zh-CN" sz="2000" dirty="0"/>
          </a:p>
          <a:p>
            <a:pPr marL="265430" indent="0">
              <a:buNone/>
            </a:pPr>
            <a:r>
              <a:rPr lang="zh-CN" altLang="en-US" sz="2000" dirty="0"/>
              <a:t>访问表中给定名字的信息。</a:t>
            </a:r>
            <a:endParaRPr lang="en-US" altLang="zh-CN" sz="2000" dirty="0"/>
          </a:p>
          <a:p>
            <a:pPr marL="265430" indent="0">
              <a:buNone/>
            </a:pPr>
            <a:r>
              <a:rPr lang="zh-CN" altLang="en-US" sz="2000" dirty="0"/>
              <a:t>添加或修改表中给定名字的信息。</a:t>
            </a:r>
            <a:endParaRPr lang="en-US" altLang="zh-CN" sz="2000" dirty="0"/>
          </a:p>
          <a:p>
            <a:pPr marL="265430" indent="0">
              <a:buNone/>
            </a:pPr>
            <a:r>
              <a:rPr lang="zh-CN" altLang="en-US" sz="2000" dirty="0"/>
              <a:t>删除一个或多个无用的项。</a:t>
            </a:r>
            <a:endParaRPr lang="en-US" altLang="zh-CN" sz="2000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邓伏虎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信息与软件工程学院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25</a:t>
            </a:fld>
            <a:endParaRPr lang="zh-CN" altLang="en-US"/>
          </a:p>
        </p:txBody>
      </p:sp>
      <p:sp>
        <p:nvSpPr>
          <p:cNvPr id="15362" name="Rectangle 2"/>
          <p:cNvSpPr>
            <a:spLocks noGrp="1" noChangeArrowheads="1"/>
          </p:cNvSpPr>
          <p:nvPr>
            <p:custDataLst>
              <p:tags r:id="rId1"/>
            </p:custDataLst>
          </p:nvPr>
        </p:nvSpPr>
        <p:spPr>
          <a:xfrm>
            <a:off x="755576" y="273628"/>
            <a:ext cx="6818824" cy="10671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n-ea"/>
                <a:ea typeface="+mn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eaLnBrk="1" hangingPunct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1.3</a:t>
            </a:r>
            <a:r>
              <a:rPr lang="en-US" dirty="0"/>
              <a:t> </a:t>
            </a:r>
            <a:r>
              <a:rPr lang="zh-CN" altLang="en-US" dirty="0"/>
              <a:t>编译器的结构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0" y="1656080"/>
            <a:ext cx="9135745" cy="4867910"/>
          </a:xfrm>
        </p:spPr>
        <p:txBody>
          <a:bodyPr>
            <a:normAutofit lnSpcReduction="20000"/>
          </a:bodyPr>
          <a:lstStyle/>
          <a:p>
            <a:pPr marL="0" indent="0">
              <a:buNone/>
            </a:pPr>
            <a:r>
              <a:rPr lang="zh-CN" altLang="en-US" dirty="0">
                <a:solidFill>
                  <a:srgbClr val="FF0000"/>
                </a:solidFill>
              </a:rPr>
              <a:t>符号表</a:t>
            </a:r>
          </a:p>
          <a:p>
            <a:pPr marL="0" indent="0">
              <a:buNone/>
            </a:pPr>
            <a:r>
              <a:rPr lang="zh-CN" altLang="en-US" sz="2400" dirty="0">
                <a:sym typeface="+mn-ea"/>
              </a:rPr>
              <a:t>每个名字对应一个表项</a:t>
            </a:r>
            <a:endParaRPr lang="en-US" altLang="zh-CN" sz="2400" dirty="0"/>
          </a:p>
          <a:p>
            <a:pPr marL="0" indent="0">
              <a:buNone/>
            </a:pPr>
            <a:r>
              <a:rPr lang="zh-CN" altLang="en-US" sz="2400" dirty="0">
                <a:sym typeface="+mn-ea"/>
              </a:rPr>
              <a:t>一个表项包括</a:t>
            </a:r>
            <a:r>
              <a:rPr lang="zh-CN" altLang="en-US" sz="2400" dirty="0">
                <a:solidFill>
                  <a:srgbClr val="FF0000"/>
                </a:solidFill>
                <a:sym typeface="+mn-ea"/>
              </a:rPr>
              <a:t>名字域</a:t>
            </a:r>
            <a:r>
              <a:rPr lang="zh-CN" altLang="en-US" sz="2400" dirty="0">
                <a:sym typeface="+mn-ea"/>
              </a:rPr>
              <a:t>和</a:t>
            </a:r>
            <a:r>
              <a:rPr lang="zh-CN" altLang="en-US" sz="2400" dirty="0">
                <a:solidFill>
                  <a:srgbClr val="FF0000"/>
                </a:solidFill>
                <a:sym typeface="+mn-ea"/>
              </a:rPr>
              <a:t>属性域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endParaRPr lang="zh-CN" altLang="en-US" sz="2400" dirty="0">
              <a:sym typeface="+mn-ea"/>
            </a:endParaRPr>
          </a:p>
          <a:p>
            <a:pPr marL="0" indent="0">
              <a:buNone/>
            </a:pPr>
            <a:r>
              <a:rPr lang="zh-CN" altLang="en-US" sz="2400" dirty="0">
                <a:sym typeface="+mn-ea"/>
              </a:rPr>
              <a:t>名字域</a:t>
            </a:r>
          </a:p>
          <a:p>
            <a:pPr marL="457200" lvl="1" indent="457200">
              <a:buNone/>
            </a:pPr>
            <a:r>
              <a:rPr lang="zh-CN" altLang="en-US" sz="2400" b="1" dirty="0">
                <a:sym typeface="+mn-ea"/>
              </a:rPr>
              <a:t>名字长度、存储方式</a:t>
            </a:r>
          </a:p>
          <a:p>
            <a:pPr marL="0" indent="0">
              <a:buNone/>
            </a:pPr>
            <a:r>
              <a:rPr lang="zh-CN" altLang="en-US" sz="2400" dirty="0">
                <a:sym typeface="+mn-ea"/>
              </a:rPr>
              <a:t>属性域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>
                <a:sym typeface="+mn-ea"/>
              </a:rPr>
              <a:t>	</a:t>
            </a:r>
            <a:r>
              <a:rPr lang="zh-CN" altLang="en-US" sz="2400" dirty="0">
                <a:sym typeface="+mn-ea"/>
              </a:rPr>
              <a:t>包含多个子域及标志位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>
                <a:sym typeface="+mn-ea"/>
              </a:rPr>
              <a:t>	</a:t>
            </a:r>
            <a:r>
              <a:rPr lang="zh-CN" altLang="en-US" sz="2400" dirty="0">
                <a:sym typeface="+mn-ea"/>
              </a:rPr>
              <a:t>类型、初值、存储大小、相对地址、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>
                <a:sym typeface="+mn-ea"/>
              </a:rPr>
              <a:t>	</a:t>
            </a:r>
            <a:r>
              <a:rPr lang="zh-CN" altLang="en-US" sz="2400" dirty="0">
                <a:sym typeface="+mn-ea"/>
              </a:rPr>
              <a:t>参数个数、形参标志、说明标志、赋值标志、</a:t>
            </a:r>
            <a:endParaRPr lang="en-US" altLang="zh-CN" sz="2400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邓伏虎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信息与软件工程学院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26</a:t>
            </a:fld>
            <a:endParaRPr lang="zh-CN" altLang="en-US"/>
          </a:p>
        </p:txBody>
      </p:sp>
      <p:sp>
        <p:nvSpPr>
          <p:cNvPr id="15362" name="Rectangle 2"/>
          <p:cNvSpPr>
            <a:spLocks noGrp="1" noChangeArrowheads="1"/>
          </p:cNvSpPr>
          <p:nvPr>
            <p:custDataLst>
              <p:tags r:id="rId1"/>
            </p:custDataLst>
          </p:nvPr>
        </p:nvSpPr>
        <p:spPr>
          <a:xfrm>
            <a:off x="755576" y="273628"/>
            <a:ext cx="6818824" cy="10671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n-ea"/>
                <a:ea typeface="+mn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eaLnBrk="1" hangingPunct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1.3</a:t>
            </a:r>
            <a:r>
              <a:rPr lang="en-US" dirty="0"/>
              <a:t> </a:t>
            </a:r>
            <a:r>
              <a:rPr lang="zh-CN" altLang="en-US" dirty="0"/>
              <a:t>编译器的结构</a:t>
            </a: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996280" y="3284984"/>
          <a:ext cx="6096000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FF0000"/>
                          </a:solidFill>
                        </a:rPr>
                        <a:t>名字</a:t>
                      </a:r>
                      <a:endParaRPr lang="en-US" sz="28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FF0000"/>
                          </a:solidFill>
                        </a:rPr>
                        <a:t>属性信息</a:t>
                      </a:r>
                      <a:endParaRPr lang="en-US" sz="28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27940" y="1625600"/>
            <a:ext cx="9094470" cy="450088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zh-CN" altLang="en-US" dirty="0">
                <a:solidFill>
                  <a:srgbClr val="FF0000"/>
                </a:solidFill>
              </a:rPr>
              <a:t>出错处理</a:t>
            </a:r>
          </a:p>
          <a:p>
            <a:pPr marL="0" indent="0">
              <a:buNone/>
            </a:pPr>
            <a:r>
              <a:rPr lang="zh-CN" altLang="en-US" sz="2400" dirty="0"/>
              <a:t>编译程序各个阶段都可能发现源程序中的错误。发现错误后，编译程序就要进行</a:t>
            </a:r>
            <a:r>
              <a:rPr lang="zh-CN" altLang="en-US" sz="2400" dirty="0">
                <a:solidFill>
                  <a:schemeClr val="accent2"/>
                </a:solidFill>
              </a:rPr>
              <a:t>错误处理</a:t>
            </a:r>
            <a:r>
              <a:rPr lang="zh-CN" altLang="en-US" sz="2400" dirty="0"/>
              <a:t>，包括：报告错误的性质，发生错误的位置等。</a:t>
            </a:r>
            <a:endParaRPr lang="en-US" altLang="zh-CN" sz="2400" dirty="0"/>
          </a:p>
          <a:p>
            <a:pPr marL="302260" lvl="1" indent="0" algn="just">
              <a:buNone/>
            </a:pPr>
            <a:r>
              <a:rPr lang="zh-CN" altLang="en-US" sz="2000" b="1" dirty="0">
                <a:latin typeface="宋体" panose="02010600030101010101" pitchFamily="2" charset="-122"/>
              </a:rPr>
              <a:t>语法错误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 marL="414655" lvl="1" indent="0" algn="just">
              <a:buNone/>
            </a:pPr>
            <a:r>
              <a:rPr lang="en-US" altLang="zh-CN" sz="2000" b="1" dirty="0">
                <a:latin typeface="宋体" panose="02010600030101010101" pitchFamily="2" charset="-122"/>
              </a:rPr>
              <a:t>  </a:t>
            </a:r>
            <a:r>
              <a:rPr lang="zh-CN" altLang="en-US" sz="2000" b="1" dirty="0">
                <a:latin typeface="宋体" panose="02010600030101010101" pitchFamily="2" charset="-122"/>
              </a:rPr>
              <a:t>不符合语法（词法）规则的错误；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 marL="414655" lvl="1" indent="0" algn="just">
              <a:buNone/>
            </a:pPr>
            <a:r>
              <a:rPr lang="en-US" altLang="zh-CN" sz="2000" b="1" dirty="0">
                <a:latin typeface="宋体" panose="02010600030101010101" pitchFamily="2" charset="-122"/>
              </a:rPr>
              <a:t>  </a:t>
            </a:r>
            <a:r>
              <a:rPr lang="zh-CN" altLang="en-US" sz="2000" b="1" dirty="0">
                <a:latin typeface="宋体" panose="02010600030101010101" pitchFamily="2" charset="-122"/>
              </a:rPr>
              <a:t>非法字符、括号不匹配、缺少“</a:t>
            </a:r>
            <a:r>
              <a:rPr lang="en-US" altLang="zh-CN" sz="2000" b="1" dirty="0">
                <a:latin typeface="宋体" panose="02010600030101010101" pitchFamily="2" charset="-122"/>
              </a:rPr>
              <a:t>;</a:t>
            </a:r>
            <a:r>
              <a:rPr lang="zh-CN" altLang="en-US" sz="2000" b="1" dirty="0">
                <a:latin typeface="宋体" panose="02010600030101010101" pitchFamily="2" charset="-122"/>
              </a:rPr>
              <a:t>”</a:t>
            </a:r>
            <a:r>
              <a:rPr lang="en-US" altLang="zh-CN" sz="2000" b="1" dirty="0">
                <a:latin typeface="宋体" panose="02010600030101010101" pitchFamily="2" charset="-122"/>
              </a:rPr>
              <a:t>...</a:t>
            </a:r>
            <a:endParaRPr lang="zh-CN" altLang="en-US" sz="2000" b="1" dirty="0">
              <a:latin typeface="宋体" panose="02010600030101010101" pitchFamily="2" charset="-122"/>
            </a:endParaRPr>
          </a:p>
          <a:p>
            <a:pPr marL="302260" lvl="1" indent="0" algn="just">
              <a:buNone/>
            </a:pPr>
            <a:r>
              <a:rPr lang="zh-CN" altLang="en-US" sz="2000" b="1" dirty="0">
                <a:latin typeface="宋体" panose="02010600030101010101" pitchFamily="2" charset="-122"/>
              </a:rPr>
              <a:t>语义错误 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 marL="414655" lvl="1" indent="0" algn="just">
              <a:buNone/>
            </a:pPr>
            <a:r>
              <a:rPr lang="en-US" altLang="zh-CN" sz="2000" b="1" dirty="0">
                <a:latin typeface="宋体" panose="02010600030101010101" pitchFamily="2" charset="-122"/>
              </a:rPr>
              <a:t>  </a:t>
            </a:r>
            <a:r>
              <a:rPr lang="zh-CN" altLang="en-US" sz="2000" b="1" dirty="0">
                <a:latin typeface="宋体" panose="02010600030101010101" pitchFamily="2" charset="-122"/>
              </a:rPr>
              <a:t>不符合语义规则的错误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 marL="414655" lvl="1" indent="0" algn="just">
              <a:buNone/>
            </a:pPr>
            <a:r>
              <a:rPr lang="en-US" altLang="zh-CN" sz="2000" b="1" dirty="0">
                <a:latin typeface="宋体" panose="02010600030101010101" pitchFamily="2" charset="-122"/>
              </a:rPr>
              <a:t>  </a:t>
            </a:r>
            <a:r>
              <a:rPr lang="zh-CN" altLang="en-US" sz="2000" b="1" dirty="0">
                <a:latin typeface="宋体" panose="02010600030101010101" pitchFamily="2" charset="-122"/>
              </a:rPr>
              <a:t>说明错误、作用域错误、类型不一致、数组越界</a:t>
            </a:r>
            <a:r>
              <a:rPr lang="en-US" altLang="zh-CN" sz="2000" b="1" dirty="0">
                <a:latin typeface="宋体" panose="02010600030101010101" pitchFamily="2" charset="-122"/>
              </a:rPr>
              <a:t>...</a:t>
            </a:r>
            <a:endParaRPr lang="zh-CN" altLang="en-US" sz="2000" b="1" dirty="0">
              <a:latin typeface="宋体" panose="02010600030101010101" pitchFamily="2" charset="-122"/>
            </a:endParaRPr>
          </a:p>
          <a:p>
            <a:endParaRPr lang="zh-CN" altLang="en-US" sz="2000" b="1" dirty="0">
              <a:latin typeface="宋体" panose="02010600030101010101" pitchFamily="2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邓伏虎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信息与软件工程学院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27</a:t>
            </a:fld>
            <a:endParaRPr lang="zh-CN" altLang="en-US"/>
          </a:p>
        </p:txBody>
      </p:sp>
      <p:sp>
        <p:nvSpPr>
          <p:cNvPr id="15362" name="Rectangle 2"/>
          <p:cNvSpPr>
            <a:spLocks noGrp="1" noChangeArrowheads="1"/>
          </p:cNvSpPr>
          <p:nvPr>
            <p:custDataLst>
              <p:tags r:id="rId1"/>
            </p:custDataLst>
          </p:nvPr>
        </p:nvSpPr>
        <p:spPr>
          <a:xfrm>
            <a:off x="755576" y="273628"/>
            <a:ext cx="6818824" cy="10671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n-ea"/>
                <a:ea typeface="+mn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eaLnBrk="1" hangingPunct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1.3</a:t>
            </a:r>
            <a:r>
              <a:rPr lang="en-US" dirty="0"/>
              <a:t> </a:t>
            </a:r>
            <a:r>
              <a:rPr lang="zh-CN" altLang="en-US" dirty="0"/>
              <a:t>编译器的结构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270" y="1637030"/>
            <a:ext cx="8710295" cy="44653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>
                <a:solidFill>
                  <a:srgbClr val="FF0000"/>
                </a:solidFill>
              </a:rPr>
              <a:t>运行时环境</a:t>
            </a:r>
            <a:endParaRPr lang="en-US" altLang="zh-CN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zh-CN" altLang="en-US" sz="2400" dirty="0"/>
              <a:t>程序存储空间，数据存储空间</a:t>
            </a:r>
            <a:endParaRPr lang="en-US" altLang="zh-CN" sz="2400" dirty="0"/>
          </a:p>
          <a:p>
            <a:pPr marL="0" indent="0">
              <a:buNone/>
            </a:pPr>
            <a:r>
              <a:rPr lang="zh-CN" altLang="en-US" sz="2400" dirty="0"/>
              <a:t>静态存储分配</a:t>
            </a:r>
            <a:endParaRPr lang="en-US" altLang="zh-CN" sz="2400" dirty="0"/>
          </a:p>
          <a:p>
            <a:pPr marL="539750" indent="0">
              <a:buNone/>
            </a:pPr>
            <a:r>
              <a:rPr lang="zh-CN" altLang="en-US" sz="2000" dirty="0"/>
              <a:t>没有指针、动态分配、过程不可递</a:t>
            </a:r>
            <a:endParaRPr lang="en-US" altLang="zh-CN" sz="2000" dirty="0"/>
          </a:p>
          <a:p>
            <a:pPr marL="539750" indent="0">
              <a:buNone/>
            </a:pPr>
            <a:r>
              <a:rPr lang="zh-CN" altLang="en-US" sz="2000" dirty="0"/>
              <a:t>归调用</a:t>
            </a:r>
            <a:endParaRPr lang="en-US" altLang="zh-CN" sz="2000" dirty="0"/>
          </a:p>
          <a:p>
            <a:pPr marL="0" indent="0">
              <a:buNone/>
            </a:pPr>
            <a:r>
              <a:rPr lang="zh-CN" altLang="en-US" sz="2400" dirty="0"/>
              <a:t>栈式存储分配</a:t>
            </a:r>
            <a:endParaRPr lang="en-US" altLang="zh-CN" sz="2400" dirty="0"/>
          </a:p>
          <a:p>
            <a:pPr marL="539750" indent="0">
              <a:buNone/>
            </a:pPr>
            <a:r>
              <a:rPr lang="zh-CN" altLang="en-US" sz="2000" dirty="0"/>
              <a:t>无法预先知道存储空间大小</a:t>
            </a:r>
            <a:endParaRPr lang="en-US" altLang="zh-CN" sz="2000" dirty="0"/>
          </a:p>
          <a:p>
            <a:pPr marL="0" indent="0">
              <a:buNone/>
            </a:pPr>
            <a:r>
              <a:rPr lang="zh-CN" altLang="en-US" sz="2400" dirty="0"/>
              <a:t>堆式存储分配</a:t>
            </a:r>
            <a:endParaRPr lang="en-US" altLang="zh-CN" sz="2400" dirty="0"/>
          </a:p>
          <a:p>
            <a:pPr marL="539750" indent="0">
              <a:buNone/>
            </a:pPr>
            <a:r>
              <a:rPr lang="zh-CN" altLang="en-US" sz="2000" dirty="0"/>
              <a:t>用户自由申请和释放数据空间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邓伏虎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信息与软件工程学院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28</a:t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6143625" y="1624669"/>
            <a:ext cx="2520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过程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的目标代码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143625" y="2082165"/>
            <a:ext cx="2520315" cy="482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过程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的目标代码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6143625" y="2560955"/>
            <a:ext cx="2520315" cy="9290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ctr"/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0" name="矩形 9"/>
          <p:cNvSpPr/>
          <p:nvPr/>
        </p:nvSpPr>
        <p:spPr>
          <a:xfrm>
            <a:off x="6143625" y="3489325"/>
            <a:ext cx="2520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过程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的目标代码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143625" y="3946525"/>
            <a:ext cx="2520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Times New Roman" panose="02020603050405020304" pitchFamily="18" charset="0"/>
              </a:rPr>
              <a:t>全局和静态变量</a:t>
            </a:r>
          </a:p>
        </p:txBody>
      </p:sp>
      <p:sp>
        <p:nvSpPr>
          <p:cNvPr id="12" name="矩形 11"/>
          <p:cNvSpPr/>
          <p:nvPr/>
        </p:nvSpPr>
        <p:spPr>
          <a:xfrm>
            <a:off x="6143625" y="4403725"/>
            <a:ext cx="2520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Times New Roman" panose="02020603050405020304" pitchFamily="18" charset="0"/>
              </a:rPr>
              <a:t>栈</a:t>
            </a:r>
          </a:p>
        </p:txBody>
      </p:sp>
      <p:sp>
        <p:nvSpPr>
          <p:cNvPr id="13" name="矩形 12"/>
          <p:cNvSpPr/>
          <p:nvPr/>
        </p:nvSpPr>
        <p:spPr>
          <a:xfrm>
            <a:off x="6143625" y="4860925"/>
            <a:ext cx="2520315" cy="8966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6143625" y="5765165"/>
            <a:ext cx="2520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/>
              <a:t>堆</a:t>
            </a:r>
            <a:endParaRPr lang="en-US" sz="2400" dirty="0"/>
          </a:p>
        </p:txBody>
      </p:sp>
      <p:sp>
        <p:nvSpPr>
          <p:cNvPr id="15362" name="Rectangle 2"/>
          <p:cNvSpPr>
            <a:spLocks noGrp="1" noChangeArrowheads="1"/>
          </p:cNvSpPr>
          <p:nvPr>
            <p:custDataLst>
              <p:tags r:id="rId1"/>
            </p:custDataLst>
          </p:nvPr>
        </p:nvSpPr>
        <p:spPr>
          <a:xfrm>
            <a:off x="755576" y="273628"/>
            <a:ext cx="6818824" cy="10671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n-ea"/>
                <a:ea typeface="+mn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eaLnBrk="1" hangingPunct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1.3</a:t>
            </a:r>
            <a:r>
              <a:rPr lang="en-US" dirty="0"/>
              <a:t> </a:t>
            </a:r>
            <a:r>
              <a:rPr lang="zh-CN" altLang="en-US" dirty="0"/>
              <a:t>编译器的结构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2065" y="1772920"/>
            <a:ext cx="9105900" cy="4353560"/>
          </a:xfrm>
        </p:spPr>
        <p:txBody>
          <a:bodyPr>
            <a:normAutofit/>
          </a:bodyPr>
          <a:lstStyle/>
          <a:p>
            <a:r>
              <a:rPr lang="zh-CN" altLang="en-US" dirty="0"/>
              <a:t>提高编程效率、缩短调试时间，确保程序可靠性。</a:t>
            </a:r>
            <a:endParaRPr lang="en-US" altLang="zh-CN" dirty="0"/>
          </a:p>
          <a:p>
            <a:pPr marL="539750">
              <a:buFont typeface="Wingdings" panose="05000000000000000000" pitchFamily="2" charset="2"/>
              <a:buChar char="Ø"/>
            </a:pPr>
            <a:r>
              <a:rPr lang="zh-CN" altLang="en-US" dirty="0"/>
              <a:t>程序分析、验证、自动化测试工具</a:t>
            </a:r>
            <a:endParaRPr lang="en-US" altLang="zh-CN" dirty="0"/>
          </a:p>
          <a:p>
            <a:pPr marL="539750">
              <a:buFont typeface="Wingdings" panose="05000000000000000000" pitchFamily="2" charset="2"/>
              <a:buChar char="Ø"/>
            </a:pPr>
            <a:r>
              <a:rPr lang="zh-CN" altLang="en-US" dirty="0"/>
              <a:t>网络信息处理、网络协议的分析与实现</a:t>
            </a:r>
            <a:endParaRPr lang="en-US" altLang="zh-CN" dirty="0"/>
          </a:p>
          <a:p>
            <a:pPr marL="539750">
              <a:buFont typeface="Wingdings" panose="05000000000000000000" pitchFamily="2" charset="2"/>
              <a:buChar char="Ø"/>
            </a:pPr>
            <a:r>
              <a:rPr lang="zh-CN" altLang="en-US" dirty="0"/>
              <a:t>自然语言处理、文本分类、机器翻译系统</a:t>
            </a:r>
            <a:endParaRPr lang="en-US" altLang="zh-CN" dirty="0"/>
          </a:p>
          <a:p>
            <a:pPr marL="539750">
              <a:buFont typeface="Wingdings" panose="05000000000000000000" pitchFamily="2" charset="2"/>
              <a:buChar char="Ø"/>
            </a:pPr>
            <a:r>
              <a:rPr lang="zh-CN" altLang="en-US" dirty="0"/>
              <a:t>反病毒、恶意脚本查杀</a:t>
            </a:r>
            <a:endParaRPr lang="en-US" altLang="zh-CN" dirty="0"/>
          </a:p>
          <a:p>
            <a:pPr marL="539750">
              <a:buFont typeface="Wingdings" panose="05000000000000000000" pitchFamily="2" charset="2"/>
              <a:buChar char="Ø"/>
            </a:pPr>
            <a:r>
              <a:rPr lang="zh-CN" altLang="en-US" dirty="0"/>
              <a:t>逻辑门电路绘制</a:t>
            </a:r>
            <a:endParaRPr lang="en-US" altLang="zh-CN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邓伏虎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信息与软件工程学院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29</a:t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1.4 </a:t>
            </a:r>
            <a:r>
              <a:rPr lang="zh-CN" altLang="en-US" dirty="0"/>
              <a:t>编译技术的应用</a:t>
            </a:r>
            <a:endParaRPr 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内容占位符 12"/>
          <p:cNvSpPr>
            <a:spLocks noGrp="1"/>
          </p:cNvSpPr>
          <p:nvPr>
            <p:ph sz="quarter" idx="13"/>
          </p:nvPr>
        </p:nvSpPr>
        <p:spPr>
          <a:xfrm>
            <a:off x="307975" y="309183"/>
            <a:ext cx="8240834" cy="5070896"/>
          </a:xfrm>
        </p:spPr>
        <p:txBody>
          <a:bodyPr/>
          <a:lstStyle/>
          <a:p>
            <a:r>
              <a:rPr lang="zh-CN" altLang="en-US" dirty="0"/>
              <a:t>自动化测试工具</a:t>
            </a:r>
            <a:endParaRPr lang="en-US" dirty="0"/>
          </a:p>
        </p:txBody>
      </p:sp>
      <p:sp>
        <p:nvSpPr>
          <p:cNvPr id="7" name="AutoShape 2" descr="https://img-blog.csdn.net/20180106142156777?watermark/2/text/aHR0cDovL2Jsb2cuY3Nkbi5uZXQvd2VpeGluXzQwMTgwNjI4/font/5a6L5L2T/fontsize/400/fill/I0JBQkFCMA==/dissolve/70/gravity/SouthEas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8" name="AutoShape 4" descr="https://img-blog.csdn.net/20180106142156777?watermark/2/text/aHR0cDovL2Jsb2cuY3Nkbi5uZXQvd2VpeGluXzQwMTgwNjI4/font/5a6L5L2T/fontsize/400/fill/I0JBQkFCMA==/dissolve/70/gravity/SouthEast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9" name="AutoShape 6" descr="https://img-blog.csdn.net/20180106142156777?watermark/2/text/aHR0cDovL2Jsb2cuY3Nkbi5uZXQvd2VpeGluXzQwMTgwNjI4/font/5a6L5L2T/fontsize/400/fill/I0JBQkFCMA==/dissolve/70/gravity/SouthEast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0" name="AutoShape 8" descr="https://img-blog.csdn.net/20180106142156777?watermark/2/text/aHR0cDovL2Jsb2cuY3Nkbi5uZXQvd2VpeGluXzQwMTgwNjI4/font/5a6L5L2T/fontsize/400/fill/I0JBQkFCMA==/dissolve/70/gravity/SouthEast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1" name="AutoShape 10" descr="https://img-blog.csdn.net/20180106142156777?watermark/2/text/aHR0cDovL2Jsb2cuY3Nkbi5uZXQvd2VpeGluXzQwMTgwNjI4/font/5a6L5L2T/fontsize/400/fill/I0JBQkFCMA==/dissolve/70/gravity/SouthEast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2" name="AutoShape 12" descr="https://img-blog.csdn.net/20180106142156777?watermark/2/text/aHR0cDovL2Jsb2cuY3Nkbi5uZXQvd2VpeGluXzQwMTgwNjI4/font/5a6L5L2T/fontsize/400/fill/I0JBQkFCMA==/dissolve/70/gravity/SouthEast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pic>
        <p:nvPicPr>
          <p:cNvPr id="1037" name="Picture 13" descr="C:\Users\Fuhu\Desktop\20180106142156777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5" y="929857"/>
            <a:ext cx="4993689" cy="2609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4" descr="https://imgconvert.csdnimg.cn/aHR0cHM6Ly9tbWJpei5xcGljLmNuL21tYml6X2pwZy9vNGo3UVdpYm1TUnVvdXI2NENDNjRmR3k1SUVWOEROSWNrM1h3ZFY5bUFnaWFYM2F4VmljZWs5WWtvWmFQU3ZOQXg2T2VpYVR6SHM2WEZld215Vk01SUNGQ1EvNjQw?x-oss-process=image/format,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4819" y="3212976"/>
            <a:ext cx="6096000" cy="3181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邓伏虎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dirty="0"/>
              <a:t>信息与软件工程学院</a:t>
            </a:r>
          </a:p>
        </p:txBody>
      </p:sp>
      <p:sp>
        <p:nvSpPr>
          <p:cNvPr id="15" name="灯片编号占位符 1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30</a:t>
            </a:fld>
            <a:endParaRPr lang="zh-CN" alt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en-US" dirty="0"/>
              <a:t>网络协议分析</a:t>
            </a:r>
            <a:endParaRPr lang="en-US" dirty="0"/>
          </a:p>
        </p:txBody>
      </p:sp>
      <p:pic>
        <p:nvPicPr>
          <p:cNvPr id="2052" name="Picture 4" descr="https://timgsa.baidu.com/timg?image&amp;quality=80&amp;size=b9999_10000&amp;sec=1536139976103&amp;di=cd29561268c15c564db04e0bf6d54034&amp;imgtype=0&amp;src=http%3A%2F%2Fwww.iprotocolsec.com%2Fwp-content%2Fuploads%2F2012%2F10%2F2012-10-23-21-27-46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829" y="332656"/>
            <a:ext cx="7557134" cy="5948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日期占位符 5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邓伏虎</a:t>
            </a:r>
            <a:endParaRPr lang="zh-CN" altLang="en-US" dirty="0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dirty="0"/>
              <a:t>信息与软件工程学院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31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en-US" dirty="0"/>
              <a:t>自然语言处理</a:t>
            </a:r>
            <a:endParaRPr lang="en-US" dirty="0"/>
          </a:p>
        </p:txBody>
      </p:sp>
      <p:pic>
        <p:nvPicPr>
          <p:cNvPr id="3076" name="Picture 4" descr="https://ss1.bdstatic.com/70cFuXSh_Q1YnxGkpoWK1HF6hhy/it/u=4251195047,1301009332&amp;fm=11&amp;gp=0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908720"/>
            <a:ext cx="6283673" cy="5112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日期占位符 5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邓伏虎</a:t>
            </a:r>
            <a:endParaRPr lang="zh-CN" altLang="en-US" dirty="0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dirty="0"/>
              <a:t>信息与软件工程学院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32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en-US" dirty="0"/>
              <a:t>病毒查杀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832" y="477165"/>
            <a:ext cx="7544867" cy="577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日期占位符 5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邓伏虎</a:t>
            </a:r>
            <a:endParaRPr lang="zh-CN" altLang="en-US" dirty="0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dirty="0"/>
              <a:t>信息与软件工程学院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33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en-US" dirty="0"/>
              <a:t>逻辑门电路检测及绘制</a:t>
            </a:r>
          </a:p>
        </p:txBody>
      </p:sp>
      <p:pic>
        <p:nvPicPr>
          <p:cNvPr id="5122" name="Picture 2" descr="https://ss3.bdstatic.com/70cFv8Sh_Q1YnxGkpoWK1HF6hhy/it/u=492215297,3631181422&amp;fm=26&amp;gp=0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1484783"/>
            <a:ext cx="6912768" cy="4811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日期占位符 5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邓伏虎</a:t>
            </a:r>
            <a:endParaRPr lang="zh-CN" altLang="en-US" dirty="0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dirty="0"/>
              <a:t>信息与软件工程学院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34</a:t>
            </a:fld>
            <a:endParaRPr lang="zh-CN" alt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dirty="0">
                <a:latin typeface="+mn-ea"/>
              </a:rPr>
              <a:t>课程概述</a:t>
            </a: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dirty="0">
                <a:latin typeface="+mn-ea"/>
              </a:rPr>
              <a:t> 内容、意义、安排</a:t>
            </a:r>
            <a:endParaRPr lang="en-US" altLang="zh-CN" dirty="0">
              <a:latin typeface="+mn-ea"/>
            </a:endParaRPr>
          </a:p>
          <a:p>
            <a:pPr lvl="1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+mn-ea"/>
              </a:rPr>
              <a:t> 什么是编译程序</a:t>
            </a: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dirty="0">
                <a:latin typeface="+mn-ea"/>
              </a:rPr>
              <a:t> 翻译、编译、解释</a:t>
            </a:r>
            <a:endParaRPr lang="en-US" altLang="zh-CN" dirty="0">
              <a:latin typeface="+mn-ea"/>
            </a:endParaRPr>
          </a:p>
          <a:p>
            <a:pPr lvl="1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+mn-ea"/>
              </a:rPr>
              <a:t> 编译的基本过程</a:t>
            </a:r>
          </a:p>
          <a:p>
            <a:pPr lvl="1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+mn-ea"/>
              </a:rPr>
              <a:t> 编译程序的结构</a:t>
            </a:r>
            <a:endParaRPr lang="en-US" altLang="zh-CN" b="1" dirty="0">
              <a:latin typeface="+mn-ea"/>
            </a:endParaRPr>
          </a:p>
          <a:p>
            <a:pPr lvl="1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+mn-ea"/>
              </a:rPr>
              <a:t> 编译技术的应用</a:t>
            </a:r>
            <a:endParaRPr lang="zh-CN" altLang="en-US" sz="2900" dirty="0">
              <a:latin typeface="+mn-ea"/>
            </a:endParaRPr>
          </a:p>
          <a:p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邓伏虎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信息与软件工程学院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35</a:t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本章小结</a:t>
            </a:r>
            <a:endParaRPr lang="en-US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101deb81-e28c-4bec-bc28-840415ee17dd"/>
  <p:tag name="COMMONDATA" val="eyJoZGlkIjoiOTU2N2U5NDMyODQwMmI1ZmM5ZmFkYjFjOGNlMTU5Yjg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波形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Waveform</Template>
  <TotalTime>0</TotalTime>
  <Words>1858</Words>
  <Application>Microsoft Office PowerPoint</Application>
  <PresentationFormat>全屏显示(4:3)</PresentationFormat>
  <Paragraphs>439</Paragraphs>
  <Slides>35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45" baseType="lpstr">
      <vt:lpstr>StarSymbol</vt:lpstr>
      <vt:lpstr>华文楷体</vt:lpstr>
      <vt:lpstr>宋体</vt:lpstr>
      <vt:lpstr>Arial</vt:lpstr>
      <vt:lpstr>Calibri</vt:lpstr>
      <vt:lpstr>Candara</vt:lpstr>
      <vt:lpstr>Symbol</vt:lpstr>
      <vt:lpstr>Times New Roman</vt:lpstr>
      <vt:lpstr>Wingdings</vt:lpstr>
      <vt:lpstr>波形</vt:lpstr>
      <vt:lpstr>第1章 编译技术概述</vt:lpstr>
      <vt:lpstr>本章内容</vt:lpstr>
      <vt:lpstr>1.1 程序设计语言</vt:lpstr>
      <vt:lpstr>1.1 程序设计语言</vt:lpstr>
      <vt:lpstr>1.1 程序设计语言</vt:lpstr>
      <vt:lpstr>1.1 程序设计语言</vt:lpstr>
      <vt:lpstr>1.2 编译的作用与分类</vt:lpstr>
      <vt:lpstr>1.2 编译的作用与分类</vt:lpstr>
      <vt:lpstr>1.2 编译的作用与分类</vt:lpstr>
      <vt:lpstr>1.2 编译的作用与分类</vt:lpstr>
      <vt:lpstr>1.3 编译器的结构</vt:lpstr>
      <vt:lpstr>1.3 编译器的结构</vt:lpstr>
      <vt:lpstr>1.3 编译器的结构</vt:lpstr>
      <vt:lpstr>1.3 编译器的结构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1.4 编译技术的应用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本章小结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Fuhu Deng</dc:creator>
  <cp:lastModifiedBy>昌明 徐</cp:lastModifiedBy>
  <cp:revision>306</cp:revision>
  <dcterms:created xsi:type="dcterms:W3CDTF">2017-05-08T07:51:00Z</dcterms:created>
  <dcterms:modified xsi:type="dcterms:W3CDTF">2025-12-01T02:25:15Z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7F9BDCB526084C8E95B368035C22D105_12</vt:lpwstr>
  </property>
  <property fmtid="{D5CDD505-2E9C-101B-9397-08002B2CF9AE}" pid="3" name="KSOProductBuildVer">
    <vt:lpwstr>2052-11.1.0.14309</vt:lpwstr>
  </property>
</Properties>
</file>
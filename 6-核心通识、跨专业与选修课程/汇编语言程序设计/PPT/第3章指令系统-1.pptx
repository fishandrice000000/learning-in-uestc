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854" r:id="rId2"/>
    <p:sldMasterId id="2147483654" r:id="rId3"/>
  </p:sldMasterIdLst>
  <p:notesMasterIdLst>
    <p:notesMasterId r:id="rId101"/>
  </p:notesMasterIdLst>
  <p:handoutMasterIdLst>
    <p:handoutMasterId r:id="rId102"/>
  </p:handoutMasterIdLst>
  <p:sldIdLst>
    <p:sldId id="256" r:id="rId4"/>
    <p:sldId id="261" r:id="rId5"/>
    <p:sldId id="423" r:id="rId6"/>
    <p:sldId id="263" r:id="rId7"/>
    <p:sldId id="326" r:id="rId8"/>
    <p:sldId id="417" r:id="rId9"/>
    <p:sldId id="264" r:id="rId10"/>
    <p:sldId id="295" r:id="rId11"/>
    <p:sldId id="265" r:id="rId12"/>
    <p:sldId id="266" r:id="rId13"/>
    <p:sldId id="415" r:id="rId14"/>
    <p:sldId id="267" r:id="rId15"/>
    <p:sldId id="269" r:id="rId16"/>
    <p:sldId id="425" r:id="rId17"/>
    <p:sldId id="270" r:id="rId18"/>
    <p:sldId id="434" r:id="rId19"/>
    <p:sldId id="271" r:id="rId20"/>
    <p:sldId id="435" r:id="rId21"/>
    <p:sldId id="333" r:id="rId22"/>
    <p:sldId id="334" r:id="rId23"/>
    <p:sldId id="443" r:id="rId24"/>
    <p:sldId id="416" r:id="rId25"/>
    <p:sldId id="336" r:id="rId26"/>
    <p:sldId id="338" r:id="rId27"/>
    <p:sldId id="339" r:id="rId28"/>
    <p:sldId id="432" r:id="rId29"/>
    <p:sldId id="460" r:id="rId30"/>
    <p:sldId id="341" r:id="rId31"/>
    <p:sldId id="426" r:id="rId32"/>
    <p:sldId id="427" r:id="rId33"/>
    <p:sldId id="342" r:id="rId34"/>
    <p:sldId id="428" r:id="rId35"/>
    <p:sldId id="344" r:id="rId36"/>
    <p:sldId id="345" r:id="rId37"/>
    <p:sldId id="346" r:id="rId38"/>
    <p:sldId id="445" r:id="rId39"/>
    <p:sldId id="347" r:id="rId40"/>
    <p:sldId id="431" r:id="rId41"/>
    <p:sldId id="463" r:id="rId42"/>
    <p:sldId id="464" r:id="rId43"/>
    <p:sldId id="465" r:id="rId44"/>
    <p:sldId id="349" r:id="rId45"/>
    <p:sldId id="350" r:id="rId46"/>
    <p:sldId id="351" r:id="rId47"/>
    <p:sldId id="352" r:id="rId48"/>
    <p:sldId id="353" r:id="rId49"/>
    <p:sldId id="354" r:id="rId50"/>
    <p:sldId id="355" r:id="rId51"/>
    <p:sldId id="359" r:id="rId52"/>
    <p:sldId id="467" r:id="rId53"/>
    <p:sldId id="461" r:id="rId54"/>
    <p:sldId id="360" r:id="rId55"/>
    <p:sldId id="366" r:id="rId56"/>
    <p:sldId id="367" r:id="rId57"/>
    <p:sldId id="368" r:id="rId58"/>
    <p:sldId id="369" r:id="rId59"/>
    <p:sldId id="373" r:id="rId60"/>
    <p:sldId id="468" r:id="rId61"/>
    <p:sldId id="447" r:id="rId62"/>
    <p:sldId id="374" r:id="rId63"/>
    <p:sldId id="375" r:id="rId64"/>
    <p:sldId id="378" r:id="rId65"/>
    <p:sldId id="376" r:id="rId66"/>
    <p:sldId id="383" r:id="rId67"/>
    <p:sldId id="430" r:id="rId68"/>
    <p:sldId id="385" r:id="rId69"/>
    <p:sldId id="386" r:id="rId70"/>
    <p:sldId id="387" r:id="rId71"/>
    <p:sldId id="388" r:id="rId72"/>
    <p:sldId id="390" r:id="rId73"/>
    <p:sldId id="436" r:id="rId74"/>
    <p:sldId id="391" r:id="rId75"/>
    <p:sldId id="392" r:id="rId76"/>
    <p:sldId id="393" r:id="rId77"/>
    <p:sldId id="394" r:id="rId78"/>
    <p:sldId id="395" r:id="rId79"/>
    <p:sldId id="449" r:id="rId80"/>
    <p:sldId id="396" r:id="rId81"/>
    <p:sldId id="397" r:id="rId82"/>
    <p:sldId id="448" r:id="rId83"/>
    <p:sldId id="398" r:id="rId84"/>
    <p:sldId id="400" r:id="rId85"/>
    <p:sldId id="421" r:id="rId86"/>
    <p:sldId id="406" r:id="rId87"/>
    <p:sldId id="401" r:id="rId88"/>
    <p:sldId id="402" r:id="rId89"/>
    <p:sldId id="454" r:id="rId90"/>
    <p:sldId id="455" r:id="rId91"/>
    <p:sldId id="456" r:id="rId92"/>
    <p:sldId id="466" r:id="rId93"/>
    <p:sldId id="407" r:id="rId94"/>
    <p:sldId id="437" r:id="rId95"/>
    <p:sldId id="462" r:id="rId96"/>
    <p:sldId id="408" r:id="rId97"/>
    <p:sldId id="457" r:id="rId98"/>
    <p:sldId id="458" r:id="rId99"/>
    <p:sldId id="459" r:id="rId100"/>
  </p:sldIdLst>
  <p:sldSz cx="9144000" cy="6858000" type="screen4x3"/>
  <p:notesSz cx="6934200" cy="9398000"/>
  <p:custDataLst>
    <p:tags r:id="rId103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>
          <p15:clr>
            <a:srgbClr val="A4A3A4"/>
          </p15:clr>
        </p15:guide>
        <p15:guide id="2" pos="28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60">
          <p15:clr>
            <a:srgbClr val="A4A3A4"/>
          </p15:clr>
        </p15:guide>
        <p15:guide id="2" pos="218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50021"/>
    <a:srgbClr val="FF0000"/>
    <a:srgbClr val="FFCCFF"/>
    <a:srgbClr val="CCECFF"/>
    <a:srgbClr val="CCCCFF"/>
    <a:srgbClr val="CC99FF"/>
    <a:srgbClr val="DFC0FF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84" autoAdjust="0"/>
    <p:restoredTop sz="94607" autoAdjust="0"/>
  </p:normalViewPr>
  <p:slideViewPr>
    <p:cSldViewPr>
      <p:cViewPr varScale="1">
        <p:scale>
          <a:sx n="92" d="100"/>
          <a:sy n="92" d="100"/>
        </p:scale>
        <p:origin x="808" y="60"/>
      </p:cViewPr>
      <p:guideLst>
        <p:guide orient="horz" pos="4032"/>
        <p:guide pos="2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518"/>
    </p:cViewPr>
  </p:sorterViewPr>
  <p:notesViewPr>
    <p:cSldViewPr>
      <p:cViewPr varScale="1">
        <p:scale>
          <a:sx n="58" d="100"/>
          <a:sy n="58" d="100"/>
        </p:scale>
        <p:origin x="-1794" y="-78"/>
      </p:cViewPr>
      <p:guideLst>
        <p:guide orient="horz" pos="2960"/>
        <p:guide pos="218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6" Type="http://schemas.openxmlformats.org/officeDocument/2006/relationships/slide" Target="slides/slide13.xml"/><Relationship Id="rId107" Type="http://schemas.openxmlformats.org/officeDocument/2006/relationships/tableStyles" Target="tableStyles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tags" Target="tags/tag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6" Type="http://schemas.openxmlformats.org/officeDocument/2006/relationships/theme" Target="theme/theme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fld id="{D762BCE2-013F-4C4A-8949-995CC94A527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35560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8547" name="Rectangle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079500" y="685800"/>
            <a:ext cx="4775200" cy="3581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95800"/>
            <a:ext cx="5105400" cy="4191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AF4C3DBF-D7C0-4B9E-B91E-E5E1EECCEA6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11235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02D3917F-2920-4A9C-9B4B-B5F3915E4661}" type="slidenum">
              <a:rPr lang="zh-CN" altLang="en-US" smtClean="0"/>
              <a:pPr eaLnBrk="1" hangingPunct="1"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3469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93FCF000-6268-410E-9F9C-5025E4ADDC4A}" type="slidenum">
              <a:rPr lang="zh-CN" altLang="en-US" smtClean="0"/>
              <a:pPr eaLnBrk="1" hangingPunct="1"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844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996E5B3F-02FE-43BC-B9D6-CBB0694F67F7}" type="slidenum">
              <a:rPr lang="zh-CN" altLang="en-US" smtClean="0"/>
              <a:pPr eaLnBrk="1" hangingPunct="1">
                <a:spcBef>
                  <a:spcPct val="0"/>
                </a:spcBef>
              </a:pPr>
              <a:t>3</a:t>
            </a:fld>
            <a:endParaRPr lang="en-US" altLang="zh-CN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354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1168FC8F-E7A6-426D-B4E4-B3F9CBD54211}" type="slidenum">
              <a:rPr lang="zh-CN" altLang="en-US" smtClean="0"/>
              <a:pPr eaLnBrk="1" hangingPunct="1">
                <a:spcBef>
                  <a:spcPct val="0"/>
                </a:spcBef>
              </a:pPr>
              <a:t>4</a:t>
            </a:fld>
            <a:endParaRPr lang="en-US" altLang="zh-CN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38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E9214ED-B73E-467A-8CB6-9F5E50D76772}" type="slidenum">
              <a:rPr lang="zh-CN" altLang="en-US" smtClean="0"/>
              <a:pPr eaLnBrk="1" hangingPunct="1">
                <a:spcBef>
                  <a:spcPct val="0"/>
                </a:spcBef>
              </a:pPr>
              <a:t>5</a:t>
            </a:fld>
            <a:endParaRPr lang="en-US" altLang="zh-CN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76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A9AC6AD-2E11-474E-9A3F-BDF22A020C68}" type="slidenum">
              <a:rPr lang="zh-CN" altLang="en-US" smtClean="0"/>
              <a:pPr eaLnBrk="1" hangingPunct="1"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61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7B0A315E-C793-4437-91FE-406B4434E49B}" type="slidenum">
              <a:rPr lang="zh-CN" altLang="en-US" smtClean="0"/>
              <a:pPr eaLnBrk="1" hangingPunct="1">
                <a:spcBef>
                  <a:spcPct val="0"/>
                </a:spcBef>
              </a:pPr>
              <a:t>7</a:t>
            </a:fld>
            <a:endParaRPr lang="en-US" altLang="zh-CN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981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02D14F0D-B07A-4790-80AA-C24DE3F8C99C}" type="slidenum">
              <a:rPr lang="zh-CN" altLang="en-US" smtClean="0"/>
              <a:pPr eaLnBrk="1" hangingPunct="1">
                <a:spcBef>
                  <a:spcPct val="0"/>
                </a:spcBef>
              </a:pPr>
              <a:t>8</a:t>
            </a:fld>
            <a:endParaRPr lang="en-US" altLang="zh-CN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740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484F5D04-5546-45E5-95E1-04CE2F1BBC0C}" type="slidenum">
              <a:rPr lang="zh-CN" altLang="en-US" smtClean="0"/>
              <a:pPr eaLnBrk="1" hangingPunct="1"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9389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927C6E62-E945-4FAC-BE59-48EB48B9CBC9}" type="slidenum">
              <a:rPr lang="zh-CN" altLang="en-US" smtClean="0"/>
              <a:pPr eaLnBrk="1" hangingPunct="1">
                <a:spcBef>
                  <a:spcPct val="0"/>
                </a:spcBef>
              </a:pPr>
              <a:t>10</a:t>
            </a:fld>
            <a:endParaRPr lang="en-US" altLang="zh-CN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5191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85097E7E-5551-442E-BA24-F86954850FD5}" type="slidenum">
              <a:rPr lang="zh-CN" altLang="en-US" smtClean="0"/>
              <a:pPr eaLnBrk="1" hangingPunct="1">
                <a:spcBef>
                  <a:spcPct val="0"/>
                </a:spcBef>
              </a:pPr>
              <a:t>11</a:t>
            </a:fld>
            <a:endParaRPr lang="en-US" altLang="zh-CN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1778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BB41F3B-B5CA-4527-B54B-89F99469F725}" type="slidenum">
              <a:rPr lang="zh-CN" altLang="en-US" smtClean="0"/>
              <a:pPr eaLnBrk="1" hangingPunct="1">
                <a:spcBef>
                  <a:spcPct val="0"/>
                </a:spcBef>
              </a:pPr>
              <a:t>12</a:t>
            </a:fld>
            <a:endParaRPr lang="en-US" altLang="zh-CN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5105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2A0C525F-EAE2-4EB6-999B-5675DFFC48DF}" type="slidenum">
              <a:rPr lang="zh-CN" altLang="en-US" smtClean="0"/>
              <a:pPr eaLnBrk="1" hangingPunct="1">
                <a:spcBef>
                  <a:spcPct val="0"/>
                </a:spcBef>
              </a:pPr>
              <a:t>13</a:t>
            </a:fld>
            <a:endParaRPr lang="en-US" altLang="zh-CN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4782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2382E586-7308-49D2-9E63-9E97143DDDAC}" type="slidenum">
              <a:rPr lang="zh-CN" altLang="en-US" smtClean="0"/>
              <a:pPr eaLnBrk="1" hangingPunct="1">
                <a:spcBef>
                  <a:spcPct val="0"/>
                </a:spcBef>
              </a:pPr>
              <a:t>14</a:t>
            </a:fld>
            <a:endParaRPr lang="en-US" altLang="zh-CN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2342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08E0DD48-3161-4992-8363-9E48033F55CF}" type="slidenum">
              <a:rPr lang="zh-CN" altLang="en-US" smtClean="0"/>
              <a:pPr eaLnBrk="1" hangingPunct="1">
                <a:spcBef>
                  <a:spcPct val="0"/>
                </a:spcBef>
              </a:pPr>
              <a:t>15</a:t>
            </a:fld>
            <a:endParaRPr lang="en-US" altLang="zh-CN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4784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07E9D62E-C10E-41AD-AF1F-97545578EEBE}" type="slidenum">
              <a:rPr lang="zh-CN" altLang="en-US" smtClean="0"/>
              <a:pPr eaLnBrk="1" hangingPunct="1">
                <a:spcBef>
                  <a:spcPct val="0"/>
                </a:spcBef>
              </a:pPr>
              <a:t>17</a:t>
            </a:fld>
            <a:endParaRPr lang="en-US" altLang="zh-CN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6174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1B00A832-7476-4FD0-8315-0CFA4D7888F4}" type="slidenum">
              <a:rPr lang="zh-CN" altLang="en-US" smtClean="0"/>
              <a:pPr eaLnBrk="1" hangingPunct="1">
                <a:spcBef>
                  <a:spcPct val="0"/>
                </a:spcBef>
              </a:pPr>
              <a:t>18</a:t>
            </a:fld>
            <a:endParaRPr lang="en-US" altLang="zh-CN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030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B5F5A892-DE55-4A8B-898B-99FE6D290201}" type="slidenum">
              <a:rPr lang="zh-CN" altLang="en-US" smtClean="0"/>
              <a:pPr eaLnBrk="1" hangingPunct="1">
                <a:spcBef>
                  <a:spcPct val="0"/>
                </a:spcBef>
              </a:pPr>
              <a:t>19</a:t>
            </a:fld>
            <a:endParaRPr lang="en-US" altLang="zh-CN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9195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7A3CFBA6-CE4A-4B66-BF12-6D61AA81C7D1}" type="slidenum">
              <a:rPr lang="zh-CN" altLang="en-US" smtClean="0"/>
              <a:pPr eaLnBrk="1" hangingPunct="1">
                <a:spcBef>
                  <a:spcPct val="0"/>
                </a:spcBef>
              </a:pPr>
              <a:t>20</a:t>
            </a:fld>
            <a:endParaRPr lang="en-US" altLang="zh-CN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6659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164CB268-DCCC-40DA-9BD4-BBBE59597C1D}" type="slidenum">
              <a:rPr lang="zh-CN" altLang="en-US" smtClean="0"/>
              <a:pPr eaLnBrk="1" hangingPunct="1">
                <a:spcBef>
                  <a:spcPct val="0"/>
                </a:spcBef>
              </a:pPr>
              <a:t>22</a:t>
            </a:fld>
            <a:endParaRPr lang="en-US" altLang="zh-CN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826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2CA76066-25E1-41E4-BB58-3CA23A154693}" type="slidenum">
              <a:rPr lang="zh-CN" altLang="en-US" smtClean="0"/>
              <a:pPr eaLnBrk="1" hangingPunct="1">
                <a:spcBef>
                  <a:spcPct val="0"/>
                </a:spcBef>
              </a:pPr>
              <a:t>23</a:t>
            </a:fld>
            <a:endParaRPr lang="en-US" altLang="zh-CN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/>
              <a:t>32</a:t>
            </a:r>
            <a:r>
              <a:rPr lang="zh-CN" altLang="en-US" dirty="0"/>
              <a:t>位模式下，偏移地址为</a:t>
            </a:r>
            <a:r>
              <a:rPr lang="en-US" altLang="zh-CN" dirty="0"/>
              <a:t>32</a:t>
            </a:r>
            <a:r>
              <a:rPr lang="zh-CN" altLang="en-US" dirty="0"/>
              <a:t>位，故不能使用</a:t>
            </a:r>
            <a:r>
              <a:rPr lang="en-US" altLang="zh-CN" dirty="0"/>
              <a:t>16</a:t>
            </a:r>
            <a:r>
              <a:rPr lang="zh-CN" altLang="en-US" dirty="0"/>
              <a:t>寄存器作间址寄存器。</a:t>
            </a:r>
          </a:p>
        </p:txBody>
      </p:sp>
    </p:spTree>
    <p:extLst>
      <p:ext uri="{BB962C8B-B14F-4D97-AF65-F5344CB8AC3E}">
        <p14:creationId xmlns:p14="http://schemas.microsoft.com/office/powerpoint/2010/main" val="36824343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B3351F45-1E0E-458C-AC54-8C0540E7BDAA}" type="slidenum">
              <a:rPr lang="zh-CN" altLang="en-US" smtClean="0"/>
              <a:pPr eaLnBrk="1" hangingPunct="1">
                <a:spcBef>
                  <a:spcPct val="0"/>
                </a:spcBef>
              </a:pPr>
              <a:t>24</a:t>
            </a:fld>
            <a:endParaRPr lang="en-US" altLang="zh-CN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41873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150941DE-F2A5-45A6-81D1-7DCA8D9E7E43}" type="slidenum">
              <a:rPr lang="zh-CN" altLang="en-US" smtClean="0"/>
              <a:pPr eaLnBrk="1" hangingPunct="1">
                <a:spcBef>
                  <a:spcPct val="0"/>
                </a:spcBef>
              </a:pPr>
              <a:t>25</a:t>
            </a:fld>
            <a:endParaRPr lang="en-US" altLang="zh-CN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9714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E42A6964-A660-4238-BFC7-8D4789E09058}" type="slidenum">
              <a:rPr lang="zh-CN" altLang="en-US" smtClean="0"/>
              <a:pPr eaLnBrk="1" hangingPunct="1">
                <a:spcBef>
                  <a:spcPct val="0"/>
                </a:spcBef>
              </a:pPr>
              <a:t>28</a:t>
            </a:fld>
            <a:endParaRPr lang="en-US" altLang="zh-CN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6079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7397AC9B-29F6-41D3-83BF-80FDA2D1D420}" type="slidenum">
              <a:rPr lang="zh-CN" altLang="en-US" smtClean="0"/>
              <a:pPr eaLnBrk="1" hangingPunct="1">
                <a:spcBef>
                  <a:spcPct val="0"/>
                </a:spcBef>
              </a:pPr>
              <a:t>29</a:t>
            </a:fld>
            <a:endParaRPr lang="en-US" altLang="zh-CN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2983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52ABAD30-12FE-49DC-84B1-0873F0463AF9}" type="slidenum">
              <a:rPr lang="zh-CN" altLang="en-US" smtClean="0"/>
              <a:pPr eaLnBrk="1" hangingPunct="1">
                <a:spcBef>
                  <a:spcPct val="0"/>
                </a:spcBef>
              </a:pPr>
              <a:t>30</a:t>
            </a:fld>
            <a:endParaRPr lang="en-US" altLang="zh-CN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4801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73E4FC57-2E64-4892-A931-48E6B6008C56}" type="slidenum">
              <a:rPr lang="zh-CN" altLang="en-US" smtClean="0"/>
              <a:pPr eaLnBrk="1" hangingPunct="1">
                <a:spcBef>
                  <a:spcPct val="0"/>
                </a:spcBef>
              </a:pPr>
              <a:t>31</a:t>
            </a:fld>
            <a:endParaRPr lang="en-US" altLang="zh-CN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3873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997C4A0-DDBA-4088-8EC0-F5F597514B23}" type="slidenum">
              <a:rPr lang="zh-CN" altLang="en-US" smtClean="0"/>
              <a:pPr eaLnBrk="1" hangingPunct="1">
                <a:spcBef>
                  <a:spcPct val="0"/>
                </a:spcBef>
              </a:pPr>
              <a:t>32</a:t>
            </a:fld>
            <a:endParaRPr lang="en-US" altLang="zh-CN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6693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C5189A9D-347B-4BFF-8F1B-815F85E1567A}" type="slidenum">
              <a:rPr lang="zh-CN" altLang="en-US" smtClean="0"/>
              <a:pPr eaLnBrk="1" hangingPunct="1">
                <a:spcBef>
                  <a:spcPct val="0"/>
                </a:spcBef>
              </a:pPr>
              <a:t>33</a:t>
            </a:fld>
            <a:endParaRPr lang="en-US" altLang="zh-CN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1198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43A0F5A7-B319-435D-8D30-EC670143B362}" type="slidenum">
              <a:rPr lang="zh-CN" altLang="en-US" smtClean="0"/>
              <a:pPr eaLnBrk="1" hangingPunct="1">
                <a:spcBef>
                  <a:spcPct val="0"/>
                </a:spcBef>
              </a:pPr>
              <a:t>34</a:t>
            </a:fld>
            <a:endParaRPr lang="en-US" altLang="zh-CN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894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F496E101-CA89-4364-9166-8A4C2BF8F092}" type="slidenum">
              <a:rPr lang="zh-CN" altLang="en-US" smtClean="0"/>
              <a:pPr eaLnBrk="1" hangingPunct="1">
                <a:spcBef>
                  <a:spcPct val="0"/>
                </a:spcBef>
              </a:pPr>
              <a:t>35</a:t>
            </a:fld>
            <a:endParaRPr lang="en-US" altLang="zh-CN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7405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24D64608-5596-454E-9C87-60A42603427E}" type="slidenum">
              <a:rPr lang="zh-CN" altLang="en-US" smtClean="0"/>
              <a:pPr eaLnBrk="1" hangingPunct="1">
                <a:spcBef>
                  <a:spcPct val="0"/>
                </a:spcBef>
              </a:pPr>
              <a:t>37</a:t>
            </a:fld>
            <a:endParaRPr lang="en-US" altLang="zh-CN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2761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9A29E087-CC67-4C51-9F3F-ADF506F16FA0}" type="slidenum">
              <a:rPr lang="zh-CN" altLang="en-US" smtClean="0"/>
              <a:pPr eaLnBrk="1" hangingPunct="1">
                <a:spcBef>
                  <a:spcPct val="0"/>
                </a:spcBef>
              </a:pPr>
              <a:t>42</a:t>
            </a:fld>
            <a:endParaRPr lang="en-US" altLang="zh-CN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003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FD854038-5A2C-4335-88FD-0FF2A05A47E6}" type="slidenum">
              <a:rPr lang="zh-CN" altLang="en-US" smtClean="0"/>
              <a:pPr eaLnBrk="1" hangingPunct="1">
                <a:spcBef>
                  <a:spcPct val="0"/>
                </a:spcBef>
              </a:pPr>
              <a:t>43</a:t>
            </a:fld>
            <a:endParaRPr lang="en-US" altLang="zh-CN"/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4879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F9B43000-E4C2-4CE7-992D-40BA04E111F8}" type="slidenum">
              <a:rPr lang="zh-CN" altLang="en-US" smtClean="0"/>
              <a:pPr eaLnBrk="1" hangingPunct="1">
                <a:spcBef>
                  <a:spcPct val="0"/>
                </a:spcBef>
              </a:pPr>
              <a:t>44</a:t>
            </a:fld>
            <a:endParaRPr lang="en-US" altLang="zh-CN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7509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36623112-8158-48DC-A5E2-D379036FC76B}" type="slidenum">
              <a:rPr lang="zh-CN" altLang="en-US" smtClean="0"/>
              <a:pPr eaLnBrk="1" hangingPunct="1">
                <a:spcBef>
                  <a:spcPct val="0"/>
                </a:spcBef>
              </a:pPr>
              <a:t>45</a:t>
            </a:fld>
            <a:endParaRPr lang="en-US" altLang="zh-CN"/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1510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731E0BFB-3696-40CD-B901-6352FF1EB3A3}" type="slidenum">
              <a:rPr lang="zh-CN" altLang="en-US" smtClean="0"/>
              <a:pPr eaLnBrk="1" hangingPunct="1">
                <a:spcBef>
                  <a:spcPct val="0"/>
                </a:spcBef>
              </a:pPr>
              <a:t>46</a:t>
            </a:fld>
            <a:endParaRPr lang="en-US" altLang="zh-CN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6351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460FAA0B-6962-4750-9941-24B90A025CA1}" type="slidenum">
              <a:rPr lang="zh-CN" altLang="en-US" smtClean="0"/>
              <a:pPr eaLnBrk="1" hangingPunct="1">
                <a:spcBef>
                  <a:spcPct val="0"/>
                </a:spcBef>
              </a:pPr>
              <a:t>47</a:t>
            </a:fld>
            <a:endParaRPr lang="en-US" altLang="zh-CN"/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22065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C1DF76F6-D902-4777-8197-A80BDB5ED5D1}" type="slidenum">
              <a:rPr lang="zh-CN" altLang="en-US" smtClean="0"/>
              <a:pPr eaLnBrk="1" hangingPunct="1">
                <a:spcBef>
                  <a:spcPct val="0"/>
                </a:spcBef>
              </a:pPr>
              <a:t>48</a:t>
            </a:fld>
            <a:endParaRPr lang="en-US" altLang="zh-CN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71644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D9DF946-7133-4979-BB6A-6FB5BEFE8CFE}" type="slidenum">
              <a:rPr lang="zh-CN" altLang="en-US" smtClean="0"/>
              <a:pPr eaLnBrk="1" hangingPunct="1">
                <a:spcBef>
                  <a:spcPct val="0"/>
                </a:spcBef>
              </a:pPr>
              <a:t>49</a:t>
            </a:fld>
            <a:endParaRPr lang="en-US" altLang="zh-CN"/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73224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BA00D61B-ECD1-4DEA-B3D3-1B7C51456E63}" type="slidenum">
              <a:rPr lang="zh-CN" altLang="en-US" smtClean="0"/>
              <a:pPr eaLnBrk="1" hangingPunct="1">
                <a:spcBef>
                  <a:spcPct val="0"/>
                </a:spcBef>
              </a:pPr>
              <a:t>52</a:t>
            </a:fld>
            <a:endParaRPr lang="en-US" altLang="zh-CN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962394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3599F61-89BA-44B7-96FB-85C41629AA2E}" type="slidenum">
              <a:rPr lang="zh-CN" altLang="en-US" smtClean="0"/>
              <a:pPr eaLnBrk="1" hangingPunct="1">
                <a:spcBef>
                  <a:spcPct val="0"/>
                </a:spcBef>
              </a:pPr>
              <a:t>53</a:t>
            </a:fld>
            <a:endParaRPr lang="en-US" altLang="zh-CN"/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03200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78615BB-9D63-41ED-8EB2-FD2CF71C130D}" type="slidenum">
              <a:rPr lang="zh-CN" altLang="en-US" smtClean="0"/>
              <a:pPr eaLnBrk="1" hangingPunct="1">
                <a:spcBef>
                  <a:spcPct val="0"/>
                </a:spcBef>
              </a:pPr>
              <a:t>54</a:t>
            </a:fld>
            <a:endParaRPr lang="en-US" altLang="zh-CN"/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6547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78ADBF18-783B-4547-BF0A-CE5CCCBAE5CC}" type="slidenum">
              <a:rPr lang="zh-CN" altLang="en-US" smtClean="0"/>
              <a:pPr eaLnBrk="1" hangingPunct="1">
                <a:spcBef>
                  <a:spcPct val="0"/>
                </a:spcBef>
              </a:pPr>
              <a:t>55</a:t>
            </a:fld>
            <a:endParaRPr lang="en-US" altLang="zh-CN"/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41008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47033BC4-7935-43DE-98C0-227A8E3D0BCC}" type="slidenum">
              <a:rPr lang="zh-CN" altLang="en-US" smtClean="0"/>
              <a:pPr eaLnBrk="1" hangingPunct="1">
                <a:spcBef>
                  <a:spcPct val="0"/>
                </a:spcBef>
              </a:pPr>
              <a:t>56</a:t>
            </a:fld>
            <a:endParaRPr lang="en-US" altLang="zh-CN"/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03195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A215F50C-5DEF-44D7-8D30-D59413BA0640}" type="slidenum">
              <a:rPr lang="zh-CN" altLang="en-US" smtClean="0"/>
              <a:pPr eaLnBrk="1" hangingPunct="1">
                <a:spcBef>
                  <a:spcPct val="0"/>
                </a:spcBef>
              </a:pPr>
              <a:t>57</a:t>
            </a:fld>
            <a:endParaRPr lang="en-US" altLang="zh-CN"/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/>
              <a:t>Lea</a:t>
            </a:r>
            <a:r>
              <a:rPr lang="zh-CN" altLang="en-US" dirty="0"/>
              <a:t>指令在</a:t>
            </a:r>
            <a:r>
              <a:rPr lang="en-US" altLang="zh-CN" dirty="0"/>
              <a:t>32</a:t>
            </a:r>
            <a:r>
              <a:rPr lang="zh-CN" altLang="en-US" dirty="0"/>
              <a:t>位模式下目标操作数也可以使用</a:t>
            </a:r>
            <a:r>
              <a:rPr lang="en-US" altLang="zh-CN" dirty="0"/>
              <a:t>16</a:t>
            </a:r>
            <a:r>
              <a:rPr lang="zh-CN" altLang="en-US" dirty="0"/>
              <a:t>位通用寄存器，虽然偏移地址为</a:t>
            </a:r>
            <a:r>
              <a:rPr lang="en-US" altLang="zh-CN" dirty="0"/>
              <a:t>32</a:t>
            </a:r>
            <a:r>
              <a:rPr lang="zh-CN" altLang="en-US" dirty="0"/>
              <a:t>位，但这时只把低</a:t>
            </a:r>
            <a:r>
              <a:rPr lang="en-US" altLang="zh-CN" dirty="0"/>
              <a:t>16</a:t>
            </a:r>
            <a:r>
              <a:rPr lang="zh-CN" altLang="en-US" dirty="0"/>
              <a:t>位赋给目标寄存器，可能会发生逻辑错误，但指令没有语法错误。</a:t>
            </a:r>
          </a:p>
        </p:txBody>
      </p:sp>
    </p:spTree>
    <p:extLst>
      <p:ext uri="{BB962C8B-B14F-4D97-AF65-F5344CB8AC3E}">
        <p14:creationId xmlns:p14="http://schemas.microsoft.com/office/powerpoint/2010/main" val="203027701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C3DBF-D7C0-4B9E-B91E-E5E1EECCEA62}" type="slidenum">
              <a:rPr lang="zh-CN" altLang="en-US" smtClean="0"/>
              <a:pPr>
                <a:defRPr/>
              </a:pPr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45079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847A37C-1FF9-4C31-BBCC-0C9FE6366FE4}" type="slidenum">
              <a:rPr lang="zh-CN" altLang="en-US" smtClean="0"/>
              <a:pPr eaLnBrk="1" hangingPunct="1">
                <a:spcBef>
                  <a:spcPct val="0"/>
                </a:spcBef>
              </a:pPr>
              <a:t>60</a:t>
            </a:fld>
            <a:endParaRPr lang="en-US" altLang="zh-CN"/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57581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08B5D684-DA17-4871-B19F-93B202B401C8}" type="slidenum">
              <a:rPr lang="zh-CN" altLang="en-US" smtClean="0"/>
              <a:pPr eaLnBrk="1" hangingPunct="1">
                <a:spcBef>
                  <a:spcPct val="0"/>
                </a:spcBef>
              </a:pPr>
              <a:t>61</a:t>
            </a:fld>
            <a:endParaRPr lang="en-US" altLang="zh-CN"/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8899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463510C1-4EAD-4740-B625-570E877CA5E2}" type="slidenum">
              <a:rPr lang="zh-CN" altLang="en-US" smtClean="0"/>
              <a:pPr eaLnBrk="1" hangingPunct="1">
                <a:spcBef>
                  <a:spcPct val="0"/>
                </a:spcBef>
              </a:pPr>
              <a:t>62</a:t>
            </a:fld>
            <a:endParaRPr lang="en-US" altLang="zh-CN"/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24816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FD724233-11C5-47B2-9FD2-9DF7A62DCB52}" type="slidenum">
              <a:rPr lang="zh-CN" altLang="en-US" smtClean="0"/>
              <a:pPr eaLnBrk="1" hangingPunct="1">
                <a:spcBef>
                  <a:spcPct val="0"/>
                </a:spcBef>
              </a:pPr>
              <a:t>63</a:t>
            </a:fld>
            <a:endParaRPr lang="en-US" altLang="zh-CN"/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54123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B43BFC1A-0895-4ECE-A798-2650D0752491}" type="slidenum">
              <a:rPr lang="zh-CN" altLang="en-US" smtClean="0"/>
              <a:pPr eaLnBrk="1" hangingPunct="1">
                <a:spcBef>
                  <a:spcPct val="0"/>
                </a:spcBef>
              </a:pPr>
              <a:t>64</a:t>
            </a:fld>
            <a:endParaRPr lang="en-US" altLang="zh-CN"/>
          </a:p>
        </p:txBody>
      </p:sp>
      <p:sp>
        <p:nvSpPr>
          <p:cNvPr id="178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43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F0E6B29D-6293-42F1-832C-03E3C71C1B9F}" type="slidenum">
              <a:rPr lang="zh-CN" altLang="en-US" smtClean="0"/>
              <a:pPr eaLnBrk="1" hangingPunct="1">
                <a:spcBef>
                  <a:spcPct val="0"/>
                </a:spcBef>
              </a:pPr>
              <a:t>65</a:t>
            </a:fld>
            <a:endParaRPr lang="en-US" altLang="zh-CN"/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28742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50E85A38-1483-4CDD-96C9-6C816DDA0E9B}" type="slidenum">
              <a:rPr lang="zh-CN" altLang="en-US" smtClean="0"/>
              <a:pPr eaLnBrk="1" hangingPunct="1">
                <a:spcBef>
                  <a:spcPct val="0"/>
                </a:spcBef>
              </a:pPr>
              <a:t>66</a:t>
            </a:fld>
            <a:endParaRPr lang="en-US" altLang="zh-CN"/>
          </a:p>
        </p:txBody>
      </p:sp>
      <p:sp>
        <p:nvSpPr>
          <p:cNvPr id="181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55137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35AD27AA-AEF7-419B-9BFD-A699EF8EFE34}" type="slidenum">
              <a:rPr lang="zh-CN" altLang="en-US" smtClean="0"/>
              <a:pPr eaLnBrk="1" hangingPunct="1">
                <a:spcBef>
                  <a:spcPct val="0"/>
                </a:spcBef>
              </a:pPr>
              <a:t>67</a:t>
            </a:fld>
            <a:endParaRPr lang="en-US" altLang="zh-CN"/>
          </a:p>
        </p:txBody>
      </p:sp>
      <p:sp>
        <p:nvSpPr>
          <p:cNvPr id="182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82919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ED58AACD-EEFC-4BB1-9B30-D962B9468CF2}" type="slidenum">
              <a:rPr lang="zh-CN" altLang="en-US" smtClean="0"/>
              <a:pPr eaLnBrk="1" hangingPunct="1">
                <a:spcBef>
                  <a:spcPct val="0"/>
                </a:spcBef>
              </a:pPr>
              <a:t>68</a:t>
            </a:fld>
            <a:endParaRPr lang="en-US" altLang="zh-CN"/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79163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45676DDA-8059-4CD4-8F85-5CE5D0B0DDF4}" type="slidenum">
              <a:rPr lang="zh-CN" altLang="en-US" smtClean="0"/>
              <a:pPr eaLnBrk="1" hangingPunct="1">
                <a:spcBef>
                  <a:spcPct val="0"/>
                </a:spcBef>
              </a:pPr>
              <a:t>69</a:t>
            </a:fld>
            <a:endParaRPr lang="en-US" altLang="zh-CN"/>
          </a:p>
        </p:txBody>
      </p:sp>
      <p:sp>
        <p:nvSpPr>
          <p:cNvPr id="184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73113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0EA33A48-2AFA-40B5-9C5E-96670C6A1FA1}" type="slidenum">
              <a:rPr lang="zh-CN" altLang="en-US" smtClean="0"/>
              <a:pPr eaLnBrk="1" hangingPunct="1">
                <a:spcBef>
                  <a:spcPct val="0"/>
                </a:spcBef>
              </a:pPr>
              <a:t>70</a:t>
            </a:fld>
            <a:endParaRPr lang="en-US" altLang="zh-CN"/>
          </a:p>
        </p:txBody>
      </p:sp>
      <p:sp>
        <p:nvSpPr>
          <p:cNvPr id="186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36201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7652ABD6-E1FD-4236-87A7-7B18A16AABF2}" type="slidenum">
              <a:rPr lang="zh-CN" altLang="en-US" smtClean="0"/>
              <a:pPr eaLnBrk="1" hangingPunct="1">
                <a:spcBef>
                  <a:spcPct val="0"/>
                </a:spcBef>
              </a:pPr>
              <a:t>72</a:t>
            </a:fld>
            <a:endParaRPr lang="en-US" altLang="zh-CN"/>
          </a:p>
        </p:txBody>
      </p:sp>
      <p:sp>
        <p:nvSpPr>
          <p:cNvPr id="187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56545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11D4FE7E-A87E-49FB-BA52-B66074A32AEF}" type="slidenum">
              <a:rPr lang="zh-CN" altLang="en-US" smtClean="0"/>
              <a:pPr eaLnBrk="1" hangingPunct="1">
                <a:spcBef>
                  <a:spcPct val="0"/>
                </a:spcBef>
              </a:pPr>
              <a:t>73</a:t>
            </a:fld>
            <a:endParaRPr lang="en-US" altLang="zh-CN"/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67258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9AB82B75-F909-4D0D-9690-96D8360B6F2E}" type="slidenum">
              <a:rPr lang="zh-CN" altLang="en-US" smtClean="0"/>
              <a:pPr eaLnBrk="1" hangingPunct="1">
                <a:spcBef>
                  <a:spcPct val="0"/>
                </a:spcBef>
              </a:pPr>
              <a:t>74</a:t>
            </a:fld>
            <a:endParaRPr lang="en-US" altLang="zh-CN"/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29127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C45F947-F36B-4C30-B2ED-5B0CDF8ADD96}" type="slidenum">
              <a:rPr lang="zh-CN" altLang="en-US" smtClean="0"/>
              <a:pPr eaLnBrk="1" hangingPunct="1">
                <a:spcBef>
                  <a:spcPct val="0"/>
                </a:spcBef>
              </a:pPr>
              <a:t>75</a:t>
            </a:fld>
            <a:endParaRPr lang="en-US" altLang="zh-CN"/>
          </a:p>
        </p:txBody>
      </p:sp>
      <p:sp>
        <p:nvSpPr>
          <p:cNvPr id="190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40638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7FEA26BD-7D8D-4865-8BF8-300D7DC6BED2}" type="slidenum">
              <a:rPr lang="zh-CN" altLang="en-US" smtClean="0"/>
              <a:pPr eaLnBrk="1" hangingPunct="1">
                <a:spcBef>
                  <a:spcPct val="0"/>
                </a:spcBef>
              </a:pPr>
              <a:t>76</a:t>
            </a:fld>
            <a:endParaRPr lang="en-US" altLang="zh-CN"/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55674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0CAA0AC0-0875-4D60-BCB8-85DE91CD5C7D}" type="slidenum">
              <a:rPr lang="zh-CN" altLang="en-US" smtClean="0"/>
              <a:pPr eaLnBrk="1" hangingPunct="1">
                <a:spcBef>
                  <a:spcPct val="0"/>
                </a:spcBef>
              </a:pPr>
              <a:t>78</a:t>
            </a:fld>
            <a:endParaRPr lang="en-US" altLang="zh-CN"/>
          </a:p>
        </p:txBody>
      </p:sp>
      <p:sp>
        <p:nvSpPr>
          <p:cNvPr id="192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2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34802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3FEF08B-9935-466E-80D7-E980A46CF729}" type="slidenum">
              <a:rPr lang="zh-CN" altLang="en-US" smtClean="0"/>
              <a:pPr eaLnBrk="1" hangingPunct="1">
                <a:spcBef>
                  <a:spcPct val="0"/>
                </a:spcBef>
              </a:pPr>
              <a:t>79</a:t>
            </a:fld>
            <a:endParaRPr lang="en-US" altLang="zh-CN"/>
          </a:p>
        </p:txBody>
      </p:sp>
      <p:sp>
        <p:nvSpPr>
          <p:cNvPr id="193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87335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B80FC554-5ED0-44B1-A7EF-1F2C88D8F447}" type="slidenum">
              <a:rPr lang="zh-CN" altLang="en-US" smtClean="0"/>
              <a:pPr eaLnBrk="1" hangingPunct="1">
                <a:spcBef>
                  <a:spcPct val="0"/>
                </a:spcBef>
              </a:pPr>
              <a:t>81</a:t>
            </a:fld>
            <a:endParaRPr lang="en-US" altLang="zh-CN"/>
          </a:p>
        </p:txBody>
      </p:sp>
      <p:sp>
        <p:nvSpPr>
          <p:cNvPr id="194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59461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58F891A5-305A-4B4E-B243-DEF8739285CC}" type="slidenum">
              <a:rPr lang="zh-CN" altLang="en-US" smtClean="0"/>
              <a:pPr eaLnBrk="1" hangingPunct="1">
                <a:spcBef>
                  <a:spcPct val="0"/>
                </a:spcBef>
              </a:pPr>
              <a:t>82</a:t>
            </a:fld>
            <a:endParaRPr lang="en-US" altLang="zh-CN"/>
          </a:p>
        </p:txBody>
      </p:sp>
      <p:sp>
        <p:nvSpPr>
          <p:cNvPr id="196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8193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E6622F47-6143-430E-AE37-81C5AFA1140E}" type="slidenum">
              <a:rPr lang="zh-CN" altLang="en-US" smtClean="0"/>
              <a:pPr eaLnBrk="1" hangingPunct="1">
                <a:spcBef>
                  <a:spcPct val="0"/>
                </a:spcBef>
              </a:pPr>
              <a:t>83</a:t>
            </a:fld>
            <a:endParaRPr lang="en-US" altLang="zh-CN"/>
          </a:p>
        </p:txBody>
      </p:sp>
      <p:sp>
        <p:nvSpPr>
          <p:cNvPr id="197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6210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3DC75BC1-27B1-4389-8167-DD46554B97F5}" type="slidenum">
              <a:rPr lang="zh-CN" altLang="en-US" smtClean="0"/>
              <a:pPr eaLnBrk="1" hangingPunct="1">
                <a:spcBef>
                  <a:spcPct val="0"/>
                </a:spcBef>
              </a:pPr>
              <a:t>84</a:t>
            </a:fld>
            <a:endParaRPr lang="en-US" altLang="zh-CN"/>
          </a:p>
        </p:txBody>
      </p:sp>
      <p:sp>
        <p:nvSpPr>
          <p:cNvPr id="199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8836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A381652-9A6E-4FB5-9229-FE3C8E379731}" type="slidenum">
              <a:rPr lang="zh-CN" altLang="en-US" smtClean="0"/>
              <a:pPr eaLnBrk="1" hangingPunct="1">
                <a:spcBef>
                  <a:spcPct val="0"/>
                </a:spcBef>
              </a:pPr>
              <a:t>85</a:t>
            </a:fld>
            <a:endParaRPr lang="en-US" altLang="zh-CN"/>
          </a:p>
        </p:txBody>
      </p:sp>
      <p:sp>
        <p:nvSpPr>
          <p:cNvPr id="198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8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90355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E8EC01E6-553F-4A55-B778-B214989667E2}" type="slidenum">
              <a:rPr lang="zh-CN" altLang="en-US" smtClean="0"/>
              <a:pPr eaLnBrk="1" hangingPunct="1">
                <a:spcBef>
                  <a:spcPct val="0"/>
                </a:spcBef>
              </a:pPr>
              <a:t>86</a:t>
            </a:fld>
            <a:endParaRPr lang="en-US" altLang="zh-CN"/>
          </a:p>
        </p:txBody>
      </p:sp>
      <p:sp>
        <p:nvSpPr>
          <p:cNvPr id="200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968074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5932C911-7C15-41DD-B11D-4269BB6C8A4D}" type="slidenum">
              <a:rPr lang="zh-CN" altLang="en-US" smtClean="0"/>
              <a:pPr eaLnBrk="1" hangingPunct="1">
                <a:spcBef>
                  <a:spcPct val="0"/>
                </a:spcBef>
              </a:pPr>
              <a:t>91</a:t>
            </a:fld>
            <a:endParaRPr lang="en-US" altLang="zh-CN"/>
          </a:p>
        </p:txBody>
      </p:sp>
      <p:sp>
        <p:nvSpPr>
          <p:cNvPr id="203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76908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2E80D31B-F84A-4D36-B78E-484C355ABA2F}" type="slidenum">
              <a:rPr lang="zh-CN" altLang="en-US" smtClean="0"/>
              <a:pPr eaLnBrk="1" hangingPunct="1">
                <a:spcBef>
                  <a:spcPct val="0"/>
                </a:spcBef>
              </a:pPr>
              <a:t>92</a:t>
            </a:fld>
            <a:endParaRPr lang="en-US" altLang="zh-CN"/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73582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43F34EC5-5D0C-4FEC-9C0F-6C1E553D2412}" type="slidenum">
              <a:rPr lang="zh-CN" altLang="en-US" smtClean="0"/>
              <a:pPr eaLnBrk="1" hangingPunct="1">
                <a:spcBef>
                  <a:spcPct val="0"/>
                </a:spcBef>
              </a:pPr>
              <a:t>93</a:t>
            </a:fld>
            <a:endParaRPr lang="en-US" altLang="zh-CN"/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11393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167FE0C9-0E5E-4376-A518-8894B579EBD2}" type="slidenum">
              <a:rPr lang="zh-CN" altLang="en-US" smtClean="0"/>
              <a:pPr eaLnBrk="1" hangingPunct="1">
                <a:spcBef>
                  <a:spcPct val="0"/>
                </a:spcBef>
              </a:pPr>
              <a:t>94</a:t>
            </a:fld>
            <a:endParaRPr lang="en-US" altLang="zh-CN"/>
          </a:p>
        </p:txBody>
      </p:sp>
      <p:sp>
        <p:nvSpPr>
          <p:cNvPr id="205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341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863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863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 b="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33B50D7F-3481-4E8C-9D71-AC066DEAC6F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1397241"/>
      </p:ext>
    </p:extLst>
  </p:cSld>
  <p:clrMapOvr>
    <a:masterClrMapping/>
  </p:clrMapOvr>
  <p:transition spd="med">
    <p:blinds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1860F6-BFAC-49E4-A370-39C019CE30B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3925340"/>
      </p:ext>
    </p:extLst>
  </p:cSld>
  <p:clrMapOvr>
    <a:masterClrMapping/>
  </p:clrMapOvr>
  <p:transition spd="med">
    <p:blinds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99F735-673A-42BA-B51C-5C8F78EF2F8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8383799"/>
      </p:ext>
    </p:extLst>
  </p:cSld>
  <p:clrMapOvr>
    <a:masterClrMapping/>
  </p:clrMapOvr>
  <p:transition spd="med">
    <p:blinds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42FF8A-90EF-40DC-A243-8A5381B294F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8058029"/>
      </p:ext>
    </p:extLst>
  </p:cSld>
  <p:clrMapOvr>
    <a:masterClrMapping/>
  </p:clrMapOvr>
  <p:transition spd="med">
    <p:blinds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D61AB3-E635-4B2D-8F9F-D3B2FC1E428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885408"/>
      </p:ext>
    </p:extLst>
  </p:cSld>
  <p:clrMapOvr>
    <a:masterClrMapping/>
  </p:clrMapOvr>
  <p:transition spd="med">
    <p:blinds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3FF2AA-128E-4720-9A99-2A633F2B8E0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8554415"/>
      </p:ext>
    </p:extLst>
  </p:cSld>
  <p:clrMapOvr>
    <a:masterClrMapping/>
  </p:clrMapOvr>
  <p:transition spd="med">
    <p:blinds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BE8600-5382-458E-888F-C10929A0A05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3662090"/>
      </p:ext>
    </p:extLst>
  </p:cSld>
  <p:clrMapOvr>
    <a:masterClrMapping/>
  </p:clrMapOvr>
  <p:transition spd="med">
    <p:blinds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7CC0E3-F79C-4984-AFD0-A90DFFD367C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1475224"/>
      </p:ext>
    </p:extLst>
  </p:cSld>
  <p:clrMapOvr>
    <a:masterClrMapping/>
  </p:clrMapOvr>
  <p:transition spd="med">
    <p:blinds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D68198-79BE-439E-8936-BD89A6D0FC8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177834"/>
      </p:ext>
    </p:extLst>
  </p:cSld>
  <p:clrMapOvr>
    <a:masterClrMapping/>
  </p:clrMapOvr>
  <p:transition spd="med">
    <p:blinds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967CAF-C8E1-4102-AF70-133F904F54C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3752423"/>
      </p:ext>
    </p:extLst>
  </p:cSld>
  <p:clrMapOvr>
    <a:masterClrMapping/>
  </p:clrMapOvr>
  <p:transition spd="med">
    <p:blinds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E7A11E-7DBC-4C9A-8A62-1CB5C388ACA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0791631"/>
      </p:ext>
    </p:extLst>
  </p:cSld>
  <p:clrMapOvr>
    <a:masterClrMapping/>
  </p:clrMapOvr>
  <p:transition spd="med">
    <p:blinds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AC2EC8-CE96-442C-ACD5-E06F34BF777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8924062"/>
      </p:ext>
    </p:extLst>
  </p:cSld>
  <p:clrMapOvr>
    <a:masterClrMapping/>
  </p:clrMapOvr>
  <p:transition spd="med">
    <p:blinds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FFA-77E6-4027-B853-4C3DE3C16969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47D0-8777-48A3-A53D-D3012E8C20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080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FFA-77E6-4027-B853-4C3DE3C16969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47D0-8777-48A3-A53D-D3012E8C20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9983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FFA-77E6-4027-B853-4C3DE3C16969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47D0-8777-48A3-A53D-D3012E8C20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6684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FFA-77E6-4027-B853-4C3DE3C16969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47D0-8777-48A3-A53D-D3012E8C20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0773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FFA-77E6-4027-B853-4C3DE3C16969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47D0-8777-48A3-A53D-D3012E8C20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3459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FFA-77E6-4027-B853-4C3DE3C16969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47D0-8777-48A3-A53D-D3012E8C20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25206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FFA-77E6-4027-B853-4C3DE3C16969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47D0-8777-48A3-A53D-D3012E8C20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7882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FFA-77E6-4027-B853-4C3DE3C16969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47D0-8777-48A3-A53D-D3012E8C20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6062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FFA-77E6-4027-B853-4C3DE3C16969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47D0-8777-48A3-A53D-D3012E8C20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936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FFA-77E6-4027-B853-4C3DE3C16969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47D0-8777-48A3-A53D-D3012E8C20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4719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3FFA-77E6-4027-B853-4C3DE3C16969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47D0-8777-48A3-A53D-D3012E8C20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2089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 b="1">
                <a:solidFill>
                  <a:srgbClr val="A5002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90467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E46DA-FFAC-48D5-B9B9-AD993CE1DF2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8092550"/>
      </p:ext>
    </p:extLst>
  </p:cSld>
  <p:clrMapOvr>
    <a:masterClrMapping/>
  </p:clrMapOvr>
  <p:transition spd="med">
    <p:blinds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3787E4-8B6E-4DBE-852F-5D8C1E2AC8B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579738"/>
      </p:ext>
    </p:extLst>
  </p:cSld>
  <p:clrMapOvr>
    <a:masterClrMapping/>
  </p:clrMapOvr>
  <p:transition spd="med">
    <p:blinds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898A89-B63E-4B09-BC11-4D2F699985A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2974724"/>
      </p:ext>
    </p:extLst>
  </p:cSld>
  <p:clrMapOvr>
    <a:masterClrMapping/>
  </p:clrMapOvr>
  <p:transition spd="med">
    <p:blinds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FA548A-F1F2-4ABE-98A7-5FCDD7EB64C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1389183"/>
      </p:ext>
    </p:extLst>
  </p:cSld>
  <p:clrMapOvr>
    <a:masterClrMapping/>
  </p:clrMapOvr>
  <p:transition spd="med">
    <p:blinds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5BED97-FC8C-4D1E-B7C6-AA96EF1E486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2981056"/>
      </p:ext>
    </p:extLst>
  </p:cSld>
  <p:clrMapOvr>
    <a:masterClrMapping/>
  </p:clrMapOvr>
  <p:transition spd="med">
    <p:blinds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B9CF6C-8EFF-4DBE-975A-2157F694262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5815506"/>
      </p:ext>
    </p:extLst>
  </p:cSld>
  <p:clrMapOvr>
    <a:masterClrMapping/>
  </p:clrMapOvr>
  <p:transition spd="med">
    <p:blinds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794B8D-992D-4956-88FB-8BE2DF075CE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4631133"/>
      </p:ext>
    </p:extLst>
  </p:cSld>
  <p:clrMapOvr>
    <a:masterClrMapping/>
  </p:clrMapOvr>
  <p:transition spd="med">
    <p:blinds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04C9DA-66DE-495B-8A66-8FD723FF3C0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7535181"/>
      </p:ext>
    </p:extLst>
  </p:cSld>
  <p:clrMapOvr>
    <a:masterClrMapping/>
  </p:clrMapOvr>
  <p:transition spd="med">
    <p:blinds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7CD5A4-AEBE-4062-A6A5-DFADD6841D6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1501947"/>
      </p:ext>
    </p:extLst>
  </p:cSld>
  <p:clrMapOvr>
    <a:masterClrMapping/>
  </p:clrMapOvr>
  <p:transition spd="med">
    <p:blinds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CC10F3-59C3-4DD8-9030-45F95659250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7124946"/>
      </p:ext>
    </p:extLst>
  </p:cSld>
  <p:clrMapOvr>
    <a:masterClrMapping/>
  </p:clrMapOvr>
  <p:transition spd="med">
    <p:blinds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609600"/>
            <a:ext cx="2135187" cy="5489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09600"/>
            <a:ext cx="6253163" cy="5489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C8F545-FBE8-4864-9F42-4D8907F7B75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7694227"/>
      </p:ext>
    </p:extLst>
  </p:cSld>
  <p:clrMapOvr>
    <a:masterClrMapping/>
  </p:clrMapOvr>
  <p:transition spd="med">
    <p:blinds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en-US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en-US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en-US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en-US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en-US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en-US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en-US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535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535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535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11B871C-7E2E-4826-A353-2D6580F83B2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</p:sldLayoutIdLst>
  <p:transition spd="med">
    <p:blinds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A5002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A50021"/>
          </a:solidFill>
          <a:latin typeface="Tahoma" pitchFamily="34" charset="0"/>
          <a:ea typeface="隶书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A50021"/>
          </a:solidFill>
          <a:latin typeface="Tahoma" pitchFamily="34" charset="0"/>
          <a:ea typeface="隶书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A50021"/>
          </a:solidFill>
          <a:latin typeface="Tahoma" pitchFamily="34" charset="0"/>
          <a:ea typeface="隶书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A50021"/>
          </a:solidFill>
          <a:latin typeface="Tahoma" pitchFamily="34" charset="0"/>
          <a:ea typeface="隶书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A50021"/>
          </a:solidFill>
          <a:latin typeface="Tahoma" pitchFamily="34" charset="0"/>
          <a:ea typeface="隶书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A50021"/>
          </a:solidFill>
          <a:latin typeface="Tahoma" pitchFamily="34" charset="0"/>
          <a:ea typeface="隶书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A50021"/>
          </a:solidFill>
          <a:latin typeface="Tahoma" pitchFamily="34" charset="0"/>
          <a:ea typeface="隶书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A50021"/>
          </a:solidFill>
          <a:latin typeface="Tahoma" pitchFamily="34" charset="0"/>
          <a:ea typeface="隶书" pitchFamily="49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20000"/>
        </a:spcBef>
        <a:spcAft>
          <a:spcPct val="5000"/>
        </a:spcAft>
        <a:buClr>
          <a:schemeClr val="folHlink"/>
        </a:buClr>
        <a:buSzPct val="60000"/>
        <a:buFont typeface="Wingdings" pitchFamily="2" charset="2"/>
        <a:buChar char="n"/>
        <a:defRPr sz="2800" b="1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10000"/>
        </a:lnSpc>
        <a:spcBef>
          <a:spcPct val="20000"/>
        </a:spcBef>
        <a:spcAft>
          <a:spcPct val="5000"/>
        </a:spcAft>
        <a:buClr>
          <a:schemeClr val="hlink"/>
        </a:buClr>
        <a:buSzPct val="55000"/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0000"/>
        </a:lnSpc>
        <a:spcBef>
          <a:spcPct val="20000"/>
        </a:spcBef>
        <a:spcAft>
          <a:spcPct val="5000"/>
        </a:spcAft>
        <a:buClr>
          <a:schemeClr val="folHlink"/>
        </a:buClr>
        <a:buSzPct val="50000"/>
        <a:buFont typeface="Wingdings" pitchFamily="2" charset="2"/>
        <a:buChar char="n"/>
        <a:defRPr sz="2000" b="1">
          <a:solidFill>
            <a:srgbClr val="FF0000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53FFA-77E6-4027-B853-4C3DE3C16969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9647D0-8777-48A3-A53D-D3012E8C20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3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609600"/>
            <a:ext cx="85407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905000"/>
            <a:ext cx="8540750" cy="419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94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94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94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pPr>
              <a:defRPr/>
            </a:pPr>
            <a:fld id="{84AC4EBC-DC35-410A-981C-A214ADD371C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ransition spd="med">
    <p:blinds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itchFamily="2" charset="2"/>
        <a:buChar char="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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wmf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4AF520-ECFE-413E-96EB-2CA4CDB2B4E3}" type="slidenum">
              <a:rPr lang="zh-CN" altLang="en-US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116013" y="1557338"/>
            <a:ext cx="6934200" cy="2305050"/>
          </a:xfrm>
          <a:noFill/>
        </p:spPr>
        <p:txBody>
          <a:bodyPr lIns="92075" tIns="46038" rIns="92075" bIns="46038" anchor="b"/>
          <a:lstStyle/>
          <a:p>
            <a:pPr eaLnBrk="1" hangingPunct="1">
              <a:lnSpc>
                <a:spcPct val="120000"/>
              </a:lnSpc>
            </a:pPr>
            <a:r>
              <a:rPr lang="zh-CN" altLang="en-US" sz="3600">
                <a:latin typeface="楷体_GB2312" pitchFamily="49" charset="-122"/>
                <a:ea typeface="楷体_GB2312" pitchFamily="49" charset="-122"/>
              </a:rPr>
              <a:t>第3章</a:t>
            </a:r>
            <a:r>
              <a:rPr lang="zh-CN" altLang="en-US" sz="6000">
                <a:latin typeface="隶书" pitchFamily="49" charset="-122"/>
              </a:rPr>
              <a:t> </a:t>
            </a:r>
            <a:br>
              <a:rPr lang="zh-CN" altLang="en-US" sz="6000">
                <a:latin typeface="隶书" pitchFamily="49" charset="-122"/>
              </a:rPr>
            </a:br>
            <a:r>
              <a:rPr lang="zh-CN" altLang="en-US" sz="6600">
                <a:latin typeface="隶书" pitchFamily="49" charset="-122"/>
                <a:ea typeface="华文行楷" pitchFamily="2" charset="-122"/>
              </a:rPr>
              <a:t>指令系统</a:t>
            </a:r>
            <a:endParaRPr lang="zh-CN" altLang="zh-CN" sz="6600">
              <a:latin typeface="隶书" pitchFamily="49" charset="-122"/>
              <a:ea typeface="华文行楷" pitchFamily="2" charset="-122"/>
            </a:endParaRPr>
          </a:p>
        </p:txBody>
      </p:sp>
      <p:graphicFrame>
        <p:nvGraphicFramePr>
          <p:cNvPr id="5124" name="Object 16"/>
          <p:cNvGraphicFramePr>
            <a:graphicFrameLocks noChangeAspect="1"/>
          </p:cNvGraphicFramePr>
          <p:nvPr/>
        </p:nvGraphicFramePr>
        <p:xfrm>
          <a:off x="5867400" y="4343400"/>
          <a:ext cx="16764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0" name="剪辑" r:id="rId4" imgW="4755794" imgH="4828032" progId="">
                  <p:embed/>
                </p:oleObj>
              </mc:Choice>
              <mc:Fallback>
                <p:oleObj name="剪辑" r:id="rId4" imgW="4755794" imgH="4828032" progId="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343400"/>
                        <a:ext cx="16764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blind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C88C923-D3A0-45B8-BF96-0BF01E68A7F0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隶书" pitchFamily="49" charset="-122"/>
              </a:rPr>
              <a:t>主要内容：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24384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宋体" pitchFamily="2" charset="-122"/>
              </a:rPr>
              <a:t>指令系统的一般概念</a:t>
            </a:r>
          </a:p>
          <a:p>
            <a:pPr eaLnBrk="1" hangingPunct="1"/>
            <a:r>
              <a:rPr lang="zh-CN" altLang="en-US" dirty="0">
                <a:latin typeface="宋体" pitchFamily="2" charset="-122"/>
              </a:rPr>
              <a:t>对操作数的寻址方式</a:t>
            </a:r>
          </a:p>
          <a:p>
            <a:pPr eaLnBrk="1" hangingPunct="1"/>
            <a:r>
              <a:rPr lang="zh-CN" altLang="en-US" dirty="0">
                <a:latin typeface="宋体" pitchFamily="2" charset="-122"/>
              </a:rPr>
              <a:t>各类指令的功能与使用介绍：</a:t>
            </a:r>
          </a:p>
          <a:p>
            <a:pPr eaLnBrk="1" hangingPunct="1"/>
            <a:endParaRPr lang="zh-CN" altLang="en-US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2743200" y="3962400"/>
            <a:ext cx="3581400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操作码的含义</a:t>
            </a:r>
          </a:p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指令对操作数的要求</a:t>
            </a:r>
          </a:p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指令执行的结果</a:t>
            </a:r>
          </a:p>
        </p:txBody>
      </p:sp>
      <p:sp>
        <p:nvSpPr>
          <p:cNvPr id="18437" name="AutoShape 5"/>
          <p:cNvSpPr>
            <a:spLocks/>
          </p:cNvSpPr>
          <p:nvPr/>
        </p:nvSpPr>
        <p:spPr bwMode="auto">
          <a:xfrm>
            <a:off x="2514600" y="4221163"/>
            <a:ext cx="185738" cy="1422400"/>
          </a:xfrm>
          <a:prstGeom prst="leftBrace">
            <a:avLst>
              <a:gd name="adj1" fmla="val 63817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  <p:bldP spid="184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63ACF05-6D99-4041-B001-D26EE742112B}" type="slidenum">
              <a:rPr lang="zh-CN" altLang="en-US" sz="1400" b="0" smtClean="0">
                <a:solidFill>
                  <a:schemeClr val="bg2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3</a:t>
            </a:fld>
            <a:endParaRPr lang="en-US" altLang="zh-CN" sz="1400" b="0">
              <a:solidFill>
                <a:schemeClr val="bg2"/>
              </a:solidFill>
              <a:ea typeface="宋体" pitchFamily="2" charset="-122"/>
            </a:endParaRPr>
          </a:p>
        </p:txBody>
      </p:sp>
      <p:sp>
        <p:nvSpPr>
          <p:cNvPr id="7171" name="Rectangle 4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6389688" cy="1462088"/>
          </a:xfrm>
        </p:spPr>
        <p:txBody>
          <a:bodyPr/>
          <a:lstStyle/>
          <a:p>
            <a:pPr algn="ctr" eaLnBrk="1" hangingPunct="1"/>
            <a:r>
              <a:rPr lang="zh-CN" altLang="en-US" b="1">
                <a:latin typeface="隶书" pitchFamily="49" charset="-122"/>
              </a:rPr>
              <a:t>§3.1</a:t>
            </a:r>
            <a:r>
              <a:rPr lang="zh-CN" altLang="en-US" sz="4800">
                <a:latin typeface="隶书" pitchFamily="49" charset="-122"/>
              </a:rPr>
              <a:t> </a:t>
            </a:r>
            <a:r>
              <a:rPr lang="zh-CN" altLang="en-US" sz="5400">
                <a:latin typeface="华文行楷" pitchFamily="2" charset="-122"/>
                <a:ea typeface="华文行楷" pitchFamily="2" charset="-122"/>
              </a:rPr>
              <a:t>概述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619672" y="3645024"/>
            <a:ext cx="5616624" cy="2411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defRPr sz="24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+mn-lt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342900" indent="-342900" algn="l" eaLnBrk="1" hangingPunct="1">
              <a:lnSpc>
                <a:spcPct val="115000"/>
              </a:lnSpc>
              <a:spcBef>
                <a:spcPct val="10000"/>
              </a:spcBef>
              <a:buFont typeface="Wingdings" panose="05000000000000000000" pitchFamily="2" charset="2"/>
              <a:buChar char="n"/>
            </a:pPr>
            <a:r>
              <a:rPr lang="zh-CN" altLang="en-US" b="1" kern="0" dirty="0">
                <a:latin typeface="宋体" pitchFamily="2" charset="-122"/>
              </a:rPr>
              <a:t>指令及指令系统；</a:t>
            </a:r>
          </a:p>
          <a:p>
            <a:pPr marL="342900" indent="-342900" algn="l" eaLnBrk="1" hangingPunct="1">
              <a:lnSpc>
                <a:spcPct val="115000"/>
              </a:lnSpc>
              <a:spcBef>
                <a:spcPct val="10000"/>
              </a:spcBef>
              <a:buFont typeface="Wingdings" panose="05000000000000000000" pitchFamily="2" charset="2"/>
              <a:buChar char="n"/>
            </a:pPr>
            <a:r>
              <a:rPr lang="zh-CN" altLang="en-US" b="1" kern="0" dirty="0">
                <a:latin typeface="宋体" pitchFamily="2" charset="-122"/>
              </a:rPr>
              <a:t>指令的格式；</a:t>
            </a:r>
          </a:p>
          <a:p>
            <a:pPr marL="342900" indent="-342900" algn="l" eaLnBrk="1" hangingPunct="1">
              <a:lnSpc>
                <a:spcPct val="115000"/>
              </a:lnSpc>
              <a:spcBef>
                <a:spcPct val="10000"/>
              </a:spcBef>
              <a:buFont typeface="Wingdings" panose="05000000000000000000" pitchFamily="2" charset="2"/>
              <a:buChar char="n"/>
            </a:pPr>
            <a:r>
              <a:rPr lang="zh-CN" altLang="en-US" b="1" kern="0" dirty="0">
                <a:latin typeface="宋体" pitchFamily="2" charset="-122"/>
              </a:rPr>
              <a:t>指令中的操作数类型；</a:t>
            </a:r>
          </a:p>
          <a:p>
            <a:pPr marL="342900" indent="-342900" algn="l" eaLnBrk="1" hangingPunct="1">
              <a:lnSpc>
                <a:spcPct val="115000"/>
              </a:lnSpc>
              <a:spcBef>
                <a:spcPct val="10000"/>
              </a:spcBef>
              <a:buFont typeface="Wingdings" panose="05000000000000000000" pitchFamily="2" charset="2"/>
              <a:buChar char="n"/>
            </a:pPr>
            <a:r>
              <a:rPr lang="zh-CN" altLang="en-US" b="1" kern="0" dirty="0">
                <a:latin typeface="宋体" pitchFamily="2" charset="-122"/>
              </a:rPr>
              <a:t>指令的执行时间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CBB506E4-4A7D-4A47-9CB7-858131301ABC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隶书" pitchFamily="49" charset="-122"/>
              </a:rPr>
              <a:t>一、指令与指令系统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8888" y="2058988"/>
            <a:ext cx="7273925" cy="4156075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/>
              <a:t>指令：</a:t>
            </a:r>
          </a:p>
          <a:p>
            <a:pPr lvl="1" eaLnBrk="1" hangingPunct="1"/>
            <a:r>
              <a:rPr lang="zh-CN" altLang="en-US"/>
              <a:t>控制计算机完成某种操作的命令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/>
              <a:t>指令系统：</a:t>
            </a:r>
          </a:p>
          <a:p>
            <a:pPr lvl="1" eaLnBrk="1" hangingPunct="1"/>
            <a:r>
              <a:rPr lang="zh-CN" altLang="en-US">
                <a:latin typeface="Times New Roman" pitchFamily="18" charset="0"/>
              </a:rPr>
              <a:t>处理器所能识别的所有指令的集合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/>
              <a:t>指令的兼容性：</a:t>
            </a:r>
          </a:p>
          <a:p>
            <a:pPr lvl="1" eaLnBrk="1" hangingPunct="1"/>
            <a:r>
              <a:rPr lang="zh-CN" altLang="en-US"/>
              <a:t>同一系列机的指令都是兼容的。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4A6EA65-9F0E-414A-8159-D8F1FE127765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二、指令格式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2071688"/>
            <a:ext cx="6500813" cy="1714500"/>
          </a:xfrm>
        </p:spPr>
        <p:txBody>
          <a:bodyPr/>
          <a:lstStyle/>
          <a:p>
            <a:pPr eaLnBrk="1" hangingPunct="1"/>
            <a:r>
              <a:rPr lang="zh-CN" altLang="en-US" dirty="0"/>
              <a:t>指令中应包含两部分内容：</a:t>
            </a:r>
            <a:endParaRPr lang="en-US" altLang="zh-CN" dirty="0"/>
          </a:p>
          <a:p>
            <a:pPr lvl="1" eaLnBrk="1" hangingPunct="1">
              <a:spcBef>
                <a:spcPct val="0"/>
              </a:spcBef>
            </a:pPr>
            <a:r>
              <a:rPr lang="zh-CN" altLang="en-US" dirty="0"/>
              <a:t>指令执行的功能</a:t>
            </a:r>
            <a:r>
              <a:rPr lang="en-US" altLang="zh-CN" dirty="0"/>
              <a:t>--</a:t>
            </a:r>
            <a:r>
              <a:rPr lang="zh-CN" altLang="en-US" dirty="0">
                <a:solidFill>
                  <a:srgbClr val="0070C0"/>
                </a:solidFill>
              </a:rPr>
              <a:t>操作码</a:t>
            </a:r>
            <a:endParaRPr lang="en-US" altLang="zh-CN" dirty="0">
              <a:solidFill>
                <a:srgbClr val="0070C0"/>
              </a:solidFill>
            </a:endParaRPr>
          </a:p>
          <a:p>
            <a:pPr lvl="1" eaLnBrk="1" hangingPunct="1">
              <a:spcBef>
                <a:spcPct val="0"/>
              </a:spcBef>
            </a:pPr>
            <a:r>
              <a:rPr lang="zh-CN" altLang="en-US" dirty="0"/>
              <a:t>指令执行的对象</a:t>
            </a:r>
            <a:r>
              <a:rPr lang="en-US" altLang="zh-CN" dirty="0"/>
              <a:t>--</a:t>
            </a:r>
            <a:r>
              <a:rPr lang="zh-CN" altLang="en-US" dirty="0">
                <a:solidFill>
                  <a:srgbClr val="0070C0"/>
                </a:solidFill>
              </a:rPr>
              <a:t>操作数</a:t>
            </a:r>
          </a:p>
        </p:txBody>
      </p:sp>
      <p:sp>
        <p:nvSpPr>
          <p:cNvPr id="86020" name="Text Box 4"/>
          <p:cNvSpPr txBox="1">
            <a:spLocks noChangeArrowheads="1"/>
          </p:cNvSpPr>
          <p:nvPr/>
        </p:nvSpPr>
        <p:spPr bwMode="auto">
          <a:xfrm>
            <a:off x="2617440" y="4005064"/>
            <a:ext cx="41148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执行的操作</a:t>
            </a:r>
            <a:endParaRPr kumimoji="1" lang="zh-CN" altLang="en-US" sz="2400" b="0" dirty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  <a:p>
            <a:pPr algn="just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运算数据的来源</a:t>
            </a:r>
          </a:p>
          <a:p>
            <a:pPr algn="just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运算结果的去向</a:t>
            </a:r>
          </a:p>
        </p:txBody>
      </p:sp>
      <p:sp>
        <p:nvSpPr>
          <p:cNvPr id="86021" name="AutoShape 5"/>
          <p:cNvSpPr>
            <a:spLocks/>
          </p:cNvSpPr>
          <p:nvPr/>
        </p:nvSpPr>
        <p:spPr bwMode="auto">
          <a:xfrm>
            <a:off x="2401540" y="4134861"/>
            <a:ext cx="215900" cy="1439863"/>
          </a:xfrm>
          <a:prstGeom prst="leftBrace">
            <a:avLst>
              <a:gd name="adj1" fmla="val 55576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2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31028" y="3454320"/>
            <a:ext cx="4762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具体应包括以下三个内容：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8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60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60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60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 uiExpand="1" build="p"/>
      <p:bldP spid="86021" grpId="0" animBg="1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3E85985-1BF0-495E-A65F-262B28829C03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指令的一般格式</a:t>
            </a:r>
          </a:p>
        </p:txBody>
      </p:sp>
      <p:sp>
        <p:nvSpPr>
          <p:cNvPr id="1935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020888" y="2459038"/>
            <a:ext cx="5638800" cy="990600"/>
          </a:xfrm>
          <a:noFill/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/>
              <a:t>操作码    [操作数]，[操作数]</a:t>
            </a:r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1447800" y="4479925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93542" name="Text Box 6"/>
          <p:cNvSpPr txBox="1">
            <a:spLocks noChangeArrowheads="1"/>
          </p:cNvSpPr>
          <p:nvPr/>
        </p:nvSpPr>
        <p:spPr bwMode="auto">
          <a:xfrm>
            <a:off x="500063" y="4143375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执行何种操作</a:t>
            </a:r>
          </a:p>
        </p:txBody>
      </p:sp>
      <p:sp>
        <p:nvSpPr>
          <p:cNvPr id="193543" name="Line 7"/>
          <p:cNvSpPr>
            <a:spLocks noChangeShapeType="1"/>
          </p:cNvSpPr>
          <p:nvPr/>
        </p:nvSpPr>
        <p:spPr bwMode="auto">
          <a:xfrm flipH="1">
            <a:off x="1976438" y="3032125"/>
            <a:ext cx="381000" cy="1066800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3544" name="AutoShape 8"/>
          <p:cNvSpPr>
            <a:spLocks/>
          </p:cNvSpPr>
          <p:nvPr/>
        </p:nvSpPr>
        <p:spPr bwMode="auto">
          <a:xfrm rot="-5400000">
            <a:off x="5067300" y="2957513"/>
            <a:ext cx="304800" cy="2819400"/>
          </a:xfrm>
          <a:prstGeom prst="leftBrace">
            <a:avLst>
              <a:gd name="adj1" fmla="val 7708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93545" name="Text Box 9"/>
          <p:cNvSpPr txBox="1">
            <a:spLocks noChangeArrowheads="1"/>
          </p:cNvSpPr>
          <p:nvPr/>
        </p:nvSpPr>
        <p:spPr bwMode="auto">
          <a:xfrm>
            <a:off x="3200400" y="3641725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目标操作数</a:t>
            </a:r>
          </a:p>
        </p:txBody>
      </p:sp>
      <p:sp>
        <p:nvSpPr>
          <p:cNvPr id="193546" name="Text Box 10"/>
          <p:cNvSpPr txBox="1">
            <a:spLocks noChangeArrowheads="1"/>
          </p:cNvSpPr>
          <p:nvPr/>
        </p:nvSpPr>
        <p:spPr bwMode="auto">
          <a:xfrm>
            <a:off x="5638800" y="3641725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源操作数</a:t>
            </a:r>
          </a:p>
        </p:txBody>
      </p:sp>
      <p:sp>
        <p:nvSpPr>
          <p:cNvPr id="193547" name="Line 11"/>
          <p:cNvSpPr>
            <a:spLocks noChangeShapeType="1"/>
          </p:cNvSpPr>
          <p:nvPr/>
        </p:nvSpPr>
        <p:spPr bwMode="auto">
          <a:xfrm>
            <a:off x="4038600" y="3032125"/>
            <a:ext cx="0" cy="609600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3548" name="Line 12"/>
          <p:cNvSpPr>
            <a:spLocks noChangeShapeType="1"/>
          </p:cNvSpPr>
          <p:nvPr/>
        </p:nvSpPr>
        <p:spPr bwMode="auto">
          <a:xfrm>
            <a:off x="6096000" y="3032125"/>
            <a:ext cx="228600" cy="609600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3549" name="Text Box 13"/>
          <p:cNvSpPr txBox="1">
            <a:spLocks noChangeArrowheads="1"/>
          </p:cNvSpPr>
          <p:nvPr/>
        </p:nvSpPr>
        <p:spPr bwMode="auto">
          <a:xfrm>
            <a:off x="2771775" y="4572000"/>
            <a:ext cx="4824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参加操作的数据或数据存放的地址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3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3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3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93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93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3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3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3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40" grpId="0" build="p"/>
      <p:bldP spid="193542" grpId="0"/>
      <p:bldP spid="193543" grpId="0" animBg="1"/>
      <p:bldP spid="193544" grpId="0" animBg="1"/>
      <p:bldP spid="193545" grpId="0"/>
      <p:bldP spid="193546" grpId="0"/>
      <p:bldP spid="193547" grpId="0" animBg="1"/>
      <p:bldP spid="193548" grpId="0" animBg="1"/>
      <p:bldP spid="19354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3C05BA20-C843-4C0C-8F68-EB8C61C5855E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指令格式：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2071688"/>
            <a:ext cx="7772400" cy="714375"/>
          </a:xfrm>
        </p:spPr>
        <p:txBody>
          <a:bodyPr/>
          <a:lstStyle/>
          <a:p>
            <a:pPr eaLnBrk="1" hangingPunct="1"/>
            <a:r>
              <a:rPr lang="zh-CN" altLang="en-US"/>
              <a:t>根据操作数的数量，指令可以有以下格式：</a:t>
            </a:r>
            <a:r>
              <a:rPr lang="zh-CN" altLang="zh-CN"/>
              <a:t>                                                   </a:t>
            </a:r>
            <a:endParaRPr lang="zh-CN" altLang="en-US"/>
          </a:p>
        </p:txBody>
      </p:sp>
      <p:sp>
        <p:nvSpPr>
          <p:cNvPr id="21508" name="AutoShape 4"/>
          <p:cNvSpPr>
            <a:spLocks/>
          </p:cNvSpPr>
          <p:nvPr/>
        </p:nvSpPr>
        <p:spPr bwMode="auto">
          <a:xfrm>
            <a:off x="1311275" y="3216275"/>
            <a:ext cx="260350" cy="1727200"/>
          </a:xfrm>
          <a:prstGeom prst="leftBrace">
            <a:avLst>
              <a:gd name="adj1" fmla="val 60291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1671638" y="3000375"/>
            <a:ext cx="6257925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零操作数指令： 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操作码</a:t>
            </a:r>
            <a:r>
              <a:rPr kumimoji="1" lang="zh-CN" altLang="en-US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endParaRPr kumimoji="1" lang="en-US" altLang="zh-CN" sz="2400" dirty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单操作数指令： 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操作码  操作数</a:t>
            </a:r>
          </a:p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双操作数指令： 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操作码  操作数，操作数</a:t>
            </a:r>
          </a:p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多操作数指令： </a:t>
            </a:r>
            <a:r>
              <a:rPr kumimoji="1" lang="zh-CN" altLang="en-US" sz="2400" dirty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三操作数及以上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C8A38ED-71C5-4D5F-9B0F-0E0A09C163DB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8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三、指令中的操作数的类型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73213" y="2492375"/>
            <a:ext cx="3529012" cy="2633663"/>
          </a:xfrm>
        </p:spPr>
        <p:txBody>
          <a:bodyPr/>
          <a:lstStyle/>
          <a:p>
            <a:pPr eaLnBrk="1" hangingPunct="1">
              <a:spcAft>
                <a:spcPct val="45000"/>
              </a:spcAft>
              <a:buFont typeface="Wingdings" pitchFamily="2" charset="2"/>
              <a:buNone/>
            </a:pPr>
            <a:r>
              <a:rPr lang="zh-CN" altLang="en-US"/>
              <a:t>立即数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 typeface="Wingdings" pitchFamily="2" charset="2"/>
              <a:buNone/>
            </a:pPr>
            <a:r>
              <a:rPr kumimoji="1" lang="zh-CN" altLang="en-US"/>
              <a:t>寄存器</a:t>
            </a:r>
            <a:endParaRPr lang="zh-CN" altLang="en-US"/>
          </a:p>
          <a:p>
            <a:pPr eaLnBrk="1" hangingPunct="1">
              <a:spcAft>
                <a:spcPct val="45000"/>
              </a:spcAft>
              <a:buFont typeface="Wingdings" pitchFamily="2" charset="2"/>
              <a:buNone/>
            </a:pPr>
            <a:r>
              <a:rPr kumimoji="1" lang="zh-CN" altLang="en-US"/>
              <a:t>存储器</a:t>
            </a:r>
          </a:p>
        </p:txBody>
      </p:sp>
      <p:sp>
        <p:nvSpPr>
          <p:cNvPr id="53252" name="AutoShape 4"/>
          <p:cNvSpPr>
            <a:spLocks/>
          </p:cNvSpPr>
          <p:nvPr/>
        </p:nvSpPr>
        <p:spPr bwMode="auto">
          <a:xfrm>
            <a:off x="1212850" y="2820988"/>
            <a:ext cx="336550" cy="1512887"/>
          </a:xfrm>
          <a:prstGeom prst="leftBrace">
            <a:avLst>
              <a:gd name="adj1" fmla="val 37461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53255" name="Line 7"/>
          <p:cNvSpPr>
            <a:spLocks noChangeShapeType="1"/>
          </p:cNvSpPr>
          <p:nvPr/>
        </p:nvSpPr>
        <p:spPr bwMode="auto">
          <a:xfrm>
            <a:off x="2870200" y="2820988"/>
            <a:ext cx="611188" cy="0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56" name="AutoShape 8"/>
          <p:cNvSpPr>
            <a:spLocks/>
          </p:cNvSpPr>
          <p:nvPr/>
        </p:nvSpPr>
        <p:spPr bwMode="auto">
          <a:xfrm rot="10800000">
            <a:off x="2941638" y="3613150"/>
            <a:ext cx="200025" cy="792163"/>
          </a:xfrm>
          <a:prstGeom prst="leftBrace">
            <a:avLst>
              <a:gd name="adj1" fmla="val 3300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53257" name="Text Box 9"/>
          <p:cNvSpPr txBox="1">
            <a:spLocks noChangeArrowheads="1"/>
          </p:cNvSpPr>
          <p:nvPr/>
        </p:nvSpPr>
        <p:spPr bwMode="auto">
          <a:xfrm>
            <a:off x="3490913" y="2555875"/>
            <a:ext cx="4321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>
                <a:ea typeface="宋体" pitchFamily="2" charset="-122"/>
              </a:rPr>
              <a:t>表征参加操作的数据本身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53258" name="Text Box 10"/>
          <p:cNvSpPr txBox="1">
            <a:spLocks noChangeArrowheads="1"/>
          </p:cNvSpPr>
          <p:nvPr/>
        </p:nvSpPr>
        <p:spPr bwMode="auto">
          <a:xfrm>
            <a:off x="3228975" y="3741738"/>
            <a:ext cx="4319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>
                <a:ea typeface="宋体" pitchFamily="2" charset="-122"/>
              </a:rPr>
              <a:t>表征数据存放的地址</a:t>
            </a:r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2" grpId="0" animBg="1"/>
      <p:bldP spid="53255" grpId="0" animBg="1"/>
      <p:bldP spid="53256" grpId="0" animBg="1"/>
      <p:bldP spid="53257" grpId="0"/>
      <p:bldP spid="5325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B237E68-4A76-4E70-B4B4-94E554C67FED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9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立即数操作数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2060575"/>
            <a:ext cx="7704137" cy="4392613"/>
          </a:xfrm>
        </p:spPr>
        <p:txBody>
          <a:bodyPr/>
          <a:lstStyle/>
          <a:p>
            <a:pPr eaLnBrk="1" hangingPunct="1">
              <a:spcAft>
                <a:spcPct val="30000"/>
              </a:spcAft>
            </a:pPr>
            <a:r>
              <a:rPr lang="zh-CN" altLang="en-US" dirty="0"/>
              <a:t>立即数本身是参加操作的数据，可以是8位或16位、</a:t>
            </a:r>
            <a:r>
              <a:rPr lang="en-US" altLang="zh-CN" dirty="0"/>
              <a:t>32</a:t>
            </a:r>
            <a:r>
              <a:rPr lang="zh-CN" altLang="en-US" dirty="0"/>
              <a:t>位，只能作为源操作数。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    例： </a:t>
            </a:r>
            <a:r>
              <a:rPr lang="en-US" altLang="zh-CN" dirty="0"/>
              <a:t>MOV  AX，1234H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          </a:t>
            </a:r>
            <a:r>
              <a:rPr lang="en-US" altLang="zh-CN"/>
              <a:t>MOV  BL，22H </a:t>
            </a: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          MOV EDX, 12345678H</a:t>
            </a:r>
          </a:p>
          <a:p>
            <a:pPr eaLnBrk="1" hangingPunct="1">
              <a:lnSpc>
                <a:spcPct val="105000"/>
              </a:lnSpc>
              <a:spcBef>
                <a:spcPct val="10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立即数是运算数据本身，无地址含义，故</a:t>
            </a:r>
            <a:r>
              <a:rPr lang="zh-CN" altLang="en-US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无法作为目标操作数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ED0DCB8-1141-4F08-8480-3D1279C8A960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10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寄存器操作数：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134225" cy="4114800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zh-CN" altLang="en-US" dirty="0"/>
              <a:t>参加运算的数存放在指令给出的寄存器中，可以是</a:t>
            </a:r>
            <a:r>
              <a:rPr lang="en-US" altLang="zh-CN" dirty="0"/>
              <a:t>32</a:t>
            </a:r>
            <a:r>
              <a:rPr lang="zh-CN" altLang="en-US" dirty="0"/>
              <a:t>位、16位或8位。</a:t>
            </a:r>
            <a:endParaRPr lang="en-US" altLang="zh-CN" dirty="0"/>
          </a:p>
          <a:p>
            <a:pPr eaLnBrk="1" hangingPunct="1">
              <a:lnSpc>
                <a:spcPct val="115000"/>
              </a:lnSpc>
            </a:pPr>
            <a:r>
              <a:rPr lang="zh-CN" altLang="en-US" dirty="0"/>
              <a:t>例：</a:t>
            </a:r>
          </a:p>
          <a:p>
            <a:pPr lvl="1" eaLnBrk="1" hangingPunct="1">
              <a:lnSpc>
                <a:spcPct val="115000"/>
              </a:lnSpc>
            </a:pPr>
            <a:r>
              <a:rPr lang="en-US" altLang="zh-CN" dirty="0"/>
              <a:t>MOV  AX，BX</a:t>
            </a:r>
          </a:p>
          <a:p>
            <a:pPr lvl="1" eaLnBrk="1" hangingPunct="1">
              <a:lnSpc>
                <a:spcPct val="115000"/>
              </a:lnSpc>
            </a:pPr>
            <a:r>
              <a:rPr lang="en-US" altLang="zh-CN" dirty="0"/>
              <a:t>MOV  DL，CH</a:t>
            </a:r>
          </a:p>
          <a:p>
            <a:pPr lvl="1" eaLnBrk="1" hangingPunct="1">
              <a:lnSpc>
                <a:spcPct val="115000"/>
              </a:lnSpc>
            </a:pPr>
            <a:r>
              <a:rPr lang="en-US" altLang="zh-CN"/>
              <a:t>MOV  ECX, EAX</a:t>
            </a:r>
            <a:endParaRPr lang="en-US" altLang="zh-CN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2C4B2839-183F-449E-9453-4BB881D4E869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11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存储器操作数</a:t>
            </a:r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00125" y="2071688"/>
            <a:ext cx="7632700" cy="200025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Aft>
                <a:spcPct val="20000"/>
              </a:spcAft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参加运算的数存放在存储器的某个单元中</a:t>
            </a:r>
          </a:p>
          <a:p>
            <a:pPr eaLnBrk="1" hangingPunct="1">
              <a:lnSpc>
                <a:spcPct val="120000"/>
              </a:lnSpc>
              <a:spcAft>
                <a:spcPct val="20000"/>
              </a:spcAft>
            </a:pPr>
            <a:r>
              <a:rPr lang="zh-CN" altLang="en-US" dirty="0"/>
              <a:t>表现形式：</a:t>
            </a:r>
            <a:r>
              <a:rPr lang="en-US" altLang="zh-CN" dirty="0"/>
              <a:t>[       ]</a:t>
            </a:r>
          </a:p>
        </p:txBody>
      </p:sp>
      <p:sp>
        <p:nvSpPr>
          <p:cNvPr id="182276" name="Text Box 4"/>
          <p:cNvSpPr txBox="1">
            <a:spLocks noChangeArrowheads="1"/>
          </p:cNvSpPr>
          <p:nvPr/>
        </p:nvSpPr>
        <p:spPr bwMode="auto">
          <a:xfrm>
            <a:off x="2843808" y="3741239"/>
            <a:ext cx="4752528" cy="1016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marL="342900" indent="-3429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Arial" charset="0"/>
              </a:rPr>
              <a:t>寄存器 </a:t>
            </a:r>
            <a:endParaRPr kumimoji="1" lang="en-US" altLang="zh-CN" sz="2400" dirty="0">
              <a:solidFill>
                <a:schemeClr val="tx1"/>
              </a:solidFill>
              <a:latin typeface="Arial" charset="0"/>
            </a:endParaRPr>
          </a:p>
          <a:p>
            <a:pPr eaLnBrk="1" fontAlgn="ctr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Arial" charset="0"/>
              </a:rPr>
              <a:t>或</a:t>
            </a:r>
            <a:r>
              <a:rPr kumimoji="1" lang="en-US" altLang="zh-CN" sz="2400" dirty="0">
                <a:solidFill>
                  <a:schemeClr val="tx1"/>
                </a:solidFill>
                <a:latin typeface="Arial" charset="0"/>
              </a:rPr>
              <a:t> </a:t>
            </a:r>
            <a:r>
              <a:rPr kumimoji="1" lang="zh-CN" altLang="en-US" sz="2400" dirty="0">
                <a:solidFill>
                  <a:schemeClr val="tx1"/>
                </a:solidFill>
                <a:latin typeface="Arial" charset="0"/>
              </a:rPr>
              <a:t>符号地址（可以省略方括号）</a:t>
            </a:r>
            <a:r>
              <a:rPr kumimoji="1" lang="en-US" altLang="zh-CN" sz="2400" dirty="0">
                <a:solidFill>
                  <a:schemeClr val="tx1"/>
                </a:solidFill>
                <a:latin typeface="Arial" charset="0"/>
              </a:rPr>
              <a:t> </a:t>
            </a:r>
            <a:endParaRPr kumimoji="1" lang="zh-CN" altLang="en-US" sz="24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82277" name="Line 5"/>
          <p:cNvSpPr>
            <a:spLocks noChangeShapeType="1"/>
          </p:cNvSpPr>
          <p:nvPr/>
        </p:nvSpPr>
        <p:spPr bwMode="auto">
          <a:xfrm flipV="1">
            <a:off x="3627282" y="3212976"/>
            <a:ext cx="80621" cy="504056"/>
          </a:xfrm>
          <a:prstGeom prst="line">
            <a:avLst/>
          </a:prstGeom>
          <a:noFill/>
          <a:ln w="25400">
            <a:solidFill>
              <a:srgbClr val="FF6600"/>
            </a:solidFill>
            <a:prstDash val="lgDash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611560" y="4780104"/>
            <a:ext cx="79295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寻找存储器操作数的关键是</a:t>
            </a:r>
            <a:r>
              <a:rPr lang="zh-CN" altLang="en-US" sz="24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确定数据在内存中的存放地址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2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6" grpId="0"/>
      <p:bldP spid="18227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0F649F-5537-43C8-B829-019403A3CAD2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12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692150"/>
            <a:ext cx="7772400" cy="1066800"/>
          </a:xfrm>
        </p:spPr>
        <p:txBody>
          <a:bodyPr/>
          <a:lstStyle/>
          <a:p>
            <a:pPr eaLnBrk="1" hangingPunct="1"/>
            <a:r>
              <a:rPr lang="zh-CN" altLang="en-US" dirty="0"/>
              <a:t>存储器操作数举例</a:t>
            </a:r>
            <a:endParaRPr lang="zh-CN" altLang="en-US" sz="4800" b="1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4375" y="2071688"/>
            <a:ext cx="5110163" cy="1511300"/>
          </a:xfrm>
        </p:spPr>
        <p:txBody>
          <a:bodyPr/>
          <a:lstStyle/>
          <a:p>
            <a:pPr eaLnBrk="1" hangingPunct="1"/>
            <a:r>
              <a:rPr lang="zh-CN" altLang="en-US" dirty="0"/>
              <a:t>例：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MOV  ESI, 1200H</a:t>
            </a:r>
          </a:p>
          <a:p>
            <a:pPr lvl="1" eaLnBrk="1" hangingPunct="1"/>
            <a:r>
              <a:rPr lang="en-US" altLang="zh-CN" dirty="0"/>
              <a:t>MOV  AL，[ESI]</a:t>
            </a:r>
            <a:endParaRPr lang="zh-CN" altLang="en-US" dirty="0"/>
          </a:p>
          <a:p>
            <a:pPr lvl="1" eaLnBrk="1" hangingPunct="1"/>
            <a:r>
              <a:rPr lang="en-US" altLang="zh-CN" dirty="0"/>
              <a:t>MOV  AX，[ESI]</a:t>
            </a:r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6675438" y="3490913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6675438" y="3871913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4584" name="Rectangle 8"/>
          <p:cNvSpPr>
            <a:spLocks noChangeArrowheads="1"/>
          </p:cNvSpPr>
          <p:nvPr/>
        </p:nvSpPr>
        <p:spPr bwMode="auto">
          <a:xfrm>
            <a:off x="6675438" y="4862513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4585" name="Rectangle 9"/>
          <p:cNvSpPr>
            <a:spLocks noChangeArrowheads="1"/>
          </p:cNvSpPr>
          <p:nvPr/>
        </p:nvSpPr>
        <p:spPr bwMode="auto">
          <a:xfrm>
            <a:off x="6675438" y="5243513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4586" name="Line 10"/>
          <p:cNvSpPr>
            <a:spLocks noChangeShapeType="1"/>
          </p:cNvSpPr>
          <p:nvPr/>
        </p:nvSpPr>
        <p:spPr bwMode="auto">
          <a:xfrm>
            <a:off x="6675438" y="2938463"/>
            <a:ext cx="0" cy="3306762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7" name="Line 11"/>
          <p:cNvSpPr>
            <a:spLocks noChangeShapeType="1"/>
          </p:cNvSpPr>
          <p:nvPr/>
        </p:nvSpPr>
        <p:spPr bwMode="auto">
          <a:xfrm>
            <a:off x="8386763" y="2957513"/>
            <a:ext cx="0" cy="3300412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8" name="Freeform 12"/>
          <p:cNvSpPr>
            <a:spLocks/>
          </p:cNvSpPr>
          <p:nvPr/>
        </p:nvSpPr>
        <p:spPr bwMode="auto">
          <a:xfrm>
            <a:off x="6672263" y="2855913"/>
            <a:ext cx="1685925" cy="377825"/>
          </a:xfrm>
          <a:custGeom>
            <a:avLst/>
            <a:gdLst>
              <a:gd name="T0" fmla="*/ 0 w 1062"/>
              <a:gd name="T1" fmla="*/ 2147483647 h 238"/>
              <a:gd name="T2" fmla="*/ 2147483647 w 1062"/>
              <a:gd name="T3" fmla="*/ 2147483647 h 238"/>
              <a:gd name="T4" fmla="*/ 2147483647 w 1062"/>
              <a:gd name="T5" fmla="*/ 0 h 238"/>
              <a:gd name="T6" fmla="*/ 2147483647 w 1062"/>
              <a:gd name="T7" fmla="*/ 2147483647 h 238"/>
              <a:gd name="T8" fmla="*/ 2147483647 w 1062"/>
              <a:gd name="T9" fmla="*/ 2147483647 h 238"/>
              <a:gd name="T10" fmla="*/ 2147483647 w 1062"/>
              <a:gd name="T11" fmla="*/ 2147483647 h 238"/>
              <a:gd name="T12" fmla="*/ 2147483647 w 1062"/>
              <a:gd name="T13" fmla="*/ 2147483647 h 238"/>
              <a:gd name="T14" fmla="*/ 2147483647 w 1062"/>
              <a:gd name="T15" fmla="*/ 2147483647 h 238"/>
              <a:gd name="T16" fmla="*/ 2147483647 w 1062"/>
              <a:gd name="T17" fmla="*/ 2147483647 h 23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062"/>
              <a:gd name="T28" fmla="*/ 0 h 238"/>
              <a:gd name="T29" fmla="*/ 1062 w 1062"/>
              <a:gd name="T30" fmla="*/ 238 h 23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062" h="238">
                <a:moveTo>
                  <a:pt x="0" y="74"/>
                </a:moveTo>
                <a:cubicBezTo>
                  <a:pt x="11" y="63"/>
                  <a:pt x="54" y="24"/>
                  <a:pt x="65" y="18"/>
                </a:cubicBezTo>
                <a:cubicBezTo>
                  <a:pt x="82" y="9"/>
                  <a:pt x="120" y="0"/>
                  <a:pt x="120" y="0"/>
                </a:cubicBezTo>
                <a:cubicBezTo>
                  <a:pt x="178" y="14"/>
                  <a:pt x="236" y="21"/>
                  <a:pt x="296" y="28"/>
                </a:cubicBezTo>
                <a:cubicBezTo>
                  <a:pt x="389" y="64"/>
                  <a:pt x="459" y="133"/>
                  <a:pt x="545" y="175"/>
                </a:cubicBezTo>
                <a:cubicBezTo>
                  <a:pt x="572" y="202"/>
                  <a:pt x="606" y="209"/>
                  <a:pt x="637" y="231"/>
                </a:cubicBezTo>
                <a:cubicBezTo>
                  <a:pt x="726" y="228"/>
                  <a:pt x="817" y="238"/>
                  <a:pt x="905" y="222"/>
                </a:cubicBezTo>
                <a:cubicBezTo>
                  <a:pt x="927" y="218"/>
                  <a:pt x="935" y="190"/>
                  <a:pt x="951" y="175"/>
                </a:cubicBezTo>
                <a:cubicBezTo>
                  <a:pt x="989" y="139"/>
                  <a:pt x="1025" y="102"/>
                  <a:pt x="1062" y="65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9" name="Freeform 13"/>
          <p:cNvSpPr>
            <a:spLocks/>
          </p:cNvSpPr>
          <p:nvPr/>
        </p:nvSpPr>
        <p:spPr bwMode="auto">
          <a:xfrm>
            <a:off x="6654800" y="5913438"/>
            <a:ext cx="1731963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0" name="Text Box 14"/>
          <p:cNvSpPr txBox="1">
            <a:spLocks noChangeArrowheads="1"/>
          </p:cNvSpPr>
          <p:nvPr/>
        </p:nvSpPr>
        <p:spPr bwMode="auto">
          <a:xfrm>
            <a:off x="7153275" y="4862513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22</a:t>
            </a:r>
            <a:r>
              <a:rPr kumimoji="1" lang="en-US" altLang="zh-CN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H</a:t>
            </a:r>
          </a:p>
        </p:txBody>
      </p:sp>
      <p:sp>
        <p:nvSpPr>
          <p:cNvPr id="24591" name="Text Box 15"/>
          <p:cNvSpPr txBox="1">
            <a:spLocks noChangeArrowheads="1"/>
          </p:cNvSpPr>
          <p:nvPr/>
        </p:nvSpPr>
        <p:spPr bwMode="auto">
          <a:xfrm>
            <a:off x="7153275" y="5243513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11</a:t>
            </a:r>
            <a:r>
              <a:rPr kumimoji="1" lang="en-US" altLang="zh-CN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H</a:t>
            </a:r>
          </a:p>
        </p:txBody>
      </p:sp>
      <p:sp>
        <p:nvSpPr>
          <p:cNvPr id="24592" name="Text Box 16"/>
          <p:cNvSpPr txBox="1">
            <a:spLocks noChangeArrowheads="1"/>
          </p:cNvSpPr>
          <p:nvPr/>
        </p:nvSpPr>
        <p:spPr bwMode="auto">
          <a:xfrm>
            <a:off x="5572125" y="4643438"/>
            <a:ext cx="104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1200</a:t>
            </a:r>
            <a:r>
              <a:rPr kumimoji="1" lang="en-US" altLang="zh-CN" sz="2400" b="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H</a:t>
            </a:r>
          </a:p>
        </p:txBody>
      </p:sp>
      <p:sp>
        <p:nvSpPr>
          <p:cNvPr id="24593" name="Text Box 17"/>
          <p:cNvSpPr txBox="1">
            <a:spLocks noChangeArrowheads="1"/>
          </p:cNvSpPr>
          <p:nvPr/>
        </p:nvSpPr>
        <p:spPr bwMode="auto">
          <a:xfrm>
            <a:off x="2928938" y="4357688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偏移地址</a:t>
            </a:r>
          </a:p>
        </p:txBody>
      </p:sp>
      <p:sp>
        <p:nvSpPr>
          <p:cNvPr id="24594" name="Line 18"/>
          <p:cNvSpPr>
            <a:spLocks noChangeShapeType="1"/>
          </p:cNvSpPr>
          <p:nvPr/>
        </p:nvSpPr>
        <p:spPr bwMode="auto">
          <a:xfrm>
            <a:off x="4357688" y="4643438"/>
            <a:ext cx="1295400" cy="228600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0" name="Rectangle 24"/>
          <p:cNvSpPr>
            <a:spLocks noChangeArrowheads="1"/>
          </p:cNvSpPr>
          <p:nvPr/>
        </p:nvSpPr>
        <p:spPr bwMode="auto">
          <a:xfrm>
            <a:off x="3267075" y="5595938"/>
            <a:ext cx="1371600" cy="4572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4601" name="Line 25"/>
          <p:cNvSpPr>
            <a:spLocks noChangeShapeType="1"/>
          </p:cNvSpPr>
          <p:nvPr/>
        </p:nvSpPr>
        <p:spPr bwMode="auto">
          <a:xfrm>
            <a:off x="3952875" y="5595938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7" name="Text Box 31"/>
          <p:cNvSpPr txBox="1">
            <a:spLocks noChangeArrowheads="1"/>
          </p:cNvSpPr>
          <p:nvPr/>
        </p:nvSpPr>
        <p:spPr bwMode="auto">
          <a:xfrm>
            <a:off x="3281363" y="5595938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AH    AL</a:t>
            </a:r>
          </a:p>
        </p:txBody>
      </p:sp>
      <p:sp>
        <p:nvSpPr>
          <p:cNvPr id="24608" name="Line 32"/>
          <p:cNvSpPr>
            <a:spLocks noChangeShapeType="1"/>
          </p:cNvSpPr>
          <p:nvPr/>
        </p:nvSpPr>
        <p:spPr bwMode="auto">
          <a:xfrm flipH="1">
            <a:off x="3571875" y="6372225"/>
            <a:ext cx="2403475" cy="0"/>
          </a:xfrm>
          <a:prstGeom prst="line">
            <a:avLst/>
          </a:prstGeom>
          <a:noFill/>
          <a:ln w="22225" cap="sq">
            <a:solidFill>
              <a:srgbClr val="FF00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9" name="Line 33"/>
          <p:cNvSpPr>
            <a:spLocks noChangeShapeType="1"/>
          </p:cNvSpPr>
          <p:nvPr/>
        </p:nvSpPr>
        <p:spPr bwMode="auto">
          <a:xfrm flipV="1">
            <a:off x="3571875" y="6053138"/>
            <a:ext cx="0" cy="304800"/>
          </a:xfrm>
          <a:prstGeom prst="line">
            <a:avLst/>
          </a:prstGeom>
          <a:noFill/>
          <a:ln w="22225" cap="sq">
            <a:solidFill>
              <a:srgbClr val="FF00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10" name="Text Box 34"/>
          <p:cNvSpPr txBox="1">
            <a:spLocks noChangeArrowheads="1"/>
          </p:cNvSpPr>
          <p:nvPr/>
        </p:nvSpPr>
        <p:spPr bwMode="auto">
          <a:xfrm>
            <a:off x="7229475" y="4376738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┇</a:t>
            </a:r>
            <a:r>
              <a:rPr kumimoji="1" lang="en-US" altLang="zh-CN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sp>
        <p:nvSpPr>
          <p:cNvPr id="24611" name="Line 35"/>
          <p:cNvSpPr>
            <a:spLocks noChangeShapeType="1"/>
          </p:cNvSpPr>
          <p:nvPr/>
        </p:nvSpPr>
        <p:spPr bwMode="auto">
          <a:xfrm>
            <a:off x="4322763" y="5087938"/>
            <a:ext cx="24479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4612" name="Line 36"/>
          <p:cNvSpPr>
            <a:spLocks noChangeShapeType="1"/>
          </p:cNvSpPr>
          <p:nvPr/>
        </p:nvSpPr>
        <p:spPr bwMode="auto">
          <a:xfrm>
            <a:off x="5978525" y="5448300"/>
            <a:ext cx="792163" cy="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4613" name="Line 37"/>
          <p:cNvSpPr>
            <a:spLocks noChangeShapeType="1"/>
          </p:cNvSpPr>
          <p:nvPr/>
        </p:nvSpPr>
        <p:spPr bwMode="auto">
          <a:xfrm>
            <a:off x="5976938" y="5446713"/>
            <a:ext cx="0" cy="935037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24614" name="Line 38"/>
          <p:cNvSpPr>
            <a:spLocks noChangeShapeType="1"/>
          </p:cNvSpPr>
          <p:nvPr/>
        </p:nvSpPr>
        <p:spPr bwMode="auto">
          <a:xfrm>
            <a:off x="4322763" y="5087938"/>
            <a:ext cx="0" cy="504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cxnSp>
        <p:nvCxnSpPr>
          <p:cNvPr id="30" name="直接连接符 29"/>
          <p:cNvCxnSpPr>
            <a:cxnSpLocks noChangeShapeType="1"/>
          </p:cNvCxnSpPr>
          <p:nvPr/>
        </p:nvCxnSpPr>
        <p:spPr bwMode="auto">
          <a:xfrm rot="10800000" flipV="1">
            <a:off x="4322763" y="5086350"/>
            <a:ext cx="2463800" cy="0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oval" w="med" len="med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直接连接符 31"/>
          <p:cNvCxnSpPr>
            <a:cxnSpLocks noChangeShapeType="1"/>
          </p:cNvCxnSpPr>
          <p:nvPr/>
        </p:nvCxnSpPr>
        <p:spPr bwMode="auto">
          <a:xfrm rot="5400000">
            <a:off x="4073525" y="5332413"/>
            <a:ext cx="520700" cy="0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Text Box 16"/>
          <p:cNvSpPr txBox="1">
            <a:spLocks noChangeArrowheads="1"/>
          </p:cNvSpPr>
          <p:nvPr/>
        </p:nvSpPr>
        <p:spPr bwMode="auto">
          <a:xfrm>
            <a:off x="5569605" y="5054782"/>
            <a:ext cx="104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120</a:t>
            </a:r>
            <a:r>
              <a:rPr kumimoji="1"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kumimoji="1" lang="en-US" altLang="zh-CN" sz="2400" b="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H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4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4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4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2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2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2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2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24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2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  <p:bldP spid="24582" grpId="0" animBg="1"/>
      <p:bldP spid="24583" grpId="0" animBg="1"/>
      <p:bldP spid="24584" grpId="0" animBg="1"/>
      <p:bldP spid="24585" grpId="0" animBg="1"/>
      <p:bldP spid="24586" grpId="0" animBg="1"/>
      <p:bldP spid="24587" grpId="0" animBg="1"/>
      <p:bldP spid="24588" grpId="0" animBg="1"/>
      <p:bldP spid="24589" grpId="0" animBg="1"/>
      <p:bldP spid="24590" grpId="0"/>
      <p:bldP spid="24591" grpId="0"/>
      <p:bldP spid="24592" grpId="0"/>
      <p:bldP spid="24593" grpId="0"/>
      <p:bldP spid="24594" grpId="0" animBg="1"/>
      <p:bldP spid="24600" grpId="0" animBg="1"/>
      <p:bldP spid="24601" grpId="0" animBg="1"/>
      <p:bldP spid="24607" grpId="0"/>
      <p:bldP spid="24608" grpId="0" animBg="1"/>
      <p:bldP spid="24609" grpId="0" animBg="1"/>
      <p:bldP spid="24610" grpId="0"/>
      <p:bldP spid="24611" grpId="0" animBg="1"/>
      <p:bldP spid="24612" grpId="0" animBg="1"/>
      <p:bldP spid="24613" grpId="0" animBg="1"/>
      <p:bldP spid="24614" grpId="0" animBg="1"/>
      <p:bldP spid="3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31248133-934A-49B6-873E-4D08621C8425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13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四、指令的执行速度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170113"/>
            <a:ext cx="7061200" cy="3810000"/>
          </a:xfrm>
        </p:spPr>
        <p:txBody>
          <a:bodyPr/>
          <a:lstStyle/>
          <a:p>
            <a:pPr eaLnBrk="1" hangingPunct="1">
              <a:spcBef>
                <a:spcPct val="40000"/>
              </a:spcBef>
              <a:spcAft>
                <a:spcPct val="10000"/>
              </a:spcAft>
            </a:pPr>
            <a:r>
              <a:rPr lang="zh-CN" altLang="en-US" dirty="0"/>
              <a:t>指令的字长影响指令的执行速度</a:t>
            </a:r>
            <a:endParaRPr lang="en-US" altLang="zh-CN" dirty="0"/>
          </a:p>
          <a:p>
            <a:pPr marL="0" indent="0" eaLnBrk="1" hangingPunct="1">
              <a:spcBef>
                <a:spcPct val="40000"/>
              </a:spcBef>
              <a:spcAft>
                <a:spcPct val="10000"/>
              </a:spcAft>
              <a:buNone/>
            </a:pPr>
            <a:endParaRPr lang="zh-CN" altLang="en-US" dirty="0"/>
          </a:p>
          <a:p>
            <a:pPr eaLnBrk="1" hangingPunct="1">
              <a:spcBef>
                <a:spcPts val="1200"/>
              </a:spcBef>
            </a:pPr>
            <a:r>
              <a:rPr lang="zh-CN" altLang="en-US" dirty="0"/>
              <a:t>对不同的操作数，指令执行的时间不同：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   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    存储器</a:t>
            </a:r>
          </a:p>
        </p:txBody>
      </p:sp>
      <p:sp>
        <p:nvSpPr>
          <p:cNvPr id="26629" name="Line 5"/>
          <p:cNvSpPr>
            <a:spLocks noChangeShapeType="1"/>
          </p:cNvSpPr>
          <p:nvPr/>
        </p:nvSpPr>
        <p:spPr bwMode="auto">
          <a:xfrm>
            <a:off x="2843808" y="4925221"/>
            <a:ext cx="912812" cy="0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0" name="Line 6"/>
          <p:cNvSpPr>
            <a:spLocks noChangeShapeType="1"/>
          </p:cNvSpPr>
          <p:nvPr/>
        </p:nvSpPr>
        <p:spPr bwMode="auto">
          <a:xfrm>
            <a:off x="5047456" y="4925221"/>
            <a:ext cx="912812" cy="0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1" name="Line 7"/>
          <p:cNvSpPr>
            <a:spLocks noChangeShapeType="1"/>
          </p:cNvSpPr>
          <p:nvPr/>
        </p:nvSpPr>
        <p:spPr bwMode="auto">
          <a:xfrm>
            <a:off x="2744788" y="5337175"/>
            <a:ext cx="3046412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2" name="Text Box 8"/>
          <p:cNvSpPr txBox="1">
            <a:spLocks noChangeArrowheads="1"/>
          </p:cNvSpPr>
          <p:nvPr/>
        </p:nvSpPr>
        <p:spPr bwMode="auto">
          <a:xfrm>
            <a:off x="2791830" y="5489574"/>
            <a:ext cx="29523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慢                            快</a:t>
            </a:r>
          </a:p>
        </p:txBody>
      </p:sp>
      <p:sp>
        <p:nvSpPr>
          <p:cNvPr id="26633" name="Text Box 9"/>
          <p:cNvSpPr txBox="1">
            <a:spLocks noChangeArrowheads="1"/>
          </p:cNvSpPr>
          <p:nvPr/>
        </p:nvSpPr>
        <p:spPr bwMode="auto">
          <a:xfrm>
            <a:off x="3681412" y="4665665"/>
            <a:ext cx="15128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>
                <a:ea typeface="宋体" pitchFamily="2" charset="-122"/>
              </a:rPr>
              <a:t>立即数</a:t>
            </a:r>
          </a:p>
        </p:txBody>
      </p:sp>
      <p:sp>
        <p:nvSpPr>
          <p:cNvPr id="26634" name="Text Box 10"/>
          <p:cNvSpPr txBox="1">
            <a:spLocks noChangeArrowheads="1"/>
          </p:cNvSpPr>
          <p:nvPr/>
        </p:nvSpPr>
        <p:spPr bwMode="auto">
          <a:xfrm>
            <a:off x="5854700" y="4665665"/>
            <a:ext cx="17287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>
                <a:ea typeface="宋体" pitchFamily="2" charset="-122"/>
              </a:rPr>
              <a:t>寄存器</a:t>
            </a:r>
            <a:endParaRPr lang="zh-CN" altLang="en-US" b="0" dirty="0">
              <a:solidFill>
                <a:schemeClr val="tx1"/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 animBg="1"/>
      <p:bldP spid="26630" grpId="0" animBg="1"/>
      <p:bldP spid="26631" grpId="0" animBg="1"/>
      <p:bldP spid="26632" grpId="0"/>
      <p:bldP spid="26633" grpId="0"/>
      <p:bldP spid="266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BFB4F96-0874-40AB-A15E-CC81363EC14A}" type="slidenum">
              <a:rPr lang="zh-CN" altLang="en-US" sz="1400" b="0" smtClean="0">
                <a:solidFill>
                  <a:schemeClr val="bg2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14</a:t>
            </a:fld>
            <a:endParaRPr lang="en-US" altLang="zh-CN" sz="1400" b="0">
              <a:solidFill>
                <a:schemeClr val="bg2"/>
              </a:solidFill>
              <a:ea typeface="宋体" pitchFamily="2" charset="-122"/>
            </a:endParaRPr>
          </a:p>
        </p:txBody>
      </p:sp>
      <p:sp>
        <p:nvSpPr>
          <p:cNvPr id="20483" name="Rectangle 4"/>
          <p:cNvSpPr>
            <a:spLocks noGrp="1" noChangeArrowheads="1"/>
          </p:cNvSpPr>
          <p:nvPr>
            <p:ph type="ctrTitle"/>
          </p:nvPr>
        </p:nvSpPr>
        <p:spPr>
          <a:xfrm>
            <a:off x="971550" y="1700213"/>
            <a:ext cx="7791450" cy="1462087"/>
          </a:xfrm>
        </p:spPr>
        <p:txBody>
          <a:bodyPr/>
          <a:lstStyle/>
          <a:p>
            <a:pPr algn="ctr" eaLnBrk="1" hangingPunct="1"/>
            <a:r>
              <a:rPr lang="zh-CN" altLang="en-US" sz="4800" b="1" dirty="0"/>
              <a:t>§3.2</a:t>
            </a:r>
            <a:r>
              <a:rPr lang="zh-CN" altLang="en-US" dirty="0">
                <a:latin typeface="隶书" pitchFamily="49" charset="-122"/>
              </a:rPr>
              <a:t> </a:t>
            </a:r>
            <a:r>
              <a:rPr lang="zh-CN" altLang="en-US" sz="5400" dirty="0">
                <a:latin typeface="华文行楷" pitchFamily="2" charset="-122"/>
                <a:ea typeface="华文行楷" pitchFamily="2" charset="-122"/>
              </a:rPr>
              <a:t>寻址方式</a:t>
            </a:r>
            <a:r>
              <a:rPr lang="en-US" altLang="zh-CN" sz="5400" dirty="0">
                <a:latin typeface="华文行楷" pitchFamily="2" charset="-122"/>
                <a:ea typeface="华文行楷" pitchFamily="2" charset="-122"/>
              </a:rPr>
              <a:t>(32</a:t>
            </a:r>
            <a:r>
              <a:rPr lang="zh-CN" altLang="en-US" sz="5400" dirty="0">
                <a:latin typeface="华文行楷" pitchFamily="2" charset="-122"/>
                <a:ea typeface="华文行楷" pitchFamily="2" charset="-122"/>
              </a:rPr>
              <a:t>位模式</a:t>
            </a:r>
            <a:r>
              <a:rPr lang="en-US" altLang="zh-CN" sz="5400" dirty="0">
                <a:latin typeface="华文行楷" pitchFamily="2" charset="-122"/>
                <a:ea typeface="华文行楷" pitchFamily="2" charset="-122"/>
              </a:rPr>
              <a:t>)</a:t>
            </a:r>
            <a:endParaRPr lang="zh-CN" altLang="en-US" sz="5400" dirty="0">
              <a:latin typeface="华文行楷" pitchFamily="2" charset="-122"/>
              <a:ea typeface="华文行楷" pitchFamily="2" charset="-122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CE06C45-B7D1-4EC4-86E4-D4F9EA769457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15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隶书" pitchFamily="49" charset="-122"/>
              </a:rPr>
              <a:t>寻址方式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38350" y="2420938"/>
            <a:ext cx="5486400" cy="2209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3200">
                <a:ea typeface="隶书" pitchFamily="49" charset="-122"/>
              </a:rPr>
              <a:t> </a:t>
            </a:r>
            <a:r>
              <a:rPr lang="zh-CN" altLang="en-US" sz="3200"/>
              <a:t>寻找操作数所在地址的方法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320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3200"/>
              <a:t> 寻找转移地址的方法</a:t>
            </a:r>
            <a:r>
              <a:rPr lang="zh-CN" altLang="en-US" sz="3200">
                <a:ea typeface="隶书" pitchFamily="49" charset="-122"/>
              </a:rPr>
              <a:t>  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3200"/>
          </a:p>
        </p:txBody>
      </p:sp>
      <p:sp>
        <p:nvSpPr>
          <p:cNvPr id="27655" name="AutoShape 7"/>
          <p:cNvSpPr>
            <a:spLocks/>
          </p:cNvSpPr>
          <p:nvPr/>
        </p:nvSpPr>
        <p:spPr bwMode="auto">
          <a:xfrm>
            <a:off x="1908175" y="2705100"/>
            <a:ext cx="228600" cy="1371600"/>
          </a:xfrm>
          <a:prstGeom prst="leftBrace">
            <a:avLst>
              <a:gd name="adj1" fmla="val 50000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7656" name="Text Box 8"/>
          <p:cNvSpPr txBox="1">
            <a:spLocks noChangeArrowheads="1"/>
          </p:cNvSpPr>
          <p:nvPr/>
        </p:nvSpPr>
        <p:spPr bwMode="auto">
          <a:xfrm>
            <a:off x="2438400" y="5334000"/>
            <a:ext cx="1447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本节</a:t>
            </a:r>
          </a:p>
        </p:txBody>
      </p:sp>
      <p:sp>
        <p:nvSpPr>
          <p:cNvPr id="27659" name="Arc 11"/>
          <p:cNvSpPr>
            <a:spLocks/>
          </p:cNvSpPr>
          <p:nvPr/>
        </p:nvSpPr>
        <p:spPr bwMode="auto">
          <a:xfrm flipV="1">
            <a:off x="3563938" y="3141663"/>
            <a:ext cx="3124200" cy="25908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5" dur="10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  <p:bldP spid="27655" grpId="0" animBg="1"/>
      <p:bldP spid="27656" grpId="0"/>
      <p:bldP spid="2765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B267AE7-A41E-4226-8751-7DB849FF9FE4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16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隶书" pitchFamily="49" charset="-122"/>
              </a:rPr>
              <a:t>寻址方式</a:t>
            </a:r>
          </a:p>
        </p:txBody>
      </p:sp>
      <p:sp>
        <p:nvSpPr>
          <p:cNvPr id="322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2017713"/>
            <a:ext cx="7772400" cy="4506912"/>
          </a:xfrm>
        </p:spPr>
        <p:txBody>
          <a:bodyPr/>
          <a:lstStyle/>
          <a:p>
            <a:pPr eaLnBrk="1" hangingPunct="1"/>
            <a:r>
              <a:rPr lang="zh-CN" altLang="en-US" dirty="0"/>
              <a:t>操作数可能的来源或存放处：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dirty="0"/>
              <a:t>由指令直接给出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dirty="0"/>
              <a:t>寄存器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dirty="0"/>
              <a:t>内存单元</a:t>
            </a:r>
          </a:p>
          <a:p>
            <a:pPr eaLnBrk="1" hangingPunct="1">
              <a:spcBef>
                <a:spcPts val="1800"/>
              </a:spcBef>
            </a:pPr>
            <a:r>
              <a:rPr lang="zh-CN" altLang="en-US" dirty="0"/>
              <a:t>寻找操作数所在地址的方法可以有三种大类型</a:t>
            </a:r>
            <a:endParaRPr lang="en-US" altLang="zh-CN" dirty="0"/>
          </a:p>
          <a:p>
            <a:pPr lvl="1" eaLnBrk="1" hangingPunct="1">
              <a:spcBef>
                <a:spcPct val="0"/>
              </a:spcBef>
            </a:pPr>
            <a:r>
              <a:rPr lang="zh-CN" altLang="en-US" dirty="0"/>
              <a:t>指令直接给出的方式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dirty="0"/>
              <a:t>存放于寄存器中的寻址方式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dirty="0"/>
              <a:t>存放于存储器中的寻址方式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652120" y="5301208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--</a:t>
            </a:r>
            <a:r>
              <a:rPr lang="zh-CN" altLang="en-US" sz="2400" dirty="0">
                <a:solidFill>
                  <a:srgbClr val="C00000"/>
                </a:solidFill>
              </a:rPr>
              <a:t>变化最多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2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2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2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2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2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2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2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2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mph" presetSubtype="0" repeatCount="3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322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322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2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2EAA6F4-1074-4730-AB71-1628BC92216B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17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1094581" y="172338"/>
            <a:ext cx="7793037" cy="776102"/>
          </a:xfrm>
        </p:spPr>
        <p:txBody>
          <a:bodyPr/>
          <a:lstStyle/>
          <a:p>
            <a:pPr eaLnBrk="1" hangingPunct="1"/>
            <a:r>
              <a:rPr lang="zh-CN" altLang="en-US" dirty="0"/>
              <a:t>一、立即寻址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36989" y="1826552"/>
            <a:ext cx="7772400" cy="19050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指令中的源操作数是立即数，即源操作数是参加操作的数据本身。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例：</a:t>
            </a:r>
            <a:r>
              <a:rPr lang="en-US" altLang="zh-CN" sz="2400" dirty="0"/>
              <a:t>MOV  AX，1200H</a:t>
            </a:r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6497067" y="2911872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6497067" y="3292872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6497067" y="3648472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8681" name="Rectangle 9"/>
          <p:cNvSpPr>
            <a:spLocks noChangeArrowheads="1"/>
          </p:cNvSpPr>
          <p:nvPr/>
        </p:nvSpPr>
        <p:spPr bwMode="auto">
          <a:xfrm>
            <a:off x="6497067" y="4664472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8682" name="Line 10"/>
          <p:cNvSpPr>
            <a:spLocks noChangeShapeType="1"/>
          </p:cNvSpPr>
          <p:nvPr/>
        </p:nvSpPr>
        <p:spPr bwMode="auto">
          <a:xfrm>
            <a:off x="6497067" y="2359422"/>
            <a:ext cx="0" cy="330676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3" name="Line 11"/>
          <p:cNvSpPr>
            <a:spLocks noChangeShapeType="1"/>
          </p:cNvSpPr>
          <p:nvPr/>
        </p:nvSpPr>
        <p:spPr bwMode="auto">
          <a:xfrm>
            <a:off x="8208392" y="2378472"/>
            <a:ext cx="0" cy="330041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4" name="Freeform 12"/>
          <p:cNvSpPr>
            <a:spLocks/>
          </p:cNvSpPr>
          <p:nvPr/>
        </p:nvSpPr>
        <p:spPr bwMode="auto">
          <a:xfrm>
            <a:off x="6493892" y="2276872"/>
            <a:ext cx="1685925" cy="377825"/>
          </a:xfrm>
          <a:custGeom>
            <a:avLst/>
            <a:gdLst>
              <a:gd name="T0" fmla="*/ 0 w 1062"/>
              <a:gd name="T1" fmla="*/ 2147483647 h 238"/>
              <a:gd name="T2" fmla="*/ 2147483647 w 1062"/>
              <a:gd name="T3" fmla="*/ 2147483647 h 238"/>
              <a:gd name="T4" fmla="*/ 2147483647 w 1062"/>
              <a:gd name="T5" fmla="*/ 0 h 238"/>
              <a:gd name="T6" fmla="*/ 2147483647 w 1062"/>
              <a:gd name="T7" fmla="*/ 2147483647 h 238"/>
              <a:gd name="T8" fmla="*/ 2147483647 w 1062"/>
              <a:gd name="T9" fmla="*/ 2147483647 h 238"/>
              <a:gd name="T10" fmla="*/ 2147483647 w 1062"/>
              <a:gd name="T11" fmla="*/ 2147483647 h 238"/>
              <a:gd name="T12" fmla="*/ 2147483647 w 1062"/>
              <a:gd name="T13" fmla="*/ 2147483647 h 238"/>
              <a:gd name="T14" fmla="*/ 2147483647 w 1062"/>
              <a:gd name="T15" fmla="*/ 2147483647 h 238"/>
              <a:gd name="T16" fmla="*/ 2147483647 w 1062"/>
              <a:gd name="T17" fmla="*/ 2147483647 h 23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062"/>
              <a:gd name="T28" fmla="*/ 0 h 238"/>
              <a:gd name="T29" fmla="*/ 1062 w 1062"/>
              <a:gd name="T30" fmla="*/ 238 h 23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062" h="238">
                <a:moveTo>
                  <a:pt x="0" y="74"/>
                </a:moveTo>
                <a:cubicBezTo>
                  <a:pt x="11" y="63"/>
                  <a:pt x="54" y="24"/>
                  <a:pt x="65" y="18"/>
                </a:cubicBezTo>
                <a:cubicBezTo>
                  <a:pt x="82" y="9"/>
                  <a:pt x="120" y="0"/>
                  <a:pt x="120" y="0"/>
                </a:cubicBezTo>
                <a:cubicBezTo>
                  <a:pt x="178" y="14"/>
                  <a:pt x="236" y="21"/>
                  <a:pt x="296" y="28"/>
                </a:cubicBezTo>
                <a:cubicBezTo>
                  <a:pt x="389" y="64"/>
                  <a:pt x="459" y="133"/>
                  <a:pt x="545" y="175"/>
                </a:cubicBezTo>
                <a:cubicBezTo>
                  <a:pt x="572" y="202"/>
                  <a:pt x="606" y="209"/>
                  <a:pt x="637" y="231"/>
                </a:cubicBezTo>
                <a:cubicBezTo>
                  <a:pt x="726" y="228"/>
                  <a:pt x="817" y="238"/>
                  <a:pt x="905" y="222"/>
                </a:cubicBezTo>
                <a:cubicBezTo>
                  <a:pt x="927" y="218"/>
                  <a:pt x="935" y="190"/>
                  <a:pt x="951" y="175"/>
                </a:cubicBezTo>
                <a:cubicBezTo>
                  <a:pt x="989" y="139"/>
                  <a:pt x="1025" y="102"/>
                  <a:pt x="1062" y="65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5" name="Freeform 13"/>
          <p:cNvSpPr>
            <a:spLocks/>
          </p:cNvSpPr>
          <p:nvPr/>
        </p:nvSpPr>
        <p:spPr bwMode="auto">
          <a:xfrm>
            <a:off x="6476429" y="5334397"/>
            <a:ext cx="1731963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6" name="Text Box 14"/>
          <p:cNvSpPr txBox="1">
            <a:spLocks noChangeArrowheads="1"/>
          </p:cNvSpPr>
          <p:nvPr/>
        </p:nvSpPr>
        <p:spPr bwMode="auto">
          <a:xfrm>
            <a:off x="7051104" y="3648472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12H</a:t>
            </a:r>
          </a:p>
        </p:txBody>
      </p:sp>
      <p:sp>
        <p:nvSpPr>
          <p:cNvPr id="28687" name="Text Box 15"/>
          <p:cNvSpPr txBox="1">
            <a:spLocks noChangeArrowheads="1"/>
          </p:cNvSpPr>
          <p:nvPr/>
        </p:nvSpPr>
        <p:spPr bwMode="auto">
          <a:xfrm>
            <a:off x="7051104" y="3267472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00H</a:t>
            </a:r>
          </a:p>
        </p:txBody>
      </p:sp>
      <p:sp>
        <p:nvSpPr>
          <p:cNvPr id="28690" name="Line 18"/>
          <p:cNvSpPr>
            <a:spLocks noChangeShapeType="1"/>
          </p:cNvSpPr>
          <p:nvPr/>
        </p:nvSpPr>
        <p:spPr bwMode="auto">
          <a:xfrm flipH="1">
            <a:off x="5831904" y="3877072"/>
            <a:ext cx="762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oval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1" name="Line 19"/>
          <p:cNvSpPr>
            <a:spLocks noChangeShapeType="1"/>
          </p:cNvSpPr>
          <p:nvPr/>
        </p:nvSpPr>
        <p:spPr bwMode="auto">
          <a:xfrm>
            <a:off x="5831904" y="3877072"/>
            <a:ext cx="0" cy="1371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4" name="Rectangle 22"/>
          <p:cNvSpPr>
            <a:spLocks noChangeArrowheads="1"/>
          </p:cNvSpPr>
          <p:nvPr/>
        </p:nvSpPr>
        <p:spPr bwMode="auto">
          <a:xfrm>
            <a:off x="3088704" y="4258072"/>
            <a:ext cx="1371600" cy="4572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8695" name="Line 23"/>
          <p:cNvSpPr>
            <a:spLocks noChangeShapeType="1"/>
          </p:cNvSpPr>
          <p:nvPr/>
        </p:nvSpPr>
        <p:spPr bwMode="auto">
          <a:xfrm>
            <a:off x="3774504" y="4258072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6" name="Line 24"/>
          <p:cNvSpPr>
            <a:spLocks noChangeShapeType="1"/>
          </p:cNvSpPr>
          <p:nvPr/>
        </p:nvSpPr>
        <p:spPr bwMode="auto">
          <a:xfrm flipH="1">
            <a:off x="4079304" y="3496072"/>
            <a:ext cx="2514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oval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9" name="Line 27"/>
          <p:cNvSpPr>
            <a:spLocks noChangeShapeType="1"/>
          </p:cNvSpPr>
          <p:nvPr/>
        </p:nvSpPr>
        <p:spPr bwMode="auto">
          <a:xfrm>
            <a:off x="4079304" y="3496072"/>
            <a:ext cx="0" cy="762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0" name="Text Box 28"/>
          <p:cNvSpPr txBox="1">
            <a:spLocks noChangeArrowheads="1"/>
          </p:cNvSpPr>
          <p:nvPr/>
        </p:nvSpPr>
        <p:spPr bwMode="auto">
          <a:xfrm>
            <a:off x="3102992" y="4258072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AH    AL</a:t>
            </a:r>
          </a:p>
        </p:txBody>
      </p:sp>
      <p:sp>
        <p:nvSpPr>
          <p:cNvPr id="28701" name="Text Box 29"/>
          <p:cNvSpPr txBox="1">
            <a:spLocks noChangeArrowheads="1"/>
          </p:cNvSpPr>
          <p:nvPr/>
        </p:nvSpPr>
        <p:spPr bwMode="auto">
          <a:xfrm>
            <a:off x="6974904" y="2886472"/>
            <a:ext cx="11572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操作码</a:t>
            </a:r>
            <a:endParaRPr kumimoji="1" lang="en-US" altLang="zh-CN" sz="2400" dirty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8702" name="Line 30"/>
          <p:cNvSpPr>
            <a:spLocks noChangeShapeType="1"/>
          </p:cNvSpPr>
          <p:nvPr/>
        </p:nvSpPr>
        <p:spPr bwMode="auto">
          <a:xfrm flipH="1">
            <a:off x="3393504" y="5248672"/>
            <a:ext cx="2438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3" name="Line 31"/>
          <p:cNvSpPr>
            <a:spLocks noChangeShapeType="1"/>
          </p:cNvSpPr>
          <p:nvPr/>
        </p:nvSpPr>
        <p:spPr bwMode="auto">
          <a:xfrm flipV="1">
            <a:off x="3393504" y="4715272"/>
            <a:ext cx="0" cy="533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5" name="Text Box 33"/>
          <p:cNvSpPr txBox="1">
            <a:spLocks noChangeArrowheads="1"/>
          </p:cNvSpPr>
          <p:nvPr/>
        </p:nvSpPr>
        <p:spPr bwMode="auto">
          <a:xfrm>
            <a:off x="8651304" y="3416697"/>
            <a:ext cx="45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代码段</a:t>
            </a:r>
          </a:p>
        </p:txBody>
      </p:sp>
      <p:sp>
        <p:nvSpPr>
          <p:cNvPr id="28706" name="AutoShape 34"/>
          <p:cNvSpPr>
            <a:spLocks/>
          </p:cNvSpPr>
          <p:nvPr/>
        </p:nvSpPr>
        <p:spPr bwMode="auto">
          <a:xfrm>
            <a:off x="8344917" y="2956322"/>
            <a:ext cx="230187" cy="2058988"/>
          </a:xfrm>
          <a:prstGeom prst="rightBrace">
            <a:avLst>
              <a:gd name="adj1" fmla="val 74540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8707" name="Text Box 35"/>
          <p:cNvSpPr txBox="1">
            <a:spLocks noChangeArrowheads="1"/>
          </p:cNvSpPr>
          <p:nvPr/>
        </p:nvSpPr>
        <p:spPr bwMode="auto">
          <a:xfrm>
            <a:off x="7127304" y="4178697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┇</a:t>
            </a:r>
            <a:r>
              <a:rPr kumimoji="1" lang="en-US" altLang="zh-CN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sp>
        <p:nvSpPr>
          <p:cNvPr id="28708" name="Text Box 36"/>
          <p:cNvSpPr txBox="1">
            <a:spLocks noChangeArrowheads="1"/>
          </p:cNvSpPr>
          <p:nvPr/>
        </p:nvSpPr>
        <p:spPr bwMode="auto">
          <a:xfrm>
            <a:off x="1455124" y="1090983"/>
            <a:ext cx="6544289" cy="58541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FF0000"/>
                </a:solidFill>
                <a:ea typeface="黑体" pitchFamily="2" charset="-122"/>
              </a:rPr>
              <a:t>立即寻址只能用于指令的源操作数！</a:t>
            </a:r>
            <a:endParaRPr lang="zh-CN" altLang="en-US" sz="1600" dirty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69951" y="5738955"/>
            <a:ext cx="6372199" cy="486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spcBef>
                <a:spcPct val="20000"/>
              </a:spcBef>
              <a:spcAft>
                <a:spcPct val="5000"/>
              </a:spcAft>
              <a:buClr>
                <a:srgbClr val="3333CC"/>
              </a:buClr>
              <a:buSzPct val="60000"/>
            </a:pPr>
            <a:r>
              <a:rPr lang="zh-CN" altLang="en-US" sz="2400" b="1" kern="0" dirty="0">
                <a:solidFill>
                  <a:srgbClr val="FF0000"/>
                </a:solidFill>
                <a:latin typeface="Tahoma"/>
                <a:ea typeface="楷体_GB2312"/>
              </a:rPr>
              <a:t>注意：</a:t>
            </a:r>
            <a:r>
              <a:rPr lang="zh-CN" altLang="en-US" sz="2400" b="1" kern="0" dirty="0">
                <a:solidFill>
                  <a:srgbClr val="333399"/>
                </a:solidFill>
                <a:latin typeface="Tahoma"/>
                <a:ea typeface="楷体_GB2312"/>
              </a:rPr>
              <a:t>立即数不能超过目的操作数表示范围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69951" y="6297401"/>
            <a:ext cx="747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2"/>
                </a:solidFill>
              </a:rPr>
              <a:t>例：</a:t>
            </a:r>
            <a:r>
              <a:rPr lang="en-US" altLang="zh-CN" sz="2400" dirty="0">
                <a:solidFill>
                  <a:schemeClr val="tx2"/>
                </a:solidFill>
              </a:rPr>
              <a:t>MOV AL, 260</a:t>
            </a:r>
            <a:r>
              <a:rPr lang="zh-CN" altLang="en-US" sz="2400" dirty="0">
                <a:solidFill>
                  <a:schemeClr val="tx2"/>
                </a:solidFill>
              </a:rPr>
              <a:t> </a:t>
            </a:r>
            <a:r>
              <a:rPr lang="en-US" altLang="zh-CN" sz="2400" dirty="0">
                <a:solidFill>
                  <a:schemeClr val="tx2"/>
                </a:solidFill>
              </a:rPr>
              <a:t>;</a:t>
            </a:r>
            <a:r>
              <a:rPr lang="en-US" altLang="zh-CN" sz="2400" dirty="0">
                <a:solidFill>
                  <a:srgbClr val="FF0000"/>
                </a:solidFill>
              </a:rPr>
              <a:t>❌</a:t>
            </a:r>
            <a:r>
              <a:rPr lang="zh-CN" altLang="en-US" sz="2400" dirty="0">
                <a:solidFill>
                  <a:schemeClr val="tx2"/>
                </a:solidFill>
              </a:rPr>
              <a:t> </a:t>
            </a:r>
            <a:r>
              <a:rPr lang="en-US" altLang="zh-CN" sz="2400" dirty="0">
                <a:solidFill>
                  <a:schemeClr val="tx2"/>
                </a:solidFill>
              </a:rPr>
              <a:t>260</a:t>
            </a:r>
            <a:r>
              <a:rPr lang="zh-CN" altLang="en-US" sz="2400" dirty="0">
                <a:solidFill>
                  <a:schemeClr val="tx2"/>
                </a:solidFill>
              </a:rPr>
              <a:t>超过</a:t>
            </a:r>
            <a:r>
              <a:rPr lang="en-US" altLang="zh-CN" sz="2400" dirty="0">
                <a:solidFill>
                  <a:schemeClr val="tx2"/>
                </a:solidFill>
              </a:rPr>
              <a:t>8</a:t>
            </a:r>
            <a:r>
              <a:rPr lang="zh-CN" altLang="en-US" sz="2400" dirty="0">
                <a:solidFill>
                  <a:schemeClr val="tx2"/>
                </a:solidFill>
              </a:rPr>
              <a:t>位的</a:t>
            </a:r>
            <a:r>
              <a:rPr lang="en-US" altLang="zh-CN" sz="2400" dirty="0">
                <a:solidFill>
                  <a:schemeClr val="tx2"/>
                </a:solidFill>
              </a:rPr>
              <a:t>AL</a:t>
            </a:r>
            <a:r>
              <a:rPr lang="zh-CN" altLang="en-US" sz="2400" dirty="0">
                <a:solidFill>
                  <a:schemeClr val="tx2"/>
                </a:solidFill>
              </a:rPr>
              <a:t>范围</a:t>
            </a:r>
            <a:r>
              <a:rPr lang="en-US" altLang="zh-CN" sz="2400" dirty="0">
                <a:solidFill>
                  <a:schemeClr val="tx2"/>
                </a:solidFill>
              </a:rPr>
              <a:t>0~255</a:t>
            </a:r>
            <a:endParaRPr lang="zh-CN" altLang="en-US" sz="2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8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8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8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8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8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500"/>
                                        <p:tgtEl>
                                          <p:spTgt spid="2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8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8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8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8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8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8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2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8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8" dur="1000"/>
                                        <p:tgtEl>
                                          <p:spTgt spid="2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2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500"/>
                            </p:stCondLst>
                            <p:childTnLst>
                              <p:par>
                                <p:cTn id="10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28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000"/>
                            </p:stCondLst>
                            <p:childTnLst>
                              <p:par>
                                <p:cTn id="10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28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  <p:bldP spid="28678" grpId="0" animBg="1"/>
      <p:bldP spid="28679" grpId="0" animBg="1"/>
      <p:bldP spid="28680" grpId="0" animBg="1"/>
      <p:bldP spid="28681" grpId="0" animBg="1"/>
      <p:bldP spid="28682" grpId="0" animBg="1"/>
      <p:bldP spid="28683" grpId="0" animBg="1"/>
      <p:bldP spid="28684" grpId="0" animBg="1"/>
      <p:bldP spid="28685" grpId="0" animBg="1"/>
      <p:bldP spid="28686" grpId="0"/>
      <p:bldP spid="28687" grpId="0"/>
      <p:bldP spid="28690" grpId="0" animBg="1"/>
      <p:bldP spid="28691" grpId="0" animBg="1"/>
      <p:bldP spid="28694" grpId="0" animBg="1"/>
      <p:bldP spid="28695" grpId="0" animBg="1"/>
      <p:bldP spid="28696" grpId="0" animBg="1"/>
      <p:bldP spid="28699" grpId="0" animBg="1"/>
      <p:bldP spid="28700" grpId="0"/>
      <p:bldP spid="28701" grpId="0"/>
      <p:bldP spid="28702" grpId="0" animBg="1"/>
      <p:bldP spid="28703" grpId="0" animBg="1"/>
      <p:bldP spid="28705" grpId="0"/>
      <p:bldP spid="28706" grpId="0" animBg="1"/>
      <p:bldP spid="28707" grpId="0"/>
      <p:bldP spid="28708" grpId="0" animBg="1"/>
      <p:bldP spid="2" grpId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4F2FAB5-E333-40DA-B72C-D1F7738F349F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18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二、寄存器寻址</a:t>
            </a:r>
          </a:p>
        </p:txBody>
      </p:sp>
      <p:sp>
        <p:nvSpPr>
          <p:cNvPr id="323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1563" y="2105025"/>
            <a:ext cx="7772400" cy="2895600"/>
          </a:xfrm>
        </p:spPr>
        <p:txBody>
          <a:bodyPr/>
          <a:lstStyle/>
          <a:p>
            <a:pPr eaLnBrk="1" hangingPunct="1"/>
            <a:r>
              <a:rPr lang="zh-CN" altLang="en-US" dirty="0"/>
              <a:t>参加操作的操作数在</a:t>
            </a:r>
            <a:r>
              <a:rPr lang="en-US" altLang="zh-CN" dirty="0"/>
              <a:t>CPU</a:t>
            </a:r>
            <a:r>
              <a:rPr lang="zh-CN" altLang="en-US" dirty="0"/>
              <a:t>的通用寄存器或段寄存器中。</a:t>
            </a:r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例：</a:t>
            </a:r>
            <a:r>
              <a:rPr lang="en-US" altLang="zh-CN" dirty="0"/>
              <a:t>MOV  AX，BX</a:t>
            </a:r>
          </a:p>
        </p:txBody>
      </p:sp>
      <p:sp>
        <p:nvSpPr>
          <p:cNvPr id="323588" name="Rectangle 4"/>
          <p:cNvSpPr>
            <a:spLocks noChangeArrowheads="1"/>
          </p:cNvSpPr>
          <p:nvPr/>
        </p:nvSpPr>
        <p:spPr bwMode="auto">
          <a:xfrm>
            <a:off x="2208213" y="4418013"/>
            <a:ext cx="1752600" cy="608012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23589" name="Rectangle 5"/>
          <p:cNvSpPr>
            <a:spLocks noChangeArrowheads="1"/>
          </p:cNvSpPr>
          <p:nvPr/>
        </p:nvSpPr>
        <p:spPr bwMode="auto">
          <a:xfrm>
            <a:off x="4724400" y="4419600"/>
            <a:ext cx="1752600" cy="608013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23590" name="Text Box 6"/>
          <p:cNvSpPr txBox="1">
            <a:spLocks noChangeArrowheads="1"/>
          </p:cNvSpPr>
          <p:nvPr/>
        </p:nvSpPr>
        <p:spPr bwMode="auto">
          <a:xfrm>
            <a:off x="2590800" y="44958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 AX</a:t>
            </a:r>
          </a:p>
        </p:txBody>
      </p:sp>
      <p:sp>
        <p:nvSpPr>
          <p:cNvPr id="323591" name="Text Box 7"/>
          <p:cNvSpPr txBox="1">
            <a:spLocks noChangeArrowheads="1"/>
          </p:cNvSpPr>
          <p:nvPr/>
        </p:nvSpPr>
        <p:spPr bwMode="auto">
          <a:xfrm>
            <a:off x="5029200" y="44958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 BX</a:t>
            </a:r>
          </a:p>
        </p:txBody>
      </p:sp>
      <p:sp>
        <p:nvSpPr>
          <p:cNvPr id="323592" name="Line 8"/>
          <p:cNvSpPr>
            <a:spLocks noChangeShapeType="1"/>
          </p:cNvSpPr>
          <p:nvPr/>
        </p:nvSpPr>
        <p:spPr bwMode="auto">
          <a:xfrm>
            <a:off x="5562600" y="5029200"/>
            <a:ext cx="0" cy="6096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3593" name="Line 9"/>
          <p:cNvSpPr>
            <a:spLocks noChangeShapeType="1"/>
          </p:cNvSpPr>
          <p:nvPr/>
        </p:nvSpPr>
        <p:spPr bwMode="auto">
          <a:xfrm flipH="1">
            <a:off x="3124200" y="5638800"/>
            <a:ext cx="24384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3594" name="Line 10"/>
          <p:cNvSpPr>
            <a:spLocks noChangeShapeType="1"/>
          </p:cNvSpPr>
          <p:nvPr/>
        </p:nvSpPr>
        <p:spPr bwMode="auto">
          <a:xfrm flipV="1">
            <a:off x="3124200" y="5029200"/>
            <a:ext cx="0" cy="6096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3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3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3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3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32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32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7" grpId="0" build="p"/>
      <p:bldP spid="323588" grpId="0" animBg="1"/>
      <p:bldP spid="323589" grpId="0" animBg="1"/>
      <p:bldP spid="323590" grpId="0"/>
      <p:bldP spid="323591" grpId="0"/>
      <p:bldP spid="323592" grpId="0" animBg="1"/>
      <p:bldP spid="323593" grpId="0" animBg="1"/>
      <p:bldP spid="32359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63AA0C1-9B66-4789-B034-C717EE428AF1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19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三、直接寻址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6387" y="2042024"/>
            <a:ext cx="7847013" cy="2028825"/>
          </a:xfrm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10000"/>
              </a:spcAft>
            </a:pPr>
            <a:r>
              <a:rPr lang="zh-CN" altLang="en-US" dirty="0"/>
              <a:t>指令中直接给出操作数的偏移地址</a:t>
            </a:r>
          </a:p>
          <a:p>
            <a:pPr eaLnBrk="1" hangingPunct="1">
              <a:spcBef>
                <a:spcPct val="5000"/>
              </a:spcBef>
              <a:spcAft>
                <a:spcPct val="10000"/>
              </a:spcAft>
            </a:pPr>
            <a:r>
              <a:rPr lang="zh-CN" altLang="en-US" dirty="0"/>
              <a:t>偏移地址用符号表示（变量）</a:t>
            </a:r>
          </a:p>
          <a:p>
            <a:pPr eaLnBrk="1" hangingPunct="1">
              <a:spcBef>
                <a:spcPct val="30000"/>
              </a:spcBef>
              <a:spcAft>
                <a:spcPct val="10000"/>
              </a:spcAft>
            </a:pPr>
            <a:r>
              <a:rPr lang="zh-CN" altLang="en-US" dirty="0"/>
              <a:t>例：</a:t>
            </a:r>
            <a:r>
              <a:rPr lang="en-US" altLang="zh-CN" dirty="0"/>
              <a:t>MOV  AX，VAR1</a:t>
            </a:r>
            <a:endParaRPr lang="zh-CN" altLang="en-US" dirty="0"/>
          </a:p>
        </p:txBody>
      </p:sp>
      <p:sp>
        <p:nvSpPr>
          <p:cNvPr id="93188" name="Rectangle 4"/>
          <p:cNvSpPr>
            <a:spLocks noChangeArrowheads="1"/>
          </p:cNvSpPr>
          <p:nvPr/>
        </p:nvSpPr>
        <p:spPr bwMode="auto">
          <a:xfrm>
            <a:off x="6470650" y="2299199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3189" name="Rectangle 5"/>
          <p:cNvSpPr>
            <a:spLocks noChangeArrowheads="1"/>
          </p:cNvSpPr>
          <p:nvPr/>
        </p:nvSpPr>
        <p:spPr bwMode="auto">
          <a:xfrm>
            <a:off x="6470650" y="2680199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3190" name="Rectangle 6"/>
          <p:cNvSpPr>
            <a:spLocks noChangeArrowheads="1"/>
          </p:cNvSpPr>
          <p:nvPr/>
        </p:nvSpPr>
        <p:spPr bwMode="auto">
          <a:xfrm>
            <a:off x="6470650" y="3670799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3191" name="Rectangle 7"/>
          <p:cNvSpPr>
            <a:spLocks noChangeArrowheads="1"/>
          </p:cNvSpPr>
          <p:nvPr/>
        </p:nvSpPr>
        <p:spPr bwMode="auto">
          <a:xfrm>
            <a:off x="6470650" y="4051799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3192" name="Line 8"/>
          <p:cNvSpPr>
            <a:spLocks noChangeShapeType="1"/>
          </p:cNvSpPr>
          <p:nvPr/>
        </p:nvSpPr>
        <p:spPr bwMode="auto">
          <a:xfrm>
            <a:off x="6470650" y="1746749"/>
            <a:ext cx="0" cy="3306762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93" name="Line 9"/>
          <p:cNvSpPr>
            <a:spLocks noChangeShapeType="1"/>
          </p:cNvSpPr>
          <p:nvPr/>
        </p:nvSpPr>
        <p:spPr bwMode="auto">
          <a:xfrm>
            <a:off x="8181975" y="1765799"/>
            <a:ext cx="0" cy="3300412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94" name="Freeform 10"/>
          <p:cNvSpPr>
            <a:spLocks/>
          </p:cNvSpPr>
          <p:nvPr/>
        </p:nvSpPr>
        <p:spPr bwMode="auto">
          <a:xfrm>
            <a:off x="6467475" y="1664199"/>
            <a:ext cx="1685925" cy="377825"/>
          </a:xfrm>
          <a:custGeom>
            <a:avLst/>
            <a:gdLst>
              <a:gd name="T0" fmla="*/ 0 w 1062"/>
              <a:gd name="T1" fmla="*/ 2147483647 h 238"/>
              <a:gd name="T2" fmla="*/ 2147483647 w 1062"/>
              <a:gd name="T3" fmla="*/ 2147483647 h 238"/>
              <a:gd name="T4" fmla="*/ 2147483647 w 1062"/>
              <a:gd name="T5" fmla="*/ 0 h 238"/>
              <a:gd name="T6" fmla="*/ 2147483647 w 1062"/>
              <a:gd name="T7" fmla="*/ 2147483647 h 238"/>
              <a:gd name="T8" fmla="*/ 2147483647 w 1062"/>
              <a:gd name="T9" fmla="*/ 2147483647 h 238"/>
              <a:gd name="T10" fmla="*/ 2147483647 w 1062"/>
              <a:gd name="T11" fmla="*/ 2147483647 h 238"/>
              <a:gd name="T12" fmla="*/ 2147483647 w 1062"/>
              <a:gd name="T13" fmla="*/ 2147483647 h 238"/>
              <a:gd name="T14" fmla="*/ 2147483647 w 1062"/>
              <a:gd name="T15" fmla="*/ 2147483647 h 238"/>
              <a:gd name="T16" fmla="*/ 2147483647 w 1062"/>
              <a:gd name="T17" fmla="*/ 2147483647 h 23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062"/>
              <a:gd name="T28" fmla="*/ 0 h 238"/>
              <a:gd name="T29" fmla="*/ 1062 w 1062"/>
              <a:gd name="T30" fmla="*/ 238 h 23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062" h="238">
                <a:moveTo>
                  <a:pt x="0" y="74"/>
                </a:moveTo>
                <a:cubicBezTo>
                  <a:pt x="11" y="63"/>
                  <a:pt x="54" y="24"/>
                  <a:pt x="65" y="18"/>
                </a:cubicBezTo>
                <a:cubicBezTo>
                  <a:pt x="82" y="9"/>
                  <a:pt x="120" y="0"/>
                  <a:pt x="120" y="0"/>
                </a:cubicBezTo>
                <a:cubicBezTo>
                  <a:pt x="178" y="14"/>
                  <a:pt x="236" y="21"/>
                  <a:pt x="296" y="28"/>
                </a:cubicBezTo>
                <a:cubicBezTo>
                  <a:pt x="389" y="64"/>
                  <a:pt x="459" y="133"/>
                  <a:pt x="545" y="175"/>
                </a:cubicBezTo>
                <a:cubicBezTo>
                  <a:pt x="572" y="202"/>
                  <a:pt x="606" y="209"/>
                  <a:pt x="637" y="231"/>
                </a:cubicBezTo>
                <a:cubicBezTo>
                  <a:pt x="726" y="228"/>
                  <a:pt x="817" y="238"/>
                  <a:pt x="905" y="222"/>
                </a:cubicBezTo>
                <a:cubicBezTo>
                  <a:pt x="927" y="218"/>
                  <a:pt x="935" y="190"/>
                  <a:pt x="951" y="175"/>
                </a:cubicBezTo>
                <a:cubicBezTo>
                  <a:pt x="989" y="139"/>
                  <a:pt x="1025" y="102"/>
                  <a:pt x="1062" y="65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95" name="Freeform 11"/>
          <p:cNvSpPr>
            <a:spLocks/>
          </p:cNvSpPr>
          <p:nvPr/>
        </p:nvSpPr>
        <p:spPr bwMode="auto">
          <a:xfrm>
            <a:off x="6450012" y="4721724"/>
            <a:ext cx="1731963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96" name="Text Box 12"/>
          <p:cNvSpPr txBox="1">
            <a:spLocks noChangeArrowheads="1"/>
          </p:cNvSpPr>
          <p:nvPr/>
        </p:nvSpPr>
        <p:spPr bwMode="auto">
          <a:xfrm>
            <a:off x="6948487" y="3670799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22</a:t>
            </a:r>
            <a:r>
              <a:rPr kumimoji="1" lang="en-US" altLang="zh-CN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H</a:t>
            </a:r>
          </a:p>
        </p:txBody>
      </p:sp>
      <p:sp>
        <p:nvSpPr>
          <p:cNvPr id="93197" name="Text Box 13"/>
          <p:cNvSpPr txBox="1">
            <a:spLocks noChangeArrowheads="1"/>
          </p:cNvSpPr>
          <p:nvPr/>
        </p:nvSpPr>
        <p:spPr bwMode="auto">
          <a:xfrm>
            <a:off x="6948487" y="4051799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11</a:t>
            </a:r>
            <a:r>
              <a:rPr kumimoji="1" lang="en-US" altLang="zh-CN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H</a:t>
            </a:r>
          </a:p>
        </p:txBody>
      </p:sp>
      <p:sp>
        <p:nvSpPr>
          <p:cNvPr id="93198" name="Text Box 14"/>
          <p:cNvSpPr txBox="1">
            <a:spLocks noChangeArrowheads="1"/>
          </p:cNvSpPr>
          <p:nvPr/>
        </p:nvSpPr>
        <p:spPr bwMode="auto">
          <a:xfrm>
            <a:off x="5459413" y="3482416"/>
            <a:ext cx="104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VAR1</a:t>
            </a:r>
          </a:p>
        </p:txBody>
      </p:sp>
      <p:sp>
        <p:nvSpPr>
          <p:cNvPr id="93200" name="Line 16"/>
          <p:cNvSpPr>
            <a:spLocks noChangeShapeType="1"/>
          </p:cNvSpPr>
          <p:nvPr/>
        </p:nvSpPr>
        <p:spPr bwMode="auto">
          <a:xfrm>
            <a:off x="4427984" y="3518947"/>
            <a:ext cx="1029843" cy="133892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210" name="Text Box 26"/>
          <p:cNvSpPr txBox="1">
            <a:spLocks noChangeArrowheads="1"/>
          </p:cNvSpPr>
          <p:nvPr/>
        </p:nvSpPr>
        <p:spPr bwMode="auto">
          <a:xfrm>
            <a:off x="7024687" y="3185024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┇</a:t>
            </a:r>
            <a:r>
              <a:rPr kumimoji="1" lang="en-US" altLang="zh-CN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sp>
        <p:nvSpPr>
          <p:cNvPr id="93214" name="Text Box 30"/>
          <p:cNvSpPr txBox="1">
            <a:spLocks noChangeArrowheads="1"/>
          </p:cNvSpPr>
          <p:nvPr/>
        </p:nvSpPr>
        <p:spPr bwMode="auto">
          <a:xfrm>
            <a:off x="8629360" y="2860140"/>
            <a:ext cx="5334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数据段</a:t>
            </a:r>
          </a:p>
        </p:txBody>
      </p:sp>
      <p:sp>
        <p:nvSpPr>
          <p:cNvPr id="93215" name="AutoShape 31"/>
          <p:cNvSpPr>
            <a:spLocks/>
          </p:cNvSpPr>
          <p:nvPr/>
        </p:nvSpPr>
        <p:spPr bwMode="auto">
          <a:xfrm>
            <a:off x="8320087" y="2426199"/>
            <a:ext cx="304800" cy="2133600"/>
          </a:xfrm>
          <a:prstGeom prst="rightBrace">
            <a:avLst>
              <a:gd name="adj1" fmla="val 5833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3218" name="Line 34"/>
          <p:cNvSpPr>
            <a:spLocks noChangeShapeType="1"/>
          </p:cNvSpPr>
          <p:nvPr/>
        </p:nvSpPr>
        <p:spPr bwMode="auto">
          <a:xfrm flipH="1">
            <a:off x="5242742" y="4302624"/>
            <a:ext cx="137872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oval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219" name="Line 35"/>
          <p:cNvSpPr>
            <a:spLocks noChangeShapeType="1"/>
          </p:cNvSpPr>
          <p:nvPr/>
        </p:nvSpPr>
        <p:spPr bwMode="auto">
          <a:xfrm flipH="1">
            <a:off x="5235081" y="4354808"/>
            <a:ext cx="0" cy="3492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220" name="Rectangle 36"/>
          <p:cNvSpPr>
            <a:spLocks noChangeArrowheads="1"/>
          </p:cNvSpPr>
          <p:nvPr/>
        </p:nvSpPr>
        <p:spPr bwMode="auto">
          <a:xfrm>
            <a:off x="4944105" y="4683624"/>
            <a:ext cx="1371600" cy="4572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3221" name="Line 37"/>
          <p:cNvSpPr>
            <a:spLocks noChangeShapeType="1"/>
          </p:cNvSpPr>
          <p:nvPr/>
        </p:nvSpPr>
        <p:spPr bwMode="auto">
          <a:xfrm>
            <a:off x="5629905" y="4683624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222" name="Line 38"/>
          <p:cNvSpPr>
            <a:spLocks noChangeShapeType="1"/>
          </p:cNvSpPr>
          <p:nvPr/>
        </p:nvSpPr>
        <p:spPr bwMode="auto">
          <a:xfrm flipH="1">
            <a:off x="5962822" y="3921624"/>
            <a:ext cx="658637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oval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223" name="Line 39"/>
          <p:cNvSpPr>
            <a:spLocks noChangeShapeType="1"/>
          </p:cNvSpPr>
          <p:nvPr/>
        </p:nvSpPr>
        <p:spPr bwMode="auto">
          <a:xfrm>
            <a:off x="5962823" y="3894812"/>
            <a:ext cx="0" cy="762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224" name="Text Box 40"/>
          <p:cNvSpPr txBox="1">
            <a:spLocks noChangeArrowheads="1"/>
          </p:cNvSpPr>
          <p:nvPr/>
        </p:nvSpPr>
        <p:spPr bwMode="auto">
          <a:xfrm>
            <a:off x="4870871" y="4683624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AH    AL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378295" y="5037811"/>
            <a:ext cx="6371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AX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68948" y="4083459"/>
            <a:ext cx="48422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注意：</a:t>
            </a:r>
            <a:r>
              <a:rPr lang="zh-CN" altLang="en-US" sz="2400" b="1" dirty="0"/>
              <a:t>在保护模式下，用户是不能自己指定一个具体的存储单元地址，即不能使用常数作为存储单元地址</a:t>
            </a:r>
            <a:r>
              <a:rPr lang="zh-CN" altLang="en-US" sz="2400" b="1" dirty="0" smtClean="0"/>
              <a:t>。</a:t>
            </a:r>
            <a:r>
              <a:rPr lang="en-US" altLang="zh-CN" sz="2400" b="1" dirty="0" smtClean="0"/>
              <a:t>       </a:t>
            </a:r>
            <a:endParaRPr lang="zh-CN" altLang="en-US" sz="2400" b="1" dirty="0"/>
          </a:p>
        </p:txBody>
      </p:sp>
      <p:sp>
        <p:nvSpPr>
          <p:cNvPr id="29" name="文本框 28"/>
          <p:cNvSpPr txBox="1"/>
          <p:nvPr/>
        </p:nvSpPr>
        <p:spPr>
          <a:xfrm>
            <a:off x="164815" y="5481912"/>
            <a:ext cx="85263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/>
              <a:t>若使</a:t>
            </a:r>
            <a:r>
              <a:rPr lang="zh-CN" altLang="en-US" sz="2800" b="1" dirty="0"/>
              <a:t>用了常数则被视为立即数寻址。</a:t>
            </a:r>
            <a:endParaRPr lang="en-US" altLang="zh-CN" sz="2800" b="1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例如，</a:t>
            </a:r>
            <a:r>
              <a:rPr lang="en-US" altLang="zh-CN" sz="2800" b="1" dirty="0"/>
              <a:t>MOV AX, [100]</a:t>
            </a:r>
            <a:r>
              <a:rPr lang="zh-CN" altLang="en-US" sz="2800" b="1" dirty="0"/>
              <a:t>与</a:t>
            </a:r>
            <a:r>
              <a:rPr lang="en-US" altLang="zh-CN" sz="2800" b="1" dirty="0"/>
              <a:t>MOV AX,100</a:t>
            </a:r>
            <a:r>
              <a:rPr lang="zh-CN" altLang="en-US" sz="2800" b="1" dirty="0"/>
              <a:t>为相同功能。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3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3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3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3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3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3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3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3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3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3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3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3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3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3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3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3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3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3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3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500"/>
                                        <p:tgtEl>
                                          <p:spTgt spid="93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93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93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9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93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93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3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3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93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93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3" dur="500"/>
                                        <p:tgtEl>
                                          <p:spTgt spid="93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7" dur="500"/>
                                        <p:tgtEl>
                                          <p:spTgt spid="93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1" dur="500"/>
                                        <p:tgtEl>
                                          <p:spTgt spid="93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5" dur="500"/>
                                        <p:tgtEl>
                                          <p:spTgt spid="93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 build="p"/>
      <p:bldP spid="93188" grpId="0" animBg="1"/>
      <p:bldP spid="93189" grpId="0" animBg="1"/>
      <p:bldP spid="93190" grpId="0" animBg="1"/>
      <p:bldP spid="93191" grpId="0" animBg="1"/>
      <p:bldP spid="93192" grpId="0" animBg="1"/>
      <p:bldP spid="93193" grpId="0" animBg="1"/>
      <p:bldP spid="93194" grpId="0" animBg="1"/>
      <p:bldP spid="93195" grpId="0" animBg="1"/>
      <p:bldP spid="93196" grpId="0"/>
      <p:bldP spid="93197" grpId="0"/>
      <p:bldP spid="93198" grpId="0"/>
      <p:bldP spid="93200" grpId="0" animBg="1"/>
      <p:bldP spid="93210" grpId="0"/>
      <p:bldP spid="93214" grpId="0"/>
      <p:bldP spid="93215" grpId="0" animBg="1"/>
      <p:bldP spid="93218" grpId="0" animBg="1"/>
      <p:bldP spid="93219" grpId="0" animBg="1"/>
      <p:bldP spid="93220" grpId="0" animBg="1"/>
      <p:bldP spid="93221" grpId="0" animBg="1"/>
      <p:bldP spid="93222" grpId="0" animBg="1"/>
      <p:bldP spid="93223" grpId="0" animBg="1"/>
      <p:bldP spid="93224" grpId="0"/>
      <p:bldP spid="6" grpId="0"/>
      <p:bldP spid="2" grpId="0" build="p"/>
      <p:bldP spid="29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FEC6CADE-3378-4FD8-AB29-C5B78B3F5DFC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20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 bwMode="auto">
          <a:xfrm>
            <a:off x="875555" y="180024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+mn-lt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Aft>
                <a:spcPct val="15000"/>
              </a:spcAft>
            </a:pPr>
            <a:r>
              <a:rPr lang="zh-CN" altLang="en-US" kern="0" dirty="0"/>
              <a:t>注意点：</a:t>
            </a:r>
            <a:endParaRPr lang="en-US" altLang="zh-CN" kern="0" dirty="0"/>
          </a:p>
          <a:p>
            <a:pPr lvl="1" eaLnBrk="1" hangingPunct="1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kern="0" dirty="0"/>
              <a:t>存储器操作数的长度与指令中另一个操作数的长度要一致。</a:t>
            </a:r>
            <a:endParaRPr lang="en-US" altLang="zh-CN" kern="0" dirty="0"/>
          </a:p>
          <a:p>
            <a:pPr marL="457200" lvl="1" indent="0" eaLnBrk="1" hangingPunct="1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zh-CN" altLang="en-US" kern="0" dirty="0"/>
              <a:t>例：</a:t>
            </a:r>
            <a:endParaRPr lang="en-US" altLang="zh-CN" kern="0" dirty="0"/>
          </a:p>
          <a:p>
            <a:pPr marL="914400" lvl="2" indent="0" eaLnBrk="1" hangingPunct="1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zh-CN" kern="0" dirty="0">
                <a:solidFill>
                  <a:schemeClr val="tx1"/>
                </a:solidFill>
              </a:rPr>
              <a:t>VAR1 </a:t>
            </a:r>
            <a:r>
              <a:rPr lang="en-US" altLang="zh-CN" kern="0" dirty="0"/>
              <a:t>BYTE</a:t>
            </a:r>
            <a:r>
              <a:rPr lang="en-US" altLang="zh-CN" kern="0" dirty="0">
                <a:solidFill>
                  <a:schemeClr val="tx1"/>
                </a:solidFill>
              </a:rPr>
              <a:t>  10</a:t>
            </a:r>
          </a:p>
          <a:p>
            <a:pPr marL="914400" lvl="2" indent="0" eaLnBrk="1" hangingPunct="1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zh-CN" kern="0" dirty="0">
                <a:solidFill>
                  <a:schemeClr val="tx1"/>
                </a:solidFill>
              </a:rPr>
              <a:t>……</a:t>
            </a:r>
          </a:p>
          <a:p>
            <a:pPr marL="914400" lvl="2" indent="0" eaLnBrk="1" hangingPunct="1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zh-CN" kern="0" dirty="0">
                <a:solidFill>
                  <a:schemeClr val="tx1"/>
                </a:solidFill>
              </a:rPr>
              <a:t>MOV  CL, VAR1</a:t>
            </a:r>
          </a:p>
          <a:p>
            <a:pPr marL="914400" lvl="2" indent="0" eaLnBrk="1" hangingPunct="1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zh-CN" kern="0" dirty="0"/>
              <a:t>MOV  AX, VAR1</a:t>
            </a:r>
            <a:r>
              <a:rPr lang="zh-CN" altLang="en-US" kern="0" dirty="0"/>
              <a:t> </a:t>
            </a:r>
            <a:r>
              <a:rPr lang="en-US" altLang="zh-CN" kern="0" dirty="0"/>
              <a:t>;</a:t>
            </a:r>
            <a:r>
              <a:rPr lang="zh-CN" altLang="en-US" kern="0" dirty="0"/>
              <a:t>出错</a:t>
            </a:r>
            <a:r>
              <a:rPr lang="en-US" altLang="zh-CN" kern="0" dirty="0"/>
              <a:t>,</a:t>
            </a:r>
            <a:r>
              <a:rPr lang="zh-CN" altLang="en-US" kern="0" dirty="0"/>
              <a:t>长度不一致</a:t>
            </a:r>
            <a:endParaRPr lang="en-US" altLang="zh-CN" kern="0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1860F6-BFAC-49E4-A370-39C019CE30B4}" type="slidenum">
              <a:rPr lang="zh-CN" altLang="en-US" smtClean="0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900113" y="200025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+mn-lt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Aft>
                <a:spcPct val="15000"/>
              </a:spcAft>
            </a:pPr>
            <a:r>
              <a:rPr lang="zh-CN" altLang="en-US" kern="0" dirty="0"/>
              <a:t>注意点（续）：</a:t>
            </a:r>
            <a:endParaRPr lang="en-US" altLang="zh-CN" kern="0" dirty="0"/>
          </a:p>
          <a:p>
            <a:pPr lvl="1" eaLnBrk="1" hangingPunct="1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kern="0" dirty="0"/>
              <a:t>在</a:t>
            </a:r>
            <a:r>
              <a:rPr lang="en-US" altLang="zh-CN" kern="0" dirty="0"/>
              <a:t>16</a:t>
            </a:r>
            <a:r>
              <a:rPr lang="zh-CN" altLang="en-US" kern="0" dirty="0"/>
              <a:t>位模式下，直接寻址方式可以使用常数来表示</a:t>
            </a:r>
          </a:p>
          <a:p>
            <a:pPr marL="914400" lvl="2" indent="0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zh-CN" altLang="en-US" kern="0" dirty="0"/>
              <a:t>例：</a:t>
            </a:r>
            <a:r>
              <a:rPr lang="en-US" altLang="zh-CN" kern="0" dirty="0"/>
              <a:t>MOV  AX，[1200H]</a:t>
            </a: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zh-CN" altLang="en-US" kern="0" dirty="0"/>
              <a:t>但在</a:t>
            </a:r>
            <a:r>
              <a:rPr lang="en-US" altLang="zh-CN" kern="0" dirty="0"/>
              <a:t>32</a:t>
            </a:r>
            <a:r>
              <a:rPr lang="zh-CN" altLang="en-US" kern="0" dirty="0"/>
              <a:t>位模式下这种形式就表示立即数，而不是直接寻址方式。它与下面指令等效：</a:t>
            </a:r>
            <a:endParaRPr lang="en-US" altLang="zh-CN" kern="0" dirty="0"/>
          </a:p>
          <a:p>
            <a:pPr marL="457200" lvl="1" indent="0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zh-CN" kern="0" dirty="0"/>
              <a:t>    MOV AX, 1200H</a:t>
            </a:r>
          </a:p>
        </p:txBody>
      </p:sp>
    </p:spTree>
    <p:extLst>
      <p:ext uri="{BB962C8B-B14F-4D97-AF65-F5344CB8AC3E}">
        <p14:creationId xmlns:p14="http://schemas.microsoft.com/office/powerpoint/2010/main" val="788210796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F18DFB5-2F5E-4EEA-92FD-E899163DDC27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22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四、寄存器间接寻址</a:t>
            </a:r>
          </a:p>
        </p:txBody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446" y="1889125"/>
            <a:ext cx="7572375" cy="4114800"/>
          </a:xfrm>
        </p:spPr>
        <p:txBody>
          <a:bodyPr/>
          <a:lstStyle/>
          <a:p>
            <a:pPr eaLnBrk="1" hangingPunct="1">
              <a:lnSpc>
                <a:spcPct val="115000"/>
              </a:lnSpc>
              <a:spcAft>
                <a:spcPct val="10000"/>
              </a:spcAft>
            </a:pPr>
            <a:r>
              <a:rPr lang="zh-CN" altLang="en-US" dirty="0"/>
              <a:t>参与操作的数据存放在内存中，其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偏移地址为指令中的一个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32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位寄存器的内容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lnSpc>
                <a:spcPct val="115000"/>
              </a:lnSpc>
            </a:pPr>
            <a:r>
              <a:rPr lang="zh-CN" altLang="en-US" dirty="0"/>
              <a:t>例：</a:t>
            </a:r>
            <a:r>
              <a:rPr lang="en-US" altLang="zh-CN" sz="2400" dirty="0">
                <a:solidFill>
                  <a:schemeClr val="tx1"/>
                </a:solidFill>
              </a:rPr>
              <a:t>LEA  EBX</a:t>
            </a:r>
            <a:r>
              <a:rPr lang="zh-CN" altLang="en-US" sz="2400" dirty="0">
                <a:solidFill>
                  <a:schemeClr val="tx1"/>
                </a:solidFill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</a:rPr>
              <a:t>VAR1</a:t>
            </a:r>
          </a:p>
          <a:p>
            <a:pPr marL="457200" lvl="1" indent="0" eaLnBrk="1" hangingPunct="1">
              <a:lnSpc>
                <a:spcPct val="115000"/>
              </a:lnSpc>
              <a:buNone/>
            </a:pPr>
            <a:r>
              <a:rPr lang="en-US" altLang="zh-CN" dirty="0"/>
              <a:t>       MOV  AX，[EBX]</a:t>
            </a:r>
          </a:p>
          <a:p>
            <a:pPr eaLnBrk="1" hangingPunct="1">
              <a:lnSpc>
                <a:spcPct val="115000"/>
              </a:lnSpc>
              <a:spcAft>
                <a:spcPct val="10000"/>
              </a:spcAft>
            </a:pPr>
            <a:endParaRPr lang="zh-CN" altLang="en-US" dirty="0"/>
          </a:p>
          <a:p>
            <a:pPr eaLnBrk="1" hangingPunct="1"/>
            <a:endParaRPr lang="zh-CN" altLang="en-US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162760" y="4074814"/>
            <a:ext cx="31300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EBX</a:t>
            </a: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装的是</a:t>
            </a:r>
            <a:r>
              <a:rPr lang="en-US" altLang="zh-CN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VAR1</a:t>
            </a:r>
            <a:r>
              <a:rPr lang="zh-CN" altLang="en-US" sz="24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的地址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199784" y="3534767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7199784" y="3915767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7199784" y="4906367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7199784" y="5287367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7199784" y="2982317"/>
            <a:ext cx="0" cy="3306762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>
            <a:off x="8911109" y="3001367"/>
            <a:ext cx="0" cy="3300412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Freeform 10"/>
          <p:cNvSpPr>
            <a:spLocks/>
          </p:cNvSpPr>
          <p:nvPr/>
        </p:nvSpPr>
        <p:spPr bwMode="auto">
          <a:xfrm>
            <a:off x="7196609" y="2899767"/>
            <a:ext cx="1685925" cy="377825"/>
          </a:xfrm>
          <a:custGeom>
            <a:avLst/>
            <a:gdLst>
              <a:gd name="T0" fmla="*/ 0 w 1062"/>
              <a:gd name="T1" fmla="*/ 2147483647 h 238"/>
              <a:gd name="T2" fmla="*/ 2147483647 w 1062"/>
              <a:gd name="T3" fmla="*/ 2147483647 h 238"/>
              <a:gd name="T4" fmla="*/ 2147483647 w 1062"/>
              <a:gd name="T5" fmla="*/ 0 h 238"/>
              <a:gd name="T6" fmla="*/ 2147483647 w 1062"/>
              <a:gd name="T7" fmla="*/ 2147483647 h 238"/>
              <a:gd name="T8" fmla="*/ 2147483647 w 1062"/>
              <a:gd name="T9" fmla="*/ 2147483647 h 238"/>
              <a:gd name="T10" fmla="*/ 2147483647 w 1062"/>
              <a:gd name="T11" fmla="*/ 2147483647 h 238"/>
              <a:gd name="T12" fmla="*/ 2147483647 w 1062"/>
              <a:gd name="T13" fmla="*/ 2147483647 h 238"/>
              <a:gd name="T14" fmla="*/ 2147483647 w 1062"/>
              <a:gd name="T15" fmla="*/ 2147483647 h 238"/>
              <a:gd name="T16" fmla="*/ 2147483647 w 1062"/>
              <a:gd name="T17" fmla="*/ 2147483647 h 23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062"/>
              <a:gd name="T28" fmla="*/ 0 h 238"/>
              <a:gd name="T29" fmla="*/ 1062 w 1062"/>
              <a:gd name="T30" fmla="*/ 238 h 23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062" h="238">
                <a:moveTo>
                  <a:pt x="0" y="74"/>
                </a:moveTo>
                <a:cubicBezTo>
                  <a:pt x="11" y="63"/>
                  <a:pt x="54" y="24"/>
                  <a:pt x="65" y="18"/>
                </a:cubicBezTo>
                <a:cubicBezTo>
                  <a:pt x="82" y="9"/>
                  <a:pt x="120" y="0"/>
                  <a:pt x="120" y="0"/>
                </a:cubicBezTo>
                <a:cubicBezTo>
                  <a:pt x="178" y="14"/>
                  <a:pt x="236" y="21"/>
                  <a:pt x="296" y="28"/>
                </a:cubicBezTo>
                <a:cubicBezTo>
                  <a:pt x="389" y="64"/>
                  <a:pt x="459" y="133"/>
                  <a:pt x="545" y="175"/>
                </a:cubicBezTo>
                <a:cubicBezTo>
                  <a:pt x="572" y="202"/>
                  <a:pt x="606" y="209"/>
                  <a:pt x="637" y="231"/>
                </a:cubicBezTo>
                <a:cubicBezTo>
                  <a:pt x="726" y="228"/>
                  <a:pt x="817" y="238"/>
                  <a:pt x="905" y="222"/>
                </a:cubicBezTo>
                <a:cubicBezTo>
                  <a:pt x="927" y="218"/>
                  <a:pt x="935" y="190"/>
                  <a:pt x="951" y="175"/>
                </a:cubicBezTo>
                <a:cubicBezTo>
                  <a:pt x="989" y="139"/>
                  <a:pt x="1025" y="102"/>
                  <a:pt x="1062" y="65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Freeform 11"/>
          <p:cNvSpPr>
            <a:spLocks/>
          </p:cNvSpPr>
          <p:nvPr/>
        </p:nvSpPr>
        <p:spPr bwMode="auto">
          <a:xfrm>
            <a:off x="7179146" y="5957292"/>
            <a:ext cx="1731963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7677621" y="4906367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22</a:t>
            </a:r>
            <a:r>
              <a:rPr kumimoji="1" lang="en-US" altLang="zh-CN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H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7677621" y="5287367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11</a:t>
            </a:r>
            <a:r>
              <a:rPr kumimoji="1" lang="en-US" altLang="zh-CN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H</a:t>
            </a: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6148859" y="4758729"/>
            <a:ext cx="104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VAR1</a:t>
            </a:r>
          </a:p>
        </p:txBody>
      </p:sp>
      <p:sp>
        <p:nvSpPr>
          <p:cNvPr id="17" name="Text Box 26"/>
          <p:cNvSpPr txBox="1">
            <a:spLocks noChangeArrowheads="1"/>
          </p:cNvSpPr>
          <p:nvPr/>
        </p:nvSpPr>
        <p:spPr bwMode="auto">
          <a:xfrm>
            <a:off x="7753821" y="4420592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┇</a:t>
            </a:r>
            <a:r>
              <a:rPr kumimoji="1" lang="en-US" altLang="zh-CN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sp>
        <p:nvSpPr>
          <p:cNvPr id="18" name="Line 34"/>
          <p:cNvSpPr>
            <a:spLocks noChangeShapeType="1"/>
          </p:cNvSpPr>
          <p:nvPr/>
        </p:nvSpPr>
        <p:spPr bwMode="auto">
          <a:xfrm flipH="1">
            <a:off x="5868144" y="5538192"/>
            <a:ext cx="1482452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oval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35"/>
          <p:cNvSpPr>
            <a:spLocks noChangeShapeType="1"/>
          </p:cNvSpPr>
          <p:nvPr/>
        </p:nvSpPr>
        <p:spPr bwMode="auto">
          <a:xfrm flipH="1">
            <a:off x="5868144" y="5511134"/>
            <a:ext cx="0" cy="381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Rectangle 36"/>
          <p:cNvSpPr>
            <a:spLocks noChangeArrowheads="1"/>
          </p:cNvSpPr>
          <p:nvPr/>
        </p:nvSpPr>
        <p:spPr bwMode="auto">
          <a:xfrm>
            <a:off x="5481984" y="5919192"/>
            <a:ext cx="1371600" cy="4572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1" name="Line 37"/>
          <p:cNvSpPr>
            <a:spLocks noChangeShapeType="1"/>
          </p:cNvSpPr>
          <p:nvPr/>
        </p:nvSpPr>
        <p:spPr bwMode="auto">
          <a:xfrm>
            <a:off x="6167784" y="5919192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38"/>
          <p:cNvSpPr>
            <a:spLocks noChangeShapeType="1"/>
          </p:cNvSpPr>
          <p:nvPr/>
        </p:nvSpPr>
        <p:spPr bwMode="auto">
          <a:xfrm flipH="1">
            <a:off x="6372200" y="5157192"/>
            <a:ext cx="978396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oval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39"/>
          <p:cNvSpPr>
            <a:spLocks noChangeShapeType="1"/>
          </p:cNvSpPr>
          <p:nvPr/>
        </p:nvSpPr>
        <p:spPr bwMode="auto">
          <a:xfrm>
            <a:off x="6372200" y="5157192"/>
            <a:ext cx="0" cy="762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Box 40"/>
          <p:cNvSpPr txBox="1">
            <a:spLocks noChangeArrowheads="1"/>
          </p:cNvSpPr>
          <p:nvPr/>
        </p:nvSpPr>
        <p:spPr bwMode="auto">
          <a:xfrm>
            <a:off x="5496272" y="5919192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AH    AL</a:t>
            </a:r>
          </a:p>
        </p:txBody>
      </p:sp>
      <p:cxnSp>
        <p:nvCxnSpPr>
          <p:cNvPr id="3" name="直接箭头连接符 2"/>
          <p:cNvCxnSpPr/>
          <p:nvPr/>
        </p:nvCxnSpPr>
        <p:spPr bwMode="auto">
          <a:xfrm>
            <a:off x="6194980" y="4411985"/>
            <a:ext cx="611188" cy="38861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rgbClr val="FF66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6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17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786688" y="6257925"/>
            <a:ext cx="1160462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009A557-69C8-42B1-91E3-BA4377CF22C1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23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0088" y="332656"/>
            <a:ext cx="8247062" cy="6336704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ct val="0"/>
              </a:spcAft>
            </a:pPr>
            <a:r>
              <a:rPr lang="zh-CN" altLang="en-US" dirty="0"/>
              <a:t>注意点：</a:t>
            </a:r>
            <a:endParaRPr lang="en-US" altLang="zh-CN" dirty="0"/>
          </a:p>
          <a:p>
            <a:pPr lvl="1" eaLnBrk="1" hangingPunct="1">
              <a:spcBef>
                <a:spcPts val="600"/>
              </a:spcBef>
              <a:spcAft>
                <a:spcPct val="0"/>
              </a:spcAft>
            </a:pPr>
            <a:r>
              <a:rPr lang="zh-CN" altLang="en-US" dirty="0"/>
              <a:t>由寄存器间接给出操作数的偏移地址，存放偏移地址的寄存器称为</a:t>
            </a:r>
            <a:r>
              <a:rPr lang="zh-CN" altLang="en-US" dirty="0">
                <a:solidFill>
                  <a:srgbClr val="FF0000"/>
                </a:solidFill>
              </a:rPr>
              <a:t>间址寄存器</a:t>
            </a:r>
            <a:r>
              <a:rPr lang="en-US" altLang="zh-CN" dirty="0"/>
              <a:t>.</a:t>
            </a:r>
          </a:p>
          <a:p>
            <a:pPr lvl="1" eaLnBrk="1" hangingPunct="1">
              <a:spcBef>
                <a:spcPts val="600"/>
              </a:spcBef>
              <a:spcAft>
                <a:spcPct val="0"/>
              </a:spcAft>
            </a:pPr>
            <a:r>
              <a:rPr lang="zh-CN" altLang="en-US" dirty="0"/>
              <a:t>间址寄存器为</a:t>
            </a:r>
            <a:r>
              <a:rPr lang="en-US" altLang="zh-CN" dirty="0"/>
              <a:t>8</a:t>
            </a:r>
            <a:r>
              <a:rPr lang="zh-CN" altLang="en-US" dirty="0"/>
              <a:t>个</a:t>
            </a:r>
            <a:r>
              <a:rPr lang="en-US" altLang="zh-CN" dirty="0"/>
              <a:t>32</a:t>
            </a:r>
            <a:r>
              <a:rPr lang="zh-CN" altLang="en-US" dirty="0"/>
              <a:t>位通用寄存器：</a:t>
            </a:r>
            <a:r>
              <a:rPr lang="en-US" altLang="zh-CN" dirty="0"/>
              <a:t>EAX</a:t>
            </a:r>
            <a:r>
              <a:rPr lang="zh-CN" altLang="en-US" dirty="0"/>
              <a:t>、</a:t>
            </a:r>
            <a:r>
              <a:rPr lang="en-US" altLang="zh-CN" dirty="0"/>
              <a:t>EBX</a:t>
            </a:r>
            <a:r>
              <a:rPr lang="zh-CN" altLang="en-US" dirty="0"/>
              <a:t>、</a:t>
            </a:r>
            <a:r>
              <a:rPr lang="en-US" altLang="zh-CN" dirty="0"/>
              <a:t>ECX</a:t>
            </a:r>
            <a:r>
              <a:rPr lang="zh-CN" altLang="en-US" dirty="0"/>
              <a:t>、</a:t>
            </a:r>
            <a:r>
              <a:rPr lang="en-US" altLang="zh-CN" dirty="0"/>
              <a:t>EDX</a:t>
            </a:r>
            <a:r>
              <a:rPr lang="zh-CN" altLang="en-US" dirty="0"/>
              <a:t>、</a:t>
            </a:r>
            <a:r>
              <a:rPr lang="en-US" altLang="zh-CN" dirty="0"/>
              <a:t>ESI</a:t>
            </a:r>
            <a:r>
              <a:rPr lang="zh-CN" altLang="en-US" dirty="0"/>
              <a:t>、</a:t>
            </a:r>
            <a:r>
              <a:rPr lang="en-US" altLang="zh-CN" dirty="0"/>
              <a:t>EDI</a:t>
            </a:r>
            <a:r>
              <a:rPr lang="zh-CN" altLang="en-US" dirty="0"/>
              <a:t>、</a:t>
            </a:r>
            <a:r>
              <a:rPr lang="en-US" altLang="zh-CN" dirty="0"/>
              <a:t>EBP</a:t>
            </a:r>
            <a:r>
              <a:rPr lang="zh-CN" altLang="en-US" dirty="0"/>
              <a:t>、</a:t>
            </a:r>
            <a:r>
              <a:rPr lang="en-US" altLang="zh-CN" dirty="0"/>
              <a:t>ESP</a:t>
            </a:r>
          </a:p>
          <a:p>
            <a:pPr lvl="1" eaLnBrk="1" hangingPunct="1">
              <a:spcBef>
                <a:spcPts val="600"/>
              </a:spcBef>
              <a:spcAft>
                <a:spcPct val="0"/>
              </a:spcAft>
            </a:pPr>
            <a:r>
              <a:rPr lang="zh-CN" altLang="en-US" dirty="0"/>
              <a:t>不能使用</a:t>
            </a:r>
            <a:r>
              <a:rPr lang="en-US" altLang="zh-CN" dirty="0"/>
              <a:t>16</a:t>
            </a:r>
            <a:r>
              <a:rPr lang="zh-CN" altLang="en-US" dirty="0"/>
              <a:t>位模式下的</a:t>
            </a:r>
            <a:r>
              <a:rPr lang="en-US" altLang="zh-CN" dirty="0"/>
              <a:t>16</a:t>
            </a:r>
            <a:r>
              <a:rPr lang="zh-CN" altLang="en-US" dirty="0"/>
              <a:t>位寄存器：</a:t>
            </a:r>
            <a:r>
              <a:rPr lang="en-US" altLang="zh-CN" dirty="0">
                <a:solidFill>
                  <a:srgbClr val="FF0000"/>
                </a:solidFill>
              </a:rPr>
              <a:t>AX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BX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CX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DX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SP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BP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SI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DI</a:t>
            </a:r>
          </a:p>
          <a:p>
            <a:pPr lvl="1" eaLnBrk="1" hangingPunct="1">
              <a:spcBef>
                <a:spcPts val="600"/>
              </a:spcBef>
              <a:spcAft>
                <a:spcPct val="0"/>
              </a:spcAft>
            </a:pPr>
            <a:r>
              <a:rPr lang="zh-CN" altLang="en-US" dirty="0"/>
              <a:t>操作数的段地址（数据处于哪个段）取决于选择哪一个间址寄存器：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zh-CN" dirty="0">
                <a:solidFill>
                  <a:schemeClr val="tx1"/>
                </a:solidFill>
              </a:rPr>
              <a:t>EBP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ESP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  <a:r>
              <a:rPr lang="zh-CN" altLang="en-US" dirty="0"/>
              <a:t>默认在堆栈段（</a:t>
            </a:r>
            <a:r>
              <a:rPr lang="en-US" altLang="zh-CN" dirty="0"/>
              <a:t>SS</a:t>
            </a:r>
            <a:r>
              <a:rPr lang="zh-CN" altLang="en-US" dirty="0"/>
              <a:t>）</a:t>
            </a:r>
          </a:p>
          <a:p>
            <a:pPr lvl="2" eaLnBrk="1" hangingPunct="1">
              <a:spcBef>
                <a:spcPct val="0"/>
              </a:spcBef>
            </a:pPr>
            <a:r>
              <a:rPr lang="zh-CN" altLang="en-US" dirty="0">
                <a:solidFill>
                  <a:schemeClr val="tx1"/>
                </a:solidFill>
              </a:rPr>
              <a:t>其他的寄存器默认的段都是在</a:t>
            </a:r>
            <a:r>
              <a:rPr lang="zh-CN" altLang="en-US" dirty="0"/>
              <a:t>数据段</a:t>
            </a:r>
            <a:endParaRPr lang="en-US" altLang="zh-CN" dirty="0"/>
          </a:p>
          <a:p>
            <a:pPr lvl="2" eaLnBrk="1" hangingPunct="1">
              <a:spcBef>
                <a:spcPct val="0"/>
              </a:spcBef>
            </a:pPr>
            <a:r>
              <a:rPr lang="zh-CN" altLang="en-US" dirty="0">
                <a:solidFill>
                  <a:schemeClr val="tx1"/>
                </a:solidFill>
              </a:rPr>
              <a:t>允许修改默认段寄存器，</a:t>
            </a:r>
            <a:r>
              <a:rPr lang="zh-CN" altLang="en-US" dirty="0"/>
              <a:t>即段超越</a:t>
            </a:r>
            <a:endParaRPr lang="en-US" altLang="zh-CN" dirty="0"/>
          </a:p>
          <a:p>
            <a:pPr lvl="1" eaLnBrk="1" hangingPunct="1">
              <a:spcBef>
                <a:spcPct val="0"/>
              </a:spcBef>
            </a:pPr>
            <a:r>
              <a:rPr lang="zh-CN" altLang="en-US" dirty="0"/>
              <a:t>保护模式下不能直接访问具体的存储单元，故间址寄存器不能由用户指定一个具体数值，否则将发生</a:t>
            </a:r>
            <a:r>
              <a:rPr lang="zh-CN" altLang="en-US" dirty="0">
                <a:solidFill>
                  <a:srgbClr val="FF0000"/>
                </a:solidFill>
              </a:rPr>
              <a:t>存储器访问冲突错误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6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6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6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79032E6-D2EA-4F8E-9FAD-A9A17F0D2365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24</a:t>
            </a:fld>
            <a:endParaRPr lang="en-US" altLang="zh-CN" sz="1400" b="0" dirty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五、寄存器相对寻址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844824"/>
            <a:ext cx="8188399" cy="4680520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zh-CN" altLang="en-US" sz="2200" dirty="0"/>
              <a:t>操作数的偏移地址为间址寄存器的内容加上一个位移量，位移量可以是一个常数，也可以是符号（定义的变量）。</a:t>
            </a:r>
            <a:endParaRPr lang="en-US" altLang="zh-CN" sz="2200" dirty="0"/>
          </a:p>
          <a:p>
            <a:pPr eaLnBrk="1" hangingPunct="1">
              <a:lnSpc>
                <a:spcPct val="115000"/>
              </a:lnSpc>
              <a:spcBef>
                <a:spcPct val="0"/>
              </a:spcBef>
            </a:pPr>
            <a:r>
              <a:rPr lang="zh-CN" altLang="en-US" sz="2200" dirty="0"/>
              <a:t>使用示例：</a:t>
            </a:r>
          </a:p>
          <a:p>
            <a:pPr lvl="1" eaLnBrk="1" hangingPunct="1">
              <a:lnSpc>
                <a:spcPct val="115000"/>
              </a:lnSpc>
              <a:spcBef>
                <a:spcPct val="0"/>
              </a:spcBef>
              <a:spcAft>
                <a:spcPct val="10000"/>
              </a:spcAft>
            </a:pPr>
            <a:r>
              <a:rPr lang="en-US" altLang="zh-CN" sz="2200" dirty="0"/>
              <a:t>MOV  AX, [EBX+DATA]</a:t>
            </a:r>
          </a:p>
          <a:p>
            <a:pPr lvl="1" eaLnBrk="1" hangingPunct="1">
              <a:lnSpc>
                <a:spcPct val="115000"/>
              </a:lnSpc>
              <a:spcBef>
                <a:spcPct val="0"/>
              </a:spcBef>
              <a:spcAft>
                <a:spcPct val="10000"/>
              </a:spcAft>
            </a:pPr>
            <a:r>
              <a:rPr lang="zh-CN" altLang="en-US" sz="2200" dirty="0"/>
              <a:t>或：</a:t>
            </a:r>
            <a:r>
              <a:rPr lang="en-US" altLang="zh-CN" sz="2200" dirty="0"/>
              <a:t>MOV  AX, DATA[EBX]</a:t>
            </a:r>
          </a:p>
          <a:p>
            <a:pPr lvl="1" eaLnBrk="1" hangingPunct="1">
              <a:lnSpc>
                <a:spcPct val="115000"/>
              </a:lnSpc>
              <a:spcBef>
                <a:spcPct val="0"/>
              </a:spcBef>
              <a:spcAft>
                <a:spcPct val="10000"/>
              </a:spcAft>
            </a:pPr>
            <a:r>
              <a:rPr lang="zh-CN" altLang="en-US" sz="2200" dirty="0"/>
              <a:t>或：</a:t>
            </a:r>
            <a:r>
              <a:rPr lang="en-US" altLang="zh-CN" sz="2200" dirty="0"/>
              <a:t>MOV  AX, [EBX]+DATA</a:t>
            </a:r>
          </a:p>
          <a:p>
            <a:pPr lvl="1" eaLnBrk="1" hangingPunct="1">
              <a:lnSpc>
                <a:spcPct val="115000"/>
              </a:lnSpc>
              <a:spcBef>
                <a:spcPct val="0"/>
              </a:spcBef>
              <a:spcAft>
                <a:spcPct val="10000"/>
              </a:spcAft>
            </a:pPr>
            <a:r>
              <a:rPr lang="en-US" altLang="zh-CN" sz="2200" dirty="0"/>
              <a:t>MOV  CL, [EBX+5]</a:t>
            </a:r>
          </a:p>
          <a:p>
            <a:pPr lvl="1" eaLnBrk="1" hangingPunct="1">
              <a:lnSpc>
                <a:spcPct val="115000"/>
              </a:lnSpc>
              <a:spcBef>
                <a:spcPct val="0"/>
              </a:spcBef>
              <a:spcAft>
                <a:spcPct val="10000"/>
              </a:spcAft>
            </a:pPr>
            <a:r>
              <a:rPr lang="zh-CN" altLang="en-US" sz="2200" dirty="0"/>
              <a:t>或</a:t>
            </a:r>
            <a:r>
              <a:rPr lang="en-US" altLang="zh-CN" sz="2200" dirty="0"/>
              <a:t>MOV CL, 5[EBX]</a:t>
            </a:r>
          </a:p>
          <a:p>
            <a:pPr lvl="1" eaLnBrk="1" hangingPunct="1">
              <a:lnSpc>
                <a:spcPct val="115000"/>
              </a:lnSpc>
              <a:spcBef>
                <a:spcPct val="0"/>
              </a:spcBef>
              <a:spcAft>
                <a:spcPct val="10000"/>
              </a:spcAft>
            </a:pPr>
            <a:r>
              <a:rPr lang="zh-CN" altLang="en-US" sz="2200" dirty="0"/>
              <a:t>或</a:t>
            </a:r>
            <a:r>
              <a:rPr lang="en-US" altLang="zh-CN" sz="2200" dirty="0"/>
              <a:t>MOV CL, [EBX]+5</a:t>
            </a:r>
          </a:p>
          <a:p>
            <a:pPr lvl="1" eaLnBrk="1" hangingPunct="1">
              <a:lnSpc>
                <a:spcPct val="115000"/>
              </a:lnSpc>
              <a:spcBef>
                <a:spcPct val="0"/>
              </a:spcBef>
              <a:spcAft>
                <a:spcPct val="10000"/>
              </a:spcAft>
            </a:pPr>
            <a:r>
              <a:rPr lang="zh-CN" altLang="en-US" sz="2200" dirty="0"/>
              <a:t>或</a:t>
            </a:r>
            <a:r>
              <a:rPr lang="en-US" altLang="zh-CN" sz="2200" dirty="0"/>
              <a:t>MOV CL, 5+[EBX]</a:t>
            </a:r>
          </a:p>
          <a:p>
            <a:pPr marL="457200" lvl="1" indent="0" eaLnBrk="1" hangingPunct="1">
              <a:lnSpc>
                <a:spcPct val="115000"/>
              </a:lnSpc>
              <a:spcBef>
                <a:spcPct val="0"/>
              </a:spcBef>
              <a:spcAft>
                <a:spcPct val="10000"/>
              </a:spcAft>
              <a:buNone/>
            </a:pPr>
            <a:r>
              <a:rPr lang="zh-CN" altLang="en-US" sz="2200" dirty="0"/>
              <a:t>但不能是 </a:t>
            </a:r>
            <a:r>
              <a:rPr lang="en-US" altLang="zh-CN" sz="2200" dirty="0">
                <a:solidFill>
                  <a:srgbClr val="FF0000"/>
                </a:solidFill>
              </a:rPr>
              <a:t>MOV AX, [EBX]DATA</a:t>
            </a:r>
            <a:r>
              <a:rPr lang="zh-CN" altLang="en-US" sz="2200" dirty="0"/>
              <a:t>或</a:t>
            </a:r>
            <a:r>
              <a:rPr lang="en-US" altLang="zh-CN" sz="2200" dirty="0">
                <a:solidFill>
                  <a:srgbClr val="FF0000"/>
                </a:solidFill>
              </a:rPr>
              <a:t>MOV CL, [EBX]5</a:t>
            </a:r>
          </a:p>
          <a:p>
            <a:pPr marL="457200" lvl="1" indent="0" eaLnBrk="1" hangingPunct="1">
              <a:lnSpc>
                <a:spcPct val="115000"/>
              </a:lnSpc>
              <a:spcBef>
                <a:spcPct val="0"/>
              </a:spcBef>
              <a:spcAft>
                <a:spcPct val="10000"/>
              </a:spcAft>
              <a:buNone/>
            </a:pPr>
            <a:r>
              <a:rPr lang="zh-CN" altLang="en-US" sz="2200" dirty="0"/>
              <a:t>位移量不能放在括号后面</a:t>
            </a:r>
            <a:endParaRPr lang="en-US" altLang="zh-CN" sz="2200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8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8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83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8199BA1-B8C3-4E46-937E-050B7B2C844B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25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六、基址</a:t>
            </a:r>
            <a:r>
              <a:rPr lang="en-US" altLang="zh-CN" dirty="0"/>
              <a:t>-</a:t>
            </a:r>
            <a:r>
              <a:rPr lang="zh-CN" altLang="en-US" dirty="0"/>
              <a:t>变址寻址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600" y="2708920"/>
            <a:ext cx="7772400" cy="299546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/>
              <a:t>操作数的偏移地址为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基址寄存器的内容 </a:t>
            </a:r>
            <a:r>
              <a:rPr lang="en-US" altLang="zh-CN" dirty="0"/>
              <a:t>+ </a:t>
            </a:r>
            <a:r>
              <a:rPr lang="zh-CN" altLang="en-US" dirty="0"/>
              <a:t>变址寄存器的内容；</a:t>
            </a:r>
            <a:r>
              <a:rPr lang="zh-CN" altLang="en-US" dirty="0">
                <a:solidFill>
                  <a:srgbClr val="C00000"/>
                </a:solidFill>
              </a:rPr>
              <a:t>或：</a:t>
            </a:r>
            <a:endParaRPr lang="en-US" altLang="zh-CN" dirty="0">
              <a:solidFill>
                <a:srgbClr val="C00000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基址寄存器内容</a:t>
            </a:r>
            <a:r>
              <a:rPr lang="en-US" altLang="zh-CN" dirty="0"/>
              <a:t>+</a:t>
            </a:r>
            <a:r>
              <a:rPr lang="zh-CN" altLang="en-US" dirty="0"/>
              <a:t>变址寄存器内容</a:t>
            </a:r>
            <a:r>
              <a:rPr lang="en-US" altLang="zh-CN" dirty="0"/>
              <a:t>+</a:t>
            </a:r>
            <a:r>
              <a:rPr lang="zh-CN" altLang="en-US" dirty="0"/>
              <a:t>位移量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基址寄存器：</a:t>
            </a:r>
            <a:r>
              <a:rPr lang="en-US" altLang="zh-CN" dirty="0"/>
              <a:t>BX</a:t>
            </a:r>
            <a:r>
              <a:rPr lang="zh-CN" altLang="en-US" dirty="0"/>
              <a:t>和</a:t>
            </a:r>
            <a:r>
              <a:rPr lang="en-US" altLang="zh-CN" dirty="0"/>
              <a:t>BP</a:t>
            </a:r>
            <a:r>
              <a:rPr lang="zh-CN" altLang="en-US" dirty="0"/>
              <a:t>，变址寄存器：</a:t>
            </a:r>
            <a:r>
              <a:rPr lang="en-US" altLang="zh-CN" dirty="0"/>
              <a:t>SI</a:t>
            </a:r>
            <a:r>
              <a:rPr lang="zh-CN" altLang="en-US" dirty="0"/>
              <a:t>和</a:t>
            </a:r>
            <a:r>
              <a:rPr lang="en-US" altLang="zh-CN" dirty="0"/>
              <a:t>DI</a:t>
            </a:r>
            <a:endParaRPr lang="zh-CN" altLang="en-US" dirty="0"/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操作数的段地址由选择的基址寄存器决定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基址寄存器为</a:t>
            </a:r>
            <a:r>
              <a:rPr lang="en-US" altLang="zh-CN" dirty="0"/>
              <a:t>BX</a:t>
            </a:r>
            <a:r>
              <a:rPr lang="zh-CN" altLang="en-US" dirty="0"/>
              <a:t>，默认在数据段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基址寄存器为</a:t>
            </a:r>
            <a:r>
              <a:rPr lang="en-US" altLang="zh-CN" dirty="0"/>
              <a:t>BP</a:t>
            </a:r>
            <a:r>
              <a:rPr lang="zh-CN" altLang="en-US" dirty="0"/>
              <a:t>，默认在堆栈段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93850" y="2091868"/>
            <a:ext cx="72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1. </a:t>
            </a:r>
            <a:r>
              <a:rPr lang="zh-CN" altLang="en-US" sz="2800" b="1" dirty="0">
                <a:solidFill>
                  <a:srgbClr val="C00000"/>
                </a:solidFill>
              </a:rPr>
              <a:t>对于</a:t>
            </a:r>
            <a:r>
              <a:rPr lang="en-US" altLang="zh-CN" sz="2800" b="1" dirty="0">
                <a:solidFill>
                  <a:srgbClr val="C00000"/>
                </a:solidFill>
              </a:rPr>
              <a:t>16</a:t>
            </a:r>
            <a:r>
              <a:rPr lang="zh-CN" altLang="en-US" sz="2800" b="1" dirty="0">
                <a:solidFill>
                  <a:srgbClr val="C00000"/>
                </a:solidFill>
              </a:rPr>
              <a:t>位模式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uiExpand="1" build="p"/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27A4C6F-DB40-4E18-AEFB-38A6EA9C1D24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26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例：</a:t>
            </a:r>
          </a:p>
        </p:txBody>
      </p:sp>
      <p:sp>
        <p:nvSpPr>
          <p:cNvPr id="320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2274887"/>
          </a:xfrm>
        </p:spPr>
        <p:txBody>
          <a:bodyPr/>
          <a:lstStyle/>
          <a:p>
            <a:pPr eaLnBrk="1" hangingPunct="1"/>
            <a:r>
              <a:rPr lang="zh-CN" altLang="en-US" dirty="0"/>
              <a:t>执行下列程序段：</a:t>
            </a:r>
          </a:p>
          <a:p>
            <a:pPr lvl="1" eaLnBrk="1" hangingPunct="1"/>
            <a:r>
              <a:rPr lang="en-US" altLang="zh-CN" dirty="0"/>
              <a:t>MOV SI</a:t>
            </a:r>
            <a:r>
              <a:rPr lang="zh-CN" altLang="en-US" dirty="0"/>
              <a:t>，</a:t>
            </a:r>
            <a:r>
              <a:rPr lang="en-US" altLang="zh-CN" dirty="0"/>
              <a:t>2000H</a:t>
            </a:r>
          </a:p>
          <a:p>
            <a:pPr lvl="1" eaLnBrk="1" hangingPunct="1"/>
            <a:r>
              <a:rPr lang="en-US" altLang="zh-CN" dirty="0"/>
              <a:t>MOV BX</a:t>
            </a:r>
            <a:r>
              <a:rPr lang="zh-CN" altLang="en-US" dirty="0"/>
              <a:t>，</a:t>
            </a:r>
            <a:r>
              <a:rPr lang="en-US" altLang="zh-CN" dirty="0"/>
              <a:t>200H</a:t>
            </a:r>
          </a:p>
          <a:p>
            <a:pPr lvl="1" eaLnBrk="1" hangingPunct="1"/>
            <a:r>
              <a:rPr lang="en-US" altLang="zh-CN" dirty="0"/>
              <a:t>MOV AX，[SI+BX]</a:t>
            </a:r>
            <a:endParaRPr lang="zh-CN" altLang="en-US" dirty="0"/>
          </a:p>
        </p:txBody>
      </p:sp>
      <p:sp>
        <p:nvSpPr>
          <p:cNvPr id="320517" name="Rectangle 5"/>
          <p:cNvSpPr>
            <a:spLocks noChangeArrowheads="1"/>
          </p:cNvSpPr>
          <p:nvPr/>
        </p:nvSpPr>
        <p:spPr bwMode="auto">
          <a:xfrm>
            <a:off x="6343650" y="3883025"/>
            <a:ext cx="1712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20518" name="Rectangle 6"/>
          <p:cNvSpPr>
            <a:spLocks noChangeArrowheads="1"/>
          </p:cNvSpPr>
          <p:nvPr/>
        </p:nvSpPr>
        <p:spPr bwMode="auto">
          <a:xfrm>
            <a:off x="6343650" y="4873625"/>
            <a:ext cx="1712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20519" name="Rectangle 7"/>
          <p:cNvSpPr>
            <a:spLocks noChangeArrowheads="1"/>
          </p:cNvSpPr>
          <p:nvPr/>
        </p:nvSpPr>
        <p:spPr bwMode="auto">
          <a:xfrm>
            <a:off x="6343650" y="5254625"/>
            <a:ext cx="1712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20520" name="Line 8"/>
          <p:cNvSpPr>
            <a:spLocks noChangeShapeType="1"/>
          </p:cNvSpPr>
          <p:nvPr/>
        </p:nvSpPr>
        <p:spPr bwMode="auto">
          <a:xfrm flipH="1">
            <a:off x="6343650" y="3443288"/>
            <a:ext cx="0" cy="3059112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0521" name="Line 9"/>
          <p:cNvSpPr>
            <a:spLocks noChangeShapeType="1"/>
          </p:cNvSpPr>
          <p:nvPr/>
        </p:nvSpPr>
        <p:spPr bwMode="auto">
          <a:xfrm>
            <a:off x="8056563" y="3429000"/>
            <a:ext cx="0" cy="302418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0522" name="Freeform 10"/>
          <p:cNvSpPr>
            <a:spLocks/>
          </p:cNvSpPr>
          <p:nvPr/>
        </p:nvSpPr>
        <p:spPr bwMode="auto">
          <a:xfrm>
            <a:off x="6354763" y="3340100"/>
            <a:ext cx="1685925" cy="377825"/>
          </a:xfrm>
          <a:custGeom>
            <a:avLst/>
            <a:gdLst>
              <a:gd name="T0" fmla="*/ 0 w 1062"/>
              <a:gd name="T1" fmla="*/ 2147483647 h 238"/>
              <a:gd name="T2" fmla="*/ 2147483647 w 1062"/>
              <a:gd name="T3" fmla="*/ 2147483647 h 238"/>
              <a:gd name="T4" fmla="*/ 2147483647 w 1062"/>
              <a:gd name="T5" fmla="*/ 0 h 238"/>
              <a:gd name="T6" fmla="*/ 2147483647 w 1062"/>
              <a:gd name="T7" fmla="*/ 2147483647 h 238"/>
              <a:gd name="T8" fmla="*/ 2147483647 w 1062"/>
              <a:gd name="T9" fmla="*/ 2147483647 h 238"/>
              <a:gd name="T10" fmla="*/ 2147483647 w 1062"/>
              <a:gd name="T11" fmla="*/ 2147483647 h 238"/>
              <a:gd name="T12" fmla="*/ 2147483647 w 1062"/>
              <a:gd name="T13" fmla="*/ 2147483647 h 238"/>
              <a:gd name="T14" fmla="*/ 2147483647 w 1062"/>
              <a:gd name="T15" fmla="*/ 2147483647 h 238"/>
              <a:gd name="T16" fmla="*/ 2147483647 w 1062"/>
              <a:gd name="T17" fmla="*/ 2147483647 h 23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062"/>
              <a:gd name="T28" fmla="*/ 0 h 238"/>
              <a:gd name="T29" fmla="*/ 1062 w 1062"/>
              <a:gd name="T30" fmla="*/ 238 h 23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062" h="238">
                <a:moveTo>
                  <a:pt x="0" y="74"/>
                </a:moveTo>
                <a:cubicBezTo>
                  <a:pt x="11" y="63"/>
                  <a:pt x="54" y="24"/>
                  <a:pt x="65" y="18"/>
                </a:cubicBezTo>
                <a:cubicBezTo>
                  <a:pt x="82" y="9"/>
                  <a:pt x="120" y="0"/>
                  <a:pt x="120" y="0"/>
                </a:cubicBezTo>
                <a:cubicBezTo>
                  <a:pt x="178" y="14"/>
                  <a:pt x="236" y="21"/>
                  <a:pt x="296" y="28"/>
                </a:cubicBezTo>
                <a:cubicBezTo>
                  <a:pt x="389" y="64"/>
                  <a:pt x="459" y="133"/>
                  <a:pt x="545" y="175"/>
                </a:cubicBezTo>
                <a:cubicBezTo>
                  <a:pt x="572" y="202"/>
                  <a:pt x="606" y="209"/>
                  <a:pt x="637" y="231"/>
                </a:cubicBezTo>
                <a:cubicBezTo>
                  <a:pt x="726" y="228"/>
                  <a:pt x="817" y="238"/>
                  <a:pt x="905" y="222"/>
                </a:cubicBezTo>
                <a:cubicBezTo>
                  <a:pt x="927" y="218"/>
                  <a:pt x="935" y="190"/>
                  <a:pt x="951" y="175"/>
                </a:cubicBezTo>
                <a:cubicBezTo>
                  <a:pt x="989" y="139"/>
                  <a:pt x="1025" y="102"/>
                  <a:pt x="1062" y="65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0523" name="Freeform 11"/>
          <p:cNvSpPr>
            <a:spLocks/>
          </p:cNvSpPr>
          <p:nvPr/>
        </p:nvSpPr>
        <p:spPr bwMode="auto">
          <a:xfrm>
            <a:off x="6323013" y="6153150"/>
            <a:ext cx="1731962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0524" name="Text Box 12"/>
          <p:cNvSpPr txBox="1">
            <a:spLocks noChangeArrowheads="1"/>
          </p:cNvSpPr>
          <p:nvPr/>
        </p:nvSpPr>
        <p:spPr bwMode="auto">
          <a:xfrm>
            <a:off x="6821488" y="487362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22</a:t>
            </a:r>
            <a:r>
              <a:rPr kumimoji="1" lang="en-US" altLang="zh-CN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H</a:t>
            </a:r>
          </a:p>
        </p:txBody>
      </p:sp>
      <p:sp>
        <p:nvSpPr>
          <p:cNvPr id="320525" name="Text Box 13"/>
          <p:cNvSpPr txBox="1">
            <a:spLocks noChangeArrowheads="1"/>
          </p:cNvSpPr>
          <p:nvPr/>
        </p:nvSpPr>
        <p:spPr bwMode="auto">
          <a:xfrm>
            <a:off x="6821488" y="525462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11</a:t>
            </a:r>
            <a:r>
              <a:rPr kumimoji="1" lang="en-US" altLang="zh-CN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H</a:t>
            </a:r>
          </a:p>
        </p:txBody>
      </p:sp>
      <p:sp>
        <p:nvSpPr>
          <p:cNvPr id="320526" name="Text Box 14"/>
          <p:cNvSpPr txBox="1">
            <a:spLocks noChangeArrowheads="1"/>
          </p:cNvSpPr>
          <p:nvPr/>
        </p:nvSpPr>
        <p:spPr bwMode="auto">
          <a:xfrm>
            <a:off x="5292725" y="4725988"/>
            <a:ext cx="104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2200</a:t>
            </a:r>
            <a:r>
              <a:rPr kumimoji="1" lang="en-US" altLang="zh-CN" sz="2400" b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H</a:t>
            </a:r>
          </a:p>
        </p:txBody>
      </p:sp>
      <p:sp>
        <p:nvSpPr>
          <p:cNvPr id="320527" name="Text Box 15"/>
          <p:cNvSpPr txBox="1">
            <a:spLocks noChangeArrowheads="1"/>
          </p:cNvSpPr>
          <p:nvPr/>
        </p:nvSpPr>
        <p:spPr bwMode="auto">
          <a:xfrm>
            <a:off x="2630488" y="4448175"/>
            <a:ext cx="13763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偏移地址</a:t>
            </a:r>
          </a:p>
        </p:txBody>
      </p:sp>
      <p:sp>
        <p:nvSpPr>
          <p:cNvPr id="320528" name="Line 16"/>
          <p:cNvSpPr>
            <a:spLocks noChangeShapeType="1"/>
          </p:cNvSpPr>
          <p:nvPr/>
        </p:nvSpPr>
        <p:spPr bwMode="auto">
          <a:xfrm>
            <a:off x="3849688" y="4692650"/>
            <a:ext cx="1295400" cy="228600"/>
          </a:xfrm>
          <a:prstGeom prst="line">
            <a:avLst/>
          </a:prstGeom>
          <a:noFill/>
          <a:ln w="22225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0529" name="Rectangle 17"/>
          <p:cNvSpPr>
            <a:spLocks noChangeArrowheads="1"/>
          </p:cNvSpPr>
          <p:nvPr/>
        </p:nvSpPr>
        <p:spPr bwMode="auto">
          <a:xfrm>
            <a:off x="2935288" y="5607050"/>
            <a:ext cx="1371600" cy="4572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20530" name="Line 18"/>
          <p:cNvSpPr>
            <a:spLocks noChangeShapeType="1"/>
          </p:cNvSpPr>
          <p:nvPr/>
        </p:nvSpPr>
        <p:spPr bwMode="auto">
          <a:xfrm>
            <a:off x="3621088" y="560705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0531" name="Text Box 19"/>
          <p:cNvSpPr txBox="1">
            <a:spLocks noChangeArrowheads="1"/>
          </p:cNvSpPr>
          <p:nvPr/>
        </p:nvSpPr>
        <p:spPr bwMode="auto">
          <a:xfrm>
            <a:off x="2935288" y="514985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AH    AL</a:t>
            </a:r>
          </a:p>
        </p:txBody>
      </p:sp>
      <p:sp>
        <p:nvSpPr>
          <p:cNvPr id="320532" name="Line 20"/>
          <p:cNvSpPr>
            <a:spLocks noChangeShapeType="1"/>
          </p:cNvSpPr>
          <p:nvPr/>
        </p:nvSpPr>
        <p:spPr bwMode="auto">
          <a:xfrm flipH="1">
            <a:off x="3240088" y="6369050"/>
            <a:ext cx="2438400" cy="0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0533" name="Line 21"/>
          <p:cNvSpPr>
            <a:spLocks noChangeShapeType="1"/>
          </p:cNvSpPr>
          <p:nvPr/>
        </p:nvSpPr>
        <p:spPr bwMode="auto">
          <a:xfrm flipV="1">
            <a:off x="3240088" y="6064250"/>
            <a:ext cx="0" cy="304800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0534" name="Text Box 22"/>
          <p:cNvSpPr txBox="1">
            <a:spLocks noChangeArrowheads="1"/>
          </p:cNvSpPr>
          <p:nvPr/>
        </p:nvSpPr>
        <p:spPr bwMode="auto">
          <a:xfrm>
            <a:off x="6897688" y="438785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┇</a:t>
            </a:r>
            <a:r>
              <a:rPr kumimoji="1" lang="en-US" altLang="zh-CN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sp>
        <p:nvSpPr>
          <p:cNvPr id="320535" name="Text Box 23"/>
          <p:cNvSpPr txBox="1">
            <a:spLocks noChangeArrowheads="1"/>
          </p:cNvSpPr>
          <p:nvPr/>
        </p:nvSpPr>
        <p:spPr bwMode="auto">
          <a:xfrm>
            <a:off x="2900363" y="5602288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</a:t>
            </a:r>
            <a:r>
              <a:rPr kumimoji="1" lang="en-US" altLang="zh-CN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11    22</a:t>
            </a:r>
          </a:p>
        </p:txBody>
      </p:sp>
      <p:sp>
        <p:nvSpPr>
          <p:cNvPr id="320536" name="Line 24"/>
          <p:cNvSpPr>
            <a:spLocks noChangeShapeType="1"/>
          </p:cNvSpPr>
          <p:nvPr/>
        </p:nvSpPr>
        <p:spPr bwMode="auto">
          <a:xfrm>
            <a:off x="5068888" y="5149850"/>
            <a:ext cx="0" cy="685800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0537" name="Line 25"/>
          <p:cNvSpPr>
            <a:spLocks noChangeShapeType="1"/>
          </p:cNvSpPr>
          <p:nvPr/>
        </p:nvSpPr>
        <p:spPr bwMode="auto">
          <a:xfrm flipH="1">
            <a:off x="4306888" y="5835650"/>
            <a:ext cx="762000" cy="0"/>
          </a:xfrm>
          <a:prstGeom prst="line">
            <a:avLst/>
          </a:prstGeom>
          <a:noFill/>
          <a:ln w="1905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0538" name="Text Box 26"/>
          <p:cNvSpPr txBox="1">
            <a:spLocks noChangeArrowheads="1"/>
          </p:cNvSpPr>
          <p:nvPr/>
        </p:nvSpPr>
        <p:spPr bwMode="auto">
          <a:xfrm>
            <a:off x="8578850" y="4437063"/>
            <a:ext cx="45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>
                <a:latin typeface="Times New Roman" pitchFamily="18" charset="0"/>
                <a:ea typeface="宋体" pitchFamily="2" charset="-122"/>
              </a:rPr>
              <a:t>数据段</a:t>
            </a:r>
          </a:p>
        </p:txBody>
      </p:sp>
      <p:sp>
        <p:nvSpPr>
          <p:cNvPr id="320539" name="AutoShape 27"/>
          <p:cNvSpPr>
            <a:spLocks/>
          </p:cNvSpPr>
          <p:nvPr/>
        </p:nvSpPr>
        <p:spPr bwMode="auto">
          <a:xfrm>
            <a:off x="8316913" y="4078288"/>
            <a:ext cx="215900" cy="1655762"/>
          </a:xfrm>
          <a:prstGeom prst="rightBrace">
            <a:avLst>
              <a:gd name="adj1" fmla="val 63909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20543" name="Line 31"/>
          <p:cNvSpPr>
            <a:spLocks noChangeShapeType="1"/>
          </p:cNvSpPr>
          <p:nvPr/>
        </p:nvSpPr>
        <p:spPr bwMode="auto">
          <a:xfrm>
            <a:off x="5080000" y="5143500"/>
            <a:ext cx="1368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320544" name="Line 32"/>
          <p:cNvSpPr>
            <a:spLocks noChangeShapeType="1"/>
          </p:cNvSpPr>
          <p:nvPr/>
        </p:nvSpPr>
        <p:spPr bwMode="auto">
          <a:xfrm>
            <a:off x="5684838" y="5446713"/>
            <a:ext cx="7921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320545" name="Line 33"/>
          <p:cNvSpPr>
            <a:spLocks noChangeShapeType="1"/>
          </p:cNvSpPr>
          <p:nvPr/>
        </p:nvSpPr>
        <p:spPr bwMode="auto">
          <a:xfrm>
            <a:off x="5684838" y="5461000"/>
            <a:ext cx="0" cy="900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0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0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0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0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0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0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0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0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0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0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0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0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20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20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0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0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0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0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20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20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0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20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0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0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20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20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20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8" dur="500"/>
                                        <p:tgtEl>
                                          <p:spTgt spid="320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20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0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20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0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20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20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20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1" dur="500"/>
                                        <p:tgtEl>
                                          <p:spTgt spid="320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320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320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3" dur="500"/>
                                        <p:tgtEl>
                                          <p:spTgt spid="320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320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1" dur="500"/>
                                        <p:tgtEl>
                                          <p:spTgt spid="32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320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27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20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20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7" grpId="0" animBg="1"/>
      <p:bldP spid="320518" grpId="0" animBg="1"/>
      <p:bldP spid="320519" grpId="0" animBg="1"/>
      <p:bldP spid="320520" grpId="0" animBg="1"/>
      <p:bldP spid="320521" grpId="0" animBg="1"/>
      <p:bldP spid="320522" grpId="0" animBg="1"/>
      <p:bldP spid="320523" grpId="0" animBg="1"/>
      <p:bldP spid="320524" grpId="0"/>
      <p:bldP spid="320525" grpId="0"/>
      <p:bldP spid="320526" grpId="0"/>
      <p:bldP spid="320527" grpId="0"/>
      <p:bldP spid="320528" grpId="0" animBg="1"/>
      <p:bldP spid="320529" grpId="0" animBg="1"/>
      <p:bldP spid="320530" grpId="0" animBg="1"/>
      <p:bldP spid="320531" grpId="0"/>
      <p:bldP spid="320532" grpId="0" animBg="1"/>
      <p:bldP spid="320533" grpId="0" animBg="1"/>
      <p:bldP spid="320534" grpId="0"/>
      <p:bldP spid="320535" grpId="0"/>
      <p:bldP spid="320536" grpId="0" animBg="1"/>
      <p:bldP spid="320537" grpId="0" animBg="1"/>
      <p:bldP spid="320538" grpId="0"/>
      <p:bldP spid="320539" grpId="0" animBg="1"/>
      <p:bldP spid="320543" grpId="0" animBg="1"/>
      <p:bldP spid="320544" grpId="0" animBg="1"/>
      <p:bldP spid="32054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1860F6-BFAC-49E4-A370-39C019CE30B4}" type="slidenum">
              <a:rPr lang="zh-CN" altLang="en-US" smtClean="0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275554" y="46398"/>
            <a:ext cx="6624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2. </a:t>
            </a:r>
            <a:r>
              <a:rPr lang="zh-CN" altLang="en-US" sz="2800" b="1" dirty="0">
                <a:solidFill>
                  <a:srgbClr val="C00000"/>
                </a:solidFill>
              </a:rPr>
              <a:t>对于</a:t>
            </a:r>
            <a:r>
              <a:rPr lang="en-US" altLang="zh-CN" sz="2800" b="1" dirty="0">
                <a:solidFill>
                  <a:srgbClr val="C00000"/>
                </a:solidFill>
              </a:rPr>
              <a:t>32</a:t>
            </a:r>
            <a:r>
              <a:rPr lang="zh-CN" altLang="en-US" sz="2800" b="1" dirty="0">
                <a:solidFill>
                  <a:srgbClr val="C00000"/>
                </a:solidFill>
              </a:rPr>
              <a:t>位模式</a:t>
            </a:r>
          </a:p>
        </p:txBody>
      </p:sp>
      <p:sp>
        <p:nvSpPr>
          <p:cNvPr id="6" name="矩形 5"/>
          <p:cNvSpPr/>
          <p:nvPr/>
        </p:nvSpPr>
        <p:spPr>
          <a:xfrm>
            <a:off x="977670" y="569618"/>
            <a:ext cx="74888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pt-B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32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位的变址寄存器可以乘上一个比例常数</a:t>
            </a:r>
            <a:r>
              <a:rPr kumimoji="0" lang="pt-B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、</a:t>
            </a:r>
            <a:r>
              <a:rPr kumimoji="0" lang="pt-B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和</a:t>
            </a:r>
            <a:r>
              <a:rPr kumimoji="0" lang="pt-BR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8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，从而形成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比例变址寻址方式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、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基址比例变址寻址方式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基址比例变址位移寻址方式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。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34294" y="1912073"/>
            <a:ext cx="4752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</a:pPr>
            <a:r>
              <a:rPr lang="zh-CN" altLang="en-US" sz="2000" b="1" dirty="0"/>
              <a:t>上述三种情况可用公式表示：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691680" y="2112128"/>
            <a:ext cx="4563578" cy="2962746"/>
            <a:chOff x="2156935" y="3429000"/>
            <a:chExt cx="4563578" cy="2962746"/>
          </a:xfrm>
        </p:grpSpPr>
        <p:sp>
          <p:nvSpPr>
            <p:cNvPr id="9" name="文本框 8"/>
            <p:cNvSpPr txBox="1"/>
            <p:nvPr/>
          </p:nvSpPr>
          <p:spPr>
            <a:xfrm>
              <a:off x="2227498" y="3645024"/>
              <a:ext cx="792088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rgbClr val="C00000"/>
                </a:buClr>
              </a:pPr>
              <a:r>
                <a:rPr lang="en-US" altLang="zh-CN" sz="1800" b="1" dirty="0"/>
                <a:t>EAX</a:t>
              </a:r>
            </a:p>
            <a:p>
              <a:pPr>
                <a:buClr>
                  <a:srgbClr val="C00000"/>
                </a:buClr>
              </a:pPr>
              <a:r>
                <a:rPr lang="en-US" altLang="zh-CN" sz="1800" b="1" dirty="0"/>
                <a:t>EBX</a:t>
              </a:r>
            </a:p>
            <a:p>
              <a:pPr>
                <a:buClr>
                  <a:srgbClr val="C00000"/>
                </a:buClr>
              </a:pPr>
              <a:r>
                <a:rPr lang="en-US" altLang="zh-CN" sz="1800" b="1" dirty="0"/>
                <a:t>ECX</a:t>
              </a:r>
            </a:p>
            <a:p>
              <a:pPr>
                <a:buClr>
                  <a:srgbClr val="C00000"/>
                </a:buClr>
              </a:pPr>
              <a:r>
                <a:rPr lang="en-US" altLang="zh-CN" sz="1800" b="1" dirty="0"/>
                <a:t>EDX</a:t>
              </a:r>
            </a:p>
            <a:p>
              <a:pPr>
                <a:buClr>
                  <a:srgbClr val="C00000"/>
                </a:buClr>
              </a:pPr>
              <a:r>
                <a:rPr lang="en-US" altLang="zh-CN" sz="1800" b="1" dirty="0">
                  <a:solidFill>
                    <a:srgbClr val="C00000"/>
                  </a:solidFill>
                </a:rPr>
                <a:t>ESP</a:t>
              </a:r>
            </a:p>
            <a:p>
              <a:pPr>
                <a:buClr>
                  <a:srgbClr val="C00000"/>
                </a:buClr>
              </a:pPr>
              <a:r>
                <a:rPr lang="en-US" altLang="zh-CN" sz="1800" b="1" dirty="0"/>
                <a:t>EBP</a:t>
              </a:r>
            </a:p>
            <a:p>
              <a:pPr>
                <a:buClr>
                  <a:srgbClr val="C00000"/>
                </a:buClr>
              </a:pPr>
              <a:r>
                <a:rPr lang="en-US" altLang="zh-CN" sz="1800" b="1" dirty="0"/>
                <a:t>ESI</a:t>
              </a:r>
            </a:p>
            <a:p>
              <a:pPr>
                <a:buClr>
                  <a:srgbClr val="C00000"/>
                </a:buClr>
              </a:pPr>
              <a:r>
                <a:rPr lang="en-US" altLang="zh-CN" sz="1800" b="1" dirty="0"/>
                <a:t>EDI</a:t>
              </a:r>
              <a:endParaRPr lang="zh-CN" altLang="en-US" sz="1800" b="1" dirty="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563888" y="3861048"/>
              <a:ext cx="792088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rgbClr val="C00000"/>
                </a:buClr>
              </a:pPr>
              <a:r>
                <a:rPr lang="en-US" altLang="zh-CN" sz="1800" b="1" dirty="0"/>
                <a:t>EAX</a:t>
              </a:r>
            </a:p>
            <a:p>
              <a:pPr>
                <a:buClr>
                  <a:srgbClr val="C00000"/>
                </a:buClr>
              </a:pPr>
              <a:r>
                <a:rPr lang="en-US" altLang="zh-CN" sz="1800" b="1" dirty="0"/>
                <a:t>EBX</a:t>
              </a:r>
            </a:p>
            <a:p>
              <a:pPr>
                <a:buClr>
                  <a:srgbClr val="C00000"/>
                </a:buClr>
              </a:pPr>
              <a:r>
                <a:rPr lang="en-US" altLang="zh-CN" sz="1800" b="1" dirty="0"/>
                <a:t>ECX</a:t>
              </a:r>
            </a:p>
            <a:p>
              <a:pPr>
                <a:buClr>
                  <a:srgbClr val="C00000"/>
                </a:buClr>
              </a:pPr>
              <a:r>
                <a:rPr lang="en-US" altLang="zh-CN" sz="1800" b="1" dirty="0"/>
                <a:t>EDX</a:t>
              </a:r>
            </a:p>
            <a:p>
              <a:pPr>
                <a:buClr>
                  <a:srgbClr val="C00000"/>
                </a:buClr>
              </a:pPr>
              <a:r>
                <a:rPr lang="en-US" altLang="zh-CN" sz="1800" b="1" dirty="0"/>
                <a:t>EBP</a:t>
              </a:r>
            </a:p>
            <a:p>
              <a:pPr>
                <a:buClr>
                  <a:srgbClr val="C00000"/>
                </a:buClr>
              </a:pPr>
              <a:r>
                <a:rPr lang="en-US" altLang="zh-CN" sz="1800" b="1" dirty="0"/>
                <a:t>ESI</a:t>
              </a:r>
            </a:p>
            <a:p>
              <a:pPr>
                <a:buClr>
                  <a:srgbClr val="C00000"/>
                </a:buClr>
              </a:pPr>
              <a:r>
                <a:rPr lang="en-US" altLang="zh-CN" sz="1800" b="1" dirty="0"/>
                <a:t>EDI</a:t>
              </a:r>
              <a:endParaRPr lang="zh-CN" altLang="en-US" sz="1800" b="1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765145" y="4216583"/>
              <a:ext cx="31974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rgbClr val="C00000"/>
                </a:buClr>
              </a:pPr>
              <a:r>
                <a:rPr lang="en-US" altLang="zh-CN" sz="1800" b="1" dirty="0"/>
                <a:t>1</a:t>
              </a:r>
            </a:p>
            <a:p>
              <a:pPr>
                <a:buClr>
                  <a:srgbClr val="C00000"/>
                </a:buClr>
              </a:pPr>
              <a:r>
                <a:rPr lang="en-US" altLang="zh-CN" sz="1800" b="1" dirty="0"/>
                <a:t>2</a:t>
              </a:r>
            </a:p>
            <a:p>
              <a:pPr>
                <a:buClr>
                  <a:srgbClr val="C00000"/>
                </a:buClr>
              </a:pPr>
              <a:r>
                <a:rPr lang="en-US" altLang="zh-CN" sz="1800" b="1" dirty="0"/>
                <a:t>4</a:t>
              </a:r>
            </a:p>
            <a:p>
              <a:pPr>
                <a:buClr>
                  <a:srgbClr val="C00000"/>
                </a:buClr>
              </a:pPr>
              <a:r>
                <a:rPr lang="en-US" altLang="zh-CN" sz="1800" b="1" dirty="0"/>
                <a:t>8</a:t>
              </a:r>
              <a:endParaRPr lang="zh-CN" altLang="en-US" sz="1800" b="1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724128" y="4276545"/>
              <a:ext cx="79208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rgbClr val="C00000"/>
                </a:buClr>
              </a:pPr>
              <a:r>
                <a:rPr lang="en-US" altLang="zh-CN" sz="1800" b="1" dirty="0"/>
                <a:t>None</a:t>
              </a:r>
            </a:p>
            <a:p>
              <a:pPr>
                <a:buClr>
                  <a:srgbClr val="C00000"/>
                </a:buClr>
              </a:pPr>
              <a:r>
                <a:rPr lang="en-US" altLang="zh-CN" sz="1800" b="1" dirty="0"/>
                <a:t>  8</a:t>
              </a:r>
              <a:r>
                <a:rPr lang="zh-CN" altLang="en-US" sz="1800" b="1" dirty="0"/>
                <a:t>位</a:t>
              </a:r>
              <a:endParaRPr lang="en-US" altLang="zh-CN" sz="1800" b="1" dirty="0"/>
            </a:p>
            <a:p>
              <a:pPr>
                <a:buClr>
                  <a:srgbClr val="C00000"/>
                </a:buClr>
              </a:pPr>
              <a:r>
                <a:rPr lang="en-US" altLang="zh-CN" sz="1800" b="1" dirty="0"/>
                <a:t>16</a:t>
              </a:r>
              <a:r>
                <a:rPr lang="zh-CN" altLang="en-US" sz="1800" b="1" dirty="0"/>
                <a:t>位</a:t>
              </a:r>
              <a:endParaRPr lang="en-US" altLang="zh-CN" sz="1800" b="1" dirty="0"/>
            </a:p>
            <a:p>
              <a:pPr>
                <a:buClr>
                  <a:srgbClr val="C00000"/>
                </a:buClr>
              </a:pPr>
              <a:r>
                <a:rPr lang="en-US" altLang="zh-CN" sz="1800" b="1" dirty="0"/>
                <a:t>32</a:t>
              </a:r>
              <a:r>
                <a:rPr lang="zh-CN" altLang="en-US" sz="1800" b="1" dirty="0"/>
                <a:t>位</a:t>
              </a:r>
            </a:p>
          </p:txBody>
        </p:sp>
        <p:sp>
          <p:nvSpPr>
            <p:cNvPr id="13" name="左中括号 12"/>
            <p:cNvSpPr/>
            <p:nvPr/>
          </p:nvSpPr>
          <p:spPr bwMode="auto">
            <a:xfrm>
              <a:off x="2195736" y="3675511"/>
              <a:ext cx="189735" cy="2247349"/>
            </a:xfrm>
            <a:prstGeom prst="leftBracke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左中括号 13"/>
            <p:cNvSpPr/>
            <p:nvPr/>
          </p:nvSpPr>
          <p:spPr bwMode="auto">
            <a:xfrm flipH="1">
              <a:off x="2682405" y="3675511"/>
              <a:ext cx="216024" cy="2247349"/>
            </a:xfrm>
            <a:prstGeom prst="leftBracke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左中括号 14"/>
            <p:cNvSpPr/>
            <p:nvPr/>
          </p:nvSpPr>
          <p:spPr bwMode="auto">
            <a:xfrm>
              <a:off x="3275043" y="3693074"/>
              <a:ext cx="189735" cy="2247349"/>
            </a:xfrm>
            <a:prstGeom prst="leftBracke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" name="弧形 15"/>
            <p:cNvSpPr/>
            <p:nvPr/>
          </p:nvSpPr>
          <p:spPr bwMode="auto">
            <a:xfrm>
              <a:off x="3019586" y="3505201"/>
              <a:ext cx="1336390" cy="2844552"/>
            </a:xfrm>
            <a:prstGeom prst="arc">
              <a:avLst>
                <a:gd name="adj1" fmla="val 17784578"/>
                <a:gd name="adj2" fmla="val 3492153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" name="弧形 16"/>
            <p:cNvSpPr/>
            <p:nvPr/>
          </p:nvSpPr>
          <p:spPr bwMode="auto">
            <a:xfrm flipH="1">
              <a:off x="3369908" y="3645023"/>
              <a:ext cx="1274100" cy="2520281"/>
            </a:xfrm>
            <a:prstGeom prst="arc">
              <a:avLst>
                <a:gd name="adj1" fmla="val 17606007"/>
                <a:gd name="adj2" fmla="val 3780925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弧形 17"/>
            <p:cNvSpPr/>
            <p:nvPr/>
          </p:nvSpPr>
          <p:spPr bwMode="auto">
            <a:xfrm>
              <a:off x="3782646" y="3454433"/>
              <a:ext cx="1336390" cy="2844552"/>
            </a:xfrm>
            <a:prstGeom prst="arc">
              <a:avLst>
                <a:gd name="adj1" fmla="val 19098209"/>
                <a:gd name="adj2" fmla="val 2300815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弧形 18"/>
            <p:cNvSpPr/>
            <p:nvPr/>
          </p:nvSpPr>
          <p:spPr bwMode="auto">
            <a:xfrm flipH="1">
              <a:off x="4673843" y="3429000"/>
              <a:ext cx="1722245" cy="2844552"/>
            </a:xfrm>
            <a:prstGeom prst="arc">
              <a:avLst>
                <a:gd name="adj1" fmla="val 19507633"/>
                <a:gd name="adj2" fmla="val 1794261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左中括号 19"/>
            <p:cNvSpPr/>
            <p:nvPr/>
          </p:nvSpPr>
          <p:spPr bwMode="auto">
            <a:xfrm flipH="1">
              <a:off x="5004048" y="3675511"/>
              <a:ext cx="216024" cy="2247349"/>
            </a:xfrm>
            <a:prstGeom prst="leftBracke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" name="左中括号 20"/>
            <p:cNvSpPr/>
            <p:nvPr/>
          </p:nvSpPr>
          <p:spPr bwMode="auto">
            <a:xfrm flipH="1">
              <a:off x="6221215" y="3693072"/>
              <a:ext cx="216024" cy="2247349"/>
            </a:xfrm>
            <a:prstGeom prst="leftBracke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左中括号 21"/>
            <p:cNvSpPr/>
            <p:nvPr/>
          </p:nvSpPr>
          <p:spPr bwMode="auto">
            <a:xfrm>
              <a:off x="5739828" y="3693072"/>
              <a:ext cx="189735" cy="2247349"/>
            </a:xfrm>
            <a:prstGeom prst="leftBracke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2899729" y="4514996"/>
              <a:ext cx="35939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altLang="en-US" b="1" dirty="0"/>
                <a:t>+</a:t>
              </a:r>
              <a:endParaRPr lang="zh-CN" altLang="en-US" dirty="0"/>
            </a:p>
          </p:txBody>
        </p:sp>
        <p:sp>
          <p:nvSpPr>
            <p:cNvPr id="24" name="矩形 23"/>
            <p:cNvSpPr/>
            <p:nvPr/>
          </p:nvSpPr>
          <p:spPr>
            <a:xfrm>
              <a:off x="5352618" y="4509127"/>
              <a:ext cx="35939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altLang="en-US" b="1" dirty="0"/>
                <a:t>+</a:t>
              </a:r>
              <a:endParaRPr lang="zh-CN" altLang="en-US" dirty="0"/>
            </a:p>
          </p:txBody>
        </p:sp>
        <p:sp>
          <p:nvSpPr>
            <p:cNvPr id="25" name="矩形 24"/>
            <p:cNvSpPr/>
            <p:nvPr/>
          </p:nvSpPr>
          <p:spPr>
            <a:xfrm>
              <a:off x="4371727" y="4568352"/>
              <a:ext cx="33855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altLang="en-US" b="1" dirty="0"/>
                <a:t>*</a:t>
              </a:r>
              <a:endParaRPr lang="zh-CN" altLang="en-US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2156935" y="5983835"/>
              <a:ext cx="7026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rgbClr val="C00000"/>
                </a:buClr>
              </a:pPr>
              <a:r>
                <a:rPr lang="zh-CN" altLang="en-US" sz="2000" b="1" dirty="0"/>
                <a:t>基址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3445953" y="5981219"/>
              <a:ext cx="7026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rgbClr val="C00000"/>
                </a:buClr>
              </a:pPr>
              <a:r>
                <a:rPr lang="zh-CN" altLang="en-US" sz="2000" b="1" dirty="0"/>
                <a:t>变址</a:t>
              </a: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4547963" y="5962331"/>
              <a:ext cx="7026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rgbClr val="C00000"/>
                </a:buClr>
              </a:pPr>
              <a:r>
                <a:rPr lang="zh-CN" altLang="en-US" sz="2000" b="1" dirty="0"/>
                <a:t>比例</a:t>
              </a: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5636271" y="5991636"/>
              <a:ext cx="10842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srgbClr val="C00000"/>
                </a:buClr>
              </a:pPr>
              <a:r>
                <a:rPr lang="zh-CN" altLang="en-US" sz="2000" b="1" dirty="0"/>
                <a:t>位移量</a:t>
              </a:r>
            </a:p>
          </p:txBody>
        </p:sp>
      </p:grpSp>
      <p:sp>
        <p:nvSpPr>
          <p:cNvPr id="30" name="Text Box 3"/>
          <p:cNvSpPr txBox="1">
            <a:spLocks noChangeArrowheads="1"/>
          </p:cNvSpPr>
          <p:nvPr/>
        </p:nvSpPr>
        <p:spPr bwMode="auto">
          <a:xfrm>
            <a:off x="506605" y="5079337"/>
            <a:ext cx="8280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/>
              <a:t>例如：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en-US" sz="2400" b="1" dirty="0"/>
              <a:t>MOV	EBX, ADDR[ESI*2]	      ;</a:t>
            </a:r>
            <a:r>
              <a:rPr lang="zh-CN" altLang="en-US" sz="2400" b="1" dirty="0"/>
              <a:t>比例变址寻址方式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en-US" sz="2400" b="1" dirty="0"/>
              <a:t>MOV	EAX, [EDI*4][EDX]	      ;</a:t>
            </a:r>
            <a:r>
              <a:rPr lang="zh-CN" altLang="en-US" sz="2400" b="1" dirty="0"/>
              <a:t>基址比例变址寻址方式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en-US" sz="2400" b="1" dirty="0"/>
              <a:t>MOV	EBX, [EDI*8][EBP+10]  ;</a:t>
            </a:r>
            <a:r>
              <a:rPr lang="zh-CN" altLang="en-US" sz="2400" b="1" dirty="0"/>
              <a:t>基址比例变址位移寻址方式</a:t>
            </a:r>
          </a:p>
        </p:txBody>
      </p:sp>
    </p:spTree>
    <p:extLst>
      <p:ext uri="{BB962C8B-B14F-4D97-AF65-F5344CB8AC3E}">
        <p14:creationId xmlns:p14="http://schemas.microsoft.com/office/powerpoint/2010/main" val="2215267087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30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09F3941-2743-4AEE-9C00-AFA34B3FA205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28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七、隐含寻址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2020888"/>
            <a:ext cx="7848600" cy="3279775"/>
          </a:xfrm>
        </p:spPr>
        <p:txBody>
          <a:bodyPr/>
          <a:lstStyle/>
          <a:p>
            <a:pPr eaLnBrk="1" hangingPunct="1"/>
            <a:r>
              <a:rPr lang="zh-CN" altLang="en-US" dirty="0"/>
              <a:t>指令中隐含了一个或两个操作数的地址，即操作数在默认的地址中。</a:t>
            </a:r>
          </a:p>
          <a:p>
            <a:pPr eaLnBrk="1" hangingPunct="1"/>
            <a:r>
              <a:rPr lang="zh-CN" altLang="en-US" dirty="0"/>
              <a:t>例： </a:t>
            </a:r>
          </a:p>
          <a:p>
            <a:pPr lvl="1" eaLnBrk="1" hangingPunct="1"/>
            <a:r>
              <a:rPr lang="en-US" altLang="zh-CN" dirty="0"/>
              <a:t>MUL  BL</a:t>
            </a:r>
          </a:p>
          <a:p>
            <a:pPr eaLnBrk="1" hangingPunct="1"/>
            <a:r>
              <a:rPr lang="zh-CN" altLang="en-US" dirty="0"/>
              <a:t>指令执行功能：</a:t>
            </a:r>
          </a:p>
          <a:p>
            <a:pPr lvl="1" eaLnBrk="1" hangingPunct="1"/>
            <a:r>
              <a:rPr lang="en-US" altLang="zh-CN" dirty="0"/>
              <a:t>AL</a:t>
            </a:r>
            <a:r>
              <a:rPr lang="en-US" altLang="zh-CN" dirty="0">
                <a:cs typeface="Arial" charset="0"/>
              </a:rPr>
              <a:t>×</a:t>
            </a:r>
            <a:r>
              <a:rPr lang="en-US" altLang="zh-CN" dirty="0"/>
              <a:t>BL</a:t>
            </a:r>
          </a:p>
        </p:txBody>
      </p:sp>
      <p:sp>
        <p:nvSpPr>
          <p:cNvPr id="101380" name="Line 4"/>
          <p:cNvSpPr>
            <a:spLocks noChangeShapeType="1"/>
          </p:cNvSpPr>
          <p:nvPr/>
        </p:nvSpPr>
        <p:spPr bwMode="auto">
          <a:xfrm>
            <a:off x="2930525" y="4945063"/>
            <a:ext cx="762000" cy="1587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382" name="Text Box 6"/>
          <p:cNvSpPr txBox="1">
            <a:spLocks noChangeArrowheads="1"/>
          </p:cNvSpPr>
          <p:nvPr/>
        </p:nvSpPr>
        <p:spPr bwMode="auto">
          <a:xfrm>
            <a:off x="3795713" y="4714875"/>
            <a:ext cx="847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AX</a:t>
            </a:r>
            <a:endParaRPr lang="zh-CN" altLang="en-US" sz="240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96020" y="5246837"/>
            <a:ext cx="6084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lt"/>
                <a:ea typeface="+mn-ea"/>
              </a:rPr>
              <a:t>隐含了寄存器操作数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+mn-ea"/>
              </a:rPr>
              <a:t>AL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+mn-ea"/>
              </a:rPr>
              <a:t>以及存放结果的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+mn-ea"/>
              </a:rPr>
              <a:t>AX</a:t>
            </a:r>
            <a:endParaRPr lang="zh-CN" altLang="en-US" sz="2400" b="1" dirty="0">
              <a:solidFill>
                <a:srgbClr val="FF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0" grpId="0" animBg="1"/>
      <p:bldP spid="101382" grpId="0"/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2EF524B-AE3D-45F0-9668-F6C80F198FCD}" type="slidenum">
              <a:rPr lang="zh-CN" altLang="en-US" sz="1400" b="0" smtClean="0">
                <a:solidFill>
                  <a:schemeClr val="bg2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29</a:t>
            </a:fld>
            <a:endParaRPr lang="en-US" altLang="zh-CN" sz="1400" b="0">
              <a:solidFill>
                <a:schemeClr val="bg2"/>
              </a:solidFill>
              <a:ea typeface="宋体" pitchFamily="2" charset="-122"/>
            </a:endParaRPr>
          </a:p>
        </p:txBody>
      </p:sp>
      <p:sp>
        <p:nvSpPr>
          <p:cNvPr id="37891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lang="zh-CN" altLang="en-US" sz="4800" b="1" dirty="0">
                <a:latin typeface="宋体" pitchFamily="2" charset="-122"/>
                <a:ea typeface="宋体" pitchFamily="2" charset="-122"/>
              </a:rPr>
              <a:t>§3.3 80</a:t>
            </a:r>
            <a:r>
              <a:rPr lang="en-US" altLang="zh-CN" sz="4800" b="1" dirty="0">
                <a:latin typeface="宋体" pitchFamily="2" charset="-122"/>
                <a:ea typeface="宋体" pitchFamily="2" charset="-122"/>
              </a:rPr>
              <a:t>x</a:t>
            </a:r>
            <a:r>
              <a:rPr lang="zh-CN" altLang="en-US" sz="4800" b="1" dirty="0">
                <a:latin typeface="宋体" pitchFamily="2" charset="-122"/>
                <a:ea typeface="宋体" pitchFamily="2" charset="-122"/>
              </a:rPr>
              <a:t>86</a:t>
            </a:r>
            <a:r>
              <a:rPr lang="zh-CN" altLang="en-US" sz="5400" dirty="0">
                <a:latin typeface="华文行楷" pitchFamily="2" charset="-122"/>
                <a:ea typeface="华文行楷" pitchFamily="2" charset="-122"/>
              </a:rPr>
              <a:t>指令系统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CEE36F57-149F-4042-9DA3-2C2791292995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30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掌握：</a:t>
            </a:r>
          </a:p>
        </p:txBody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2017713"/>
            <a:ext cx="7715250" cy="4114800"/>
          </a:xfrm>
        </p:spPr>
        <p:txBody>
          <a:bodyPr/>
          <a:lstStyle/>
          <a:p>
            <a:pPr eaLnBrk="1" hangingPunct="1"/>
            <a:r>
              <a:rPr lang="zh-CN" altLang="en-US" dirty="0"/>
              <a:t>指令的功能</a:t>
            </a:r>
          </a:p>
          <a:p>
            <a:pPr eaLnBrk="1" hangingPunct="1"/>
            <a:r>
              <a:rPr lang="zh-CN" altLang="en-US" dirty="0"/>
              <a:t>指令对操作数的要求</a:t>
            </a:r>
          </a:p>
          <a:p>
            <a:pPr eaLnBrk="1" hangingPunct="1"/>
            <a:r>
              <a:rPr lang="zh-CN" altLang="en-US" dirty="0"/>
              <a:t>指令对标志位的影响：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指令执行是否影响标志位</a:t>
            </a:r>
            <a:endParaRPr lang="en-US" altLang="zh-CN" dirty="0"/>
          </a:p>
          <a:p>
            <a:pPr lvl="1" eaLnBrk="1" hangingPunct="1">
              <a:spcBef>
                <a:spcPct val="0"/>
              </a:spcBef>
            </a:pPr>
            <a:r>
              <a:rPr lang="zh-CN" altLang="en-US" dirty="0"/>
              <a:t>对加、减运算，需明确指令执行如何影响标志位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0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0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0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0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0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EE5024-A195-40CD-AFAE-763FBF52CC7D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31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1" dirty="0">
                <a:latin typeface="隶书" pitchFamily="49" charset="-122"/>
              </a:rPr>
              <a:t>整数操作类</a:t>
            </a:r>
            <a:r>
              <a:rPr lang="zh-CN" altLang="en-US" dirty="0">
                <a:latin typeface="隶书" pitchFamily="49" charset="-122"/>
              </a:rPr>
              <a:t>指令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4038600" cy="762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u="sng">
                <a:solidFill>
                  <a:srgbClr val="FF0000"/>
                </a:solidFill>
              </a:rPr>
              <a:t>从功能上包括六大类：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9941" name="Text Box 4"/>
          <p:cNvSpPr txBox="1">
            <a:spLocks noChangeArrowheads="1"/>
          </p:cNvSpPr>
          <p:nvPr/>
        </p:nvSpPr>
        <p:spPr bwMode="auto">
          <a:xfrm>
            <a:off x="2819400" y="2743200"/>
            <a:ext cx="4267200" cy="338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dirty="0">
                <a:solidFill>
                  <a:schemeClr val="tx1"/>
                </a:solidFill>
                <a:latin typeface="Times New Roman" pitchFamily="18" charset="0"/>
              </a:rPr>
              <a:t>数据传送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dirty="0">
                <a:solidFill>
                  <a:schemeClr val="tx1"/>
                </a:solidFill>
                <a:latin typeface="Times New Roman" pitchFamily="18" charset="0"/>
              </a:rPr>
              <a:t>算术运算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dirty="0">
                <a:solidFill>
                  <a:schemeClr val="tx1"/>
                </a:solidFill>
                <a:latin typeface="Times New Roman" pitchFamily="18" charset="0"/>
              </a:rPr>
              <a:t>逻辑运算和移位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dirty="0">
                <a:solidFill>
                  <a:schemeClr val="tx1"/>
                </a:solidFill>
                <a:latin typeface="Times New Roman" pitchFamily="18" charset="0"/>
              </a:rPr>
              <a:t>串操作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dirty="0">
                <a:solidFill>
                  <a:schemeClr val="tx1"/>
                </a:solidFill>
                <a:latin typeface="Times New Roman" pitchFamily="18" charset="0"/>
              </a:rPr>
              <a:t>程序控制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dirty="0">
                <a:solidFill>
                  <a:schemeClr val="tx1"/>
                </a:solidFill>
                <a:latin typeface="Times New Roman" pitchFamily="18" charset="0"/>
              </a:rPr>
              <a:t>处理器控制</a:t>
            </a:r>
          </a:p>
        </p:txBody>
      </p:sp>
      <p:sp>
        <p:nvSpPr>
          <p:cNvPr id="39942" name="AutoShape 5"/>
          <p:cNvSpPr>
            <a:spLocks/>
          </p:cNvSpPr>
          <p:nvPr/>
        </p:nvSpPr>
        <p:spPr bwMode="auto">
          <a:xfrm>
            <a:off x="2484438" y="3043238"/>
            <a:ext cx="257175" cy="2762250"/>
          </a:xfrm>
          <a:prstGeom prst="leftBrace">
            <a:avLst>
              <a:gd name="adj1" fmla="val 89506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C69764C3-7321-4DB2-ACA3-81E6C820AD9D}" type="slidenum">
              <a:rPr lang="zh-CN" altLang="en-US" sz="1400" b="0" smtClean="0">
                <a:solidFill>
                  <a:schemeClr val="bg2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32</a:t>
            </a:fld>
            <a:endParaRPr lang="en-US" altLang="zh-CN" sz="1400" b="0">
              <a:solidFill>
                <a:schemeClr val="bg2"/>
              </a:solidFill>
              <a:ea typeface="宋体" pitchFamily="2" charset="-122"/>
            </a:endParaRPr>
          </a:p>
        </p:txBody>
      </p:sp>
      <p:sp>
        <p:nvSpPr>
          <p:cNvPr id="40963" name="Rectangle 4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6677025" cy="1462088"/>
          </a:xfrm>
        </p:spPr>
        <p:txBody>
          <a:bodyPr/>
          <a:lstStyle/>
          <a:p>
            <a:pPr algn="ctr" eaLnBrk="1" hangingPunct="1"/>
            <a:r>
              <a:rPr lang="zh-CN" altLang="en-US" sz="5400">
                <a:ea typeface="华文行楷" pitchFamily="2" charset="-122"/>
              </a:rPr>
              <a:t>数据传送指令</a:t>
            </a:r>
          </a:p>
        </p:txBody>
      </p:sp>
      <p:sp>
        <p:nvSpPr>
          <p:cNvPr id="40964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403350" y="3429000"/>
            <a:ext cx="6400800" cy="2735263"/>
          </a:xfrm>
        </p:spPr>
        <p:txBody>
          <a:bodyPr/>
          <a:lstStyle/>
          <a:p>
            <a:pPr marL="2151063" indent="-361950" algn="l" eaLnBrk="1" hangingPunct="1">
              <a:spcBef>
                <a:spcPct val="15000"/>
              </a:spcBef>
              <a:buFont typeface="Wingdings" pitchFamily="2" charset="2"/>
              <a:buChar char="n"/>
            </a:pPr>
            <a:r>
              <a:rPr lang="zh-CN" altLang="en-US" sz="2800" b="1"/>
              <a:t>通用数据传送</a:t>
            </a:r>
          </a:p>
          <a:p>
            <a:pPr marL="2151063" indent="-361950" algn="l" eaLnBrk="1" hangingPunct="1">
              <a:spcBef>
                <a:spcPct val="15000"/>
              </a:spcBef>
              <a:buFont typeface="Wingdings" pitchFamily="2" charset="2"/>
              <a:buChar char="n"/>
            </a:pPr>
            <a:r>
              <a:rPr lang="zh-CN" altLang="en-US" sz="2800" b="1"/>
              <a:t>输入输出</a:t>
            </a:r>
          </a:p>
          <a:p>
            <a:pPr marL="2151063" indent="-361950" algn="l" eaLnBrk="1" hangingPunct="1">
              <a:spcBef>
                <a:spcPct val="15000"/>
              </a:spcBef>
              <a:buFont typeface="Wingdings" pitchFamily="2" charset="2"/>
              <a:buChar char="n"/>
            </a:pPr>
            <a:r>
              <a:rPr lang="zh-CN" altLang="en-US" sz="2800" b="1"/>
              <a:t>地址传送</a:t>
            </a:r>
          </a:p>
          <a:p>
            <a:pPr marL="2151063" indent="-361950" algn="l" eaLnBrk="1" hangingPunct="1">
              <a:spcBef>
                <a:spcPct val="15000"/>
              </a:spcBef>
              <a:buFont typeface="Wingdings" pitchFamily="2" charset="2"/>
              <a:buChar char="n"/>
            </a:pPr>
            <a:r>
              <a:rPr lang="zh-CN" altLang="en-US" sz="2800" b="1"/>
              <a:t>标志位操作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3BDC080-3126-482A-BF44-155634DEB3E1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33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一、通用数据传送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39975" y="2060575"/>
            <a:ext cx="4419600" cy="266700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dirty="0">
                <a:solidFill>
                  <a:schemeClr val="tx1"/>
                </a:solidFill>
              </a:rPr>
              <a:t>一般数据传送指令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dirty="0">
                <a:solidFill>
                  <a:schemeClr val="tx1"/>
                </a:solidFill>
              </a:rPr>
              <a:t>堆栈操作指令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dirty="0">
                <a:solidFill>
                  <a:schemeClr val="tx1"/>
                </a:solidFill>
              </a:rPr>
              <a:t>交换指令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dirty="0">
                <a:solidFill>
                  <a:schemeClr val="tx1"/>
                </a:solidFill>
              </a:rPr>
              <a:t>字位扩展指令</a:t>
            </a:r>
          </a:p>
        </p:txBody>
      </p:sp>
      <p:sp>
        <p:nvSpPr>
          <p:cNvPr id="104452" name="Text Box 4"/>
          <p:cNvSpPr txBox="1">
            <a:spLocks noChangeArrowheads="1"/>
          </p:cNvSpPr>
          <p:nvPr/>
        </p:nvSpPr>
        <p:spPr bwMode="auto">
          <a:xfrm>
            <a:off x="971600" y="4500985"/>
            <a:ext cx="65532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marL="363538" indent="-363538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812800" indent="-269875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30000"/>
              </a:spcAft>
              <a:buClr>
                <a:srgbClr val="FF0000"/>
              </a:buClr>
              <a:buSzPct val="65000"/>
            </a:pPr>
            <a:r>
              <a:rPr kumimoji="1" lang="zh-CN" altLang="en-US" u="sng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特点：</a:t>
            </a:r>
          </a:p>
          <a:p>
            <a:pPr lvl="1" eaLnBrk="1" hangingPunct="1">
              <a:lnSpc>
                <a:spcPct val="100000"/>
              </a:lnSpc>
              <a:spcAft>
                <a:spcPct val="0"/>
              </a:spcAft>
              <a:buClr>
                <a:srgbClr val="FF0000"/>
              </a:buClr>
              <a:buSzPct val="65000"/>
            </a:pPr>
            <a:r>
              <a:rPr kumimoji="1" lang="zh-CN" altLang="en-US" dirty="0">
                <a:solidFill>
                  <a:srgbClr val="FF0000"/>
                </a:solidFill>
                <a:latin typeface="华文宋体" pitchFamily="2" charset="-122"/>
                <a:ea typeface="华文宋体" pitchFamily="2" charset="-122"/>
              </a:rPr>
              <a:t>该类指令的执行对标志位不产生影响</a:t>
            </a:r>
            <a:r>
              <a:rPr kumimoji="1" lang="zh-CN" altLang="en-US" sz="2800" dirty="0">
                <a:latin typeface="华文宋体" pitchFamily="2" charset="-122"/>
                <a:ea typeface="华文宋体" pitchFamily="2" charset="-122"/>
              </a:rPr>
              <a:t>  </a:t>
            </a:r>
            <a:endParaRPr kumimoji="1" lang="zh-CN" altLang="en-US" b="0" dirty="0">
              <a:latin typeface="华文宋体" pitchFamily="2" charset="-122"/>
              <a:ea typeface="华文宋体" pitchFamily="2" charset="-122"/>
            </a:endParaRPr>
          </a:p>
        </p:txBody>
      </p:sp>
      <p:sp>
        <p:nvSpPr>
          <p:cNvPr id="41990" name="AutoShape 5"/>
          <p:cNvSpPr>
            <a:spLocks/>
          </p:cNvSpPr>
          <p:nvPr/>
        </p:nvSpPr>
        <p:spPr bwMode="auto">
          <a:xfrm>
            <a:off x="1979613" y="2276872"/>
            <a:ext cx="360362" cy="1656184"/>
          </a:xfrm>
          <a:prstGeom prst="leftBrace">
            <a:avLst>
              <a:gd name="adj1" fmla="val 56250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44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4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2" grpId="0" build="allAtOnce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72313" y="6215063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2592773-98F5-4DFB-8F19-8140F3B09FE7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34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b="1"/>
              <a:t>1. </a:t>
            </a:r>
            <a:r>
              <a:rPr lang="zh-CN" altLang="en-US"/>
              <a:t>一般数据传送指令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25" y="2139950"/>
            <a:ext cx="5334000" cy="4217988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dirty="0"/>
              <a:t>一般数据传送指令 </a:t>
            </a:r>
            <a:r>
              <a:rPr lang="en-US" altLang="zh-CN" dirty="0"/>
              <a:t>MOV</a:t>
            </a:r>
          </a:p>
          <a:p>
            <a:pPr eaLnBrk="1" hangingPunct="1">
              <a:spcAft>
                <a:spcPct val="0"/>
              </a:spcAft>
            </a:pPr>
            <a:r>
              <a:rPr lang="zh-CN" altLang="en-US" dirty="0"/>
              <a:t>格式：</a:t>
            </a:r>
          </a:p>
          <a:p>
            <a:pPr lvl="1" eaLnBrk="1" hangingPunct="1">
              <a:spcBef>
                <a:spcPct val="0"/>
              </a:spcBef>
              <a:spcAft>
                <a:spcPct val="20000"/>
              </a:spcAft>
            </a:pPr>
            <a:r>
              <a:rPr lang="en-US" altLang="zh-CN" dirty="0"/>
              <a:t>MOV  </a:t>
            </a:r>
            <a:r>
              <a:rPr lang="en-US" altLang="zh-CN" dirty="0" err="1"/>
              <a:t>dest，src</a:t>
            </a:r>
            <a:endParaRPr lang="en-US" altLang="zh-CN" dirty="0"/>
          </a:p>
          <a:p>
            <a:pPr eaLnBrk="1" hangingPunct="1">
              <a:spcAft>
                <a:spcPct val="20000"/>
              </a:spcAft>
            </a:pPr>
            <a:r>
              <a:rPr lang="zh-CN" altLang="en-US" dirty="0"/>
              <a:t>操作：</a:t>
            </a:r>
          </a:p>
          <a:p>
            <a:pPr lvl="1"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dirty="0" err="1"/>
              <a:t>src</a:t>
            </a:r>
            <a:endParaRPr lang="en-US" altLang="zh-CN" dirty="0"/>
          </a:p>
          <a:p>
            <a:pPr eaLnBrk="1" hangingPunct="1">
              <a:spcBef>
                <a:spcPts val="1200"/>
              </a:spcBef>
              <a:spcAft>
                <a:spcPct val="0"/>
              </a:spcAft>
            </a:pPr>
            <a:r>
              <a:rPr lang="zh-CN" altLang="en-US" dirty="0"/>
              <a:t>例：</a:t>
            </a:r>
          </a:p>
          <a:p>
            <a:pPr lvl="1" eaLnBrk="1" hangingPunct="1">
              <a:spcBef>
                <a:spcPct val="0"/>
              </a:spcBef>
              <a:spcAft>
                <a:spcPct val="20000"/>
              </a:spcAft>
            </a:pPr>
            <a:r>
              <a:rPr lang="zh-CN" altLang="en-US" dirty="0"/>
              <a:t> </a:t>
            </a:r>
            <a:r>
              <a:rPr lang="en-US" altLang="zh-CN" dirty="0"/>
              <a:t>MOV  AL，BL</a:t>
            </a:r>
            <a:endParaRPr lang="zh-CN" altLang="en-US" dirty="0"/>
          </a:p>
        </p:txBody>
      </p:sp>
      <p:sp>
        <p:nvSpPr>
          <p:cNvPr id="106500" name="Line 4"/>
          <p:cNvSpPr>
            <a:spLocks noChangeShapeType="1"/>
          </p:cNvSpPr>
          <p:nvPr/>
        </p:nvSpPr>
        <p:spPr bwMode="auto">
          <a:xfrm>
            <a:off x="2800350" y="4640263"/>
            <a:ext cx="6858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02" name="Text Box 6"/>
          <p:cNvSpPr txBox="1">
            <a:spLocks noChangeArrowheads="1"/>
          </p:cNvSpPr>
          <p:nvPr/>
        </p:nvSpPr>
        <p:spPr bwMode="auto">
          <a:xfrm>
            <a:off x="3475038" y="4365625"/>
            <a:ext cx="1739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b="0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dest</a:t>
            </a:r>
            <a:endParaRPr lang="zh-CN" altLang="en-US" sz="2400">
              <a:solidFill>
                <a:schemeClr val="tx1"/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6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build="p"/>
      <p:bldP spid="106500" grpId="0" animBg="1"/>
      <p:bldP spid="10650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D9CA362-BCEC-4A4D-9AC3-C98863C76254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35</a:t>
            </a:fld>
            <a:endParaRPr lang="en-US" altLang="zh-CN" sz="1400" b="0" dirty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701675"/>
            <a:ext cx="7828359" cy="974725"/>
          </a:xfrm>
        </p:spPr>
        <p:txBody>
          <a:bodyPr/>
          <a:lstStyle/>
          <a:p>
            <a:pPr eaLnBrk="1" hangingPunct="1"/>
            <a:r>
              <a:rPr lang="en-US" altLang="zh-CN" dirty="0"/>
              <a:t>MOV</a:t>
            </a:r>
            <a:r>
              <a:rPr lang="zh-CN" altLang="en-US" dirty="0"/>
              <a:t>指令使用上的注意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313" y="1976438"/>
            <a:ext cx="7772400" cy="4116387"/>
          </a:xfrm>
        </p:spPr>
        <p:txBody>
          <a:bodyPr/>
          <a:lstStyle/>
          <a:p>
            <a:pPr marL="688975" lvl="1" indent="-247650" eaLnBrk="1" hangingPunct="1">
              <a:lnSpc>
                <a:spcPct val="115000"/>
              </a:lnSpc>
              <a:spcBef>
                <a:spcPct val="10000"/>
              </a:spcBef>
            </a:pPr>
            <a:r>
              <a:rPr lang="zh-CN" altLang="en-GB" dirty="0">
                <a:latin typeface="Times New Roman" pitchFamily="18" charset="0"/>
              </a:rPr>
              <a:t>两操作数长</a:t>
            </a:r>
            <a:r>
              <a:rPr lang="zh-CN" altLang="en-US" dirty="0">
                <a:latin typeface="Times New Roman" pitchFamily="18" charset="0"/>
              </a:rPr>
              <a:t>度</a:t>
            </a:r>
            <a:r>
              <a:rPr lang="zh-CN" altLang="en-GB" dirty="0">
                <a:latin typeface="Times New Roman" pitchFamily="18" charset="0"/>
              </a:rPr>
              <a:t>必须相同</a:t>
            </a:r>
            <a:r>
              <a:rPr lang="zh-CN" altLang="en-US" dirty="0"/>
              <a:t>；</a:t>
            </a:r>
          </a:p>
          <a:p>
            <a:pPr marL="688975" lvl="1" indent="-247650" eaLnBrk="1" hangingPunct="1">
              <a:lnSpc>
                <a:spcPct val="115000"/>
              </a:lnSpc>
              <a:spcBef>
                <a:spcPct val="10000"/>
              </a:spcBef>
            </a:pPr>
            <a:r>
              <a:rPr lang="zh-CN" altLang="zh-CN" dirty="0">
                <a:solidFill>
                  <a:schemeClr val="bg2"/>
                </a:solidFill>
              </a:rPr>
              <a:t>存储单元之间不能直接传送</a:t>
            </a:r>
            <a:r>
              <a:rPr lang="zh-CN" altLang="en-GB" dirty="0">
                <a:latin typeface="Times New Roman" pitchFamily="18" charset="0"/>
              </a:rPr>
              <a:t>；</a:t>
            </a:r>
          </a:p>
          <a:p>
            <a:pPr marL="688975" lvl="1" indent="-247650" eaLnBrk="1" hangingPunct="1">
              <a:lnSpc>
                <a:spcPct val="115000"/>
              </a:lnSpc>
              <a:spcBef>
                <a:spcPct val="10000"/>
              </a:spcBef>
            </a:pPr>
            <a:r>
              <a:rPr lang="zh-CN" altLang="zh-CN" dirty="0">
                <a:solidFill>
                  <a:schemeClr val="bg2"/>
                </a:solidFill>
              </a:rPr>
              <a:t>段寄存器CS只能作源操作数，段寄存器之间不能直接传送</a:t>
            </a:r>
            <a:r>
              <a:rPr lang="zh-CN" altLang="en-GB" dirty="0">
                <a:latin typeface="Times New Roman" pitchFamily="18" charset="0"/>
              </a:rPr>
              <a:t>；</a:t>
            </a:r>
          </a:p>
          <a:p>
            <a:pPr marL="688975" lvl="1" indent="-247650" eaLnBrk="1" hangingPunct="1">
              <a:lnSpc>
                <a:spcPct val="115000"/>
              </a:lnSpc>
              <a:spcBef>
                <a:spcPct val="10000"/>
              </a:spcBef>
            </a:pPr>
            <a:r>
              <a:rPr lang="zh-CN" altLang="en-GB" dirty="0">
                <a:latin typeface="Times New Roman" pitchFamily="18" charset="0"/>
              </a:rPr>
              <a:t>在源操作数是立即数时，目标操作数不能是段寄存器；</a:t>
            </a:r>
            <a:endParaRPr lang="en-US" altLang="zh-CN" dirty="0">
              <a:latin typeface="Times New Roman" pitchFamily="18" charset="0"/>
            </a:endParaRPr>
          </a:p>
          <a:p>
            <a:pPr marL="688975" lvl="1" indent="-247650" eaLnBrk="1" hangingPunct="1">
              <a:lnSpc>
                <a:spcPct val="115000"/>
              </a:lnSpc>
              <a:spcBef>
                <a:spcPct val="10000"/>
              </a:spcBef>
            </a:pPr>
            <a:r>
              <a:rPr lang="zh-CN" altLang="en-US" dirty="0"/>
              <a:t>标志寄存器（</a:t>
            </a:r>
            <a:r>
              <a:rPr lang="en-US" altLang="zh-CN" dirty="0"/>
              <a:t>EFLAGS</a:t>
            </a:r>
            <a:r>
              <a:rPr lang="zh-CN" altLang="en-US" dirty="0"/>
              <a:t>或</a:t>
            </a:r>
            <a:r>
              <a:rPr lang="en-US" altLang="zh-CN" dirty="0"/>
              <a:t>FLAGS</a:t>
            </a:r>
            <a:r>
              <a:rPr lang="zh-CN" altLang="en-US" dirty="0"/>
              <a:t>）一般不作为操作数在指令中出现。</a:t>
            </a:r>
            <a:endParaRPr lang="en-US" altLang="zh-CN" dirty="0"/>
          </a:p>
          <a:p>
            <a:pPr marL="688975" lvl="1" indent="-247650" eaLnBrk="1" hangingPunct="1">
              <a:lnSpc>
                <a:spcPct val="115000"/>
              </a:lnSpc>
              <a:spcBef>
                <a:spcPct val="10000"/>
              </a:spcBef>
            </a:pPr>
            <a:r>
              <a:rPr lang="zh-CN" altLang="zh-CN" dirty="0">
                <a:solidFill>
                  <a:schemeClr val="bg2"/>
                </a:solidFill>
              </a:rPr>
              <a:t>MOV指令不影响标志位</a:t>
            </a:r>
            <a:endParaRPr lang="zh-CN" altLang="en-US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214313"/>
            <a:ext cx="8100392" cy="1462087"/>
          </a:xfrm>
        </p:spPr>
        <p:txBody>
          <a:bodyPr/>
          <a:lstStyle/>
          <a:p>
            <a:r>
              <a:rPr lang="en-US" altLang="zh-CN" dirty="0">
                <a:latin typeface="+mj-ea"/>
              </a:rPr>
              <a:t>MOV</a:t>
            </a:r>
            <a:r>
              <a:rPr lang="zh-CN" altLang="en-US" dirty="0"/>
              <a:t>指令的传送方向示意图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1860F6-BFAC-49E4-A370-39C019CE30B4}" type="slidenum">
              <a:rPr lang="zh-CN" altLang="en-US" smtClean="0"/>
              <a:pPr>
                <a:defRPr/>
              </a:pPr>
              <a:t>36</a:t>
            </a:fld>
            <a:endParaRPr lang="en-US" altLang="zh-CN"/>
          </a:p>
        </p:txBody>
      </p:sp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1195387" y="2647181"/>
            <a:ext cx="6143625" cy="2819400"/>
            <a:chOff x="0" y="0"/>
            <a:chExt cx="3870" cy="1776"/>
          </a:xfrm>
        </p:grpSpPr>
        <p:grpSp>
          <p:nvGrpSpPr>
            <p:cNvPr id="6" name="Group 8"/>
            <p:cNvGrpSpPr>
              <a:grpSpLocks/>
            </p:cNvGrpSpPr>
            <p:nvPr/>
          </p:nvGrpSpPr>
          <p:grpSpPr bwMode="auto">
            <a:xfrm>
              <a:off x="0" y="0"/>
              <a:ext cx="3552" cy="1776"/>
              <a:chOff x="0" y="0"/>
              <a:chExt cx="3552" cy="1776"/>
            </a:xfrm>
          </p:grpSpPr>
          <p:sp>
            <p:nvSpPr>
              <p:cNvPr id="11" name="Rectangle 9"/>
              <p:cNvSpPr>
                <a:spLocks noChangeArrowheads="1"/>
              </p:cNvSpPr>
              <p:nvPr/>
            </p:nvSpPr>
            <p:spPr bwMode="auto">
              <a:xfrm>
                <a:off x="864" y="0"/>
                <a:ext cx="864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zh-CN" altLang="zh-CN" sz="2400">
                    <a:solidFill>
                      <a:schemeClr val="bg2"/>
                    </a:solidFill>
                  </a:rPr>
                  <a:t>立即数</a:t>
                </a: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/>
            </p:nvSpPr>
            <p:spPr bwMode="auto">
              <a:xfrm>
                <a:off x="48" y="384"/>
                <a:ext cx="240" cy="72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endParaRPr lang="zh-CN" altLang="zh-CN" sz="2400">
                  <a:solidFill>
                    <a:schemeClr val="bg2"/>
                  </a:solidFill>
                </a:endParaRPr>
              </a:p>
            </p:txBody>
          </p:sp>
          <p:sp>
            <p:nvSpPr>
              <p:cNvPr id="13" name="Text Box 11"/>
              <p:cNvSpPr txBox="1">
                <a:spLocks noChangeArrowheads="1"/>
              </p:cNvSpPr>
              <p:nvPr/>
            </p:nvSpPr>
            <p:spPr bwMode="auto">
              <a:xfrm>
                <a:off x="0" y="480"/>
                <a:ext cx="346" cy="6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zh-CN" sz="2400">
                    <a:solidFill>
                      <a:schemeClr val="bg2"/>
                    </a:solidFill>
                  </a:rPr>
                  <a:t>存储器</a:t>
                </a: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/>
            </p:nvSpPr>
            <p:spPr bwMode="auto">
              <a:xfrm>
                <a:off x="2208" y="384"/>
                <a:ext cx="1344" cy="76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 dirty="0">
                    <a:solidFill>
                      <a:schemeClr val="bg2"/>
                    </a:solidFill>
                  </a:rPr>
                  <a:t>8</a:t>
                </a:r>
                <a:r>
                  <a:rPr lang="zh-CN" altLang="en-US" sz="2400" dirty="0">
                    <a:solidFill>
                      <a:schemeClr val="bg2"/>
                    </a:solidFill>
                  </a:rPr>
                  <a:t>位</a:t>
                </a:r>
                <a:r>
                  <a:rPr lang="en-US" altLang="zh-CN" sz="2400" dirty="0">
                    <a:solidFill>
                      <a:schemeClr val="bg2"/>
                    </a:solidFill>
                  </a:rPr>
                  <a:t>,16</a:t>
                </a:r>
                <a:r>
                  <a:rPr lang="zh-CN" altLang="en-US" sz="2400" dirty="0">
                    <a:solidFill>
                      <a:schemeClr val="bg2"/>
                    </a:solidFill>
                  </a:rPr>
                  <a:t>位</a:t>
                </a:r>
                <a:r>
                  <a:rPr lang="en-US" altLang="zh-CN" sz="2400" dirty="0">
                    <a:solidFill>
                      <a:schemeClr val="bg2"/>
                    </a:solidFill>
                  </a:rPr>
                  <a:t>,32</a:t>
                </a:r>
                <a:r>
                  <a:rPr lang="zh-CN" altLang="en-US" sz="2400" dirty="0">
                    <a:solidFill>
                      <a:schemeClr val="bg2"/>
                    </a:solidFill>
                  </a:rPr>
                  <a:t>位</a:t>
                </a:r>
                <a:endParaRPr lang="en-US" altLang="zh-CN" sz="2400" dirty="0">
                  <a:solidFill>
                    <a:schemeClr val="bg2"/>
                  </a:solidFill>
                </a:endParaRPr>
              </a:p>
              <a:p>
                <a:pPr algn="ctr" eaLnBrk="1" hangingPunct="1"/>
                <a:r>
                  <a:rPr lang="zh-CN" altLang="zh-CN" sz="2400" dirty="0">
                    <a:solidFill>
                      <a:schemeClr val="bg2"/>
                    </a:solidFill>
                  </a:rPr>
                  <a:t>通用寄存器</a:t>
                </a: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/>
            </p:nvSpPr>
            <p:spPr bwMode="auto">
              <a:xfrm>
                <a:off x="690" y="1296"/>
                <a:ext cx="1406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zh-CN" altLang="zh-CN" sz="2400" dirty="0">
                    <a:solidFill>
                      <a:schemeClr val="bg2"/>
                    </a:solidFill>
                  </a:rPr>
                  <a:t>段寄存器</a:t>
                </a:r>
              </a:p>
              <a:p>
                <a:pPr algn="ctr" eaLnBrk="1" hangingPunct="1"/>
                <a:r>
                  <a:rPr lang="zh-CN" altLang="zh-CN" sz="2400" dirty="0">
                    <a:solidFill>
                      <a:schemeClr val="bg2"/>
                    </a:solidFill>
                  </a:rPr>
                  <a:t>DS ES SS</a:t>
                </a:r>
                <a:r>
                  <a:rPr lang="en-US" altLang="zh-CN" sz="2400" dirty="0">
                    <a:solidFill>
                      <a:schemeClr val="bg2"/>
                    </a:solidFill>
                  </a:rPr>
                  <a:t> FS GS</a:t>
                </a:r>
                <a:endParaRPr lang="zh-CN" altLang="zh-CN" sz="24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6" name="Line 14"/>
              <p:cNvSpPr>
                <a:spLocks noChangeShapeType="1"/>
              </p:cNvSpPr>
              <p:nvPr/>
            </p:nvSpPr>
            <p:spPr bwMode="auto">
              <a:xfrm>
                <a:off x="1056" y="240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" name="Line 15"/>
              <p:cNvSpPr>
                <a:spLocks noChangeShapeType="1"/>
              </p:cNvSpPr>
              <p:nvPr/>
            </p:nvSpPr>
            <p:spPr bwMode="auto">
              <a:xfrm flipH="1">
                <a:off x="288" y="480"/>
                <a:ext cx="76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Line 16"/>
              <p:cNvSpPr>
                <a:spLocks noChangeShapeType="1"/>
              </p:cNvSpPr>
              <p:nvPr/>
            </p:nvSpPr>
            <p:spPr bwMode="auto">
              <a:xfrm>
                <a:off x="1488" y="240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Line 17"/>
              <p:cNvSpPr>
                <a:spLocks noChangeShapeType="1"/>
              </p:cNvSpPr>
              <p:nvPr/>
            </p:nvSpPr>
            <p:spPr bwMode="auto">
              <a:xfrm>
                <a:off x="1488" y="480"/>
                <a:ext cx="7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Line 18"/>
              <p:cNvSpPr>
                <a:spLocks noChangeShapeType="1"/>
              </p:cNvSpPr>
              <p:nvPr/>
            </p:nvSpPr>
            <p:spPr bwMode="auto">
              <a:xfrm>
                <a:off x="288" y="624"/>
                <a:ext cx="19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" name="Line 19"/>
              <p:cNvSpPr>
                <a:spLocks noChangeShapeType="1"/>
              </p:cNvSpPr>
              <p:nvPr/>
            </p:nvSpPr>
            <p:spPr bwMode="auto">
              <a:xfrm>
                <a:off x="288" y="960"/>
                <a:ext cx="76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Line 20"/>
              <p:cNvSpPr>
                <a:spLocks noChangeShapeType="1"/>
              </p:cNvSpPr>
              <p:nvPr/>
            </p:nvSpPr>
            <p:spPr bwMode="auto">
              <a:xfrm>
                <a:off x="1056" y="960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Line 21"/>
              <p:cNvSpPr>
                <a:spLocks noChangeShapeType="1"/>
              </p:cNvSpPr>
              <p:nvPr/>
            </p:nvSpPr>
            <p:spPr bwMode="auto">
              <a:xfrm flipH="1">
                <a:off x="1728" y="960"/>
                <a:ext cx="48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Line 22"/>
              <p:cNvSpPr>
                <a:spLocks noChangeShapeType="1"/>
              </p:cNvSpPr>
              <p:nvPr/>
            </p:nvSpPr>
            <p:spPr bwMode="auto">
              <a:xfrm>
                <a:off x="1728" y="960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Rectangle 23"/>
              <p:cNvSpPr>
                <a:spLocks noChangeArrowheads="1"/>
              </p:cNvSpPr>
              <p:nvPr/>
            </p:nvSpPr>
            <p:spPr bwMode="auto">
              <a:xfrm>
                <a:off x="1200" y="960"/>
                <a:ext cx="384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8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zh-CN" altLang="zh-CN" sz="2400">
                    <a:solidFill>
                      <a:schemeClr val="bg2"/>
                    </a:solidFill>
                  </a:rPr>
                  <a:t>CS</a:t>
                </a:r>
              </a:p>
            </p:txBody>
          </p:sp>
          <p:sp>
            <p:nvSpPr>
              <p:cNvPr id="26" name="Line 24"/>
              <p:cNvSpPr>
                <a:spLocks noChangeShapeType="1"/>
              </p:cNvSpPr>
              <p:nvPr/>
            </p:nvSpPr>
            <p:spPr bwMode="auto">
              <a:xfrm flipV="1">
                <a:off x="1296" y="816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Line 25"/>
              <p:cNvSpPr>
                <a:spLocks noChangeShapeType="1"/>
              </p:cNvSpPr>
              <p:nvPr/>
            </p:nvSpPr>
            <p:spPr bwMode="auto">
              <a:xfrm flipH="1">
                <a:off x="288" y="816"/>
                <a:ext cx="10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Line 26"/>
              <p:cNvSpPr>
                <a:spLocks noChangeShapeType="1"/>
              </p:cNvSpPr>
              <p:nvPr/>
            </p:nvSpPr>
            <p:spPr bwMode="auto">
              <a:xfrm flipV="1">
                <a:off x="1440" y="816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Line 27"/>
              <p:cNvSpPr>
                <a:spLocks noChangeShapeType="1"/>
              </p:cNvSpPr>
              <p:nvPr/>
            </p:nvSpPr>
            <p:spPr bwMode="auto">
              <a:xfrm>
                <a:off x="1440" y="816"/>
                <a:ext cx="76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" name="Line 28"/>
            <p:cNvSpPr>
              <a:spLocks noChangeShapeType="1"/>
            </p:cNvSpPr>
            <p:nvPr/>
          </p:nvSpPr>
          <p:spPr bwMode="auto">
            <a:xfrm>
              <a:off x="2873" y="1158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29"/>
            <p:cNvSpPr>
              <a:spLocks noChangeShapeType="1"/>
            </p:cNvSpPr>
            <p:nvPr/>
          </p:nvSpPr>
          <p:spPr bwMode="auto">
            <a:xfrm>
              <a:off x="2873" y="1385"/>
              <a:ext cx="99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30"/>
            <p:cNvSpPr>
              <a:spLocks noChangeShapeType="1"/>
            </p:cNvSpPr>
            <p:nvPr/>
          </p:nvSpPr>
          <p:spPr bwMode="auto">
            <a:xfrm flipV="1">
              <a:off x="3870" y="750"/>
              <a:ext cx="0" cy="6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31"/>
            <p:cNvSpPr>
              <a:spLocks noChangeShapeType="1"/>
            </p:cNvSpPr>
            <p:nvPr/>
          </p:nvSpPr>
          <p:spPr bwMode="auto">
            <a:xfrm flipH="1">
              <a:off x="3553" y="750"/>
              <a:ext cx="3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7877104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20AA0B6-D2F3-4AB0-A52F-CAAA5CE04922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37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>
          <a:xfrm>
            <a:off x="1647589" y="309489"/>
            <a:ext cx="5156659" cy="1462087"/>
          </a:xfrm>
        </p:spPr>
        <p:txBody>
          <a:bodyPr/>
          <a:lstStyle/>
          <a:p>
            <a:pPr eaLnBrk="1" hangingPunct="1"/>
            <a:r>
              <a:rPr lang="en-US" altLang="zh-CN" dirty="0"/>
              <a:t>MOV</a:t>
            </a:r>
            <a:r>
              <a:rPr lang="zh-CN" altLang="en-US" dirty="0"/>
              <a:t>传送指令示例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2988" y="2060575"/>
            <a:ext cx="7772400" cy="4403725"/>
          </a:xfrm>
        </p:spPr>
        <p:txBody>
          <a:bodyPr/>
          <a:lstStyle/>
          <a:p>
            <a:pPr eaLnBrk="1" hangingPunct="1">
              <a:spcAft>
                <a:spcPct val="35000"/>
              </a:spcAft>
            </a:pPr>
            <a:r>
              <a:rPr lang="zh-CN" altLang="en-US" dirty="0"/>
              <a:t>判断下列指令的正确性：</a:t>
            </a:r>
          </a:p>
          <a:p>
            <a:pPr lvl="1" eaLnBrk="1" hangingPunct="1"/>
            <a:r>
              <a:rPr lang="en-US" altLang="zh-CN" dirty="0"/>
              <a:t>MOV  AL，BX</a:t>
            </a:r>
          </a:p>
          <a:p>
            <a:pPr lvl="1" eaLnBrk="1" hangingPunct="1"/>
            <a:r>
              <a:rPr lang="en-US" altLang="zh-CN" dirty="0"/>
              <a:t>MOV  AX，[ESI]05H</a:t>
            </a:r>
          </a:p>
          <a:p>
            <a:pPr lvl="1" eaLnBrk="1" hangingPunct="1"/>
            <a:r>
              <a:rPr lang="en-US" altLang="zh-CN" dirty="0"/>
              <a:t>MOV  [BX][SI]，AX</a:t>
            </a:r>
          </a:p>
          <a:p>
            <a:pPr lvl="1" eaLnBrk="1" hangingPunct="1"/>
            <a:r>
              <a:rPr lang="en-US" altLang="zh-CN" dirty="0"/>
              <a:t>MOV  DS，1000H</a:t>
            </a:r>
          </a:p>
          <a:p>
            <a:pPr lvl="1" eaLnBrk="1" hangingPunct="1"/>
            <a:r>
              <a:rPr lang="en-US" altLang="zh-CN" dirty="0"/>
              <a:t>MOV  DX，09H</a:t>
            </a:r>
          </a:p>
          <a:p>
            <a:pPr lvl="1" eaLnBrk="1" hangingPunct="1"/>
            <a:r>
              <a:rPr lang="en-US" altLang="zh-CN" dirty="0"/>
              <a:t>MOV  [1200]，SI</a:t>
            </a:r>
          </a:p>
          <a:p>
            <a:pPr lvl="1" eaLnBrk="1" hangingPunct="1"/>
            <a:r>
              <a:rPr lang="en-US" altLang="zh-CN" dirty="0"/>
              <a:t>MOV  AX</a:t>
            </a:r>
            <a:r>
              <a:rPr lang="zh-CN" altLang="en-US" dirty="0"/>
              <a:t>，</a:t>
            </a:r>
            <a:r>
              <a:rPr lang="en-US" altLang="zh-CN" dirty="0"/>
              <a:t>CS</a:t>
            </a:r>
          </a:p>
          <a:p>
            <a:pPr lvl="1" eaLnBrk="1" hangingPunct="1"/>
            <a:r>
              <a:rPr lang="en-US" altLang="zh-CN" dirty="0"/>
              <a:t>MOV  DS</a:t>
            </a:r>
            <a:r>
              <a:rPr lang="zh-CN" altLang="en-US" dirty="0"/>
              <a:t>，</a:t>
            </a:r>
            <a:r>
              <a:rPr lang="en-US" altLang="zh-CN" dirty="0"/>
              <a:t>CS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148064" y="3284984"/>
            <a:ext cx="3995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× </a:t>
            </a:r>
            <a:r>
              <a:rPr lang="zh-CN" altLang="en-US" sz="2400" b="1" dirty="0">
                <a:solidFill>
                  <a:srgbClr val="FF0000"/>
                </a:solidFill>
              </a:rPr>
              <a:t>常数位移量放的位置错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148064" y="270892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×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48064" y="3697585"/>
            <a:ext cx="3995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× </a:t>
            </a:r>
            <a:r>
              <a:rPr lang="zh-CN" altLang="en-US" sz="2000" b="1" dirty="0">
                <a:solidFill>
                  <a:srgbClr val="FF0000"/>
                </a:solidFill>
              </a:rPr>
              <a:t>不能使用</a:t>
            </a:r>
            <a:r>
              <a:rPr lang="en-US" altLang="zh-CN" sz="2000" b="1" dirty="0">
                <a:solidFill>
                  <a:srgbClr val="FF0000"/>
                </a:solidFill>
              </a:rPr>
              <a:t>16</a:t>
            </a:r>
            <a:r>
              <a:rPr lang="zh-CN" altLang="en-US" sz="2000" b="1" dirty="0">
                <a:solidFill>
                  <a:srgbClr val="FF0000"/>
                </a:solidFill>
              </a:rPr>
              <a:t>位寄存器指示地址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148064" y="4232721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×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48064" y="4740225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√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148064" y="5201890"/>
            <a:ext cx="3799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× 32</a:t>
            </a:r>
            <a:r>
              <a:rPr lang="zh-CN" altLang="en-US" sz="2400" b="1" dirty="0">
                <a:solidFill>
                  <a:srgbClr val="FF0000"/>
                </a:solidFill>
              </a:rPr>
              <a:t>位模式下出错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148020" y="6173532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×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148020" y="5721721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√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8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08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F81D5A3-87EB-4DBA-B8C8-C13FE1AE8AAC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38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一般数据传送指令应用例</a:t>
            </a:r>
          </a:p>
        </p:txBody>
      </p:sp>
      <p:sp>
        <p:nvSpPr>
          <p:cNvPr id="319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1844675"/>
            <a:ext cx="7561263" cy="4840288"/>
          </a:xfrm>
        </p:spPr>
        <p:txBody>
          <a:bodyPr/>
          <a:lstStyle/>
          <a:p>
            <a:pPr eaLnBrk="1" hangingPunct="1">
              <a:lnSpc>
                <a:spcPct val="105000"/>
              </a:lnSpc>
              <a:spcBef>
                <a:spcPct val="15000"/>
              </a:spcBef>
            </a:pPr>
            <a:r>
              <a:rPr lang="zh-CN" altLang="en-US" dirty="0">
                <a:latin typeface="宋体" pitchFamily="2" charset="-122"/>
              </a:rPr>
              <a:t>将符号“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zh-CN" altLang="en-US" dirty="0">
                <a:latin typeface="宋体" pitchFamily="2" charset="-122"/>
              </a:rPr>
              <a:t>”的</a:t>
            </a:r>
            <a:r>
              <a:rPr lang="en-US" altLang="zh-CN" dirty="0">
                <a:latin typeface="宋体" pitchFamily="2" charset="-122"/>
              </a:rPr>
              <a:t>ASCII</a:t>
            </a:r>
            <a:r>
              <a:rPr lang="zh-CN" altLang="en-US" dirty="0">
                <a:latin typeface="宋体" pitchFamily="2" charset="-122"/>
              </a:rPr>
              <a:t>码2</a:t>
            </a:r>
            <a:r>
              <a:rPr lang="en-US" altLang="zh-CN" dirty="0">
                <a:latin typeface="宋体" pitchFamily="2" charset="-122"/>
              </a:rPr>
              <a:t>AH</a:t>
            </a:r>
            <a:r>
              <a:rPr lang="zh-CN" altLang="en-US" dirty="0">
                <a:latin typeface="宋体" pitchFamily="2" charset="-122"/>
              </a:rPr>
              <a:t>送入内存数据段中以变址指针</a:t>
            </a:r>
            <a:r>
              <a:rPr lang="en-US" altLang="zh-CN" dirty="0">
                <a:latin typeface="宋体" pitchFamily="2" charset="-122"/>
              </a:rPr>
              <a:t>EDI</a:t>
            </a:r>
            <a:r>
              <a:rPr lang="zh-CN" altLang="en-US" dirty="0">
                <a:latin typeface="宋体" pitchFamily="2" charset="-122"/>
              </a:rPr>
              <a:t>所指的单元再偏移100个字节单元中。</a:t>
            </a:r>
          </a:p>
          <a:p>
            <a:pPr eaLnBrk="1" hangingPunct="1">
              <a:lnSpc>
                <a:spcPct val="105000"/>
              </a:lnSpc>
              <a:spcBef>
                <a:spcPct val="15000"/>
              </a:spcBef>
            </a:pPr>
            <a:endParaRPr lang="zh-CN" altLang="en-US" dirty="0">
              <a:latin typeface="宋体" pitchFamily="2" charset="-122"/>
            </a:endParaRPr>
          </a:p>
        </p:txBody>
      </p:sp>
      <p:sp>
        <p:nvSpPr>
          <p:cNvPr id="319501" name="Line 13"/>
          <p:cNvSpPr>
            <a:spLocks noChangeShapeType="1"/>
          </p:cNvSpPr>
          <p:nvPr/>
        </p:nvSpPr>
        <p:spPr bwMode="auto">
          <a:xfrm>
            <a:off x="6300192" y="5589240"/>
            <a:ext cx="576262" cy="0"/>
          </a:xfrm>
          <a:prstGeom prst="line">
            <a:avLst/>
          </a:prstGeom>
          <a:noFill/>
          <a:ln w="22225">
            <a:solidFill>
              <a:srgbClr val="FF66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319502" name="Text Box 14"/>
          <p:cNvSpPr txBox="1">
            <a:spLocks noChangeArrowheads="1"/>
          </p:cNvSpPr>
          <p:nvPr/>
        </p:nvSpPr>
        <p:spPr bwMode="auto">
          <a:xfrm>
            <a:off x="5582642" y="4552601"/>
            <a:ext cx="755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100B</a:t>
            </a:r>
          </a:p>
        </p:txBody>
      </p:sp>
      <p:sp>
        <p:nvSpPr>
          <p:cNvPr id="319503" name="AutoShape 15"/>
          <p:cNvSpPr>
            <a:spLocks/>
          </p:cNvSpPr>
          <p:nvPr/>
        </p:nvSpPr>
        <p:spPr bwMode="auto">
          <a:xfrm flipH="1">
            <a:off x="6219230" y="4050770"/>
            <a:ext cx="442912" cy="1373371"/>
          </a:xfrm>
          <a:prstGeom prst="rightBrace">
            <a:avLst>
              <a:gd name="adj1" fmla="val 45660"/>
              <a:gd name="adj2" fmla="val 51153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19504" name="Text Box 16"/>
          <p:cNvSpPr txBox="1">
            <a:spLocks noChangeArrowheads="1"/>
          </p:cNvSpPr>
          <p:nvPr/>
        </p:nvSpPr>
        <p:spPr bwMode="auto">
          <a:xfrm>
            <a:off x="5596931" y="3744565"/>
            <a:ext cx="741362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ea typeface="宋体" pitchFamily="2" charset="-122"/>
              </a:rPr>
              <a:t>EDI</a:t>
            </a:r>
          </a:p>
        </p:txBody>
      </p:sp>
      <p:sp>
        <p:nvSpPr>
          <p:cNvPr id="319505" name="Line 17"/>
          <p:cNvSpPr>
            <a:spLocks noChangeShapeType="1"/>
          </p:cNvSpPr>
          <p:nvPr/>
        </p:nvSpPr>
        <p:spPr bwMode="auto">
          <a:xfrm>
            <a:off x="6300192" y="3979515"/>
            <a:ext cx="576262" cy="0"/>
          </a:xfrm>
          <a:prstGeom prst="line">
            <a:avLst/>
          </a:prstGeom>
          <a:noFill/>
          <a:ln w="22225">
            <a:solidFill>
              <a:srgbClr val="FF66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6890742" y="3107978"/>
            <a:ext cx="1501775" cy="3451225"/>
            <a:chOff x="3704" y="1850"/>
            <a:chExt cx="946" cy="2174"/>
          </a:xfrm>
        </p:grpSpPr>
        <p:sp>
          <p:nvSpPr>
            <p:cNvPr id="46098" name="Rectangle 4"/>
            <p:cNvSpPr>
              <a:spLocks noChangeArrowheads="1"/>
            </p:cNvSpPr>
            <p:nvPr/>
          </p:nvSpPr>
          <p:spPr bwMode="auto">
            <a:xfrm>
              <a:off x="3724" y="2488"/>
              <a:ext cx="919" cy="240"/>
            </a:xfrm>
            <a:prstGeom prst="rect">
              <a:avLst/>
            </a:prstGeom>
            <a:solidFill>
              <a:srgbClr val="339966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800" b="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46099" name="Rectangle 5"/>
            <p:cNvSpPr>
              <a:spLocks noChangeArrowheads="1"/>
            </p:cNvSpPr>
            <p:nvPr/>
          </p:nvSpPr>
          <p:spPr bwMode="auto">
            <a:xfrm>
              <a:off x="3724" y="2717"/>
              <a:ext cx="919" cy="240"/>
            </a:xfrm>
            <a:prstGeom prst="rect">
              <a:avLst/>
            </a:prstGeom>
            <a:solidFill>
              <a:srgbClr val="339966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800" b="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46100" name="Rectangle 6"/>
            <p:cNvSpPr>
              <a:spLocks noChangeArrowheads="1"/>
            </p:cNvSpPr>
            <p:nvPr/>
          </p:nvSpPr>
          <p:spPr bwMode="auto">
            <a:xfrm>
              <a:off x="3724" y="3285"/>
              <a:ext cx="919" cy="240"/>
            </a:xfrm>
            <a:prstGeom prst="rect">
              <a:avLst/>
            </a:prstGeom>
            <a:solidFill>
              <a:srgbClr val="99CCFF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800" b="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46101" name="Line 7"/>
            <p:cNvSpPr>
              <a:spLocks noChangeShapeType="1"/>
            </p:cNvSpPr>
            <p:nvPr/>
          </p:nvSpPr>
          <p:spPr bwMode="auto">
            <a:xfrm>
              <a:off x="3724" y="1855"/>
              <a:ext cx="0" cy="212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2" name="Line 8"/>
            <p:cNvSpPr>
              <a:spLocks noChangeShapeType="1"/>
            </p:cNvSpPr>
            <p:nvPr/>
          </p:nvSpPr>
          <p:spPr bwMode="auto">
            <a:xfrm>
              <a:off x="4644" y="1850"/>
              <a:ext cx="0" cy="2091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3" name="Freeform 9"/>
            <p:cNvSpPr>
              <a:spLocks/>
            </p:cNvSpPr>
            <p:nvPr/>
          </p:nvSpPr>
          <p:spPr bwMode="auto">
            <a:xfrm>
              <a:off x="3704" y="3744"/>
              <a:ext cx="946" cy="280"/>
            </a:xfrm>
            <a:custGeom>
              <a:avLst/>
              <a:gdLst>
                <a:gd name="T0" fmla="*/ 5 w 1091"/>
                <a:gd name="T1" fmla="*/ 222 h 280"/>
                <a:gd name="T2" fmla="*/ 20 w 1091"/>
                <a:gd name="T3" fmla="*/ 185 h 280"/>
                <a:gd name="T4" fmla="*/ 43 w 1091"/>
                <a:gd name="T5" fmla="*/ 148 h 280"/>
                <a:gd name="T6" fmla="*/ 88 w 1091"/>
                <a:gd name="T7" fmla="*/ 83 h 280"/>
                <a:gd name="T8" fmla="*/ 142 w 1091"/>
                <a:gd name="T9" fmla="*/ 0 h 280"/>
                <a:gd name="T10" fmla="*/ 185 w 1091"/>
                <a:gd name="T11" fmla="*/ 9 h 280"/>
                <a:gd name="T12" fmla="*/ 208 w 1091"/>
                <a:gd name="T13" fmla="*/ 65 h 280"/>
                <a:gd name="T14" fmla="*/ 248 w 1091"/>
                <a:gd name="T15" fmla="*/ 120 h 280"/>
                <a:gd name="T16" fmla="*/ 365 w 1091"/>
                <a:gd name="T17" fmla="*/ 259 h 280"/>
                <a:gd name="T18" fmla="*/ 436 w 1091"/>
                <a:gd name="T19" fmla="*/ 259 h 280"/>
                <a:gd name="T20" fmla="*/ 444 w 1091"/>
                <a:gd name="T21" fmla="*/ 240 h 280"/>
                <a:gd name="T22" fmla="*/ 455 w 1091"/>
                <a:gd name="T23" fmla="*/ 222 h 280"/>
                <a:gd name="T24" fmla="*/ 464 w 1091"/>
                <a:gd name="T25" fmla="*/ 203 h 2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091"/>
                <a:gd name="T40" fmla="*/ 0 h 280"/>
                <a:gd name="T41" fmla="*/ 1091 w 1091"/>
                <a:gd name="T42" fmla="*/ 280 h 28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091" h="280">
                  <a:moveTo>
                    <a:pt x="11" y="222"/>
                  </a:moveTo>
                  <a:cubicBezTo>
                    <a:pt x="85" y="198"/>
                    <a:pt x="0" y="234"/>
                    <a:pt x="48" y="185"/>
                  </a:cubicBezTo>
                  <a:cubicBezTo>
                    <a:pt x="64" y="169"/>
                    <a:pt x="87" y="164"/>
                    <a:pt x="103" y="148"/>
                  </a:cubicBezTo>
                  <a:cubicBezTo>
                    <a:pt x="133" y="118"/>
                    <a:pt x="166" y="97"/>
                    <a:pt x="205" y="83"/>
                  </a:cubicBezTo>
                  <a:cubicBezTo>
                    <a:pt x="245" y="43"/>
                    <a:pt x="281" y="17"/>
                    <a:pt x="334" y="0"/>
                  </a:cubicBezTo>
                  <a:cubicBezTo>
                    <a:pt x="368" y="3"/>
                    <a:pt x="403" y="1"/>
                    <a:pt x="436" y="9"/>
                  </a:cubicBezTo>
                  <a:cubicBezTo>
                    <a:pt x="452" y="13"/>
                    <a:pt x="477" y="54"/>
                    <a:pt x="491" y="65"/>
                  </a:cubicBezTo>
                  <a:cubicBezTo>
                    <a:pt x="535" y="99"/>
                    <a:pt x="540" y="99"/>
                    <a:pt x="583" y="120"/>
                  </a:cubicBezTo>
                  <a:cubicBezTo>
                    <a:pt x="660" y="197"/>
                    <a:pt x="753" y="242"/>
                    <a:pt x="860" y="259"/>
                  </a:cubicBezTo>
                  <a:cubicBezTo>
                    <a:pt x="925" y="280"/>
                    <a:pt x="912" y="279"/>
                    <a:pt x="1026" y="259"/>
                  </a:cubicBezTo>
                  <a:cubicBezTo>
                    <a:pt x="1035" y="257"/>
                    <a:pt x="1038" y="246"/>
                    <a:pt x="1045" y="240"/>
                  </a:cubicBezTo>
                  <a:cubicBezTo>
                    <a:pt x="1054" y="233"/>
                    <a:pt x="1064" y="229"/>
                    <a:pt x="1073" y="222"/>
                  </a:cubicBezTo>
                  <a:cubicBezTo>
                    <a:pt x="1080" y="217"/>
                    <a:pt x="1091" y="203"/>
                    <a:pt x="1091" y="203"/>
                  </a:cubicBezTo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4" name="Text Box 10"/>
            <p:cNvSpPr txBox="1">
              <a:spLocks noChangeArrowheads="1"/>
            </p:cNvSpPr>
            <p:nvPr/>
          </p:nvSpPr>
          <p:spPr bwMode="auto">
            <a:xfrm>
              <a:off x="4012" y="1927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rPr>
                <a:t>┇</a:t>
              </a:r>
              <a:r>
                <a:rPr kumimoji="1" lang="en-US" altLang="zh-CN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</a:p>
          </p:txBody>
        </p:sp>
        <p:sp>
          <p:nvSpPr>
            <p:cNvPr id="46105" name="Rectangle 11"/>
            <p:cNvSpPr>
              <a:spLocks noChangeArrowheads="1"/>
            </p:cNvSpPr>
            <p:nvPr/>
          </p:nvSpPr>
          <p:spPr bwMode="auto">
            <a:xfrm>
              <a:off x="3724" y="2255"/>
              <a:ext cx="919" cy="240"/>
            </a:xfrm>
            <a:prstGeom prst="rect">
              <a:avLst/>
            </a:prstGeom>
            <a:solidFill>
              <a:srgbClr val="339966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800" b="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46106" name="Text Box 20"/>
            <p:cNvSpPr txBox="1">
              <a:spLocks noChangeArrowheads="1"/>
            </p:cNvSpPr>
            <p:nvPr/>
          </p:nvSpPr>
          <p:spPr bwMode="auto">
            <a:xfrm>
              <a:off x="4014" y="2976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rPr>
                <a:t>┇</a:t>
              </a:r>
              <a:r>
                <a:rPr kumimoji="1" lang="en-US" altLang="zh-CN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</a:p>
          </p:txBody>
        </p:sp>
      </p:grpSp>
      <p:sp>
        <p:nvSpPr>
          <p:cNvPr id="319515" name="Text Box 27"/>
          <p:cNvSpPr txBox="1">
            <a:spLocks noChangeArrowheads="1"/>
          </p:cNvSpPr>
          <p:nvPr/>
        </p:nvSpPr>
        <p:spPr bwMode="auto">
          <a:xfrm>
            <a:off x="7311429" y="5400328"/>
            <a:ext cx="936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800">
                <a:solidFill>
                  <a:schemeClr val="tx1"/>
                </a:solidFill>
                <a:ea typeface="宋体" pitchFamily="2" charset="-122"/>
              </a:rPr>
              <a:t>2AH</a:t>
            </a: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819310" y="3510350"/>
            <a:ext cx="4502982" cy="1080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+mn-lt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2400" kern="0" dirty="0">
                <a:solidFill>
                  <a:schemeClr val="tx1"/>
                </a:solidFill>
                <a:latin typeface="宋体" pitchFamily="2" charset="-122"/>
              </a:rPr>
              <a:t>MOV  AL，</a:t>
            </a:r>
            <a:r>
              <a:rPr lang="zh-CN" altLang="en-US" sz="2400" kern="0" dirty="0">
                <a:solidFill>
                  <a:schemeClr val="tx1"/>
                </a:solidFill>
                <a:latin typeface="宋体" pitchFamily="2" charset="-122"/>
              </a:rPr>
              <a:t>‘</a:t>
            </a:r>
            <a:r>
              <a:rPr lang="en-US" altLang="zh-CN" sz="2400" kern="0" dirty="0">
                <a:solidFill>
                  <a:schemeClr val="tx1"/>
                </a:solidFill>
                <a:latin typeface="宋体" pitchFamily="2" charset="-122"/>
              </a:rPr>
              <a:t>*’</a:t>
            </a:r>
            <a:r>
              <a:rPr lang="zh-CN" altLang="en-US" sz="2400" kern="0" dirty="0">
                <a:solidFill>
                  <a:schemeClr val="tx1"/>
                </a:solidFill>
                <a:latin typeface="宋体" pitchFamily="2" charset="-122"/>
              </a:rPr>
              <a:t>或</a:t>
            </a:r>
            <a:r>
              <a:rPr lang="en-US" altLang="zh-CN" sz="2400" kern="0" dirty="0">
                <a:solidFill>
                  <a:schemeClr val="tx1"/>
                </a:solidFill>
                <a:latin typeface="宋体" pitchFamily="2" charset="-122"/>
              </a:rPr>
              <a:t>MOV AL,2AH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kern="0" dirty="0">
                <a:solidFill>
                  <a:schemeClr val="tx1"/>
                </a:solidFill>
                <a:latin typeface="宋体" pitchFamily="2" charset="-122"/>
              </a:rPr>
              <a:t>MOV  100[EDI]，AL       </a:t>
            </a:r>
            <a:endParaRPr lang="zh-CN" altLang="en-US" sz="2400" kern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19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9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19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9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19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319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9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9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19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9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501" grpId="0" animBg="1"/>
      <p:bldP spid="319502" grpId="0"/>
      <p:bldP spid="319503" grpId="0" animBg="1"/>
      <p:bldP spid="319504" grpId="0"/>
      <p:bldP spid="319505" grpId="0" animBg="1"/>
      <p:bldP spid="31951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零扩展和符号扩展传送指令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MOVZX/MOVSX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MOV</a:t>
            </a:r>
            <a:r>
              <a:rPr lang="zh-CN" altLang="en-US" sz="2400" dirty="0"/>
              <a:t>指令要求两个操作数的位数一致，如果要把位数短的操作数传到较长的操作数，则可使用零扩展指令或符号扩展指令。</a:t>
            </a:r>
            <a:endParaRPr lang="en-US" altLang="zh-CN" sz="2400" dirty="0"/>
          </a:p>
          <a:p>
            <a:r>
              <a:rPr lang="en-US" altLang="zh-CN" sz="2400" dirty="0"/>
              <a:t>MOVZX</a:t>
            </a:r>
            <a:r>
              <a:rPr lang="zh-CN" altLang="en-US" sz="2400" dirty="0"/>
              <a:t>指令有三种形式：</a:t>
            </a:r>
            <a:endParaRPr lang="en-US" altLang="zh-CN" sz="2400" dirty="0"/>
          </a:p>
          <a:p>
            <a:pPr lvl="1"/>
            <a:r>
              <a:rPr lang="en-US" altLang="zh-CN" sz="2000" dirty="0"/>
              <a:t>MOVZX reg32,reg/mem8</a:t>
            </a:r>
          </a:p>
          <a:p>
            <a:pPr lvl="1"/>
            <a:r>
              <a:rPr lang="en-US" altLang="zh-CN" sz="2000" dirty="0"/>
              <a:t>MOVZX reg32,reg/mem16</a:t>
            </a:r>
          </a:p>
          <a:p>
            <a:pPr lvl="1"/>
            <a:r>
              <a:rPr lang="en-US" altLang="zh-CN" sz="2000" dirty="0"/>
              <a:t>MOVZX reg16,reg/mem8</a:t>
            </a:r>
          </a:p>
          <a:p>
            <a:r>
              <a:rPr lang="zh-CN" altLang="en-US" sz="2400" dirty="0"/>
              <a:t>指令执行后，目的操作数比源操作数长的高位部分全部用</a:t>
            </a:r>
            <a:r>
              <a:rPr lang="en-US" altLang="zh-CN" sz="2400" dirty="0"/>
              <a:t>0</a:t>
            </a:r>
            <a:r>
              <a:rPr lang="zh-CN" altLang="en-US" sz="2400" dirty="0"/>
              <a:t>填充。</a:t>
            </a:r>
            <a:endParaRPr lang="en-US" altLang="zh-CN" sz="2400" dirty="0"/>
          </a:p>
          <a:p>
            <a:r>
              <a:rPr lang="zh-CN" altLang="en-US" sz="2400" dirty="0"/>
              <a:t>指令将短数传送到长数时把数字视为无符号数。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1860F6-BFAC-49E4-A370-39C019CE30B4}" type="slidenum">
              <a:rPr lang="zh-CN" altLang="en-US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5339268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5616" y="1916832"/>
            <a:ext cx="7772400" cy="4114800"/>
          </a:xfrm>
        </p:spPr>
        <p:txBody>
          <a:bodyPr/>
          <a:lstStyle/>
          <a:p>
            <a:r>
              <a:rPr lang="zh-CN" altLang="en-US" dirty="0"/>
              <a:t>例如：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err="1"/>
              <a:t>mov</a:t>
            </a:r>
            <a:r>
              <a:rPr lang="en-US" altLang="zh-CN" dirty="0"/>
              <a:t> </a:t>
            </a:r>
            <a:r>
              <a:rPr lang="en-US" altLang="zh-CN" dirty="0" err="1"/>
              <a:t>bx</a:t>
            </a:r>
            <a:r>
              <a:rPr lang="en-US" altLang="zh-CN" dirty="0"/>
              <a:t>, 0A68CH</a:t>
            </a:r>
          </a:p>
          <a:p>
            <a:pPr marL="457200" lvl="1" indent="0">
              <a:buNone/>
            </a:pPr>
            <a:r>
              <a:rPr lang="en-US" altLang="zh-CN" dirty="0" err="1"/>
              <a:t>movzx</a:t>
            </a:r>
            <a:r>
              <a:rPr lang="en-US" altLang="zh-CN" dirty="0"/>
              <a:t> </a:t>
            </a:r>
            <a:r>
              <a:rPr lang="en-US" altLang="zh-CN" dirty="0" err="1"/>
              <a:t>eax</a:t>
            </a:r>
            <a:r>
              <a:rPr lang="en-US" altLang="zh-CN" dirty="0"/>
              <a:t>, </a:t>
            </a:r>
            <a:r>
              <a:rPr lang="en-US" altLang="zh-CN" dirty="0" err="1"/>
              <a:t>bx</a:t>
            </a:r>
            <a:r>
              <a:rPr lang="en-US" altLang="zh-CN" dirty="0"/>
              <a:t>    ;EAX=0000A68CH</a:t>
            </a:r>
          </a:p>
          <a:p>
            <a:pPr marL="457200" lvl="1" indent="0">
              <a:buNone/>
            </a:pPr>
            <a:r>
              <a:rPr lang="en-US" altLang="zh-CN" dirty="0" err="1"/>
              <a:t>movzx</a:t>
            </a:r>
            <a:r>
              <a:rPr lang="en-US" altLang="zh-CN" dirty="0"/>
              <a:t> </a:t>
            </a:r>
            <a:r>
              <a:rPr lang="en-US" altLang="zh-CN" dirty="0" err="1"/>
              <a:t>edx,bl</a:t>
            </a:r>
            <a:r>
              <a:rPr lang="en-US" altLang="zh-CN" dirty="0"/>
              <a:t>      ;EDX=0000008CH</a:t>
            </a:r>
          </a:p>
          <a:p>
            <a:pPr marL="457200" lvl="1" indent="0">
              <a:buNone/>
            </a:pPr>
            <a:r>
              <a:rPr lang="en-US" altLang="zh-CN" dirty="0" err="1"/>
              <a:t>movzx</a:t>
            </a:r>
            <a:r>
              <a:rPr lang="en-US" altLang="zh-CN" dirty="0"/>
              <a:t> </a:t>
            </a:r>
            <a:r>
              <a:rPr lang="en-US" altLang="zh-CN" dirty="0" err="1"/>
              <a:t>cx,bh</a:t>
            </a:r>
            <a:r>
              <a:rPr lang="en-US" altLang="zh-CN" dirty="0"/>
              <a:t>         ;CX  =00A6H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1860F6-BFAC-49E4-A370-39C019CE30B4}" type="slidenum">
              <a:rPr lang="zh-CN" altLang="en-US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5301886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3608" y="474617"/>
            <a:ext cx="7772400" cy="6243638"/>
          </a:xfrm>
        </p:spPr>
        <p:txBody>
          <a:bodyPr/>
          <a:lstStyle/>
          <a:p>
            <a:r>
              <a:rPr lang="en-US" altLang="zh-CN" sz="2400" dirty="0"/>
              <a:t>MOVSX</a:t>
            </a:r>
            <a:r>
              <a:rPr lang="zh-CN" altLang="en-US" sz="2400" dirty="0"/>
              <a:t>指令有三种形式：</a:t>
            </a:r>
            <a:endParaRPr lang="en-US" altLang="zh-CN" sz="2400" dirty="0"/>
          </a:p>
          <a:p>
            <a:pPr lvl="1"/>
            <a:r>
              <a:rPr lang="en-US" altLang="zh-CN" sz="2000" dirty="0"/>
              <a:t>MOVSX reg32,reg/mem8</a:t>
            </a:r>
          </a:p>
          <a:p>
            <a:pPr lvl="1"/>
            <a:r>
              <a:rPr lang="en-US" altLang="zh-CN" sz="2000" dirty="0"/>
              <a:t>MOVSX reg32,reg/mem16</a:t>
            </a:r>
          </a:p>
          <a:p>
            <a:pPr lvl="1"/>
            <a:r>
              <a:rPr lang="en-US" altLang="zh-CN" sz="2000" dirty="0"/>
              <a:t>MOVSX reg16,reg/mem8</a:t>
            </a:r>
          </a:p>
          <a:p>
            <a:r>
              <a:rPr lang="zh-CN" altLang="en-US" sz="2400" dirty="0"/>
              <a:t>指令执行后，目的操作数比源操作数长的高位部分全部用源操作数的最高位填充。</a:t>
            </a:r>
            <a:endParaRPr lang="en-US" altLang="zh-CN" sz="2400" dirty="0"/>
          </a:p>
          <a:p>
            <a:r>
              <a:rPr lang="zh-CN" altLang="en-US" sz="2400" dirty="0"/>
              <a:t>指令将短数传送到长数时把数字视为带符号数。</a:t>
            </a:r>
            <a:endParaRPr lang="en-US" altLang="zh-CN" sz="2400" dirty="0"/>
          </a:p>
          <a:p>
            <a:r>
              <a:rPr lang="zh-CN" altLang="en-US" sz="2400" dirty="0"/>
              <a:t>例如：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dirty="0" err="1"/>
              <a:t>mov</a:t>
            </a:r>
            <a:r>
              <a:rPr lang="en-US" altLang="zh-CN" dirty="0"/>
              <a:t> </a:t>
            </a:r>
            <a:r>
              <a:rPr lang="en-US" altLang="zh-CN" dirty="0" err="1"/>
              <a:t>bx</a:t>
            </a:r>
            <a:r>
              <a:rPr lang="en-US" altLang="zh-CN" dirty="0"/>
              <a:t>, 0A68CH</a:t>
            </a:r>
          </a:p>
          <a:p>
            <a:pPr marL="457200" lvl="1" indent="0">
              <a:buNone/>
            </a:pPr>
            <a:r>
              <a:rPr lang="en-US" altLang="zh-CN" dirty="0" err="1"/>
              <a:t>movsx</a:t>
            </a:r>
            <a:r>
              <a:rPr lang="en-US" altLang="zh-CN" dirty="0"/>
              <a:t> </a:t>
            </a:r>
            <a:r>
              <a:rPr lang="en-US" altLang="zh-CN" dirty="0" err="1"/>
              <a:t>eax</a:t>
            </a:r>
            <a:r>
              <a:rPr lang="en-US" altLang="zh-CN" dirty="0"/>
              <a:t>, </a:t>
            </a:r>
            <a:r>
              <a:rPr lang="en-US" altLang="zh-CN" dirty="0" err="1"/>
              <a:t>bx</a:t>
            </a:r>
            <a:r>
              <a:rPr lang="en-US" altLang="zh-CN" dirty="0"/>
              <a:t>    ;EAX=FFFFA68CH</a:t>
            </a:r>
          </a:p>
          <a:p>
            <a:pPr marL="457200" lvl="1" indent="0">
              <a:buNone/>
            </a:pPr>
            <a:r>
              <a:rPr lang="en-US" altLang="zh-CN" dirty="0" err="1"/>
              <a:t>Movsx</a:t>
            </a:r>
            <a:r>
              <a:rPr lang="en-US" altLang="zh-CN" dirty="0"/>
              <a:t> </a:t>
            </a:r>
            <a:r>
              <a:rPr lang="en-US" altLang="zh-CN" dirty="0" err="1"/>
              <a:t>edx,bl</a:t>
            </a:r>
            <a:r>
              <a:rPr lang="en-US" altLang="zh-CN" dirty="0"/>
              <a:t>      ;EDX=FFFFFF8CH</a:t>
            </a:r>
          </a:p>
          <a:p>
            <a:pPr marL="457200" lvl="1" indent="0">
              <a:buNone/>
            </a:pPr>
            <a:r>
              <a:rPr lang="en-US" altLang="zh-CN" dirty="0" err="1"/>
              <a:t>movsx</a:t>
            </a:r>
            <a:r>
              <a:rPr lang="en-US" altLang="zh-CN" dirty="0"/>
              <a:t> </a:t>
            </a:r>
            <a:r>
              <a:rPr lang="en-US" altLang="zh-CN" dirty="0" err="1"/>
              <a:t>cx,bh</a:t>
            </a:r>
            <a:r>
              <a:rPr lang="en-US" altLang="zh-CN" dirty="0"/>
              <a:t>       ;CX  =FFA6H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1860F6-BFAC-49E4-A370-39C019CE30B4}" type="slidenum">
              <a:rPr lang="zh-CN" altLang="en-US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970515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552AF65-D7E3-4BB2-A6B6-9E38B65CC656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42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b="1" dirty="0"/>
              <a:t>2. </a:t>
            </a:r>
            <a:r>
              <a:rPr lang="zh-CN" altLang="en-US" dirty="0"/>
              <a:t>堆栈操作指令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9780" y="2930997"/>
            <a:ext cx="7456487" cy="3312641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zh-CN" altLang="en-US" dirty="0"/>
              <a:t>堆栈操作以字为单位</a:t>
            </a:r>
            <a:endParaRPr lang="en-US" altLang="zh-CN" dirty="0"/>
          </a:p>
          <a:p>
            <a:pPr lvl="1" eaLnBrk="1" hangingPunct="1">
              <a:spcBef>
                <a:spcPct val="15000"/>
              </a:spcBef>
            </a:pPr>
            <a:r>
              <a:rPr lang="zh-CN" altLang="en-US" dirty="0"/>
              <a:t>堆栈操作指令的操作数必为</a:t>
            </a:r>
            <a:r>
              <a:rPr lang="en-US" altLang="zh-CN" dirty="0"/>
              <a:t>16</a:t>
            </a:r>
            <a:r>
              <a:rPr lang="zh-CN" altLang="en-US" dirty="0"/>
              <a:t>位</a:t>
            </a:r>
            <a:endParaRPr lang="en-US" altLang="zh-CN" dirty="0"/>
          </a:p>
          <a:p>
            <a:pPr eaLnBrk="1" hangingPunct="1">
              <a:spcBef>
                <a:spcPct val="15000"/>
              </a:spcBef>
            </a:pPr>
            <a:r>
              <a:rPr lang="zh-CN" altLang="en-US" dirty="0"/>
              <a:t>堆栈指令对操作数的要求：</a:t>
            </a:r>
            <a:endParaRPr lang="en-US" altLang="zh-CN" dirty="0"/>
          </a:p>
          <a:p>
            <a:pPr lvl="1" eaLnBrk="1" hangingPunct="1">
              <a:spcBef>
                <a:spcPct val="15000"/>
              </a:spcBef>
            </a:pPr>
            <a:r>
              <a:rPr lang="zh-CN" altLang="en-US" dirty="0"/>
              <a:t>不能是立即数；</a:t>
            </a:r>
            <a:endParaRPr lang="en-US" altLang="zh-CN" dirty="0"/>
          </a:p>
          <a:p>
            <a:pPr lvl="1" eaLnBrk="1" hangingPunct="1">
              <a:spcBef>
                <a:spcPct val="15000"/>
              </a:spcBef>
            </a:pPr>
            <a:r>
              <a:rPr lang="zh-CN" altLang="en-US" dirty="0"/>
              <a:t>可以是</a:t>
            </a:r>
            <a:r>
              <a:rPr lang="en-US" altLang="zh-CN" dirty="0"/>
              <a:t>16</a:t>
            </a:r>
            <a:r>
              <a:rPr lang="zh-CN" altLang="en-US" dirty="0"/>
              <a:t>位寄存器或存储器的</a:t>
            </a:r>
            <a:r>
              <a:rPr lang="en-US" altLang="zh-CN" dirty="0"/>
              <a:t>1</a:t>
            </a:r>
            <a:r>
              <a:rPr lang="zh-CN" altLang="en-US" dirty="0"/>
              <a:t>个字单元；</a:t>
            </a:r>
            <a:endParaRPr lang="en-US" altLang="zh-CN" dirty="0"/>
          </a:p>
          <a:p>
            <a:pPr lvl="1" eaLnBrk="1" hangingPunct="1">
              <a:spcBef>
                <a:spcPct val="15000"/>
              </a:spcBef>
            </a:pPr>
            <a:r>
              <a:rPr lang="zh-CN" altLang="en-US" dirty="0"/>
              <a:t>若为存储器操作数，需要声明为字存储单元。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71600" y="2204864"/>
            <a:ext cx="3816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(1) </a:t>
            </a:r>
            <a:r>
              <a:rPr lang="zh-CN" altLang="en-US" sz="2800" b="1" dirty="0">
                <a:solidFill>
                  <a:srgbClr val="C00000"/>
                </a:solidFill>
              </a:rPr>
              <a:t>实模式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4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8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8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8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8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8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98887C7-ADA8-4D13-A1AD-14239604F5B8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43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堆栈操作指令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3624" y="2071688"/>
            <a:ext cx="7252791" cy="3756025"/>
          </a:xfrm>
        </p:spPr>
        <p:txBody>
          <a:bodyPr/>
          <a:lstStyle/>
          <a:p>
            <a:pPr eaLnBrk="1" hangingPunct="1">
              <a:spcAft>
                <a:spcPct val="0"/>
              </a:spcAft>
            </a:pPr>
            <a:r>
              <a:rPr lang="zh-CN" altLang="en-US" sz="3200" dirty="0"/>
              <a:t>压栈指令 </a:t>
            </a:r>
            <a:r>
              <a:rPr lang="en-US" altLang="zh-CN" sz="3200" dirty="0"/>
              <a:t>PUSH</a:t>
            </a:r>
          </a:p>
          <a:p>
            <a:pPr lvl="1" eaLnBrk="1" hangingPunct="1">
              <a:spcAft>
                <a:spcPct val="30000"/>
              </a:spcAft>
            </a:pPr>
            <a:r>
              <a:rPr lang="zh-CN" altLang="en-US" dirty="0"/>
              <a:t>格式</a:t>
            </a:r>
            <a:r>
              <a:rPr lang="en-US" altLang="zh-CN" dirty="0"/>
              <a:t>:    PUSH  OPRD</a:t>
            </a:r>
          </a:p>
          <a:p>
            <a:pPr algn="just" eaLnBrk="1" hangingPunct="1">
              <a:spcBef>
                <a:spcPts val="2400"/>
              </a:spcBef>
              <a:spcAft>
                <a:spcPct val="0"/>
              </a:spcAft>
            </a:pPr>
            <a:r>
              <a:rPr lang="zh-CN" altLang="en-US" sz="3200" dirty="0"/>
              <a:t>出栈指令 </a:t>
            </a:r>
            <a:r>
              <a:rPr lang="en-US" altLang="zh-CN" sz="3200" dirty="0"/>
              <a:t>POP</a:t>
            </a:r>
          </a:p>
          <a:p>
            <a:pPr lvl="1" algn="just" eaLnBrk="1" hangingPunct="1">
              <a:spcBef>
                <a:spcPts val="600"/>
              </a:spcBef>
              <a:spcAft>
                <a:spcPct val="30000"/>
              </a:spcAft>
            </a:pPr>
            <a:r>
              <a:rPr lang="zh-CN" altLang="en-US" dirty="0"/>
              <a:t>格式</a:t>
            </a:r>
            <a:r>
              <a:rPr lang="en-US" altLang="zh-CN" dirty="0"/>
              <a:t>:  POP  OPRD</a:t>
            </a:r>
          </a:p>
          <a:p>
            <a:pPr algn="just" eaLnBrk="1" hangingPunct="1">
              <a:spcBef>
                <a:spcPts val="600"/>
              </a:spcBef>
              <a:spcAft>
                <a:spcPct val="30000"/>
              </a:spcAft>
            </a:pPr>
            <a:r>
              <a:rPr lang="zh-CN" altLang="en-US" dirty="0"/>
              <a:t>标志寄存器</a:t>
            </a:r>
            <a:r>
              <a:rPr lang="en-US" altLang="zh-CN" dirty="0"/>
              <a:t>FLAGS</a:t>
            </a:r>
            <a:r>
              <a:rPr lang="zh-CN" altLang="en-US" dirty="0"/>
              <a:t>进栈</a:t>
            </a:r>
            <a:r>
              <a:rPr lang="en-US" altLang="zh-CN" dirty="0"/>
              <a:t>/</a:t>
            </a:r>
            <a:r>
              <a:rPr lang="zh-CN" altLang="en-US" dirty="0"/>
              <a:t>出栈指令</a:t>
            </a:r>
            <a:endParaRPr lang="en-US" altLang="zh-CN" dirty="0"/>
          </a:p>
          <a:p>
            <a:pPr lvl="1" algn="just" eaLnBrk="1" hangingPunct="1">
              <a:spcBef>
                <a:spcPts val="600"/>
              </a:spcBef>
              <a:spcAft>
                <a:spcPct val="30000"/>
              </a:spcAft>
            </a:pPr>
            <a:r>
              <a:rPr lang="zh-CN" altLang="en-US" dirty="0"/>
              <a:t>格式：</a:t>
            </a:r>
            <a:r>
              <a:rPr lang="en-US" altLang="zh-CN" dirty="0"/>
              <a:t>PUSHF </a:t>
            </a:r>
            <a:r>
              <a:rPr lang="zh-CN" altLang="en-US" dirty="0"/>
              <a:t>或 </a:t>
            </a:r>
            <a:r>
              <a:rPr lang="en-US" altLang="zh-CN" dirty="0"/>
              <a:t>POPF</a:t>
            </a:r>
          </a:p>
        </p:txBody>
      </p:sp>
      <p:sp>
        <p:nvSpPr>
          <p:cNvPr id="111621" name="AutoShape 5"/>
          <p:cNvSpPr>
            <a:spLocks noChangeArrowheads="1"/>
          </p:cNvSpPr>
          <p:nvPr/>
        </p:nvSpPr>
        <p:spPr bwMode="auto">
          <a:xfrm>
            <a:off x="5680058" y="3517328"/>
            <a:ext cx="2159000" cy="936625"/>
          </a:xfrm>
          <a:prstGeom prst="wedgeRoundRectCallout">
            <a:avLst>
              <a:gd name="adj1" fmla="val -102179"/>
              <a:gd name="adj2" fmla="val 37584"/>
              <a:gd name="adj3" fmla="val 16667"/>
            </a:avLst>
          </a:prstGeom>
          <a:noFill/>
          <a:ln w="22225">
            <a:solidFill>
              <a:srgbClr val="339966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  <a:ea typeface="宋体" pitchFamily="2" charset="-122"/>
              </a:rPr>
              <a:t>16</a:t>
            </a:r>
            <a:r>
              <a:rPr lang="zh-CN" altLang="en-US" sz="2000" dirty="0">
                <a:solidFill>
                  <a:srgbClr val="FF0000"/>
                </a:solidFill>
                <a:ea typeface="宋体" pitchFamily="2" charset="-122"/>
              </a:rPr>
              <a:t>位寄存器或</a:t>
            </a:r>
          </a:p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FF0000"/>
                </a:solidFill>
                <a:ea typeface="宋体" pitchFamily="2" charset="-122"/>
              </a:rPr>
              <a:t>存储器字单元</a:t>
            </a:r>
          </a:p>
        </p:txBody>
      </p:sp>
      <p:sp>
        <p:nvSpPr>
          <p:cNvPr id="111622" name="AutoShape 6"/>
          <p:cNvSpPr>
            <a:spLocks noChangeArrowheads="1"/>
          </p:cNvSpPr>
          <p:nvPr/>
        </p:nvSpPr>
        <p:spPr bwMode="auto">
          <a:xfrm>
            <a:off x="5652120" y="2217802"/>
            <a:ext cx="2122487" cy="936625"/>
          </a:xfrm>
          <a:prstGeom prst="wedgeRoundRectCallout">
            <a:avLst>
              <a:gd name="adj1" fmla="val -84108"/>
              <a:gd name="adj2" fmla="val 25244"/>
              <a:gd name="adj3" fmla="val 16667"/>
            </a:avLst>
          </a:prstGeom>
          <a:noFill/>
          <a:ln w="22225">
            <a:solidFill>
              <a:srgbClr val="339966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  <a:ea typeface="宋体" pitchFamily="2" charset="-122"/>
              </a:rPr>
              <a:t>16</a:t>
            </a:r>
            <a:r>
              <a:rPr lang="zh-CN" altLang="en-US" sz="2000" dirty="0">
                <a:solidFill>
                  <a:srgbClr val="FF0000"/>
                </a:solidFill>
                <a:ea typeface="宋体" pitchFamily="2" charset="-122"/>
              </a:rPr>
              <a:t>位寄存器或</a:t>
            </a:r>
          </a:p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FF0000"/>
                </a:solidFill>
                <a:ea typeface="宋体" pitchFamily="2" charset="-122"/>
              </a:rPr>
              <a:t>存储器字单元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1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1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 build="p"/>
      <p:bldP spid="111621" grpId="0" animBg="1"/>
      <p:bldP spid="11162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F5D4A2E4-115C-4516-9F85-A3BFC5B9E44D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44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压栈指令 </a:t>
            </a:r>
            <a:r>
              <a:rPr lang="en-US" altLang="zh-CN" sz="3600" b="1"/>
              <a:t>PUSH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2049463"/>
            <a:ext cx="4973637" cy="3540125"/>
          </a:xfrm>
        </p:spPr>
        <p:txBody>
          <a:bodyPr/>
          <a:lstStyle/>
          <a:p>
            <a:pPr algn="just" eaLnBrk="1" hangingPunct="1">
              <a:spcAft>
                <a:spcPct val="30000"/>
              </a:spcAft>
            </a:pPr>
            <a:r>
              <a:rPr lang="zh-CN" altLang="en-US" dirty="0">
                <a:latin typeface="宋体" pitchFamily="2" charset="-122"/>
              </a:rPr>
              <a:t>指令执行过程：</a:t>
            </a:r>
          </a:p>
          <a:p>
            <a:pPr lvl="1" algn="just" eaLnBrk="1" hangingPunct="1">
              <a:lnSpc>
                <a:spcPct val="115000"/>
              </a:lnSpc>
            </a:pPr>
            <a:r>
              <a:rPr lang="en-US" altLang="zh-CN" dirty="0">
                <a:latin typeface="宋体" pitchFamily="2" charset="-122"/>
              </a:rPr>
              <a:t>SP - 2 </a:t>
            </a:r>
            <a:r>
              <a:rPr lang="zh-CN" altLang="en-US" dirty="0">
                <a:latin typeface="宋体" pitchFamily="2" charset="-122"/>
              </a:rPr>
              <a:t>→</a:t>
            </a:r>
            <a:r>
              <a:rPr lang="en-US" altLang="zh-CN" dirty="0">
                <a:latin typeface="宋体" pitchFamily="2" charset="-122"/>
              </a:rPr>
              <a:t> SP</a:t>
            </a:r>
          </a:p>
          <a:p>
            <a:pPr lvl="1" algn="just" eaLnBrk="1" hangingPunct="1">
              <a:lnSpc>
                <a:spcPct val="115000"/>
              </a:lnSpc>
            </a:pPr>
            <a:r>
              <a:rPr lang="zh-CN" altLang="en-US" dirty="0">
                <a:latin typeface="宋体" pitchFamily="2" charset="-122"/>
              </a:rPr>
              <a:t>操作数高字节 → </a:t>
            </a:r>
            <a:r>
              <a:rPr lang="en-US" altLang="zh-CN" dirty="0">
                <a:latin typeface="宋体" pitchFamily="2" charset="-122"/>
              </a:rPr>
              <a:t>(SP+1)</a:t>
            </a:r>
            <a:endParaRPr lang="zh-CN" altLang="zh-CN" dirty="0">
              <a:latin typeface="宋体" pitchFamily="2" charset="-122"/>
            </a:endParaRPr>
          </a:p>
          <a:p>
            <a:pPr lvl="1" algn="just" eaLnBrk="1" hangingPunct="1">
              <a:lnSpc>
                <a:spcPct val="115000"/>
              </a:lnSpc>
            </a:pPr>
            <a:r>
              <a:rPr lang="zh-CN" altLang="en-US" dirty="0">
                <a:latin typeface="宋体" pitchFamily="2" charset="-122"/>
              </a:rPr>
              <a:t>操作数低字节 → </a:t>
            </a:r>
            <a:r>
              <a:rPr lang="en-US" altLang="zh-CN" dirty="0">
                <a:latin typeface="宋体" pitchFamily="2" charset="-122"/>
              </a:rPr>
              <a:t>(SP)</a:t>
            </a:r>
            <a:endParaRPr lang="zh-CN" altLang="en-US" dirty="0">
              <a:latin typeface="宋体" pitchFamily="2" charset="-122"/>
            </a:endParaRPr>
          </a:p>
        </p:txBody>
      </p:sp>
      <p:sp>
        <p:nvSpPr>
          <p:cNvPr id="112645" name="Rectangle 5"/>
          <p:cNvSpPr>
            <a:spLocks noChangeArrowheads="1"/>
          </p:cNvSpPr>
          <p:nvPr/>
        </p:nvSpPr>
        <p:spPr bwMode="auto">
          <a:xfrm>
            <a:off x="6343650" y="4238625"/>
            <a:ext cx="1458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2646" name="Rectangle 6"/>
          <p:cNvSpPr>
            <a:spLocks noChangeArrowheads="1"/>
          </p:cNvSpPr>
          <p:nvPr/>
        </p:nvSpPr>
        <p:spPr bwMode="auto">
          <a:xfrm>
            <a:off x="6343650" y="4602163"/>
            <a:ext cx="1458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2647" name="Rectangle 7"/>
          <p:cNvSpPr>
            <a:spLocks noChangeArrowheads="1"/>
          </p:cNvSpPr>
          <p:nvPr/>
        </p:nvSpPr>
        <p:spPr bwMode="auto">
          <a:xfrm>
            <a:off x="6343650" y="4962525"/>
            <a:ext cx="1458913" cy="381000"/>
          </a:xfrm>
          <a:prstGeom prst="rect">
            <a:avLst/>
          </a:prstGeom>
          <a:solidFill>
            <a:srgbClr val="99CC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2648" name="Line 8"/>
          <p:cNvSpPr>
            <a:spLocks noChangeShapeType="1"/>
          </p:cNvSpPr>
          <p:nvPr/>
        </p:nvSpPr>
        <p:spPr bwMode="auto">
          <a:xfrm>
            <a:off x="6343650" y="3233738"/>
            <a:ext cx="0" cy="290353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9" name="Line 9"/>
          <p:cNvSpPr>
            <a:spLocks noChangeShapeType="1"/>
          </p:cNvSpPr>
          <p:nvPr/>
        </p:nvSpPr>
        <p:spPr bwMode="auto">
          <a:xfrm>
            <a:off x="7804150" y="3213100"/>
            <a:ext cx="0" cy="290353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50" name="Freeform 10"/>
          <p:cNvSpPr>
            <a:spLocks/>
          </p:cNvSpPr>
          <p:nvPr/>
        </p:nvSpPr>
        <p:spPr bwMode="auto">
          <a:xfrm>
            <a:off x="6343650" y="5799138"/>
            <a:ext cx="1457325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51" name="Text Box 11"/>
          <p:cNvSpPr txBox="1">
            <a:spLocks noChangeArrowheads="1"/>
          </p:cNvSpPr>
          <p:nvPr/>
        </p:nvSpPr>
        <p:spPr bwMode="auto">
          <a:xfrm>
            <a:off x="6800850" y="3348038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┇</a:t>
            </a:r>
            <a:r>
              <a:rPr kumimoji="1" lang="en-US" altLang="zh-CN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sp>
        <p:nvSpPr>
          <p:cNvPr id="112652" name="Rectangle 12"/>
          <p:cNvSpPr>
            <a:spLocks noChangeArrowheads="1"/>
          </p:cNvSpPr>
          <p:nvPr/>
        </p:nvSpPr>
        <p:spPr bwMode="auto">
          <a:xfrm>
            <a:off x="6343650" y="3868738"/>
            <a:ext cx="1458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2653" name="Text Box 13"/>
          <p:cNvSpPr txBox="1">
            <a:spLocks noChangeArrowheads="1"/>
          </p:cNvSpPr>
          <p:nvPr/>
        </p:nvSpPr>
        <p:spPr bwMode="auto">
          <a:xfrm>
            <a:off x="5148263" y="4948238"/>
            <a:ext cx="792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SP</a:t>
            </a:r>
          </a:p>
        </p:txBody>
      </p:sp>
      <p:sp>
        <p:nvSpPr>
          <p:cNvPr id="112654" name="Line 14"/>
          <p:cNvSpPr>
            <a:spLocks noChangeShapeType="1"/>
          </p:cNvSpPr>
          <p:nvPr/>
        </p:nvSpPr>
        <p:spPr bwMode="auto">
          <a:xfrm>
            <a:off x="5721350" y="5162550"/>
            <a:ext cx="576263" cy="0"/>
          </a:xfrm>
          <a:prstGeom prst="line">
            <a:avLst/>
          </a:prstGeom>
          <a:noFill/>
          <a:ln w="22225">
            <a:solidFill>
              <a:srgbClr val="FF66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112655" name="Text Box 15"/>
          <p:cNvSpPr txBox="1">
            <a:spLocks noChangeArrowheads="1"/>
          </p:cNvSpPr>
          <p:nvPr/>
        </p:nvSpPr>
        <p:spPr bwMode="auto">
          <a:xfrm>
            <a:off x="8239125" y="4060825"/>
            <a:ext cx="45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堆栈段</a:t>
            </a:r>
          </a:p>
        </p:txBody>
      </p:sp>
      <p:sp>
        <p:nvSpPr>
          <p:cNvPr id="112656" name="AutoShape 16"/>
          <p:cNvSpPr>
            <a:spLocks/>
          </p:cNvSpPr>
          <p:nvPr/>
        </p:nvSpPr>
        <p:spPr bwMode="auto">
          <a:xfrm>
            <a:off x="7939088" y="3848100"/>
            <a:ext cx="304800" cy="1447800"/>
          </a:xfrm>
          <a:prstGeom prst="rightBrace">
            <a:avLst>
              <a:gd name="adj1" fmla="val 3958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2657" name="Text Box 17"/>
          <p:cNvSpPr txBox="1">
            <a:spLocks noChangeArrowheads="1"/>
          </p:cNvSpPr>
          <p:nvPr/>
        </p:nvSpPr>
        <p:spPr bwMode="auto">
          <a:xfrm>
            <a:off x="5148263" y="4227513"/>
            <a:ext cx="862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SP</a:t>
            </a:r>
          </a:p>
        </p:txBody>
      </p:sp>
      <p:sp>
        <p:nvSpPr>
          <p:cNvPr id="112658" name="Line 18"/>
          <p:cNvSpPr>
            <a:spLocks noChangeShapeType="1"/>
          </p:cNvSpPr>
          <p:nvPr/>
        </p:nvSpPr>
        <p:spPr bwMode="auto">
          <a:xfrm>
            <a:off x="5721350" y="4441825"/>
            <a:ext cx="576263" cy="0"/>
          </a:xfrm>
          <a:prstGeom prst="line">
            <a:avLst/>
          </a:prstGeom>
          <a:noFill/>
          <a:ln w="22225">
            <a:solidFill>
              <a:srgbClr val="FF66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112659" name="Text Box 19"/>
          <p:cNvSpPr txBox="1">
            <a:spLocks noChangeArrowheads="1"/>
          </p:cNvSpPr>
          <p:nvPr/>
        </p:nvSpPr>
        <p:spPr bwMode="auto">
          <a:xfrm>
            <a:off x="6686550" y="4587875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>
                <a:solidFill>
                  <a:schemeClr val="bg1"/>
                </a:solidFill>
                <a:ea typeface="宋体" pitchFamily="2" charset="-122"/>
              </a:rPr>
              <a:t>高</a:t>
            </a:r>
            <a:r>
              <a:rPr lang="en-US" altLang="zh-CN" sz="1800">
                <a:solidFill>
                  <a:schemeClr val="bg1"/>
                </a:solidFill>
                <a:ea typeface="宋体" pitchFamily="2" charset="-122"/>
              </a:rPr>
              <a:t>8</a:t>
            </a:r>
            <a:r>
              <a:rPr lang="zh-CN" altLang="en-US" sz="1800">
                <a:solidFill>
                  <a:schemeClr val="bg1"/>
                </a:solidFill>
                <a:ea typeface="宋体" pitchFamily="2" charset="-122"/>
              </a:rPr>
              <a:t>位</a:t>
            </a:r>
          </a:p>
        </p:txBody>
      </p:sp>
      <p:sp>
        <p:nvSpPr>
          <p:cNvPr id="112660" name="Text Box 20"/>
          <p:cNvSpPr txBox="1">
            <a:spLocks noChangeArrowheads="1"/>
          </p:cNvSpPr>
          <p:nvPr/>
        </p:nvSpPr>
        <p:spPr bwMode="auto">
          <a:xfrm>
            <a:off x="6686550" y="4227513"/>
            <a:ext cx="936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>
                <a:solidFill>
                  <a:schemeClr val="bg1"/>
                </a:solidFill>
                <a:ea typeface="宋体" pitchFamily="2" charset="-122"/>
              </a:rPr>
              <a:t>低</a:t>
            </a:r>
            <a:r>
              <a:rPr lang="en-US" altLang="zh-CN" sz="1800">
                <a:solidFill>
                  <a:schemeClr val="bg1"/>
                </a:solidFill>
                <a:ea typeface="宋体" pitchFamily="2" charset="-122"/>
              </a:rPr>
              <a:t>8</a:t>
            </a:r>
            <a:r>
              <a:rPr lang="zh-CN" altLang="en-US" sz="1800">
                <a:solidFill>
                  <a:schemeClr val="bg1"/>
                </a:solidFill>
                <a:ea typeface="宋体" pitchFamily="2" charset="-122"/>
              </a:rPr>
              <a:t>位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517652" y="3202805"/>
            <a:ext cx="921746" cy="370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小地址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5479552" y="5713033"/>
            <a:ext cx="921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大地址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2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2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2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2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2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2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2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2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12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12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4" presetClass="exit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7" dur="500"/>
                                        <p:tgtEl>
                                          <p:spTgt spid="1126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80" dur="500"/>
                                        <p:tgtEl>
                                          <p:spTgt spid="1126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112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112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112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1000" fill="hold"/>
                                        <p:tgtEl>
                                          <p:spTgt spid="112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5" grpId="0" animBg="1"/>
      <p:bldP spid="112646" grpId="0" animBg="1"/>
      <p:bldP spid="112647" grpId="0" animBg="1"/>
      <p:bldP spid="112648" grpId="0" animBg="1"/>
      <p:bldP spid="112649" grpId="0" animBg="1"/>
      <p:bldP spid="112650" grpId="0" animBg="1"/>
      <p:bldP spid="112651" grpId="0"/>
      <p:bldP spid="112652" grpId="0" animBg="1"/>
      <p:bldP spid="112653" grpId="0"/>
      <p:bldP spid="112653" grpId="1"/>
      <p:bldP spid="112654" grpId="0" animBg="1"/>
      <p:bldP spid="112654" grpId="1" animBg="1"/>
      <p:bldP spid="112655" grpId="0"/>
      <p:bldP spid="112656" grpId="0" animBg="1"/>
      <p:bldP spid="112657" grpId="0"/>
      <p:bldP spid="112658" grpId="0" animBg="1"/>
      <p:bldP spid="112659" grpId="0"/>
      <p:bldP spid="112660" grpId="0"/>
      <p:bldP spid="2" grpId="0"/>
      <p:bldP spid="2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42150" y="63119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3B8D309-AFC7-48CF-8A66-7F2D78A91E9A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45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3737" name="Rectangle 73"/>
          <p:cNvSpPr>
            <a:spLocks noChangeArrowheads="1"/>
          </p:cNvSpPr>
          <p:nvPr/>
        </p:nvSpPr>
        <p:spPr bwMode="auto">
          <a:xfrm>
            <a:off x="6705600" y="4425950"/>
            <a:ext cx="1458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压栈指令的操作示例</a:t>
            </a:r>
          </a:p>
        </p:txBody>
      </p:sp>
      <p:sp>
        <p:nvSpPr>
          <p:cNvPr id="542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2163" y="1928813"/>
            <a:ext cx="6137275" cy="1279525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/>
              <a:t>MOV  AX</a:t>
            </a:r>
            <a:r>
              <a:rPr lang="zh-CN" altLang="en-US" sz="2400"/>
              <a:t>，</a:t>
            </a:r>
            <a:r>
              <a:rPr lang="en-US" altLang="zh-CN" sz="2400"/>
              <a:t>1234H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/>
              <a:t>MOV  SP</a:t>
            </a:r>
            <a:r>
              <a:rPr lang="zh-CN" altLang="en-US" sz="2400"/>
              <a:t>，</a:t>
            </a:r>
            <a:r>
              <a:rPr lang="en-US" altLang="zh-CN" sz="2400"/>
              <a:t>1200H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/>
              <a:t>PUSH  AX  </a:t>
            </a:r>
            <a:r>
              <a:rPr lang="zh-CN" altLang="en-US" sz="2400"/>
              <a:t> </a:t>
            </a:r>
          </a:p>
        </p:txBody>
      </p:sp>
      <p:sp>
        <p:nvSpPr>
          <p:cNvPr id="113718" name="Rectangle 54"/>
          <p:cNvSpPr>
            <a:spLocks noChangeArrowheads="1"/>
          </p:cNvSpPr>
          <p:nvPr/>
        </p:nvSpPr>
        <p:spPr bwMode="auto">
          <a:xfrm>
            <a:off x="6705600" y="4789488"/>
            <a:ext cx="1458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3719" name="Rectangle 55"/>
          <p:cNvSpPr>
            <a:spLocks noChangeArrowheads="1"/>
          </p:cNvSpPr>
          <p:nvPr/>
        </p:nvSpPr>
        <p:spPr bwMode="auto">
          <a:xfrm>
            <a:off x="6705600" y="5149850"/>
            <a:ext cx="1458913" cy="381000"/>
          </a:xfrm>
          <a:prstGeom prst="rect">
            <a:avLst/>
          </a:prstGeom>
          <a:solidFill>
            <a:srgbClr val="99CC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3720" name="Line 56"/>
          <p:cNvSpPr>
            <a:spLocks noChangeShapeType="1"/>
          </p:cNvSpPr>
          <p:nvPr/>
        </p:nvSpPr>
        <p:spPr bwMode="auto">
          <a:xfrm>
            <a:off x="6705600" y="3421063"/>
            <a:ext cx="0" cy="290353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721" name="Line 57"/>
          <p:cNvSpPr>
            <a:spLocks noChangeShapeType="1"/>
          </p:cNvSpPr>
          <p:nvPr/>
        </p:nvSpPr>
        <p:spPr bwMode="auto">
          <a:xfrm>
            <a:off x="8166100" y="3400425"/>
            <a:ext cx="0" cy="290353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723" name="Freeform 59"/>
          <p:cNvSpPr>
            <a:spLocks/>
          </p:cNvSpPr>
          <p:nvPr/>
        </p:nvSpPr>
        <p:spPr bwMode="auto">
          <a:xfrm>
            <a:off x="6705600" y="5986463"/>
            <a:ext cx="1457325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726" name="Text Box 62"/>
          <p:cNvSpPr txBox="1">
            <a:spLocks noChangeArrowheads="1"/>
          </p:cNvSpPr>
          <p:nvPr/>
        </p:nvSpPr>
        <p:spPr bwMode="auto">
          <a:xfrm>
            <a:off x="5715000" y="5135563"/>
            <a:ext cx="1047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1200</a:t>
            </a:r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H</a:t>
            </a:r>
          </a:p>
        </p:txBody>
      </p:sp>
      <p:sp>
        <p:nvSpPr>
          <p:cNvPr id="113730" name="Text Box 66"/>
          <p:cNvSpPr txBox="1">
            <a:spLocks noChangeArrowheads="1"/>
          </p:cNvSpPr>
          <p:nvPr/>
        </p:nvSpPr>
        <p:spPr bwMode="auto">
          <a:xfrm>
            <a:off x="7162800" y="3535363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┇</a:t>
            </a:r>
            <a:r>
              <a:rPr kumimoji="1" lang="en-US" altLang="zh-CN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sp>
        <p:nvSpPr>
          <p:cNvPr id="113732" name="Text Box 68"/>
          <p:cNvSpPr txBox="1">
            <a:spLocks noChangeArrowheads="1"/>
          </p:cNvSpPr>
          <p:nvPr/>
        </p:nvSpPr>
        <p:spPr bwMode="auto">
          <a:xfrm>
            <a:off x="8686800" y="4537075"/>
            <a:ext cx="457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堆栈段</a:t>
            </a:r>
          </a:p>
        </p:txBody>
      </p:sp>
      <p:sp>
        <p:nvSpPr>
          <p:cNvPr id="113733" name="AutoShape 69"/>
          <p:cNvSpPr>
            <a:spLocks/>
          </p:cNvSpPr>
          <p:nvPr/>
        </p:nvSpPr>
        <p:spPr bwMode="auto">
          <a:xfrm>
            <a:off x="8301038" y="4324350"/>
            <a:ext cx="304800" cy="1447800"/>
          </a:xfrm>
          <a:prstGeom prst="rightBrace">
            <a:avLst>
              <a:gd name="adj1" fmla="val 3958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3746" name="Text Box 82"/>
          <p:cNvSpPr txBox="1">
            <a:spLocks noChangeArrowheads="1"/>
          </p:cNvSpPr>
          <p:nvPr/>
        </p:nvSpPr>
        <p:spPr bwMode="auto">
          <a:xfrm>
            <a:off x="2092349" y="4749801"/>
            <a:ext cx="121230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11FEH</a:t>
            </a:r>
          </a:p>
        </p:txBody>
      </p:sp>
      <p:sp>
        <p:nvSpPr>
          <p:cNvPr id="113755" name="Rectangle 91"/>
          <p:cNvSpPr>
            <a:spLocks noChangeArrowheads="1"/>
          </p:cNvSpPr>
          <p:nvPr/>
        </p:nvSpPr>
        <p:spPr bwMode="auto">
          <a:xfrm>
            <a:off x="3235325" y="4805363"/>
            <a:ext cx="1458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3757" name="Rectangle 93"/>
          <p:cNvSpPr>
            <a:spLocks noChangeArrowheads="1"/>
          </p:cNvSpPr>
          <p:nvPr/>
        </p:nvSpPr>
        <p:spPr bwMode="auto">
          <a:xfrm>
            <a:off x="3235325" y="4437063"/>
            <a:ext cx="1458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3758" name="Rectangle 94"/>
          <p:cNvSpPr>
            <a:spLocks noChangeArrowheads="1"/>
          </p:cNvSpPr>
          <p:nvPr/>
        </p:nvSpPr>
        <p:spPr bwMode="auto">
          <a:xfrm>
            <a:off x="3235325" y="5168900"/>
            <a:ext cx="1458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3759" name="Rectangle 95"/>
          <p:cNvSpPr>
            <a:spLocks noChangeArrowheads="1"/>
          </p:cNvSpPr>
          <p:nvPr/>
        </p:nvSpPr>
        <p:spPr bwMode="auto">
          <a:xfrm>
            <a:off x="3235325" y="5529263"/>
            <a:ext cx="1458913" cy="381000"/>
          </a:xfrm>
          <a:prstGeom prst="rect">
            <a:avLst/>
          </a:prstGeom>
          <a:solidFill>
            <a:srgbClr val="99CC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3760" name="Line 96"/>
          <p:cNvSpPr>
            <a:spLocks noChangeShapeType="1"/>
          </p:cNvSpPr>
          <p:nvPr/>
        </p:nvSpPr>
        <p:spPr bwMode="auto">
          <a:xfrm>
            <a:off x="3235325" y="3794125"/>
            <a:ext cx="0" cy="290353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761" name="Line 97"/>
          <p:cNvSpPr>
            <a:spLocks noChangeShapeType="1"/>
          </p:cNvSpPr>
          <p:nvPr/>
        </p:nvSpPr>
        <p:spPr bwMode="auto">
          <a:xfrm>
            <a:off x="4695825" y="3776663"/>
            <a:ext cx="0" cy="290353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762" name="Freeform 98"/>
          <p:cNvSpPr>
            <a:spLocks/>
          </p:cNvSpPr>
          <p:nvPr/>
        </p:nvSpPr>
        <p:spPr bwMode="auto">
          <a:xfrm>
            <a:off x="3235325" y="6365875"/>
            <a:ext cx="1457325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763" name="Text Box 99"/>
          <p:cNvSpPr txBox="1">
            <a:spLocks noChangeArrowheads="1"/>
          </p:cNvSpPr>
          <p:nvPr/>
        </p:nvSpPr>
        <p:spPr bwMode="auto">
          <a:xfrm>
            <a:off x="3509963" y="51181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12H</a:t>
            </a:r>
          </a:p>
        </p:txBody>
      </p:sp>
      <p:sp>
        <p:nvSpPr>
          <p:cNvPr id="113764" name="Text Box 100"/>
          <p:cNvSpPr txBox="1">
            <a:spLocks noChangeArrowheads="1"/>
          </p:cNvSpPr>
          <p:nvPr/>
        </p:nvSpPr>
        <p:spPr bwMode="auto">
          <a:xfrm>
            <a:off x="3509963" y="4757738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34H</a:t>
            </a:r>
          </a:p>
        </p:txBody>
      </p:sp>
      <p:sp>
        <p:nvSpPr>
          <p:cNvPr id="113765" name="Text Box 101"/>
          <p:cNvSpPr txBox="1">
            <a:spLocks noChangeArrowheads="1"/>
          </p:cNvSpPr>
          <p:nvPr/>
        </p:nvSpPr>
        <p:spPr bwMode="auto">
          <a:xfrm>
            <a:off x="2244725" y="5476875"/>
            <a:ext cx="1047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1200</a:t>
            </a:r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H</a:t>
            </a:r>
          </a:p>
        </p:txBody>
      </p:sp>
      <p:sp>
        <p:nvSpPr>
          <p:cNvPr id="113766" name="Text Box 102"/>
          <p:cNvSpPr txBox="1">
            <a:spLocks noChangeArrowheads="1"/>
          </p:cNvSpPr>
          <p:nvPr/>
        </p:nvSpPr>
        <p:spPr bwMode="auto">
          <a:xfrm>
            <a:off x="3692525" y="3763963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┇</a:t>
            </a:r>
            <a:r>
              <a:rPr kumimoji="1" lang="en-US" altLang="zh-CN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sp>
        <p:nvSpPr>
          <p:cNvPr id="113767" name="Text Box 103"/>
          <p:cNvSpPr txBox="1">
            <a:spLocks noChangeArrowheads="1"/>
          </p:cNvSpPr>
          <p:nvPr/>
        </p:nvSpPr>
        <p:spPr bwMode="auto">
          <a:xfrm>
            <a:off x="5089525" y="4814888"/>
            <a:ext cx="457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堆栈段</a:t>
            </a:r>
          </a:p>
        </p:txBody>
      </p:sp>
      <p:sp>
        <p:nvSpPr>
          <p:cNvPr id="113768" name="AutoShape 104"/>
          <p:cNvSpPr>
            <a:spLocks/>
          </p:cNvSpPr>
          <p:nvPr/>
        </p:nvSpPr>
        <p:spPr bwMode="auto">
          <a:xfrm>
            <a:off x="4830763" y="4602163"/>
            <a:ext cx="304800" cy="1447800"/>
          </a:xfrm>
          <a:prstGeom prst="rightBrace">
            <a:avLst>
              <a:gd name="adj1" fmla="val 3958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3769" name="Line 105"/>
          <p:cNvSpPr>
            <a:spLocks noChangeShapeType="1"/>
          </p:cNvSpPr>
          <p:nvPr/>
        </p:nvSpPr>
        <p:spPr bwMode="auto">
          <a:xfrm>
            <a:off x="1362745" y="4990952"/>
            <a:ext cx="358775" cy="0"/>
          </a:xfrm>
          <a:prstGeom prst="line">
            <a:avLst/>
          </a:prstGeom>
          <a:noFill/>
          <a:ln w="25400" cap="sq">
            <a:solidFill>
              <a:srgbClr val="339966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770" name="Rectangle 106"/>
          <p:cNvSpPr>
            <a:spLocks noChangeArrowheads="1"/>
          </p:cNvSpPr>
          <p:nvPr/>
        </p:nvSpPr>
        <p:spPr bwMode="auto">
          <a:xfrm>
            <a:off x="568325" y="3763963"/>
            <a:ext cx="1371600" cy="4572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3771" name="Line 107"/>
          <p:cNvSpPr>
            <a:spLocks noChangeShapeType="1"/>
          </p:cNvSpPr>
          <p:nvPr/>
        </p:nvSpPr>
        <p:spPr bwMode="auto">
          <a:xfrm>
            <a:off x="1254125" y="3763963"/>
            <a:ext cx="0" cy="457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772" name="Text Box 108"/>
          <p:cNvSpPr txBox="1">
            <a:spLocks noChangeArrowheads="1"/>
          </p:cNvSpPr>
          <p:nvPr/>
        </p:nvSpPr>
        <p:spPr bwMode="auto">
          <a:xfrm>
            <a:off x="517525" y="3760788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12H   34H</a:t>
            </a:r>
          </a:p>
        </p:txBody>
      </p:sp>
      <p:sp>
        <p:nvSpPr>
          <p:cNvPr id="113773" name="Text Box 109"/>
          <p:cNvSpPr txBox="1">
            <a:spLocks noChangeArrowheads="1"/>
          </p:cNvSpPr>
          <p:nvPr/>
        </p:nvSpPr>
        <p:spPr bwMode="auto">
          <a:xfrm>
            <a:off x="923925" y="4246563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AX</a:t>
            </a:r>
          </a:p>
        </p:txBody>
      </p:sp>
      <p:sp>
        <p:nvSpPr>
          <p:cNvPr id="113774" name="Rectangle 110"/>
          <p:cNvSpPr>
            <a:spLocks noChangeArrowheads="1"/>
          </p:cNvSpPr>
          <p:nvPr/>
        </p:nvSpPr>
        <p:spPr bwMode="auto">
          <a:xfrm>
            <a:off x="6705600" y="4056063"/>
            <a:ext cx="1458913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3775" name="Text Box 111"/>
          <p:cNvSpPr txBox="1">
            <a:spLocks noChangeArrowheads="1"/>
          </p:cNvSpPr>
          <p:nvPr/>
        </p:nvSpPr>
        <p:spPr bwMode="auto">
          <a:xfrm>
            <a:off x="3463925" y="3214688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入栈后</a:t>
            </a:r>
          </a:p>
        </p:txBody>
      </p:sp>
      <p:sp>
        <p:nvSpPr>
          <p:cNvPr id="113776" name="Text Box 112"/>
          <p:cNvSpPr txBox="1">
            <a:spLocks noChangeArrowheads="1"/>
          </p:cNvSpPr>
          <p:nvPr/>
        </p:nvSpPr>
        <p:spPr bwMode="auto">
          <a:xfrm>
            <a:off x="6934200" y="27813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入栈前</a:t>
            </a:r>
          </a:p>
        </p:txBody>
      </p:sp>
      <p:sp>
        <p:nvSpPr>
          <p:cNvPr id="113780" name="Line 116"/>
          <p:cNvSpPr>
            <a:spLocks noChangeShapeType="1"/>
          </p:cNvSpPr>
          <p:nvPr/>
        </p:nvSpPr>
        <p:spPr bwMode="auto">
          <a:xfrm>
            <a:off x="1939925" y="3992563"/>
            <a:ext cx="685800" cy="0"/>
          </a:xfrm>
          <a:prstGeom prst="line">
            <a:avLst/>
          </a:prstGeom>
          <a:noFill/>
          <a:ln w="76200" cap="sq">
            <a:solidFill>
              <a:srgbClr val="FF99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781" name="Line 117"/>
          <p:cNvSpPr>
            <a:spLocks noChangeShapeType="1"/>
          </p:cNvSpPr>
          <p:nvPr/>
        </p:nvSpPr>
        <p:spPr bwMode="auto">
          <a:xfrm>
            <a:off x="2625725" y="3992563"/>
            <a:ext cx="0" cy="685800"/>
          </a:xfrm>
          <a:prstGeom prst="line">
            <a:avLst/>
          </a:prstGeom>
          <a:noFill/>
          <a:ln w="76200" cap="sq">
            <a:solidFill>
              <a:srgbClr val="FF99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782" name="Line 118"/>
          <p:cNvSpPr>
            <a:spLocks noChangeShapeType="1"/>
          </p:cNvSpPr>
          <p:nvPr/>
        </p:nvSpPr>
        <p:spPr bwMode="auto">
          <a:xfrm>
            <a:off x="2625725" y="4678363"/>
            <a:ext cx="609600" cy="228600"/>
          </a:xfrm>
          <a:prstGeom prst="line">
            <a:avLst/>
          </a:prstGeom>
          <a:noFill/>
          <a:ln w="76200" cap="sq">
            <a:solidFill>
              <a:srgbClr val="FF99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Text Box 82"/>
          <p:cNvSpPr txBox="1">
            <a:spLocks noChangeArrowheads="1"/>
          </p:cNvSpPr>
          <p:nvPr/>
        </p:nvSpPr>
        <p:spPr bwMode="auto">
          <a:xfrm>
            <a:off x="567805" y="4766470"/>
            <a:ext cx="92154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SP-2</a:t>
            </a:r>
          </a:p>
        </p:txBody>
      </p:sp>
      <p:sp>
        <p:nvSpPr>
          <p:cNvPr id="41" name="Text Box 82"/>
          <p:cNvSpPr txBox="1">
            <a:spLocks noChangeArrowheads="1"/>
          </p:cNvSpPr>
          <p:nvPr/>
        </p:nvSpPr>
        <p:spPr bwMode="auto">
          <a:xfrm>
            <a:off x="1616745" y="4766470"/>
            <a:ext cx="63614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SP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3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3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3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3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3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3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3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3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3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3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3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3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3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3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3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3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3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3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3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3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37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3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3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3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3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3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3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13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13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13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13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3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13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13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13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3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13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13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13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13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13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13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13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13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13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13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13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13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5" dur="500"/>
                                        <p:tgtEl>
                                          <p:spTgt spid="113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113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13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13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113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000"/>
                            </p:stCondLst>
                            <p:childTnLst>
                              <p:par>
                                <p:cTn id="1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113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113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13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13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113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13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737" grpId="0" animBg="1"/>
      <p:bldP spid="113718" grpId="0" animBg="1"/>
      <p:bldP spid="113719" grpId="0" animBg="1"/>
      <p:bldP spid="113720" grpId="0" animBg="1"/>
      <p:bldP spid="113721" grpId="0" animBg="1"/>
      <p:bldP spid="113723" grpId="0" animBg="1"/>
      <p:bldP spid="113726" grpId="0"/>
      <p:bldP spid="113730" grpId="0"/>
      <p:bldP spid="113732" grpId="0"/>
      <p:bldP spid="113733" grpId="0" animBg="1"/>
      <p:bldP spid="113755" grpId="0" animBg="1"/>
      <p:bldP spid="113757" grpId="0" animBg="1"/>
      <p:bldP spid="113758" grpId="0" animBg="1"/>
      <p:bldP spid="113759" grpId="0" animBg="1"/>
      <p:bldP spid="113760" grpId="0" animBg="1"/>
      <p:bldP spid="113761" grpId="0" animBg="1"/>
      <p:bldP spid="113762" grpId="0" animBg="1"/>
      <p:bldP spid="113763" grpId="0"/>
      <p:bldP spid="113764" grpId="0"/>
      <p:bldP spid="113765" grpId="0"/>
      <p:bldP spid="113766" grpId="0"/>
      <p:bldP spid="113767" grpId="0"/>
      <p:bldP spid="113768" grpId="0" animBg="1"/>
      <p:bldP spid="113769" grpId="0" animBg="1"/>
      <p:bldP spid="113770" grpId="0" animBg="1"/>
      <p:bldP spid="113771" grpId="0" animBg="1"/>
      <p:bldP spid="113772" grpId="0"/>
      <p:bldP spid="113773" grpId="0"/>
      <p:bldP spid="113774" grpId="0" animBg="1"/>
      <p:bldP spid="113775" grpId="0"/>
      <p:bldP spid="113776" grpId="0"/>
      <p:bldP spid="113780" grpId="0" animBg="1"/>
      <p:bldP spid="113781" grpId="0" animBg="1"/>
      <p:bldP spid="11378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73ACB41-D3FB-4549-99B1-C81277CAB72B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46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800"/>
              <a:t>出栈指令</a:t>
            </a:r>
            <a:r>
              <a:rPr lang="en-US" altLang="zh-CN" sz="4000" b="1"/>
              <a:t>POP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8325" y="2032000"/>
            <a:ext cx="5324475" cy="2817813"/>
          </a:xfrm>
        </p:spPr>
        <p:txBody>
          <a:bodyPr/>
          <a:lstStyle/>
          <a:p>
            <a:pPr algn="just" eaLnBrk="1" hangingPunct="1">
              <a:spcAft>
                <a:spcPct val="30000"/>
              </a:spcAft>
            </a:pPr>
            <a:r>
              <a:rPr lang="zh-CN" altLang="en-US" dirty="0">
                <a:latin typeface="宋体" pitchFamily="2" charset="-122"/>
              </a:rPr>
              <a:t>指令执行过程：</a:t>
            </a:r>
          </a:p>
          <a:p>
            <a:pPr algn="just" eaLnBrk="1" hangingPunct="1">
              <a:spcBef>
                <a:spcPts val="600"/>
              </a:spcBef>
              <a:spcAft>
                <a:spcPct val="0"/>
              </a:spcAft>
              <a:buNone/>
            </a:pPr>
            <a:r>
              <a:rPr lang="zh-CN" altLang="en-US" dirty="0">
                <a:latin typeface="宋体" pitchFamily="2" charset="-122"/>
              </a:rPr>
              <a:t> </a:t>
            </a:r>
            <a:r>
              <a:rPr lang="en-US" altLang="zh-CN" dirty="0">
                <a:latin typeface="宋体" pitchFamily="2" charset="-122"/>
              </a:rPr>
              <a:t>(SP)</a:t>
            </a:r>
            <a:r>
              <a:rPr lang="zh-CN" altLang="en-US" dirty="0">
                <a:ea typeface="宋体" pitchFamily="2" charset="-122"/>
              </a:rPr>
              <a:t>操作数低字节</a:t>
            </a:r>
          </a:p>
          <a:p>
            <a:pPr algn="just" eaLnBrk="1" hangingPunct="1">
              <a:spcBef>
                <a:spcPts val="600"/>
              </a:spcBef>
              <a:spcAft>
                <a:spcPct val="0"/>
              </a:spcAft>
              <a:buNone/>
            </a:pPr>
            <a:r>
              <a:rPr lang="en-US" altLang="zh-CN" dirty="0">
                <a:latin typeface="宋体" pitchFamily="2" charset="-122"/>
              </a:rPr>
              <a:t>(SP+1)</a:t>
            </a:r>
            <a:r>
              <a:rPr lang="zh-CN" altLang="en-US" dirty="0">
                <a:ea typeface="宋体" pitchFamily="2" charset="-122"/>
              </a:rPr>
              <a:t>操作数高字节</a:t>
            </a:r>
          </a:p>
          <a:p>
            <a:pPr algn="just" eaLnBrk="1" hangingPunct="1">
              <a:spcBef>
                <a:spcPts val="6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lang="en-US" altLang="zh-CN" dirty="0">
                <a:latin typeface="宋体" pitchFamily="2" charset="-122"/>
              </a:rPr>
              <a:t> SP ← SP+2</a:t>
            </a:r>
            <a:endParaRPr lang="zh-CN" altLang="en-US" dirty="0"/>
          </a:p>
        </p:txBody>
      </p:sp>
      <p:sp>
        <p:nvSpPr>
          <p:cNvPr id="114692" name="Line 4"/>
          <p:cNvSpPr>
            <a:spLocks noChangeShapeType="1"/>
          </p:cNvSpPr>
          <p:nvPr/>
        </p:nvSpPr>
        <p:spPr bwMode="auto">
          <a:xfrm>
            <a:off x="3889199" y="2959891"/>
            <a:ext cx="688975" cy="12700"/>
          </a:xfrm>
          <a:prstGeom prst="line">
            <a:avLst/>
          </a:prstGeom>
          <a:noFill/>
          <a:ln w="25400" cap="sq">
            <a:solidFill>
              <a:srgbClr val="FF99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693" name="Line 5"/>
          <p:cNvSpPr>
            <a:spLocks noChangeShapeType="1"/>
          </p:cNvSpPr>
          <p:nvPr/>
        </p:nvSpPr>
        <p:spPr bwMode="auto">
          <a:xfrm>
            <a:off x="4001911" y="3491706"/>
            <a:ext cx="576263" cy="0"/>
          </a:xfrm>
          <a:prstGeom prst="line">
            <a:avLst/>
          </a:prstGeom>
          <a:noFill/>
          <a:ln w="25400" cap="sq">
            <a:solidFill>
              <a:srgbClr val="FF99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695" name="Text Box 7"/>
          <p:cNvSpPr txBox="1">
            <a:spLocks noChangeArrowheads="1"/>
          </p:cNvSpPr>
          <p:nvPr/>
        </p:nvSpPr>
        <p:spPr bwMode="auto">
          <a:xfrm>
            <a:off x="4521819" y="2700335"/>
            <a:ext cx="9382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>
                <a:ea typeface="宋体" pitchFamily="2" charset="-122"/>
              </a:rPr>
              <a:t>弹出</a:t>
            </a:r>
          </a:p>
        </p:txBody>
      </p:sp>
      <p:sp>
        <p:nvSpPr>
          <p:cNvPr id="114696" name="Text Box 8"/>
          <p:cNvSpPr txBox="1">
            <a:spLocks noChangeArrowheads="1"/>
          </p:cNvSpPr>
          <p:nvPr/>
        </p:nvSpPr>
        <p:spPr bwMode="auto">
          <a:xfrm>
            <a:off x="4521819" y="3213100"/>
            <a:ext cx="100726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>
                <a:ea typeface="宋体" pitchFamily="2" charset="-122"/>
              </a:rPr>
              <a:t>弹出</a:t>
            </a:r>
          </a:p>
        </p:txBody>
      </p:sp>
      <p:sp>
        <p:nvSpPr>
          <p:cNvPr id="114697" name="Rectangle 9"/>
          <p:cNvSpPr>
            <a:spLocks noChangeArrowheads="1"/>
          </p:cNvSpPr>
          <p:nvPr/>
        </p:nvSpPr>
        <p:spPr bwMode="auto">
          <a:xfrm>
            <a:off x="6704013" y="4592638"/>
            <a:ext cx="1458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4698" name="Rectangle 10"/>
          <p:cNvSpPr>
            <a:spLocks noChangeArrowheads="1"/>
          </p:cNvSpPr>
          <p:nvPr/>
        </p:nvSpPr>
        <p:spPr bwMode="auto">
          <a:xfrm>
            <a:off x="6704013" y="4956175"/>
            <a:ext cx="1458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4699" name="Rectangle 11"/>
          <p:cNvSpPr>
            <a:spLocks noChangeArrowheads="1"/>
          </p:cNvSpPr>
          <p:nvPr/>
        </p:nvSpPr>
        <p:spPr bwMode="auto">
          <a:xfrm>
            <a:off x="6704013" y="5316538"/>
            <a:ext cx="1458912" cy="381000"/>
          </a:xfrm>
          <a:prstGeom prst="rect">
            <a:avLst/>
          </a:prstGeom>
          <a:solidFill>
            <a:srgbClr val="99CC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4700" name="Line 12"/>
          <p:cNvSpPr>
            <a:spLocks noChangeShapeType="1"/>
          </p:cNvSpPr>
          <p:nvPr/>
        </p:nvSpPr>
        <p:spPr bwMode="auto">
          <a:xfrm>
            <a:off x="6704013" y="3587750"/>
            <a:ext cx="0" cy="290353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1" name="Line 13"/>
          <p:cNvSpPr>
            <a:spLocks noChangeShapeType="1"/>
          </p:cNvSpPr>
          <p:nvPr/>
        </p:nvSpPr>
        <p:spPr bwMode="auto">
          <a:xfrm>
            <a:off x="8164513" y="3567113"/>
            <a:ext cx="0" cy="290353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2" name="Freeform 14"/>
          <p:cNvSpPr>
            <a:spLocks/>
          </p:cNvSpPr>
          <p:nvPr/>
        </p:nvSpPr>
        <p:spPr bwMode="auto">
          <a:xfrm>
            <a:off x="6704013" y="6153150"/>
            <a:ext cx="1457325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703" name="Text Box 15"/>
          <p:cNvSpPr txBox="1">
            <a:spLocks noChangeArrowheads="1"/>
          </p:cNvSpPr>
          <p:nvPr/>
        </p:nvSpPr>
        <p:spPr bwMode="auto">
          <a:xfrm>
            <a:off x="7161213" y="370205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┇</a:t>
            </a:r>
            <a:r>
              <a:rPr kumimoji="1" lang="en-US" altLang="zh-CN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sp>
        <p:nvSpPr>
          <p:cNvPr id="114704" name="Rectangle 16"/>
          <p:cNvSpPr>
            <a:spLocks noChangeArrowheads="1"/>
          </p:cNvSpPr>
          <p:nvPr/>
        </p:nvSpPr>
        <p:spPr bwMode="auto">
          <a:xfrm>
            <a:off x="6704013" y="4222750"/>
            <a:ext cx="1458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4705" name="Text Box 17"/>
          <p:cNvSpPr txBox="1">
            <a:spLocks noChangeArrowheads="1"/>
          </p:cNvSpPr>
          <p:nvPr/>
        </p:nvSpPr>
        <p:spPr bwMode="auto">
          <a:xfrm>
            <a:off x="5510213" y="5302250"/>
            <a:ext cx="792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SP</a:t>
            </a:r>
          </a:p>
        </p:txBody>
      </p:sp>
      <p:sp>
        <p:nvSpPr>
          <p:cNvPr id="114706" name="Line 18"/>
          <p:cNvSpPr>
            <a:spLocks noChangeShapeType="1"/>
          </p:cNvSpPr>
          <p:nvPr/>
        </p:nvSpPr>
        <p:spPr bwMode="auto">
          <a:xfrm>
            <a:off x="6083300" y="5516563"/>
            <a:ext cx="576263" cy="0"/>
          </a:xfrm>
          <a:prstGeom prst="line">
            <a:avLst/>
          </a:prstGeom>
          <a:noFill/>
          <a:ln w="22225">
            <a:solidFill>
              <a:srgbClr val="FF66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114707" name="Text Box 19"/>
          <p:cNvSpPr txBox="1">
            <a:spLocks noChangeArrowheads="1"/>
          </p:cNvSpPr>
          <p:nvPr/>
        </p:nvSpPr>
        <p:spPr bwMode="auto">
          <a:xfrm>
            <a:off x="8599488" y="4414838"/>
            <a:ext cx="45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堆栈段</a:t>
            </a:r>
          </a:p>
        </p:txBody>
      </p:sp>
      <p:sp>
        <p:nvSpPr>
          <p:cNvPr id="114708" name="AutoShape 20"/>
          <p:cNvSpPr>
            <a:spLocks/>
          </p:cNvSpPr>
          <p:nvPr/>
        </p:nvSpPr>
        <p:spPr bwMode="auto">
          <a:xfrm>
            <a:off x="8299450" y="4202113"/>
            <a:ext cx="304800" cy="1447800"/>
          </a:xfrm>
          <a:prstGeom prst="rightBrace">
            <a:avLst>
              <a:gd name="adj1" fmla="val 3958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4709" name="Text Box 21"/>
          <p:cNvSpPr txBox="1">
            <a:spLocks noChangeArrowheads="1"/>
          </p:cNvSpPr>
          <p:nvPr/>
        </p:nvSpPr>
        <p:spPr bwMode="auto">
          <a:xfrm>
            <a:off x="5510213" y="4581525"/>
            <a:ext cx="862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SP</a:t>
            </a:r>
          </a:p>
        </p:txBody>
      </p:sp>
      <p:sp>
        <p:nvSpPr>
          <p:cNvPr id="114710" name="Line 22"/>
          <p:cNvSpPr>
            <a:spLocks noChangeShapeType="1"/>
          </p:cNvSpPr>
          <p:nvPr/>
        </p:nvSpPr>
        <p:spPr bwMode="auto">
          <a:xfrm>
            <a:off x="6083300" y="4795838"/>
            <a:ext cx="576263" cy="0"/>
          </a:xfrm>
          <a:prstGeom prst="line">
            <a:avLst/>
          </a:prstGeom>
          <a:noFill/>
          <a:ln w="22225">
            <a:solidFill>
              <a:srgbClr val="FF66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114711" name="Text Box 23"/>
          <p:cNvSpPr txBox="1">
            <a:spLocks noChangeArrowheads="1"/>
          </p:cNvSpPr>
          <p:nvPr/>
        </p:nvSpPr>
        <p:spPr bwMode="auto">
          <a:xfrm>
            <a:off x="7046913" y="4941888"/>
            <a:ext cx="936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>
                <a:solidFill>
                  <a:schemeClr val="bg1"/>
                </a:solidFill>
                <a:ea typeface="宋体" pitchFamily="2" charset="-122"/>
              </a:rPr>
              <a:t>高</a:t>
            </a:r>
            <a:r>
              <a:rPr lang="en-US" altLang="zh-CN" sz="1800">
                <a:solidFill>
                  <a:schemeClr val="bg1"/>
                </a:solidFill>
                <a:ea typeface="宋体" pitchFamily="2" charset="-122"/>
              </a:rPr>
              <a:t>8</a:t>
            </a:r>
            <a:r>
              <a:rPr lang="zh-CN" altLang="en-US" sz="1800">
                <a:solidFill>
                  <a:schemeClr val="bg1"/>
                </a:solidFill>
                <a:ea typeface="宋体" pitchFamily="2" charset="-122"/>
              </a:rPr>
              <a:t>位</a:t>
            </a:r>
          </a:p>
        </p:txBody>
      </p:sp>
      <p:sp>
        <p:nvSpPr>
          <p:cNvPr id="114712" name="Text Box 24"/>
          <p:cNvSpPr txBox="1">
            <a:spLocks noChangeArrowheads="1"/>
          </p:cNvSpPr>
          <p:nvPr/>
        </p:nvSpPr>
        <p:spPr bwMode="auto">
          <a:xfrm>
            <a:off x="7046913" y="4581525"/>
            <a:ext cx="936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>
                <a:solidFill>
                  <a:schemeClr val="bg1"/>
                </a:solidFill>
                <a:ea typeface="宋体" pitchFamily="2" charset="-122"/>
              </a:rPr>
              <a:t>低</a:t>
            </a:r>
            <a:r>
              <a:rPr lang="en-US" altLang="zh-CN" sz="1800">
                <a:solidFill>
                  <a:schemeClr val="bg1"/>
                </a:solidFill>
                <a:ea typeface="宋体" pitchFamily="2" charset="-122"/>
              </a:rPr>
              <a:t>8</a:t>
            </a:r>
            <a:r>
              <a:rPr lang="zh-CN" altLang="en-US" sz="1800">
                <a:solidFill>
                  <a:schemeClr val="bg1"/>
                </a:solidFill>
                <a:ea typeface="宋体" pitchFamily="2" charset="-122"/>
              </a:rPr>
              <a:t>位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4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4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4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4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4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4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4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4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4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4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4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4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4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4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4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4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4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4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4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4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4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4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4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4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4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4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4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4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1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14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0" presetID="2" presetClass="exit" presetSubtype="1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114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114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1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1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8" presetID="2" presetClass="exit" presetSubtype="1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114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114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14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1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14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6" presetID="2" presetClass="exit" presetSubtype="1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114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114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2" presetClass="exit" presetSubtype="1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114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/>
                                        <p:tgtEl>
                                          <p:spTgt spid="114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2" grpId="0" animBg="1"/>
      <p:bldP spid="114693" grpId="0" animBg="1"/>
      <p:bldP spid="114695" grpId="0"/>
      <p:bldP spid="114696" grpId="0"/>
      <p:bldP spid="114697" grpId="0" animBg="1"/>
      <p:bldP spid="114698" grpId="0" animBg="1"/>
      <p:bldP spid="114699" grpId="0" animBg="1"/>
      <p:bldP spid="114700" grpId="0" animBg="1"/>
      <p:bldP spid="114701" grpId="0" animBg="1"/>
      <p:bldP spid="114702" grpId="0" animBg="1"/>
      <p:bldP spid="114703" grpId="0"/>
      <p:bldP spid="114704" grpId="0" animBg="1"/>
      <p:bldP spid="114706" grpId="0" animBg="1"/>
      <p:bldP spid="114707" grpId="0"/>
      <p:bldP spid="114708" grpId="0" animBg="1"/>
      <p:bldP spid="114709" grpId="0"/>
      <p:bldP spid="114709" grpId="1"/>
      <p:bldP spid="114710" grpId="0" animBg="1"/>
      <p:bldP spid="114710" grpId="1" animBg="1"/>
      <p:bldP spid="114711" grpId="0"/>
      <p:bldP spid="114711" grpId="1"/>
      <p:bldP spid="114712" grpId="0"/>
      <p:bldP spid="114712" grpId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6D1E39F-6991-48D3-8C92-31E6ED40A5D5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47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出栈指令的操作示例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989138"/>
            <a:ext cx="2952750" cy="79216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/>
              <a:t>执行 </a:t>
            </a:r>
            <a:r>
              <a:rPr lang="en-US" altLang="zh-CN"/>
              <a:t>POP  AX  </a:t>
            </a:r>
            <a:endParaRPr lang="zh-CN" altLang="en-US"/>
          </a:p>
        </p:txBody>
      </p:sp>
      <p:sp>
        <p:nvSpPr>
          <p:cNvPr id="115716" name="Rectangle 4"/>
          <p:cNvSpPr>
            <a:spLocks noChangeArrowheads="1"/>
          </p:cNvSpPr>
          <p:nvPr/>
        </p:nvSpPr>
        <p:spPr bwMode="auto">
          <a:xfrm>
            <a:off x="3338513" y="4865688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5717" name="Rectangle 5"/>
          <p:cNvSpPr>
            <a:spLocks noChangeArrowheads="1"/>
          </p:cNvSpPr>
          <p:nvPr/>
        </p:nvSpPr>
        <p:spPr bwMode="auto">
          <a:xfrm>
            <a:off x="3338513" y="3378200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5718" name="Rectangle 6"/>
          <p:cNvSpPr>
            <a:spLocks noChangeArrowheads="1"/>
          </p:cNvSpPr>
          <p:nvPr/>
        </p:nvSpPr>
        <p:spPr bwMode="auto">
          <a:xfrm>
            <a:off x="3338513" y="3759200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5719" name="Rectangle 7"/>
          <p:cNvSpPr>
            <a:spLocks noChangeArrowheads="1"/>
          </p:cNvSpPr>
          <p:nvPr/>
        </p:nvSpPr>
        <p:spPr bwMode="auto">
          <a:xfrm>
            <a:off x="3338513" y="5229225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5720" name="Rectangle 8"/>
          <p:cNvSpPr>
            <a:spLocks noChangeArrowheads="1"/>
          </p:cNvSpPr>
          <p:nvPr/>
        </p:nvSpPr>
        <p:spPr bwMode="auto">
          <a:xfrm>
            <a:off x="3338513" y="5589588"/>
            <a:ext cx="1712912" cy="381000"/>
          </a:xfrm>
          <a:prstGeom prst="rect">
            <a:avLst/>
          </a:prstGeom>
          <a:solidFill>
            <a:srgbClr val="99CC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5721" name="Line 9"/>
          <p:cNvSpPr>
            <a:spLocks noChangeShapeType="1"/>
          </p:cNvSpPr>
          <p:nvPr/>
        </p:nvSpPr>
        <p:spPr bwMode="auto">
          <a:xfrm>
            <a:off x="3338513" y="2833688"/>
            <a:ext cx="0" cy="3732212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2" name="Line 10"/>
          <p:cNvSpPr>
            <a:spLocks noChangeShapeType="1"/>
          </p:cNvSpPr>
          <p:nvPr/>
        </p:nvSpPr>
        <p:spPr bwMode="auto">
          <a:xfrm>
            <a:off x="5051425" y="2820988"/>
            <a:ext cx="0" cy="3732212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3" name="Freeform 11"/>
          <p:cNvSpPr>
            <a:spLocks/>
          </p:cNvSpPr>
          <p:nvPr/>
        </p:nvSpPr>
        <p:spPr bwMode="auto">
          <a:xfrm>
            <a:off x="3335338" y="2706688"/>
            <a:ext cx="1685925" cy="377825"/>
          </a:xfrm>
          <a:custGeom>
            <a:avLst/>
            <a:gdLst>
              <a:gd name="T0" fmla="*/ 0 w 1062"/>
              <a:gd name="T1" fmla="*/ 2147483647 h 238"/>
              <a:gd name="T2" fmla="*/ 2147483647 w 1062"/>
              <a:gd name="T3" fmla="*/ 2147483647 h 238"/>
              <a:gd name="T4" fmla="*/ 2147483647 w 1062"/>
              <a:gd name="T5" fmla="*/ 0 h 238"/>
              <a:gd name="T6" fmla="*/ 2147483647 w 1062"/>
              <a:gd name="T7" fmla="*/ 2147483647 h 238"/>
              <a:gd name="T8" fmla="*/ 2147483647 w 1062"/>
              <a:gd name="T9" fmla="*/ 2147483647 h 238"/>
              <a:gd name="T10" fmla="*/ 2147483647 w 1062"/>
              <a:gd name="T11" fmla="*/ 2147483647 h 238"/>
              <a:gd name="T12" fmla="*/ 2147483647 w 1062"/>
              <a:gd name="T13" fmla="*/ 2147483647 h 238"/>
              <a:gd name="T14" fmla="*/ 2147483647 w 1062"/>
              <a:gd name="T15" fmla="*/ 2147483647 h 238"/>
              <a:gd name="T16" fmla="*/ 2147483647 w 1062"/>
              <a:gd name="T17" fmla="*/ 2147483647 h 23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062"/>
              <a:gd name="T28" fmla="*/ 0 h 238"/>
              <a:gd name="T29" fmla="*/ 1062 w 1062"/>
              <a:gd name="T30" fmla="*/ 238 h 23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062" h="238">
                <a:moveTo>
                  <a:pt x="0" y="74"/>
                </a:moveTo>
                <a:cubicBezTo>
                  <a:pt x="11" y="63"/>
                  <a:pt x="54" y="24"/>
                  <a:pt x="65" y="18"/>
                </a:cubicBezTo>
                <a:cubicBezTo>
                  <a:pt x="82" y="9"/>
                  <a:pt x="120" y="0"/>
                  <a:pt x="120" y="0"/>
                </a:cubicBezTo>
                <a:cubicBezTo>
                  <a:pt x="178" y="14"/>
                  <a:pt x="236" y="21"/>
                  <a:pt x="296" y="28"/>
                </a:cubicBezTo>
                <a:cubicBezTo>
                  <a:pt x="389" y="64"/>
                  <a:pt x="459" y="133"/>
                  <a:pt x="545" y="175"/>
                </a:cubicBezTo>
                <a:cubicBezTo>
                  <a:pt x="572" y="202"/>
                  <a:pt x="606" y="209"/>
                  <a:pt x="637" y="231"/>
                </a:cubicBezTo>
                <a:cubicBezTo>
                  <a:pt x="726" y="228"/>
                  <a:pt x="817" y="238"/>
                  <a:pt x="905" y="222"/>
                </a:cubicBezTo>
                <a:cubicBezTo>
                  <a:pt x="927" y="218"/>
                  <a:pt x="935" y="190"/>
                  <a:pt x="951" y="175"/>
                </a:cubicBezTo>
                <a:cubicBezTo>
                  <a:pt x="989" y="139"/>
                  <a:pt x="1025" y="102"/>
                  <a:pt x="1062" y="65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4" name="Freeform 12"/>
          <p:cNvSpPr>
            <a:spLocks/>
          </p:cNvSpPr>
          <p:nvPr/>
        </p:nvSpPr>
        <p:spPr bwMode="auto">
          <a:xfrm>
            <a:off x="3317875" y="6224588"/>
            <a:ext cx="1731963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5" name="Text Box 13"/>
          <p:cNvSpPr txBox="1">
            <a:spLocks noChangeArrowheads="1"/>
          </p:cNvSpPr>
          <p:nvPr/>
        </p:nvSpPr>
        <p:spPr bwMode="auto">
          <a:xfrm>
            <a:off x="3867150" y="517842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12H</a:t>
            </a:r>
          </a:p>
        </p:txBody>
      </p:sp>
      <p:sp>
        <p:nvSpPr>
          <p:cNvPr id="115726" name="Text Box 14"/>
          <p:cNvSpPr txBox="1">
            <a:spLocks noChangeArrowheads="1"/>
          </p:cNvSpPr>
          <p:nvPr/>
        </p:nvSpPr>
        <p:spPr bwMode="auto">
          <a:xfrm>
            <a:off x="3867150" y="4818063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34H</a:t>
            </a:r>
          </a:p>
        </p:txBody>
      </p:sp>
      <p:sp>
        <p:nvSpPr>
          <p:cNvPr id="115727" name="Text Box 15"/>
          <p:cNvSpPr txBox="1">
            <a:spLocks noChangeArrowheads="1"/>
          </p:cNvSpPr>
          <p:nvPr/>
        </p:nvSpPr>
        <p:spPr bwMode="auto">
          <a:xfrm>
            <a:off x="5219700" y="4724400"/>
            <a:ext cx="949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kumimoji="1" lang="en-US" altLang="zh-CN" sz="200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1FEH</a:t>
            </a:r>
          </a:p>
        </p:txBody>
      </p:sp>
      <p:sp>
        <p:nvSpPr>
          <p:cNvPr id="115728" name="Text Box 16"/>
          <p:cNvSpPr txBox="1">
            <a:spLocks noChangeArrowheads="1"/>
          </p:cNvSpPr>
          <p:nvPr/>
        </p:nvSpPr>
        <p:spPr bwMode="auto">
          <a:xfrm>
            <a:off x="3892550" y="431482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┇</a:t>
            </a:r>
            <a:r>
              <a:rPr kumimoji="1" lang="en-US" altLang="zh-CN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sp>
        <p:nvSpPr>
          <p:cNvPr id="115729" name="Text Box 17"/>
          <p:cNvSpPr txBox="1">
            <a:spLocks noChangeArrowheads="1"/>
          </p:cNvSpPr>
          <p:nvPr/>
        </p:nvSpPr>
        <p:spPr bwMode="auto">
          <a:xfrm>
            <a:off x="5338763" y="5157788"/>
            <a:ext cx="45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堆栈段</a:t>
            </a:r>
          </a:p>
        </p:txBody>
      </p:sp>
      <p:sp>
        <p:nvSpPr>
          <p:cNvPr id="115730" name="AutoShape 18"/>
          <p:cNvSpPr>
            <a:spLocks/>
          </p:cNvSpPr>
          <p:nvPr/>
        </p:nvSpPr>
        <p:spPr bwMode="auto">
          <a:xfrm>
            <a:off x="5148263" y="4941888"/>
            <a:ext cx="252412" cy="1303337"/>
          </a:xfrm>
          <a:prstGeom prst="rightBrace">
            <a:avLst>
              <a:gd name="adj1" fmla="val 43029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5731" name="Text Box 19"/>
          <p:cNvSpPr txBox="1">
            <a:spLocks noChangeArrowheads="1"/>
          </p:cNvSpPr>
          <p:nvPr/>
        </p:nvSpPr>
        <p:spPr bwMode="auto">
          <a:xfrm>
            <a:off x="5399088" y="3240088"/>
            <a:ext cx="45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代码段</a:t>
            </a:r>
          </a:p>
        </p:txBody>
      </p:sp>
      <p:sp>
        <p:nvSpPr>
          <p:cNvPr id="115732" name="AutoShape 20"/>
          <p:cNvSpPr>
            <a:spLocks/>
          </p:cNvSpPr>
          <p:nvPr/>
        </p:nvSpPr>
        <p:spPr bwMode="auto">
          <a:xfrm>
            <a:off x="5192713" y="3240088"/>
            <a:ext cx="206375" cy="1143000"/>
          </a:xfrm>
          <a:prstGeom prst="rightBrace">
            <a:avLst>
              <a:gd name="adj1" fmla="val 46154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5733" name="Text Box 21"/>
          <p:cNvSpPr txBox="1">
            <a:spLocks noChangeArrowheads="1"/>
          </p:cNvSpPr>
          <p:nvPr/>
        </p:nvSpPr>
        <p:spPr bwMode="auto">
          <a:xfrm>
            <a:off x="3808413" y="3409950"/>
            <a:ext cx="1041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POP</a:t>
            </a:r>
          </a:p>
        </p:txBody>
      </p:sp>
      <p:sp>
        <p:nvSpPr>
          <p:cNvPr id="115734" name="Rectangle 22"/>
          <p:cNvSpPr>
            <a:spLocks noChangeArrowheads="1"/>
          </p:cNvSpPr>
          <p:nvPr/>
        </p:nvSpPr>
        <p:spPr bwMode="auto">
          <a:xfrm>
            <a:off x="501650" y="4457700"/>
            <a:ext cx="1657350" cy="504825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5736" name="Line 24"/>
          <p:cNvSpPr>
            <a:spLocks noChangeShapeType="1"/>
          </p:cNvSpPr>
          <p:nvPr/>
        </p:nvSpPr>
        <p:spPr bwMode="auto">
          <a:xfrm>
            <a:off x="1293813" y="4457700"/>
            <a:ext cx="0" cy="504825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37" name="Freeform 25"/>
          <p:cNvSpPr>
            <a:spLocks/>
          </p:cNvSpPr>
          <p:nvPr/>
        </p:nvSpPr>
        <p:spPr bwMode="auto">
          <a:xfrm>
            <a:off x="1079500" y="3949700"/>
            <a:ext cx="2435225" cy="1489075"/>
          </a:xfrm>
          <a:custGeom>
            <a:avLst/>
            <a:gdLst>
              <a:gd name="T0" fmla="*/ 0 w 2099"/>
              <a:gd name="T1" fmla="*/ 2147483647 h 938"/>
              <a:gd name="T2" fmla="*/ 2147483647 w 2099"/>
              <a:gd name="T3" fmla="*/ 2147483647 h 938"/>
              <a:gd name="T4" fmla="*/ 2147483647 w 2099"/>
              <a:gd name="T5" fmla="*/ 0 h 938"/>
              <a:gd name="T6" fmla="*/ 2147483647 w 2099"/>
              <a:gd name="T7" fmla="*/ 2147483647 h 938"/>
              <a:gd name="T8" fmla="*/ 2147483647 w 2099"/>
              <a:gd name="T9" fmla="*/ 2147483647 h 938"/>
              <a:gd name="T10" fmla="*/ 2147483647 w 2099"/>
              <a:gd name="T11" fmla="*/ 2147483647 h 938"/>
              <a:gd name="T12" fmla="*/ 2147483647 w 2099"/>
              <a:gd name="T13" fmla="*/ 2147483647 h 938"/>
              <a:gd name="T14" fmla="*/ 2147483647 w 2099"/>
              <a:gd name="T15" fmla="*/ 2147483647 h 938"/>
              <a:gd name="T16" fmla="*/ 2147483647 w 2099"/>
              <a:gd name="T17" fmla="*/ 2147483647 h 938"/>
              <a:gd name="T18" fmla="*/ 2147483647 w 2099"/>
              <a:gd name="T19" fmla="*/ 2147483647 h 938"/>
              <a:gd name="T20" fmla="*/ 2147483647 w 2099"/>
              <a:gd name="T21" fmla="*/ 2147483647 h 938"/>
              <a:gd name="T22" fmla="*/ 2147483647 w 2099"/>
              <a:gd name="T23" fmla="*/ 2147483647 h 938"/>
              <a:gd name="T24" fmla="*/ 2147483647 w 2099"/>
              <a:gd name="T25" fmla="*/ 2147483647 h 938"/>
              <a:gd name="T26" fmla="*/ 2147483647 w 2099"/>
              <a:gd name="T27" fmla="*/ 2147483647 h 938"/>
              <a:gd name="T28" fmla="*/ 2147483647 w 2099"/>
              <a:gd name="T29" fmla="*/ 2147483647 h 938"/>
              <a:gd name="T30" fmla="*/ 2147483647 w 2099"/>
              <a:gd name="T31" fmla="*/ 2147483647 h 938"/>
              <a:gd name="T32" fmla="*/ 2147483647 w 2099"/>
              <a:gd name="T33" fmla="*/ 2147483647 h 938"/>
              <a:gd name="T34" fmla="*/ 2147483647 w 2099"/>
              <a:gd name="T35" fmla="*/ 2147483647 h 938"/>
              <a:gd name="T36" fmla="*/ 2147483647 w 2099"/>
              <a:gd name="T37" fmla="*/ 2147483647 h 938"/>
              <a:gd name="T38" fmla="*/ 2147483647 w 2099"/>
              <a:gd name="T39" fmla="*/ 2147483647 h 938"/>
              <a:gd name="T40" fmla="*/ 2147483647 w 2099"/>
              <a:gd name="T41" fmla="*/ 2147483647 h 938"/>
              <a:gd name="T42" fmla="*/ 2147483647 w 2099"/>
              <a:gd name="T43" fmla="*/ 2147483647 h 938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2099"/>
              <a:gd name="T67" fmla="*/ 0 h 938"/>
              <a:gd name="T68" fmla="*/ 2099 w 2099"/>
              <a:gd name="T69" fmla="*/ 938 h 938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2099" h="938">
                <a:moveTo>
                  <a:pt x="0" y="245"/>
                </a:moveTo>
                <a:cubicBezTo>
                  <a:pt x="51" y="167"/>
                  <a:pt x="97" y="73"/>
                  <a:pt x="176" y="20"/>
                </a:cubicBezTo>
                <a:cubicBezTo>
                  <a:pt x="185" y="14"/>
                  <a:pt x="238" y="2"/>
                  <a:pt x="244" y="0"/>
                </a:cubicBezTo>
                <a:cubicBezTo>
                  <a:pt x="303" y="3"/>
                  <a:pt x="362" y="3"/>
                  <a:pt x="420" y="10"/>
                </a:cubicBezTo>
                <a:cubicBezTo>
                  <a:pt x="475" y="17"/>
                  <a:pt x="517" y="37"/>
                  <a:pt x="566" y="59"/>
                </a:cubicBezTo>
                <a:cubicBezTo>
                  <a:pt x="621" y="83"/>
                  <a:pt x="684" y="102"/>
                  <a:pt x="742" y="118"/>
                </a:cubicBezTo>
                <a:cubicBezTo>
                  <a:pt x="785" y="130"/>
                  <a:pt x="830" y="143"/>
                  <a:pt x="869" y="166"/>
                </a:cubicBezTo>
                <a:cubicBezTo>
                  <a:pt x="889" y="178"/>
                  <a:pt x="908" y="192"/>
                  <a:pt x="927" y="205"/>
                </a:cubicBezTo>
                <a:cubicBezTo>
                  <a:pt x="937" y="212"/>
                  <a:pt x="957" y="225"/>
                  <a:pt x="957" y="225"/>
                </a:cubicBezTo>
                <a:cubicBezTo>
                  <a:pt x="987" y="270"/>
                  <a:pt x="1007" y="306"/>
                  <a:pt x="1045" y="342"/>
                </a:cubicBezTo>
                <a:cubicBezTo>
                  <a:pt x="1062" y="397"/>
                  <a:pt x="1102" y="441"/>
                  <a:pt x="1132" y="489"/>
                </a:cubicBezTo>
                <a:cubicBezTo>
                  <a:pt x="1137" y="498"/>
                  <a:pt x="1137" y="509"/>
                  <a:pt x="1142" y="518"/>
                </a:cubicBezTo>
                <a:cubicBezTo>
                  <a:pt x="1153" y="538"/>
                  <a:pt x="1174" y="554"/>
                  <a:pt x="1181" y="576"/>
                </a:cubicBezTo>
                <a:cubicBezTo>
                  <a:pt x="1184" y="586"/>
                  <a:pt x="1185" y="597"/>
                  <a:pt x="1191" y="606"/>
                </a:cubicBezTo>
                <a:cubicBezTo>
                  <a:pt x="1224" y="655"/>
                  <a:pt x="1279" y="700"/>
                  <a:pt x="1328" y="733"/>
                </a:cubicBezTo>
                <a:cubicBezTo>
                  <a:pt x="1360" y="782"/>
                  <a:pt x="1337" y="754"/>
                  <a:pt x="1406" y="801"/>
                </a:cubicBezTo>
                <a:cubicBezTo>
                  <a:pt x="1426" y="814"/>
                  <a:pt x="1476" y="859"/>
                  <a:pt x="1494" y="869"/>
                </a:cubicBezTo>
                <a:cubicBezTo>
                  <a:pt x="1515" y="881"/>
                  <a:pt x="1565" y="892"/>
                  <a:pt x="1591" y="899"/>
                </a:cubicBezTo>
                <a:cubicBezTo>
                  <a:pt x="1601" y="905"/>
                  <a:pt x="1610" y="913"/>
                  <a:pt x="1621" y="918"/>
                </a:cubicBezTo>
                <a:cubicBezTo>
                  <a:pt x="1640" y="926"/>
                  <a:pt x="1679" y="938"/>
                  <a:pt x="1679" y="938"/>
                </a:cubicBezTo>
                <a:cubicBezTo>
                  <a:pt x="1757" y="935"/>
                  <a:pt x="1835" y="934"/>
                  <a:pt x="1913" y="928"/>
                </a:cubicBezTo>
                <a:cubicBezTo>
                  <a:pt x="1975" y="924"/>
                  <a:pt x="2035" y="899"/>
                  <a:pt x="2099" y="899"/>
                </a:cubicBezTo>
              </a:path>
            </a:pathLst>
          </a:custGeom>
          <a:noFill/>
          <a:ln w="25400" cap="sq">
            <a:solidFill>
              <a:srgbClr val="FF6600"/>
            </a:solidFill>
            <a:round/>
            <a:headEnd type="none" w="sm" len="sm"/>
            <a:tailEnd type="oval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38" name="Freeform 26"/>
          <p:cNvSpPr>
            <a:spLocks/>
          </p:cNvSpPr>
          <p:nvPr/>
        </p:nvSpPr>
        <p:spPr bwMode="auto">
          <a:xfrm>
            <a:off x="1727200" y="3998913"/>
            <a:ext cx="1787525" cy="1079500"/>
          </a:xfrm>
          <a:custGeom>
            <a:avLst/>
            <a:gdLst>
              <a:gd name="T0" fmla="*/ 0 w 1631"/>
              <a:gd name="T1" fmla="*/ 2147483647 h 615"/>
              <a:gd name="T2" fmla="*/ 2147483647 w 1631"/>
              <a:gd name="T3" fmla="*/ 2147483647 h 615"/>
              <a:gd name="T4" fmla="*/ 2147483647 w 1631"/>
              <a:gd name="T5" fmla="*/ 2147483647 h 615"/>
              <a:gd name="T6" fmla="*/ 2147483647 w 1631"/>
              <a:gd name="T7" fmla="*/ 0 h 615"/>
              <a:gd name="T8" fmla="*/ 2147483647 w 1631"/>
              <a:gd name="T9" fmla="*/ 2147483647 h 615"/>
              <a:gd name="T10" fmla="*/ 2147483647 w 1631"/>
              <a:gd name="T11" fmla="*/ 2147483647 h 615"/>
              <a:gd name="T12" fmla="*/ 2147483647 w 1631"/>
              <a:gd name="T13" fmla="*/ 2147483647 h 615"/>
              <a:gd name="T14" fmla="*/ 2147483647 w 1631"/>
              <a:gd name="T15" fmla="*/ 2147483647 h 615"/>
              <a:gd name="T16" fmla="*/ 2147483647 w 1631"/>
              <a:gd name="T17" fmla="*/ 2147483647 h 615"/>
              <a:gd name="T18" fmla="*/ 2147483647 w 1631"/>
              <a:gd name="T19" fmla="*/ 2147483647 h 615"/>
              <a:gd name="T20" fmla="*/ 2147483647 w 1631"/>
              <a:gd name="T21" fmla="*/ 2147483647 h 615"/>
              <a:gd name="T22" fmla="*/ 2147483647 w 1631"/>
              <a:gd name="T23" fmla="*/ 2147483647 h 615"/>
              <a:gd name="T24" fmla="*/ 2147483647 w 1631"/>
              <a:gd name="T25" fmla="*/ 2147483647 h 615"/>
              <a:gd name="T26" fmla="*/ 2147483647 w 1631"/>
              <a:gd name="T27" fmla="*/ 2147483647 h 615"/>
              <a:gd name="T28" fmla="*/ 2147483647 w 1631"/>
              <a:gd name="T29" fmla="*/ 2147483647 h 615"/>
              <a:gd name="T30" fmla="*/ 2147483647 w 1631"/>
              <a:gd name="T31" fmla="*/ 2147483647 h 61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631"/>
              <a:gd name="T49" fmla="*/ 0 h 615"/>
              <a:gd name="T50" fmla="*/ 1631 w 1631"/>
              <a:gd name="T51" fmla="*/ 615 h 615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631" h="615">
                <a:moveTo>
                  <a:pt x="0" y="234"/>
                </a:moveTo>
                <a:cubicBezTo>
                  <a:pt x="27" y="194"/>
                  <a:pt x="48" y="118"/>
                  <a:pt x="78" y="88"/>
                </a:cubicBezTo>
                <a:cubicBezTo>
                  <a:pt x="99" y="67"/>
                  <a:pt x="111" y="67"/>
                  <a:pt x="137" y="59"/>
                </a:cubicBezTo>
                <a:cubicBezTo>
                  <a:pt x="202" y="37"/>
                  <a:pt x="265" y="14"/>
                  <a:pt x="332" y="0"/>
                </a:cubicBezTo>
                <a:cubicBezTo>
                  <a:pt x="447" y="9"/>
                  <a:pt x="545" y="24"/>
                  <a:pt x="654" y="59"/>
                </a:cubicBezTo>
                <a:cubicBezTo>
                  <a:pt x="664" y="62"/>
                  <a:pt x="674" y="65"/>
                  <a:pt x="684" y="68"/>
                </a:cubicBezTo>
                <a:cubicBezTo>
                  <a:pt x="703" y="74"/>
                  <a:pt x="723" y="81"/>
                  <a:pt x="742" y="88"/>
                </a:cubicBezTo>
                <a:cubicBezTo>
                  <a:pt x="762" y="95"/>
                  <a:pt x="801" y="107"/>
                  <a:pt x="801" y="107"/>
                </a:cubicBezTo>
                <a:cubicBezTo>
                  <a:pt x="831" y="127"/>
                  <a:pt x="855" y="136"/>
                  <a:pt x="889" y="146"/>
                </a:cubicBezTo>
                <a:cubicBezTo>
                  <a:pt x="908" y="159"/>
                  <a:pt x="928" y="172"/>
                  <a:pt x="947" y="185"/>
                </a:cubicBezTo>
                <a:cubicBezTo>
                  <a:pt x="957" y="192"/>
                  <a:pt x="959" y="207"/>
                  <a:pt x="967" y="215"/>
                </a:cubicBezTo>
                <a:cubicBezTo>
                  <a:pt x="975" y="223"/>
                  <a:pt x="986" y="228"/>
                  <a:pt x="996" y="234"/>
                </a:cubicBezTo>
                <a:cubicBezTo>
                  <a:pt x="1054" y="322"/>
                  <a:pt x="1118" y="415"/>
                  <a:pt x="1221" y="449"/>
                </a:cubicBezTo>
                <a:cubicBezTo>
                  <a:pt x="1260" y="475"/>
                  <a:pt x="1298" y="502"/>
                  <a:pt x="1338" y="527"/>
                </a:cubicBezTo>
                <a:cubicBezTo>
                  <a:pt x="1370" y="547"/>
                  <a:pt x="1450" y="564"/>
                  <a:pt x="1484" y="576"/>
                </a:cubicBezTo>
                <a:cubicBezTo>
                  <a:pt x="1532" y="593"/>
                  <a:pt x="1580" y="615"/>
                  <a:pt x="1631" y="615"/>
                </a:cubicBezTo>
              </a:path>
            </a:pathLst>
          </a:custGeom>
          <a:noFill/>
          <a:ln w="25400" cap="sq">
            <a:solidFill>
              <a:srgbClr val="FF6600"/>
            </a:solidFill>
            <a:round/>
            <a:headEnd type="none" w="lg" len="lg"/>
            <a:tailEnd type="oval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41" name="Text Box 29"/>
          <p:cNvSpPr txBox="1">
            <a:spLocks noChangeArrowheads="1"/>
          </p:cNvSpPr>
          <p:nvPr/>
        </p:nvSpPr>
        <p:spPr bwMode="auto">
          <a:xfrm>
            <a:off x="863600" y="5084763"/>
            <a:ext cx="792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AX</a:t>
            </a:r>
          </a:p>
        </p:txBody>
      </p:sp>
      <p:sp>
        <p:nvSpPr>
          <p:cNvPr id="115742" name="Text Box 30"/>
          <p:cNvSpPr txBox="1">
            <a:spLocks noChangeArrowheads="1"/>
          </p:cNvSpPr>
          <p:nvPr/>
        </p:nvSpPr>
        <p:spPr bwMode="auto">
          <a:xfrm>
            <a:off x="1150938" y="6164263"/>
            <a:ext cx="949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SP+2</a:t>
            </a:r>
          </a:p>
        </p:txBody>
      </p:sp>
      <p:sp>
        <p:nvSpPr>
          <p:cNvPr id="115746" name="Line 34"/>
          <p:cNvSpPr>
            <a:spLocks noChangeShapeType="1"/>
          </p:cNvSpPr>
          <p:nvPr/>
        </p:nvSpPr>
        <p:spPr bwMode="auto">
          <a:xfrm>
            <a:off x="1739900" y="4303713"/>
            <a:ext cx="0" cy="144462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47" name="Line 35"/>
          <p:cNvSpPr>
            <a:spLocks noChangeShapeType="1"/>
          </p:cNvSpPr>
          <p:nvPr/>
        </p:nvSpPr>
        <p:spPr bwMode="auto">
          <a:xfrm>
            <a:off x="1082675" y="4303713"/>
            <a:ext cx="0" cy="144462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48" name="Line 36"/>
          <p:cNvSpPr>
            <a:spLocks noChangeShapeType="1"/>
          </p:cNvSpPr>
          <p:nvPr/>
        </p:nvSpPr>
        <p:spPr bwMode="auto">
          <a:xfrm flipV="1">
            <a:off x="2001838" y="5802313"/>
            <a:ext cx="1223962" cy="504825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62" name="Rectangle 50"/>
          <p:cNvSpPr>
            <a:spLocks noChangeArrowheads="1"/>
          </p:cNvSpPr>
          <p:nvPr/>
        </p:nvSpPr>
        <p:spPr bwMode="auto">
          <a:xfrm>
            <a:off x="6767513" y="4302125"/>
            <a:ext cx="1458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5763" name="Rectangle 51"/>
          <p:cNvSpPr>
            <a:spLocks noChangeArrowheads="1"/>
          </p:cNvSpPr>
          <p:nvPr/>
        </p:nvSpPr>
        <p:spPr bwMode="auto">
          <a:xfrm>
            <a:off x="6767513" y="4665663"/>
            <a:ext cx="1458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5764" name="Rectangle 52"/>
          <p:cNvSpPr>
            <a:spLocks noChangeArrowheads="1"/>
          </p:cNvSpPr>
          <p:nvPr/>
        </p:nvSpPr>
        <p:spPr bwMode="auto">
          <a:xfrm>
            <a:off x="6767513" y="5026025"/>
            <a:ext cx="1458912" cy="381000"/>
          </a:xfrm>
          <a:prstGeom prst="rect">
            <a:avLst/>
          </a:prstGeom>
          <a:solidFill>
            <a:srgbClr val="99CC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5765" name="Line 53"/>
          <p:cNvSpPr>
            <a:spLocks noChangeShapeType="1"/>
          </p:cNvSpPr>
          <p:nvPr/>
        </p:nvSpPr>
        <p:spPr bwMode="auto">
          <a:xfrm>
            <a:off x="6767513" y="3297238"/>
            <a:ext cx="0" cy="290353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66" name="Line 54"/>
          <p:cNvSpPr>
            <a:spLocks noChangeShapeType="1"/>
          </p:cNvSpPr>
          <p:nvPr/>
        </p:nvSpPr>
        <p:spPr bwMode="auto">
          <a:xfrm>
            <a:off x="8228013" y="3276600"/>
            <a:ext cx="0" cy="290353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67" name="Freeform 55"/>
          <p:cNvSpPr>
            <a:spLocks/>
          </p:cNvSpPr>
          <p:nvPr/>
        </p:nvSpPr>
        <p:spPr bwMode="auto">
          <a:xfrm>
            <a:off x="6767513" y="5862638"/>
            <a:ext cx="1457325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68" name="Text Box 56"/>
          <p:cNvSpPr txBox="1">
            <a:spLocks noChangeArrowheads="1"/>
          </p:cNvSpPr>
          <p:nvPr/>
        </p:nvSpPr>
        <p:spPr bwMode="auto">
          <a:xfrm>
            <a:off x="8197850" y="5011738"/>
            <a:ext cx="946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1200</a:t>
            </a: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H</a:t>
            </a:r>
          </a:p>
        </p:txBody>
      </p:sp>
      <p:sp>
        <p:nvSpPr>
          <p:cNvPr id="115769" name="Text Box 57"/>
          <p:cNvSpPr txBox="1">
            <a:spLocks noChangeArrowheads="1"/>
          </p:cNvSpPr>
          <p:nvPr/>
        </p:nvSpPr>
        <p:spPr bwMode="auto">
          <a:xfrm>
            <a:off x="7224713" y="3411538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┇</a:t>
            </a:r>
            <a:r>
              <a:rPr kumimoji="1" lang="en-US" altLang="zh-CN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sp>
        <p:nvSpPr>
          <p:cNvPr id="115772" name="Rectangle 60"/>
          <p:cNvSpPr>
            <a:spLocks noChangeArrowheads="1"/>
          </p:cNvSpPr>
          <p:nvPr/>
        </p:nvSpPr>
        <p:spPr bwMode="auto">
          <a:xfrm>
            <a:off x="6767513" y="3932238"/>
            <a:ext cx="1458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5773" name="Text Box 61"/>
          <p:cNvSpPr txBox="1">
            <a:spLocks noChangeArrowheads="1"/>
          </p:cNvSpPr>
          <p:nvPr/>
        </p:nvSpPr>
        <p:spPr bwMode="auto">
          <a:xfrm>
            <a:off x="6996113" y="2725738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出栈后</a:t>
            </a:r>
          </a:p>
        </p:txBody>
      </p:sp>
      <p:sp>
        <p:nvSpPr>
          <p:cNvPr id="115774" name="Text Box 62"/>
          <p:cNvSpPr txBox="1">
            <a:spLocks noChangeArrowheads="1"/>
          </p:cNvSpPr>
          <p:nvPr/>
        </p:nvSpPr>
        <p:spPr bwMode="auto">
          <a:xfrm>
            <a:off x="3671888" y="2341563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出栈前</a:t>
            </a:r>
          </a:p>
        </p:txBody>
      </p:sp>
      <p:sp>
        <p:nvSpPr>
          <p:cNvPr id="44" name="Text Box 30"/>
          <p:cNvSpPr txBox="1">
            <a:spLocks noChangeArrowheads="1"/>
          </p:cNvSpPr>
          <p:nvPr/>
        </p:nvSpPr>
        <p:spPr bwMode="auto">
          <a:xfrm>
            <a:off x="6038601" y="4962525"/>
            <a:ext cx="64184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SP</a:t>
            </a:r>
          </a:p>
        </p:txBody>
      </p:sp>
      <p:sp>
        <p:nvSpPr>
          <p:cNvPr id="45" name="Line 36"/>
          <p:cNvSpPr>
            <a:spLocks noChangeShapeType="1"/>
          </p:cNvSpPr>
          <p:nvPr/>
        </p:nvSpPr>
        <p:spPr bwMode="auto">
          <a:xfrm>
            <a:off x="6511924" y="5273321"/>
            <a:ext cx="299087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Text Box 30"/>
          <p:cNvSpPr txBox="1">
            <a:spLocks noChangeArrowheads="1"/>
          </p:cNvSpPr>
          <p:nvPr/>
        </p:nvSpPr>
        <p:spPr bwMode="auto">
          <a:xfrm>
            <a:off x="2503416" y="4785519"/>
            <a:ext cx="64184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SP</a:t>
            </a:r>
          </a:p>
        </p:txBody>
      </p:sp>
      <p:sp>
        <p:nvSpPr>
          <p:cNvPr id="47" name="Line 36"/>
          <p:cNvSpPr>
            <a:spLocks noChangeShapeType="1"/>
          </p:cNvSpPr>
          <p:nvPr/>
        </p:nvSpPr>
        <p:spPr bwMode="auto">
          <a:xfrm>
            <a:off x="2976739" y="5096315"/>
            <a:ext cx="299087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5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5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5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5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5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5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5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15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15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15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15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15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15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15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15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9" dur="1000"/>
                                        <p:tgtEl>
                                          <p:spTgt spid="115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2" dur="1000"/>
                                        <p:tgtEl>
                                          <p:spTgt spid="115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6" dur="500"/>
                                        <p:tgtEl>
                                          <p:spTgt spid="115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500"/>
                            </p:stCondLst>
                            <p:childTnLst>
                              <p:par>
                                <p:cTn id="108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0" dur="500"/>
                                        <p:tgtEl>
                                          <p:spTgt spid="115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15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15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15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15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500"/>
                            </p:stCondLst>
                            <p:childTnLst>
                              <p:par>
                                <p:cTn id="1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115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30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15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3500"/>
                            </p:stCondLst>
                            <p:childTnLst>
                              <p:par>
                                <p:cTn id="129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1" dur="500"/>
                                        <p:tgtEl>
                                          <p:spTgt spid="11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15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15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15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15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115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15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115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115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15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115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115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15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115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115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576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115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115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115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15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115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115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26" presetClass="emph" presetSubtype="0" repeatCount="4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 tmFilter="0, 0; .2, .5; .8, .5; 1, 0"/>
                                        <p:tgtEl>
                                          <p:spTgt spid="1157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7" dur="250" autoRev="1" fill="hold"/>
                                        <p:tgtEl>
                                          <p:spTgt spid="1157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576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2500"/>
                            </p:stCondLst>
                            <p:childTnLst>
                              <p:par>
                                <p:cTn id="1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3000"/>
                            </p:stCondLst>
                            <p:childTnLst>
                              <p:par>
                                <p:cTn id="18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6" grpId="0" animBg="1"/>
      <p:bldP spid="115717" grpId="0" animBg="1"/>
      <p:bldP spid="115718" grpId="0" animBg="1"/>
      <p:bldP spid="115719" grpId="0" animBg="1"/>
      <p:bldP spid="115720" grpId="0" animBg="1"/>
      <p:bldP spid="115721" grpId="0" animBg="1"/>
      <p:bldP spid="115722" grpId="0" animBg="1"/>
      <p:bldP spid="115723" grpId="0" animBg="1"/>
      <p:bldP spid="115724" grpId="0" animBg="1"/>
      <p:bldP spid="115725" grpId="0"/>
      <p:bldP spid="115726" grpId="0"/>
      <p:bldP spid="115727" grpId="0"/>
      <p:bldP spid="115728" grpId="0"/>
      <p:bldP spid="115729" grpId="0"/>
      <p:bldP spid="115730" grpId="0" animBg="1"/>
      <p:bldP spid="115731" grpId="0"/>
      <p:bldP spid="115732" grpId="0" animBg="1"/>
      <p:bldP spid="115733" grpId="0"/>
      <p:bldP spid="115734" grpId="0" animBg="1"/>
      <p:bldP spid="115736" grpId="0" animBg="1"/>
      <p:bldP spid="115737" grpId="0" animBg="1"/>
      <p:bldP spid="115738" grpId="0" animBg="1"/>
      <p:bldP spid="115741" grpId="0"/>
      <p:bldP spid="115742" grpId="0"/>
      <p:bldP spid="115746" grpId="0" animBg="1"/>
      <p:bldP spid="115747" grpId="0" animBg="1"/>
      <p:bldP spid="115748" grpId="0" animBg="1"/>
      <p:bldP spid="115762" grpId="0" animBg="1"/>
      <p:bldP spid="115763" grpId="0" animBg="1"/>
      <p:bldP spid="115764" grpId="0" animBg="1"/>
      <p:bldP spid="115765" grpId="0" animBg="1"/>
      <p:bldP spid="115766" grpId="0" animBg="1"/>
      <p:bldP spid="115767" grpId="0" animBg="1"/>
      <p:bldP spid="115768" grpId="0"/>
      <p:bldP spid="115768" grpId="1"/>
      <p:bldP spid="115769" grpId="0"/>
      <p:bldP spid="115772" grpId="0" animBg="1"/>
      <p:bldP spid="115773" grpId="0"/>
      <p:bldP spid="115774" grpId="0"/>
      <p:bldP spid="44" grpId="0"/>
      <p:bldP spid="45" grpId="0" animBg="1"/>
      <p:bldP spid="46" grpId="0"/>
      <p:bldP spid="4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FE47AD93-F17D-448F-A722-B66E87BECE28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48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使用注意：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2130425"/>
            <a:ext cx="7772400" cy="3962400"/>
          </a:xfrm>
        </p:spPr>
        <p:txBody>
          <a:bodyPr/>
          <a:lstStyle/>
          <a:p>
            <a:pPr algn="just" eaLnBrk="1" hangingPunct="1">
              <a:spcAft>
                <a:spcPct val="20000"/>
              </a:spcAft>
            </a:pPr>
            <a:r>
              <a:rPr lang="zh-CN" altLang="en-US" dirty="0">
                <a:latin typeface="宋体" pitchFamily="2" charset="-122"/>
              </a:rPr>
              <a:t>指令的操作数必须是16位；</a:t>
            </a:r>
          </a:p>
          <a:p>
            <a:pPr algn="just" eaLnBrk="1" hangingPunct="1">
              <a:spcAft>
                <a:spcPct val="20000"/>
              </a:spcAft>
            </a:pPr>
            <a:r>
              <a:rPr lang="zh-CN" altLang="en-US" dirty="0">
                <a:latin typeface="宋体" pitchFamily="2" charset="-122"/>
              </a:rPr>
              <a:t>操作数可以是寄存器或存储器字单元，但不能是立即数；</a:t>
            </a:r>
          </a:p>
          <a:p>
            <a:pPr algn="just" eaLnBrk="1" hangingPunct="1">
              <a:spcAft>
                <a:spcPct val="20000"/>
              </a:spcAft>
            </a:pPr>
            <a:r>
              <a:rPr lang="zh-CN" altLang="en-US" dirty="0">
                <a:latin typeface="宋体" pitchFamily="2" charset="-122"/>
              </a:rPr>
              <a:t>不能从栈顶弹出一个字给</a:t>
            </a:r>
            <a:r>
              <a:rPr lang="en-US" altLang="zh-CN" dirty="0">
                <a:latin typeface="宋体" pitchFamily="2" charset="-122"/>
              </a:rPr>
              <a:t>CS；</a:t>
            </a:r>
          </a:p>
          <a:p>
            <a:pPr algn="just" eaLnBrk="1" hangingPunct="1">
              <a:spcAft>
                <a:spcPct val="20000"/>
              </a:spcAft>
            </a:pPr>
            <a:r>
              <a:rPr lang="en-US" altLang="zh-CN" dirty="0">
                <a:latin typeface="宋体" pitchFamily="2" charset="-122"/>
              </a:rPr>
              <a:t>PUSH</a:t>
            </a:r>
            <a:r>
              <a:rPr lang="zh-CN" altLang="en-US" dirty="0">
                <a:latin typeface="宋体" pitchFamily="2" charset="-122"/>
              </a:rPr>
              <a:t>和</a:t>
            </a:r>
            <a:r>
              <a:rPr lang="en-US" altLang="zh-CN" dirty="0">
                <a:latin typeface="宋体" pitchFamily="2" charset="-122"/>
              </a:rPr>
              <a:t>POP</a:t>
            </a:r>
            <a:r>
              <a:rPr lang="zh-CN" altLang="en-US" dirty="0">
                <a:latin typeface="宋体" pitchFamily="2" charset="-122"/>
              </a:rPr>
              <a:t>指令在程序中一般成对出现；</a:t>
            </a:r>
          </a:p>
          <a:p>
            <a:pPr algn="just" eaLnBrk="1" hangingPunct="1">
              <a:spcAft>
                <a:spcPct val="20000"/>
              </a:spcAft>
            </a:pPr>
            <a:r>
              <a:rPr lang="en-US" altLang="zh-CN" dirty="0">
                <a:latin typeface="宋体" pitchFamily="2" charset="-122"/>
              </a:rPr>
              <a:t>PUSH</a:t>
            </a:r>
            <a:r>
              <a:rPr lang="zh-CN" altLang="en-US" dirty="0">
                <a:latin typeface="宋体" pitchFamily="2" charset="-122"/>
              </a:rPr>
              <a:t>指令的操作方向是从高地址向低地址，而</a:t>
            </a:r>
            <a:r>
              <a:rPr lang="en-US" altLang="zh-CN" dirty="0">
                <a:latin typeface="宋体" pitchFamily="2" charset="-122"/>
              </a:rPr>
              <a:t>POP</a:t>
            </a:r>
            <a:r>
              <a:rPr lang="zh-CN" altLang="en-US" dirty="0">
                <a:latin typeface="宋体" pitchFamily="2" charset="-122"/>
              </a:rPr>
              <a:t>指令的操作正好相反。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6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6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6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6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66B7F8C-11E8-43F6-BF1B-6500C5A5605B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49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58371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堆栈</a:t>
            </a:r>
            <a:r>
              <a:rPr lang="zh-CN" altLang="en-US" dirty="0" smtClean="0"/>
              <a:t>操作指令示例</a:t>
            </a:r>
            <a:endParaRPr lang="zh-CN" altLang="en-US" dirty="0"/>
          </a:p>
        </p:txBody>
      </p:sp>
      <p:sp>
        <p:nvSpPr>
          <p:cNvPr id="12288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58888" y="1916113"/>
            <a:ext cx="6705600" cy="4535487"/>
          </a:xfrm>
        </p:spPr>
        <p:txBody>
          <a:bodyPr/>
          <a:lstStyle/>
          <a:p>
            <a:pPr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zh-CN" sz="2000" dirty="0">
                <a:solidFill>
                  <a:schemeClr val="tx1"/>
                </a:solidFill>
              </a:rPr>
              <a:t>MOV  AX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</a:rPr>
              <a:t>1234H</a:t>
            </a:r>
          </a:p>
          <a:p>
            <a:pPr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zh-CN" sz="2000" dirty="0">
                <a:solidFill>
                  <a:schemeClr val="tx1"/>
                </a:solidFill>
              </a:rPr>
              <a:t>MOV  SP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</a:rPr>
              <a:t>AX</a:t>
            </a:r>
          </a:p>
          <a:p>
            <a:pPr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zh-CN" sz="2000" dirty="0">
                <a:solidFill>
                  <a:schemeClr val="tx1"/>
                </a:solidFill>
              </a:rPr>
              <a:t>MOV  BX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</a:rPr>
              <a:t>5678H</a:t>
            </a:r>
          </a:p>
          <a:p>
            <a:pPr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zh-CN" sz="2000" dirty="0">
                <a:solidFill>
                  <a:schemeClr val="tx1"/>
                </a:solidFill>
              </a:rPr>
              <a:t>MOV  [BX]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</a:rPr>
              <a:t>AH</a:t>
            </a:r>
          </a:p>
          <a:p>
            <a:pPr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zh-CN" sz="2000" dirty="0">
                <a:solidFill>
                  <a:schemeClr val="tx1"/>
                </a:solidFill>
              </a:rPr>
              <a:t>MOV  [BX+1]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</a:rPr>
              <a:t>BL</a:t>
            </a:r>
          </a:p>
          <a:p>
            <a:pPr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zh-CN" sz="2000" dirty="0"/>
              <a:t>PUSH  AX</a:t>
            </a:r>
          </a:p>
          <a:p>
            <a:pPr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zh-CN" sz="2000" dirty="0"/>
              <a:t>PUSH  BX</a:t>
            </a:r>
          </a:p>
          <a:p>
            <a:pPr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zh-CN" sz="2000" dirty="0"/>
              <a:t>PUSH  WORD  PTR[BX]         </a:t>
            </a:r>
          </a:p>
          <a:p>
            <a:pPr eaLnBrk="1" hangingPunct="1">
              <a:lnSpc>
                <a:spcPct val="105000"/>
              </a:lnSpc>
              <a:spcBef>
                <a:spcPct val="15000"/>
              </a:spcBef>
            </a:pPr>
            <a:endParaRPr lang="en-US" altLang="zh-CN" sz="2000" dirty="0"/>
          </a:p>
          <a:p>
            <a:pPr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zh-CN" sz="2000" dirty="0"/>
              <a:t>POP  WORD  PTR[BX]</a:t>
            </a:r>
          </a:p>
          <a:p>
            <a:pPr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zh-CN" sz="2000" dirty="0"/>
              <a:t>POP  AX</a:t>
            </a:r>
          </a:p>
          <a:p>
            <a:pPr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zh-CN" sz="2000" dirty="0"/>
              <a:t>POP  BX</a:t>
            </a:r>
          </a:p>
        </p:txBody>
      </p:sp>
      <p:sp>
        <p:nvSpPr>
          <p:cNvPr id="122885" name="AutoShape 1029"/>
          <p:cNvSpPr>
            <a:spLocks/>
          </p:cNvSpPr>
          <p:nvPr/>
        </p:nvSpPr>
        <p:spPr bwMode="auto">
          <a:xfrm>
            <a:off x="3124200" y="5824538"/>
            <a:ext cx="152400" cy="609600"/>
          </a:xfrm>
          <a:prstGeom prst="rightBrace">
            <a:avLst>
              <a:gd name="adj1" fmla="val 3333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22887" name="Text Box 1031"/>
          <p:cNvSpPr txBox="1">
            <a:spLocks noChangeArrowheads="1"/>
          </p:cNvSpPr>
          <p:nvPr/>
        </p:nvSpPr>
        <p:spPr bwMode="auto">
          <a:xfrm>
            <a:off x="3284152" y="6017086"/>
            <a:ext cx="532029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出栈与进栈颠倒，使</a:t>
            </a: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AX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和</a:t>
            </a: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BX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的内容</a:t>
            </a:r>
            <a:r>
              <a:rPr kumimoji="1" lang="zh-CN" altLang="en-US" sz="20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互换。</a:t>
            </a:r>
            <a:endParaRPr kumimoji="1" lang="zh-CN" altLang="en-US" sz="2000" dirty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51576" y="4607228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6251973" y="3130562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6251973" y="3511562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6251576" y="4970765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3" name="Line 9"/>
          <p:cNvSpPr>
            <a:spLocks noChangeShapeType="1"/>
          </p:cNvSpPr>
          <p:nvPr/>
        </p:nvSpPr>
        <p:spPr bwMode="auto">
          <a:xfrm>
            <a:off x="6252369" y="1350297"/>
            <a:ext cx="0" cy="435865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7965281" y="1350297"/>
            <a:ext cx="0" cy="434595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Freeform 11"/>
          <p:cNvSpPr>
            <a:spLocks/>
          </p:cNvSpPr>
          <p:nvPr/>
        </p:nvSpPr>
        <p:spPr bwMode="auto">
          <a:xfrm>
            <a:off x="6250408" y="1214992"/>
            <a:ext cx="1712888" cy="383868"/>
          </a:xfrm>
          <a:custGeom>
            <a:avLst/>
            <a:gdLst>
              <a:gd name="T0" fmla="*/ 0 w 1062"/>
              <a:gd name="T1" fmla="*/ 2147483647 h 238"/>
              <a:gd name="T2" fmla="*/ 2147483647 w 1062"/>
              <a:gd name="T3" fmla="*/ 2147483647 h 238"/>
              <a:gd name="T4" fmla="*/ 2147483647 w 1062"/>
              <a:gd name="T5" fmla="*/ 0 h 238"/>
              <a:gd name="T6" fmla="*/ 2147483647 w 1062"/>
              <a:gd name="T7" fmla="*/ 2147483647 h 238"/>
              <a:gd name="T8" fmla="*/ 2147483647 w 1062"/>
              <a:gd name="T9" fmla="*/ 2147483647 h 238"/>
              <a:gd name="T10" fmla="*/ 2147483647 w 1062"/>
              <a:gd name="T11" fmla="*/ 2147483647 h 238"/>
              <a:gd name="T12" fmla="*/ 2147483647 w 1062"/>
              <a:gd name="T13" fmla="*/ 2147483647 h 238"/>
              <a:gd name="T14" fmla="*/ 2147483647 w 1062"/>
              <a:gd name="T15" fmla="*/ 2147483647 h 238"/>
              <a:gd name="T16" fmla="*/ 2147483647 w 1062"/>
              <a:gd name="T17" fmla="*/ 2147483647 h 23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062"/>
              <a:gd name="T28" fmla="*/ 0 h 238"/>
              <a:gd name="T29" fmla="*/ 1062 w 1062"/>
              <a:gd name="T30" fmla="*/ 238 h 23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062" h="238">
                <a:moveTo>
                  <a:pt x="0" y="74"/>
                </a:moveTo>
                <a:cubicBezTo>
                  <a:pt x="11" y="63"/>
                  <a:pt x="54" y="24"/>
                  <a:pt x="65" y="18"/>
                </a:cubicBezTo>
                <a:cubicBezTo>
                  <a:pt x="82" y="9"/>
                  <a:pt x="120" y="0"/>
                  <a:pt x="120" y="0"/>
                </a:cubicBezTo>
                <a:cubicBezTo>
                  <a:pt x="178" y="14"/>
                  <a:pt x="236" y="21"/>
                  <a:pt x="296" y="28"/>
                </a:cubicBezTo>
                <a:cubicBezTo>
                  <a:pt x="389" y="64"/>
                  <a:pt x="459" y="133"/>
                  <a:pt x="545" y="175"/>
                </a:cubicBezTo>
                <a:cubicBezTo>
                  <a:pt x="572" y="202"/>
                  <a:pt x="606" y="209"/>
                  <a:pt x="637" y="231"/>
                </a:cubicBezTo>
                <a:cubicBezTo>
                  <a:pt x="726" y="228"/>
                  <a:pt x="817" y="238"/>
                  <a:pt x="905" y="222"/>
                </a:cubicBezTo>
                <a:cubicBezTo>
                  <a:pt x="927" y="218"/>
                  <a:pt x="935" y="190"/>
                  <a:pt x="951" y="175"/>
                </a:cubicBezTo>
                <a:cubicBezTo>
                  <a:pt x="989" y="139"/>
                  <a:pt x="1025" y="102"/>
                  <a:pt x="1062" y="65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Freeform 12"/>
          <p:cNvSpPr>
            <a:spLocks/>
          </p:cNvSpPr>
          <p:nvPr/>
        </p:nvSpPr>
        <p:spPr bwMode="auto">
          <a:xfrm>
            <a:off x="6231731" y="5367640"/>
            <a:ext cx="1731963" cy="444500"/>
          </a:xfrm>
          <a:custGeom>
            <a:avLst/>
            <a:gdLst>
              <a:gd name="T0" fmla="*/ 2147483647 w 1091"/>
              <a:gd name="T1" fmla="*/ 2147483647 h 280"/>
              <a:gd name="T2" fmla="*/ 2147483647 w 1091"/>
              <a:gd name="T3" fmla="*/ 2147483647 h 280"/>
              <a:gd name="T4" fmla="*/ 2147483647 w 1091"/>
              <a:gd name="T5" fmla="*/ 2147483647 h 280"/>
              <a:gd name="T6" fmla="*/ 2147483647 w 1091"/>
              <a:gd name="T7" fmla="*/ 2147483647 h 280"/>
              <a:gd name="T8" fmla="*/ 2147483647 w 1091"/>
              <a:gd name="T9" fmla="*/ 0 h 280"/>
              <a:gd name="T10" fmla="*/ 2147483647 w 1091"/>
              <a:gd name="T11" fmla="*/ 2147483647 h 280"/>
              <a:gd name="T12" fmla="*/ 2147483647 w 1091"/>
              <a:gd name="T13" fmla="*/ 2147483647 h 280"/>
              <a:gd name="T14" fmla="*/ 2147483647 w 1091"/>
              <a:gd name="T15" fmla="*/ 2147483647 h 280"/>
              <a:gd name="T16" fmla="*/ 2147483647 w 1091"/>
              <a:gd name="T17" fmla="*/ 2147483647 h 280"/>
              <a:gd name="T18" fmla="*/ 2147483647 w 1091"/>
              <a:gd name="T19" fmla="*/ 2147483647 h 280"/>
              <a:gd name="T20" fmla="*/ 2147483647 w 1091"/>
              <a:gd name="T21" fmla="*/ 2147483647 h 280"/>
              <a:gd name="T22" fmla="*/ 2147483647 w 1091"/>
              <a:gd name="T23" fmla="*/ 2147483647 h 280"/>
              <a:gd name="T24" fmla="*/ 2147483647 w 1091"/>
              <a:gd name="T25" fmla="*/ 2147483647 h 28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91"/>
              <a:gd name="T40" fmla="*/ 0 h 280"/>
              <a:gd name="T41" fmla="*/ 1091 w 1091"/>
              <a:gd name="T42" fmla="*/ 280 h 28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91" h="280">
                <a:moveTo>
                  <a:pt x="11" y="222"/>
                </a:moveTo>
                <a:cubicBezTo>
                  <a:pt x="85" y="198"/>
                  <a:pt x="0" y="234"/>
                  <a:pt x="48" y="185"/>
                </a:cubicBezTo>
                <a:cubicBezTo>
                  <a:pt x="64" y="169"/>
                  <a:pt x="87" y="164"/>
                  <a:pt x="103" y="148"/>
                </a:cubicBezTo>
                <a:cubicBezTo>
                  <a:pt x="133" y="118"/>
                  <a:pt x="166" y="97"/>
                  <a:pt x="205" y="83"/>
                </a:cubicBezTo>
                <a:cubicBezTo>
                  <a:pt x="245" y="43"/>
                  <a:pt x="281" y="17"/>
                  <a:pt x="334" y="0"/>
                </a:cubicBezTo>
                <a:cubicBezTo>
                  <a:pt x="368" y="3"/>
                  <a:pt x="403" y="1"/>
                  <a:pt x="436" y="9"/>
                </a:cubicBezTo>
                <a:cubicBezTo>
                  <a:pt x="452" y="13"/>
                  <a:pt x="477" y="54"/>
                  <a:pt x="491" y="65"/>
                </a:cubicBezTo>
                <a:cubicBezTo>
                  <a:pt x="535" y="99"/>
                  <a:pt x="540" y="99"/>
                  <a:pt x="583" y="120"/>
                </a:cubicBezTo>
                <a:cubicBezTo>
                  <a:pt x="660" y="197"/>
                  <a:pt x="753" y="242"/>
                  <a:pt x="860" y="259"/>
                </a:cubicBezTo>
                <a:cubicBezTo>
                  <a:pt x="925" y="280"/>
                  <a:pt x="912" y="279"/>
                  <a:pt x="1026" y="259"/>
                </a:cubicBezTo>
                <a:cubicBezTo>
                  <a:pt x="1035" y="257"/>
                  <a:pt x="1038" y="246"/>
                  <a:pt x="1045" y="240"/>
                </a:cubicBezTo>
                <a:cubicBezTo>
                  <a:pt x="1054" y="233"/>
                  <a:pt x="1064" y="229"/>
                  <a:pt x="1073" y="222"/>
                </a:cubicBezTo>
                <a:cubicBezTo>
                  <a:pt x="1080" y="217"/>
                  <a:pt x="1091" y="203"/>
                  <a:pt x="1091" y="203"/>
                </a:cubicBezTo>
              </a:path>
            </a:pathLst>
          </a:cu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6780213" y="491996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78H</a:t>
            </a: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6780213" y="4559603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12H</a:t>
            </a:r>
          </a:p>
        </p:txBody>
      </p:sp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6814344" y="4215637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┇</a:t>
            </a:r>
            <a:r>
              <a:rPr kumimoji="1" lang="en-US" altLang="zh-CN" sz="2400" b="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sp>
        <p:nvSpPr>
          <p:cNvPr id="24" name="Rectangle 8"/>
          <p:cNvSpPr>
            <a:spLocks noChangeArrowheads="1"/>
          </p:cNvSpPr>
          <p:nvPr/>
        </p:nvSpPr>
        <p:spPr bwMode="auto">
          <a:xfrm>
            <a:off x="6251576" y="3888885"/>
            <a:ext cx="1712912" cy="381000"/>
          </a:xfrm>
          <a:prstGeom prst="rect">
            <a:avLst/>
          </a:prstGeom>
          <a:solidFill>
            <a:srgbClr val="99CC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5" name="Text Box 56"/>
          <p:cNvSpPr txBox="1">
            <a:spLocks noChangeArrowheads="1"/>
          </p:cNvSpPr>
          <p:nvPr/>
        </p:nvSpPr>
        <p:spPr bwMode="auto">
          <a:xfrm>
            <a:off x="7891042" y="4589765"/>
            <a:ext cx="946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5678H</a:t>
            </a:r>
          </a:p>
        </p:txBody>
      </p:sp>
      <p:sp>
        <p:nvSpPr>
          <p:cNvPr id="26" name="Text Box 56"/>
          <p:cNvSpPr txBox="1">
            <a:spLocks noChangeArrowheads="1"/>
          </p:cNvSpPr>
          <p:nvPr/>
        </p:nvSpPr>
        <p:spPr bwMode="auto">
          <a:xfrm>
            <a:off x="7891042" y="4962034"/>
            <a:ext cx="946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5679H</a:t>
            </a:r>
          </a:p>
        </p:txBody>
      </p:sp>
      <p:sp>
        <p:nvSpPr>
          <p:cNvPr id="27" name="Rectangle 5"/>
          <p:cNvSpPr>
            <a:spLocks noChangeArrowheads="1"/>
          </p:cNvSpPr>
          <p:nvPr/>
        </p:nvSpPr>
        <p:spPr bwMode="auto">
          <a:xfrm>
            <a:off x="6251576" y="2366974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6251576" y="2747974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6254355" y="1641777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0" name="Rectangle 6"/>
          <p:cNvSpPr>
            <a:spLocks noChangeArrowheads="1"/>
          </p:cNvSpPr>
          <p:nvPr/>
        </p:nvSpPr>
        <p:spPr bwMode="auto">
          <a:xfrm>
            <a:off x="6254355" y="2001817"/>
            <a:ext cx="1712912" cy="381000"/>
          </a:xfrm>
          <a:prstGeom prst="rect">
            <a:avLst/>
          </a:prstGeom>
          <a:solidFill>
            <a:srgbClr val="3399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1" name="Text Box 56"/>
          <p:cNvSpPr txBox="1">
            <a:spLocks noChangeArrowheads="1"/>
          </p:cNvSpPr>
          <p:nvPr/>
        </p:nvSpPr>
        <p:spPr bwMode="auto">
          <a:xfrm>
            <a:off x="7944270" y="3885739"/>
            <a:ext cx="946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1234H</a:t>
            </a:r>
          </a:p>
        </p:txBody>
      </p:sp>
      <p:sp>
        <p:nvSpPr>
          <p:cNvPr id="32" name="Text Box 14"/>
          <p:cNvSpPr txBox="1">
            <a:spLocks noChangeArrowheads="1"/>
          </p:cNvSpPr>
          <p:nvPr/>
        </p:nvSpPr>
        <p:spPr bwMode="auto">
          <a:xfrm>
            <a:off x="6816131" y="3454938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12H</a:t>
            </a:r>
          </a:p>
        </p:txBody>
      </p:sp>
      <p:sp>
        <p:nvSpPr>
          <p:cNvPr id="33" name="Text Box 14"/>
          <p:cNvSpPr txBox="1">
            <a:spLocks noChangeArrowheads="1"/>
          </p:cNvSpPr>
          <p:nvPr/>
        </p:nvSpPr>
        <p:spPr bwMode="auto">
          <a:xfrm>
            <a:off x="6814170" y="3082143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34H</a:t>
            </a:r>
          </a:p>
        </p:txBody>
      </p:sp>
      <p:sp>
        <p:nvSpPr>
          <p:cNvPr id="34" name="Text Box 14"/>
          <p:cNvSpPr txBox="1">
            <a:spLocks noChangeArrowheads="1"/>
          </p:cNvSpPr>
          <p:nvPr/>
        </p:nvSpPr>
        <p:spPr bwMode="auto">
          <a:xfrm>
            <a:off x="6825258" y="2710284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56H</a:t>
            </a:r>
          </a:p>
        </p:txBody>
      </p:sp>
      <p:sp>
        <p:nvSpPr>
          <p:cNvPr id="35" name="Text Box 13"/>
          <p:cNvSpPr txBox="1">
            <a:spLocks noChangeArrowheads="1"/>
          </p:cNvSpPr>
          <p:nvPr/>
        </p:nvSpPr>
        <p:spPr bwMode="auto">
          <a:xfrm>
            <a:off x="6814170" y="2329284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78H</a:t>
            </a:r>
          </a:p>
        </p:txBody>
      </p:sp>
      <p:sp>
        <p:nvSpPr>
          <p:cNvPr id="36" name="Text Box 14"/>
          <p:cNvSpPr txBox="1">
            <a:spLocks noChangeArrowheads="1"/>
          </p:cNvSpPr>
          <p:nvPr/>
        </p:nvSpPr>
        <p:spPr bwMode="auto">
          <a:xfrm>
            <a:off x="6792937" y="1584441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12H</a:t>
            </a:r>
          </a:p>
        </p:txBody>
      </p:sp>
      <p:sp>
        <p:nvSpPr>
          <p:cNvPr id="37" name="Text Box 13"/>
          <p:cNvSpPr txBox="1">
            <a:spLocks noChangeArrowheads="1"/>
          </p:cNvSpPr>
          <p:nvPr/>
        </p:nvSpPr>
        <p:spPr bwMode="auto">
          <a:xfrm>
            <a:off x="6803082" y="1977417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78H</a:t>
            </a:r>
          </a:p>
        </p:txBody>
      </p:sp>
      <p:sp>
        <p:nvSpPr>
          <p:cNvPr id="39" name="Text Box 30"/>
          <p:cNvSpPr txBox="1">
            <a:spLocks noChangeArrowheads="1"/>
          </p:cNvSpPr>
          <p:nvPr/>
        </p:nvSpPr>
        <p:spPr bwMode="auto">
          <a:xfrm>
            <a:off x="5444677" y="3790315"/>
            <a:ext cx="64184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SP</a:t>
            </a:r>
          </a:p>
        </p:txBody>
      </p:sp>
      <p:sp>
        <p:nvSpPr>
          <p:cNvPr id="40" name="Line 36"/>
          <p:cNvSpPr>
            <a:spLocks noChangeShapeType="1"/>
          </p:cNvSpPr>
          <p:nvPr/>
        </p:nvSpPr>
        <p:spPr bwMode="auto">
          <a:xfrm>
            <a:off x="5918000" y="4101111"/>
            <a:ext cx="299087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Text Box 30"/>
          <p:cNvSpPr txBox="1">
            <a:spLocks noChangeArrowheads="1"/>
          </p:cNvSpPr>
          <p:nvPr/>
        </p:nvSpPr>
        <p:spPr bwMode="auto">
          <a:xfrm>
            <a:off x="5390085" y="3082143"/>
            <a:ext cx="64184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SP</a:t>
            </a:r>
          </a:p>
        </p:txBody>
      </p:sp>
      <p:sp>
        <p:nvSpPr>
          <p:cNvPr id="42" name="Line 36"/>
          <p:cNvSpPr>
            <a:spLocks noChangeShapeType="1"/>
          </p:cNvSpPr>
          <p:nvPr/>
        </p:nvSpPr>
        <p:spPr bwMode="auto">
          <a:xfrm>
            <a:off x="5917999" y="3379450"/>
            <a:ext cx="299087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Text Box 30"/>
          <p:cNvSpPr txBox="1">
            <a:spLocks noChangeArrowheads="1"/>
          </p:cNvSpPr>
          <p:nvPr/>
        </p:nvSpPr>
        <p:spPr bwMode="auto">
          <a:xfrm>
            <a:off x="5323284" y="2328874"/>
            <a:ext cx="64184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SP</a:t>
            </a:r>
          </a:p>
        </p:txBody>
      </p:sp>
      <p:sp>
        <p:nvSpPr>
          <p:cNvPr id="44" name="Line 36"/>
          <p:cNvSpPr>
            <a:spLocks noChangeShapeType="1"/>
          </p:cNvSpPr>
          <p:nvPr/>
        </p:nvSpPr>
        <p:spPr bwMode="auto">
          <a:xfrm>
            <a:off x="5886847" y="2567465"/>
            <a:ext cx="299087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" name="Text Box 30"/>
          <p:cNvSpPr txBox="1">
            <a:spLocks noChangeArrowheads="1"/>
          </p:cNvSpPr>
          <p:nvPr/>
        </p:nvSpPr>
        <p:spPr bwMode="auto">
          <a:xfrm>
            <a:off x="5298304" y="1532082"/>
            <a:ext cx="64184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SP</a:t>
            </a:r>
          </a:p>
        </p:txBody>
      </p:sp>
      <p:sp>
        <p:nvSpPr>
          <p:cNvPr id="46" name="Line 36"/>
          <p:cNvSpPr>
            <a:spLocks noChangeShapeType="1"/>
          </p:cNvSpPr>
          <p:nvPr/>
        </p:nvSpPr>
        <p:spPr bwMode="auto">
          <a:xfrm>
            <a:off x="5882389" y="1803561"/>
            <a:ext cx="299087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75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250"/>
                            </p:stCondLst>
                            <p:childTnLst>
                              <p:par>
                                <p:cTn id="76" presetID="2" presetClass="entr" presetSubtype="3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2" presetClass="entr" presetSubtype="3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2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750"/>
                            </p:stCondLst>
                            <p:childTnLst>
                              <p:par>
                                <p:cTn id="105" presetID="2" presetClass="entr" presetSubtype="3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2" presetClass="entr" presetSubtype="3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2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2" presetClass="entr" presetSubtype="3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750"/>
                            </p:stCondLst>
                            <p:childTnLst>
                              <p:par>
                                <p:cTn id="142" presetID="2" presetClass="entr" presetSubtype="3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22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2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1228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xit" presetSubtype="0" fill="hold" grpId="3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500"/>
                            </p:stCondLst>
                            <p:childTnLst>
                              <p:par>
                                <p:cTn id="174" presetID="1" presetClass="entr" presetSubtype="0" fill="hold" grpId="2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750"/>
                            </p:stCondLst>
                            <p:childTnLst>
                              <p:par>
                                <p:cTn id="177" presetID="1" presetClass="entr" presetSubtype="0" fill="hold" grpId="2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1228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xit" presetSubtype="0" fill="hold" grpId="3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xit" presetSubtype="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" presetClass="entr" presetSubtype="0" fill="hold" grpId="2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750"/>
                            </p:stCondLst>
                            <p:childTnLst>
                              <p:par>
                                <p:cTn id="194" presetID="1" presetClass="entr" presetSubtype="0" fill="hold" grpId="2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0" dur="500"/>
                                        <p:tgtEl>
                                          <p:spTgt spid="12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500"/>
                            </p:stCondLst>
                            <p:childTnLst>
                              <p:par>
                                <p:cTn id="2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122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5" grpId="0" animBg="1"/>
      <p:bldP spid="122887" grpId="0"/>
      <p:bldP spid="17" grpId="0"/>
      <p:bldP spid="18" grpId="0"/>
      <p:bldP spid="25" grpId="0"/>
      <p:bldP spid="26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9" grpId="0"/>
      <p:bldP spid="39" grpId="1"/>
      <p:bldP spid="39" grpId="2"/>
      <p:bldP spid="40" grpId="0" animBg="1"/>
      <p:bldP spid="40" grpId="1" animBg="1"/>
      <p:bldP spid="40" grpId="2" animBg="1"/>
      <p:bldP spid="41" grpId="0"/>
      <p:bldP spid="41" grpId="1"/>
      <p:bldP spid="41" grpId="2"/>
      <p:bldP spid="41" grpId="3"/>
      <p:bldP spid="42" grpId="0" animBg="1"/>
      <p:bldP spid="42" grpId="1" animBg="1"/>
      <p:bldP spid="42" grpId="2" animBg="1"/>
      <p:bldP spid="42" grpId="3" animBg="1"/>
      <p:bldP spid="43" grpId="0"/>
      <p:bldP spid="43" grpId="1"/>
      <p:bldP spid="43" grpId="2"/>
      <p:bldP spid="43" grpId="3"/>
      <p:bldP spid="44" grpId="0" animBg="1"/>
      <p:bldP spid="44" grpId="1" animBg="1"/>
      <p:bldP spid="44" grpId="2" animBg="1"/>
      <p:bldP spid="44" grpId="3" animBg="1"/>
      <p:bldP spid="45" grpId="0"/>
      <p:bldP spid="45" grpId="1"/>
      <p:bldP spid="46" grpId="0" animBg="1"/>
      <p:bldP spid="46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1860F6-BFAC-49E4-A370-39C019CE30B4}" type="slidenum">
              <a:rPr lang="zh-CN" altLang="en-US" smtClean="0"/>
              <a:pPr>
                <a:defRPr/>
              </a:pPr>
              <a:t>50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187624" y="1052736"/>
            <a:ext cx="5760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</a:rPr>
              <a:t>2</a:t>
            </a:r>
            <a:r>
              <a:rPr lang="zh-CN" altLang="en-US" sz="2800" b="1" dirty="0">
                <a:solidFill>
                  <a:srgbClr val="C00000"/>
                </a:solidFill>
              </a:rPr>
              <a:t>）</a:t>
            </a:r>
            <a:r>
              <a:rPr lang="en-US" altLang="zh-CN" sz="2800" b="1" dirty="0">
                <a:solidFill>
                  <a:srgbClr val="C00000"/>
                </a:solidFill>
              </a:rPr>
              <a:t>32</a:t>
            </a:r>
            <a:r>
              <a:rPr lang="zh-CN" altLang="en-US" sz="2800" b="1" dirty="0">
                <a:solidFill>
                  <a:srgbClr val="C00000"/>
                </a:solidFill>
              </a:rPr>
              <a:t>位保护模式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99592" y="1988840"/>
            <a:ext cx="74888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前面介绍的实模式下的指令都可以使用</a:t>
            </a:r>
            <a:r>
              <a:rPr lang="zh-CN" altLang="en-US" sz="2400" b="1" dirty="0" smtClean="0"/>
              <a:t>，</a:t>
            </a:r>
            <a:r>
              <a:rPr lang="zh-CN" altLang="en-US" sz="2400" b="1" dirty="0"/>
              <a:t>操作数</a:t>
            </a:r>
            <a:r>
              <a:rPr lang="zh-CN" altLang="en-US" sz="2400" b="1" dirty="0" smtClean="0"/>
              <a:t>还</a:t>
            </a:r>
            <a:r>
              <a:rPr lang="zh-CN" altLang="en-US" sz="2400" b="1" dirty="0"/>
              <a:t>可以使用</a:t>
            </a:r>
            <a:r>
              <a:rPr lang="en-US" altLang="zh-CN" sz="2400" b="1" dirty="0"/>
              <a:t>32</a:t>
            </a:r>
            <a:r>
              <a:rPr lang="zh-CN" altLang="en-US" sz="2400" b="1" dirty="0"/>
              <a:t>位寄存器和</a:t>
            </a:r>
            <a:r>
              <a:rPr lang="zh-CN" altLang="en-US" sz="2400" b="1" dirty="0" smtClean="0"/>
              <a:t>存储单元。另外</a:t>
            </a:r>
            <a:r>
              <a:rPr lang="zh-CN" altLang="en-US" sz="2400" b="1" dirty="0"/>
              <a:t>增加了以下指令。</a:t>
            </a: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11560" y="2924944"/>
            <a:ext cx="7886909" cy="3638128"/>
          </a:xfrm>
        </p:spPr>
        <p:txBody>
          <a:bodyPr/>
          <a:lstStyle/>
          <a:p>
            <a:r>
              <a:rPr lang="pt-BR" altLang="en-US" sz="2400" dirty="0">
                <a:solidFill>
                  <a:srgbClr val="0000FF"/>
                </a:solidFill>
              </a:rPr>
              <a:t>PUSH</a:t>
            </a:r>
            <a:r>
              <a:rPr lang="zh-CN" altLang="en-US" sz="2400" dirty="0"/>
              <a:t>允许立即数入栈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/>
              <a:t>例如：</a:t>
            </a:r>
            <a:r>
              <a:rPr lang="pt-BR" altLang="en-US" sz="2400" dirty="0"/>
              <a:t>PUSH	0ABCDH          ;</a:t>
            </a:r>
            <a:r>
              <a:rPr lang="zh-CN" altLang="en-US" sz="2400" dirty="0"/>
              <a:t>将</a:t>
            </a:r>
            <a:r>
              <a:rPr lang="pt-BR" altLang="en-US" sz="2400" dirty="0"/>
              <a:t>16</a:t>
            </a:r>
            <a:r>
              <a:rPr lang="zh-CN" altLang="en-US" sz="2400" dirty="0"/>
              <a:t>位立即数入栈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/>
              <a:t>           </a:t>
            </a:r>
            <a:r>
              <a:rPr lang="pt-BR" altLang="en-US" sz="2400" dirty="0"/>
              <a:t>PUSH0ABCD0000H  ;</a:t>
            </a:r>
            <a:r>
              <a:rPr lang="zh-CN" altLang="en-US" sz="2400" dirty="0"/>
              <a:t>将</a:t>
            </a:r>
            <a:r>
              <a:rPr lang="pt-BR" altLang="en-US" sz="2400" dirty="0"/>
              <a:t>32</a:t>
            </a:r>
            <a:r>
              <a:rPr lang="zh-CN" altLang="en-US" sz="2400" dirty="0"/>
              <a:t>位立即数入栈  </a:t>
            </a:r>
          </a:p>
          <a:p>
            <a:r>
              <a:rPr lang="zh-CN" altLang="zh-CN" sz="2400" dirty="0"/>
              <a:t>新增两条</a:t>
            </a:r>
            <a:r>
              <a:rPr lang="zh-CN" altLang="en-US" sz="2400" dirty="0"/>
              <a:t>入栈</a:t>
            </a:r>
            <a:r>
              <a:rPr lang="zh-CN" altLang="zh-CN" sz="2400" dirty="0"/>
              <a:t>指令</a:t>
            </a:r>
            <a:r>
              <a:rPr lang="zh-CN" altLang="en-US" sz="2400" dirty="0"/>
              <a:t>：</a:t>
            </a:r>
            <a:r>
              <a:rPr lang="pt-BR" altLang="en-US" sz="2400" dirty="0">
                <a:solidFill>
                  <a:srgbClr val="0000FF"/>
                </a:solidFill>
              </a:rPr>
              <a:t>PUSHA</a:t>
            </a:r>
            <a:r>
              <a:rPr lang="zh-CN" altLang="en-US" sz="2400" dirty="0">
                <a:solidFill>
                  <a:srgbClr val="C00000"/>
                </a:solidFill>
              </a:rPr>
              <a:t>和</a:t>
            </a:r>
            <a:r>
              <a:rPr lang="pt-BR" altLang="en-US" sz="2400" dirty="0">
                <a:solidFill>
                  <a:srgbClr val="0000FF"/>
                </a:solidFill>
              </a:rPr>
              <a:t>PUSHD</a:t>
            </a:r>
            <a:endParaRPr lang="zh-CN" altLang="en-US" sz="2400" dirty="0">
              <a:solidFill>
                <a:srgbClr val="0000FF"/>
              </a:solidFill>
            </a:endParaRPr>
          </a:p>
          <a:p>
            <a:pPr lvl="1"/>
            <a:r>
              <a:rPr lang="pt-BR" altLang="en-US" dirty="0">
                <a:solidFill>
                  <a:srgbClr val="0000FF"/>
                </a:solidFill>
              </a:rPr>
              <a:t>PUSHA</a:t>
            </a:r>
            <a:r>
              <a:rPr lang="zh-CN" altLang="en-US" dirty="0">
                <a:solidFill>
                  <a:srgbClr val="0000FF"/>
                </a:solidFill>
              </a:rPr>
              <a:t>：</a:t>
            </a:r>
            <a:r>
              <a:rPr lang="zh-CN" altLang="en-US" dirty="0"/>
              <a:t>将</a:t>
            </a:r>
            <a:r>
              <a:rPr lang="en-US" altLang="zh-CN" dirty="0"/>
              <a:t>8</a:t>
            </a:r>
            <a:r>
              <a:rPr lang="zh-CN" altLang="en-US" dirty="0"/>
              <a:t>个</a:t>
            </a:r>
            <a:r>
              <a:rPr lang="en-US" altLang="zh-CN" dirty="0"/>
              <a:t>16</a:t>
            </a:r>
            <a:r>
              <a:rPr lang="zh-CN" altLang="en-US" dirty="0"/>
              <a:t>位通用寄存器按</a:t>
            </a:r>
            <a:r>
              <a:rPr lang="pt-BR" altLang="en-US" dirty="0"/>
              <a:t>AX</a:t>
            </a:r>
            <a:r>
              <a:rPr lang="zh-CN" altLang="en-US" dirty="0"/>
              <a:t>、</a:t>
            </a:r>
            <a:r>
              <a:rPr lang="pt-BR" altLang="en-US" dirty="0"/>
              <a:t>CX</a:t>
            </a:r>
            <a:r>
              <a:rPr lang="zh-CN" altLang="en-US" dirty="0"/>
              <a:t>、</a:t>
            </a:r>
            <a:r>
              <a:rPr lang="pt-BR" altLang="en-US" dirty="0"/>
              <a:t>DX</a:t>
            </a:r>
            <a:r>
              <a:rPr lang="zh-CN" altLang="en-US" dirty="0"/>
              <a:t>、</a:t>
            </a:r>
            <a:r>
              <a:rPr lang="pt-BR" altLang="en-US" dirty="0"/>
              <a:t>BX</a:t>
            </a:r>
            <a:r>
              <a:rPr lang="zh-CN" altLang="en-US" dirty="0"/>
              <a:t>、</a:t>
            </a:r>
            <a:r>
              <a:rPr lang="pt-BR" altLang="en-US" dirty="0"/>
              <a:t>SP</a:t>
            </a:r>
            <a:r>
              <a:rPr lang="zh-CN" altLang="en-US" dirty="0"/>
              <a:t>、</a:t>
            </a:r>
            <a:r>
              <a:rPr lang="pt-BR" altLang="en-US" dirty="0"/>
              <a:t>BP</a:t>
            </a:r>
            <a:r>
              <a:rPr lang="zh-CN" altLang="en-US" dirty="0"/>
              <a:t>、</a:t>
            </a:r>
            <a:r>
              <a:rPr lang="pt-BR" altLang="en-US" dirty="0"/>
              <a:t>SI</a:t>
            </a:r>
            <a:r>
              <a:rPr lang="zh-CN" altLang="en-US" dirty="0"/>
              <a:t>与</a:t>
            </a:r>
            <a:r>
              <a:rPr lang="pt-BR" altLang="en-US" dirty="0"/>
              <a:t>DI</a:t>
            </a:r>
            <a:r>
              <a:rPr lang="zh-CN" altLang="en-US" dirty="0"/>
              <a:t>的顺序入栈。</a:t>
            </a:r>
          </a:p>
          <a:p>
            <a:pPr lvl="1"/>
            <a:r>
              <a:rPr lang="pt-BR" altLang="en-US" dirty="0">
                <a:solidFill>
                  <a:srgbClr val="0000FF"/>
                </a:solidFill>
              </a:rPr>
              <a:t>PUSHD</a:t>
            </a:r>
            <a:r>
              <a:rPr lang="zh-CN" altLang="en-US" dirty="0">
                <a:solidFill>
                  <a:srgbClr val="0000FF"/>
                </a:solidFill>
              </a:rPr>
              <a:t>：</a:t>
            </a:r>
            <a:r>
              <a:rPr lang="zh-CN" altLang="en-US" dirty="0"/>
              <a:t>将</a:t>
            </a:r>
            <a:r>
              <a:rPr lang="en-US" altLang="zh-CN" dirty="0"/>
              <a:t>8</a:t>
            </a:r>
            <a:r>
              <a:rPr lang="zh-CN" altLang="en-US" dirty="0"/>
              <a:t>个</a:t>
            </a:r>
            <a:r>
              <a:rPr lang="en-US" altLang="zh-CN" dirty="0"/>
              <a:t>32</a:t>
            </a:r>
            <a:r>
              <a:rPr lang="zh-CN" altLang="en-US" dirty="0"/>
              <a:t>位通用寄存器按</a:t>
            </a:r>
            <a:r>
              <a:rPr lang="pt-BR" altLang="en-US" dirty="0"/>
              <a:t>EAX</a:t>
            </a:r>
            <a:r>
              <a:rPr lang="zh-CN" altLang="en-US" dirty="0"/>
              <a:t>、</a:t>
            </a:r>
            <a:r>
              <a:rPr lang="pt-BR" altLang="en-US" dirty="0"/>
              <a:t>ECX</a:t>
            </a:r>
            <a:r>
              <a:rPr lang="zh-CN" altLang="en-US" dirty="0"/>
              <a:t>、</a:t>
            </a:r>
            <a:r>
              <a:rPr lang="pt-BR" altLang="en-US" dirty="0"/>
              <a:t>EDX</a:t>
            </a:r>
            <a:r>
              <a:rPr lang="zh-CN" altLang="en-US" dirty="0"/>
              <a:t>、</a:t>
            </a:r>
            <a:r>
              <a:rPr lang="pt-BR" altLang="en-US" dirty="0"/>
              <a:t>EBX</a:t>
            </a:r>
            <a:r>
              <a:rPr lang="zh-CN" altLang="en-US" dirty="0"/>
              <a:t>、</a:t>
            </a:r>
            <a:r>
              <a:rPr lang="pt-BR" altLang="en-US" dirty="0"/>
              <a:t>ESP</a:t>
            </a:r>
            <a:r>
              <a:rPr lang="zh-CN" altLang="en-US" dirty="0"/>
              <a:t>、</a:t>
            </a:r>
            <a:r>
              <a:rPr lang="pt-BR" altLang="en-US" dirty="0"/>
              <a:t>EBP</a:t>
            </a:r>
            <a:r>
              <a:rPr lang="zh-CN" altLang="en-US" dirty="0"/>
              <a:t>、</a:t>
            </a:r>
            <a:r>
              <a:rPr lang="pt-BR" altLang="en-US" dirty="0"/>
              <a:t>ESI</a:t>
            </a:r>
            <a:r>
              <a:rPr lang="zh-CN" altLang="en-US" dirty="0"/>
              <a:t>与</a:t>
            </a:r>
            <a:r>
              <a:rPr lang="pt-BR" altLang="en-US" dirty="0"/>
              <a:t>EDI</a:t>
            </a:r>
            <a:r>
              <a:rPr lang="zh-CN" altLang="en-US" dirty="0"/>
              <a:t>的顺序入栈。</a:t>
            </a:r>
            <a:endParaRPr lang="zh-CN" altLang="zh-CN" sz="2400" dirty="0"/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36164098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4366" y="1916832"/>
            <a:ext cx="7868114" cy="4114800"/>
          </a:xfrm>
        </p:spPr>
        <p:txBody>
          <a:bodyPr/>
          <a:lstStyle/>
          <a:p>
            <a:r>
              <a:rPr lang="zh-CN" altLang="zh-CN" sz="2400" dirty="0"/>
              <a:t>新增两条</a:t>
            </a:r>
            <a:r>
              <a:rPr lang="zh-CN" altLang="en-US" sz="2400" dirty="0"/>
              <a:t>出栈</a:t>
            </a:r>
            <a:r>
              <a:rPr lang="zh-CN" altLang="zh-CN" sz="2400" dirty="0"/>
              <a:t>指令</a:t>
            </a:r>
            <a:r>
              <a:rPr lang="zh-CN" altLang="en-US" sz="2400" dirty="0"/>
              <a:t>：</a:t>
            </a:r>
            <a:r>
              <a:rPr lang="pt-BR" altLang="en-US" sz="2400" dirty="0">
                <a:solidFill>
                  <a:srgbClr val="0000FF"/>
                </a:solidFill>
              </a:rPr>
              <a:t>POPA</a:t>
            </a:r>
            <a:r>
              <a:rPr lang="zh-CN" altLang="en-US" sz="2400" dirty="0">
                <a:solidFill>
                  <a:srgbClr val="0000FF"/>
                </a:solidFill>
              </a:rPr>
              <a:t>和</a:t>
            </a:r>
            <a:r>
              <a:rPr lang="pt-BR" altLang="en-US" sz="2400" dirty="0">
                <a:solidFill>
                  <a:srgbClr val="0000FF"/>
                </a:solidFill>
              </a:rPr>
              <a:t>POPD</a:t>
            </a:r>
            <a:endParaRPr lang="zh-CN" altLang="en-US" sz="2400" dirty="0">
              <a:solidFill>
                <a:srgbClr val="0000FF"/>
              </a:solidFill>
            </a:endParaRPr>
          </a:p>
          <a:p>
            <a:pPr lvl="1"/>
            <a:r>
              <a:rPr lang="pt-BR" altLang="en-US" dirty="0"/>
              <a:t>POPA</a:t>
            </a:r>
            <a:r>
              <a:rPr lang="zh-CN" altLang="en-US" dirty="0"/>
              <a:t>指令从栈顶弹出</a:t>
            </a:r>
            <a:r>
              <a:rPr lang="pt-BR" altLang="en-US" dirty="0"/>
              <a:t>8</a:t>
            </a:r>
            <a:r>
              <a:rPr lang="zh-CN" altLang="en-US" dirty="0"/>
              <a:t>个字数据分别送入</a:t>
            </a:r>
            <a:r>
              <a:rPr lang="pt-BR" altLang="en-US" dirty="0"/>
              <a:t>DI</a:t>
            </a:r>
            <a:r>
              <a:rPr lang="zh-CN" altLang="en-US" dirty="0"/>
              <a:t>、</a:t>
            </a:r>
            <a:r>
              <a:rPr lang="pt-BR" altLang="en-US" dirty="0"/>
              <a:t>SI</a:t>
            </a:r>
            <a:r>
              <a:rPr lang="zh-CN" altLang="en-US" dirty="0"/>
              <a:t>、</a:t>
            </a:r>
            <a:r>
              <a:rPr lang="pt-BR" altLang="en-US" dirty="0"/>
              <a:t>BP</a:t>
            </a:r>
            <a:r>
              <a:rPr lang="zh-CN" altLang="en-US" dirty="0"/>
              <a:t>、</a:t>
            </a:r>
            <a:r>
              <a:rPr lang="pt-BR" altLang="en-US" dirty="0"/>
              <a:t>SP</a:t>
            </a:r>
            <a:r>
              <a:rPr lang="zh-CN" altLang="en-US" dirty="0"/>
              <a:t>、</a:t>
            </a:r>
            <a:r>
              <a:rPr lang="pt-BR" altLang="en-US" dirty="0"/>
              <a:t>BX</a:t>
            </a:r>
            <a:r>
              <a:rPr lang="zh-CN" altLang="en-US" dirty="0"/>
              <a:t>、</a:t>
            </a:r>
            <a:r>
              <a:rPr lang="pt-BR" altLang="en-US" dirty="0"/>
              <a:t>DX</a:t>
            </a:r>
            <a:r>
              <a:rPr lang="zh-CN" altLang="en-US" dirty="0"/>
              <a:t>、</a:t>
            </a:r>
            <a:r>
              <a:rPr lang="pt-BR" altLang="en-US" dirty="0"/>
              <a:t>CX</a:t>
            </a:r>
            <a:r>
              <a:rPr lang="zh-CN" altLang="en-US" dirty="0"/>
              <a:t>与</a:t>
            </a:r>
            <a:r>
              <a:rPr lang="pt-BR" altLang="en-US" dirty="0"/>
              <a:t>AX</a:t>
            </a:r>
            <a:r>
              <a:rPr lang="zh-CN" altLang="en-US" dirty="0"/>
              <a:t>。</a:t>
            </a:r>
            <a:endParaRPr lang="pt-BR" altLang="en-US" dirty="0">
              <a:solidFill>
                <a:srgbClr val="0000FF"/>
              </a:solidFill>
            </a:endParaRPr>
          </a:p>
          <a:p>
            <a:pPr lvl="1"/>
            <a:r>
              <a:rPr lang="pt-BR" altLang="en-US" dirty="0"/>
              <a:t>POPD</a:t>
            </a:r>
            <a:r>
              <a:rPr lang="zh-CN" altLang="en-US" dirty="0"/>
              <a:t>指令从栈顶弹出</a:t>
            </a:r>
            <a:r>
              <a:rPr lang="pt-BR" altLang="en-US" dirty="0"/>
              <a:t>8</a:t>
            </a:r>
            <a:r>
              <a:rPr lang="zh-CN" altLang="en-US" dirty="0"/>
              <a:t>个双字数据分别送入</a:t>
            </a:r>
            <a:r>
              <a:rPr lang="pt-BR" altLang="en-US" dirty="0"/>
              <a:t>EDI</a:t>
            </a:r>
            <a:r>
              <a:rPr lang="zh-CN" altLang="en-US" dirty="0"/>
              <a:t>、</a:t>
            </a:r>
            <a:r>
              <a:rPr lang="pt-BR" altLang="en-US" dirty="0"/>
              <a:t>ESI</a:t>
            </a:r>
            <a:r>
              <a:rPr lang="zh-CN" altLang="en-US" dirty="0"/>
              <a:t>、</a:t>
            </a:r>
            <a:r>
              <a:rPr lang="pt-BR" altLang="en-US" dirty="0"/>
              <a:t>EBP</a:t>
            </a:r>
            <a:r>
              <a:rPr lang="zh-CN" altLang="en-US" dirty="0"/>
              <a:t>、</a:t>
            </a:r>
            <a:r>
              <a:rPr lang="pt-BR" altLang="en-US" dirty="0"/>
              <a:t>ESP</a:t>
            </a:r>
            <a:r>
              <a:rPr lang="zh-CN" altLang="en-US" dirty="0"/>
              <a:t>、</a:t>
            </a:r>
            <a:r>
              <a:rPr lang="pt-BR" altLang="en-US" dirty="0"/>
              <a:t>EBX</a:t>
            </a:r>
            <a:r>
              <a:rPr lang="zh-CN" altLang="en-US" dirty="0"/>
              <a:t>、</a:t>
            </a:r>
            <a:r>
              <a:rPr lang="pt-BR" altLang="en-US" dirty="0"/>
              <a:t>EDX</a:t>
            </a:r>
            <a:r>
              <a:rPr lang="zh-CN" altLang="en-US" dirty="0"/>
              <a:t>、</a:t>
            </a:r>
            <a:r>
              <a:rPr lang="pt-BR" altLang="en-US" dirty="0"/>
              <a:t>ECX</a:t>
            </a:r>
            <a:r>
              <a:rPr lang="zh-CN" altLang="en-US" dirty="0"/>
              <a:t>与</a:t>
            </a:r>
            <a:r>
              <a:rPr lang="pt-BR" altLang="en-US" dirty="0"/>
              <a:t>EAX</a:t>
            </a:r>
            <a:r>
              <a:rPr lang="zh-CN" altLang="en-US" dirty="0"/>
              <a:t>。 </a:t>
            </a:r>
            <a:endParaRPr lang="en-US" altLang="zh-CN" dirty="0"/>
          </a:p>
          <a:p>
            <a:r>
              <a:rPr lang="zh-CN" altLang="en-US" sz="2400" dirty="0"/>
              <a:t>新增</a:t>
            </a:r>
            <a:r>
              <a:rPr lang="en-US" altLang="en-US" sz="2400" dirty="0"/>
              <a:t>32</a:t>
            </a:r>
            <a:r>
              <a:rPr lang="zh-CN" altLang="en-US" sz="2400" dirty="0"/>
              <a:t>位标志寄存器</a:t>
            </a:r>
            <a:r>
              <a:rPr lang="en-US" altLang="zh-CN" sz="2400" dirty="0"/>
              <a:t>EFLAGS</a:t>
            </a:r>
            <a:r>
              <a:rPr lang="zh-CN" altLang="en-US" sz="2400" dirty="0"/>
              <a:t>进栈</a:t>
            </a:r>
            <a:r>
              <a:rPr lang="en-US" altLang="zh-CN" sz="2400" dirty="0"/>
              <a:t>/</a:t>
            </a:r>
            <a:r>
              <a:rPr lang="zh-CN" altLang="en-US" sz="2400" dirty="0"/>
              <a:t>出栈指令</a:t>
            </a:r>
            <a:endParaRPr lang="en-US" altLang="zh-CN" sz="2400" dirty="0"/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格式：</a:t>
            </a:r>
            <a:r>
              <a:rPr lang="en-US" altLang="zh-CN" dirty="0">
                <a:solidFill>
                  <a:srgbClr val="0000FF"/>
                </a:solidFill>
              </a:rPr>
              <a:t>PUSHFD 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pt-BR" altLang="en-US" dirty="0">
                <a:solidFill>
                  <a:srgbClr val="0000FF"/>
                </a:solidFill>
              </a:rPr>
              <a:t>POPFD</a:t>
            </a:r>
          </a:p>
          <a:p>
            <a:r>
              <a:rPr lang="zh-CN" altLang="en-US" sz="2400" dirty="0" smtClean="0">
                <a:solidFill>
                  <a:srgbClr val="FF0000"/>
                </a:solidFill>
              </a:rPr>
              <a:t>注意：</a:t>
            </a:r>
            <a:r>
              <a:rPr lang="pt-BR" altLang="en-US" sz="2400" dirty="0" smtClean="0"/>
              <a:t>32</a:t>
            </a:r>
            <a:r>
              <a:rPr lang="zh-CN" altLang="en-US" sz="2400" dirty="0"/>
              <a:t>位模式下堆栈指针为</a:t>
            </a:r>
            <a:r>
              <a:rPr lang="en-US" altLang="zh-CN" sz="2400" dirty="0" smtClean="0"/>
              <a:t>ESP</a:t>
            </a:r>
            <a:r>
              <a:rPr lang="zh-CN" altLang="en-US" sz="2400" dirty="0" smtClean="0"/>
              <a:t>，不是</a:t>
            </a:r>
            <a:r>
              <a:rPr lang="en-US" altLang="zh-CN" sz="2400" dirty="0" smtClean="0"/>
              <a:t>SP</a:t>
            </a:r>
            <a:r>
              <a:rPr lang="zh-CN" altLang="en-US" sz="2400" dirty="0" smtClean="0"/>
              <a:t>。</a:t>
            </a:r>
            <a:endParaRPr lang="pt-BR" altLang="en-US" sz="2400" dirty="0"/>
          </a:p>
          <a:p>
            <a:endParaRPr lang="zh-CN" altLang="zh-CN" sz="2400" dirty="0"/>
          </a:p>
          <a:p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1860F6-BFAC-49E4-A370-39C019CE30B4}" type="slidenum">
              <a:rPr lang="zh-CN" altLang="en-US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1152078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FFE265A-237C-487E-BCF5-116A27B684DB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52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5939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b="1" dirty="0"/>
              <a:t>3. </a:t>
            </a:r>
            <a:r>
              <a:rPr lang="zh-CN" altLang="en-US" dirty="0"/>
              <a:t>交换指令</a:t>
            </a:r>
          </a:p>
        </p:txBody>
      </p:sp>
      <p:sp>
        <p:nvSpPr>
          <p:cNvPr id="12390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 dirty="0">
                <a:latin typeface="宋体" pitchFamily="2" charset="-122"/>
              </a:rPr>
              <a:t>格式：</a:t>
            </a:r>
          </a:p>
          <a:p>
            <a:pPr algn="just" eaLnBrk="1" hangingPunct="1">
              <a:lnSpc>
                <a:spcPct val="90000"/>
              </a:lnSpc>
              <a:spcBef>
                <a:spcPct val="30000"/>
              </a:spcBef>
              <a:spcAft>
                <a:spcPct val="30000"/>
              </a:spcAft>
              <a:buFont typeface="Wingdings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XCHG  REG/MEM，MEM/REG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dirty="0" smtClean="0">
                <a:solidFill>
                  <a:srgbClr val="FF0000"/>
                </a:solidFill>
                <a:latin typeface="宋体" pitchFamily="2" charset="-122"/>
              </a:rPr>
              <a:t>两操作数必须至少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有一个是寄存器操作数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不允许使用段寄存器</a:t>
            </a:r>
            <a:r>
              <a:rPr lang="zh-CN" altLang="en-US" dirty="0">
                <a:solidFill>
                  <a:srgbClr val="FFFF00"/>
                </a:solidFill>
                <a:latin typeface="宋体" pitchFamily="2" charset="-122"/>
              </a:rPr>
              <a:t>。</a:t>
            </a:r>
          </a:p>
          <a:p>
            <a:pPr algn="just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latin typeface="宋体" pitchFamily="2" charset="-122"/>
              </a:rPr>
              <a:t>例：  </a:t>
            </a:r>
          </a:p>
          <a:p>
            <a:pPr lvl="1" algn="just"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XCHG	AX，BX</a:t>
            </a:r>
          </a:p>
          <a:p>
            <a:pPr lvl="1" algn="just" eaLnBrk="1" hangingPunct="1">
              <a:lnSpc>
                <a:spcPct val="90000"/>
              </a:lnSpc>
              <a:spcBef>
                <a:spcPct val="3000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XCHG	[EBP]，CL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3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3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7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3CC731CF-CFA3-418A-AFAA-32A0CD526463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53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67587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二、输入输出指令</a:t>
            </a:r>
          </a:p>
        </p:txBody>
      </p:sp>
      <p:sp>
        <p:nvSpPr>
          <p:cNvPr id="6758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042988" y="2133600"/>
            <a:ext cx="7415212" cy="4114800"/>
          </a:xfrm>
        </p:spPr>
        <p:txBody>
          <a:bodyPr/>
          <a:lstStyle/>
          <a:p>
            <a:pPr eaLnBrk="1" hangingPunct="1">
              <a:spcAft>
                <a:spcPct val="40000"/>
              </a:spcAft>
              <a:buFont typeface="Wingdings" pitchFamily="2" charset="2"/>
              <a:buNone/>
            </a:pPr>
            <a:r>
              <a:rPr lang="zh-CN" altLang="en-US" sz="3200" u="sng" dirty="0">
                <a:solidFill>
                  <a:schemeClr val="tx1"/>
                </a:solidFill>
              </a:rPr>
              <a:t>掌握：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dirty="0"/>
              <a:t>指令的格式及操作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dirty="0"/>
              <a:t>指令的两种寻址方式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dirty="0"/>
              <a:t>指令对操作数的要求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B2123D2-67E8-4FC3-AB20-B82184EDCCC5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54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输入输出指令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124075"/>
            <a:ext cx="7772400" cy="3321149"/>
          </a:xfrm>
        </p:spPr>
        <p:txBody>
          <a:bodyPr/>
          <a:lstStyle/>
          <a:p>
            <a:pPr eaLnBrk="1" hangingPunct="1"/>
            <a:r>
              <a:rPr lang="zh-CN" altLang="en-US" dirty="0"/>
              <a:t>专门面向</a:t>
            </a:r>
            <a:r>
              <a:rPr lang="en-US" altLang="zh-CN" dirty="0"/>
              <a:t>I/O</a:t>
            </a:r>
            <a:r>
              <a:rPr lang="zh-CN" altLang="en-US" dirty="0"/>
              <a:t>端口操作的指令</a:t>
            </a:r>
          </a:p>
          <a:p>
            <a:pPr eaLnBrk="1" hangingPunct="1">
              <a:spcBef>
                <a:spcPct val="65000"/>
              </a:spcBef>
            </a:pPr>
            <a:r>
              <a:rPr lang="zh-CN" altLang="en-US" dirty="0"/>
              <a:t>指令格式：</a:t>
            </a:r>
          </a:p>
          <a:p>
            <a:pPr lvl="1" eaLnBrk="1" hangingPunct="1"/>
            <a:r>
              <a:rPr kumimoji="1" lang="zh-CN" altLang="en-US" dirty="0"/>
              <a:t>输入指令： </a:t>
            </a:r>
            <a:r>
              <a:rPr kumimoji="1" lang="en-US" altLang="zh-CN" dirty="0"/>
              <a:t>IN  </a:t>
            </a:r>
            <a:r>
              <a:rPr kumimoji="1" lang="en-US" altLang="zh-CN" dirty="0" err="1"/>
              <a:t>acc，PORT</a:t>
            </a:r>
            <a:endParaRPr kumimoji="1" lang="en-US" altLang="zh-CN" dirty="0"/>
          </a:p>
          <a:p>
            <a:pPr lvl="1" eaLnBrk="1" hangingPunct="1"/>
            <a:r>
              <a:rPr kumimoji="1" lang="zh-CN" altLang="en-US" dirty="0"/>
              <a:t>输出指令 ：</a:t>
            </a:r>
            <a:r>
              <a:rPr kumimoji="1" lang="en-US" altLang="zh-CN" dirty="0"/>
              <a:t>OUT  </a:t>
            </a:r>
            <a:r>
              <a:rPr kumimoji="1" lang="en-US" altLang="zh-CN" dirty="0" err="1"/>
              <a:t>PORT，acc</a:t>
            </a:r>
            <a:endParaRPr kumimoji="1" lang="en-US" altLang="zh-CN" dirty="0"/>
          </a:p>
          <a:p>
            <a:pPr lvl="1" eaLnBrk="1" hangingPunct="1"/>
            <a:r>
              <a:rPr kumimoji="1" lang="en-US" altLang="zh-CN" dirty="0"/>
              <a:t>PORT</a:t>
            </a:r>
            <a:r>
              <a:rPr kumimoji="1" lang="zh-CN" altLang="en-US" dirty="0"/>
              <a:t>为</a:t>
            </a:r>
            <a:r>
              <a:rPr kumimoji="1" lang="zh-CN" altLang="en-US" dirty="0">
                <a:latin typeface="Times New Roman" pitchFamily="18" charset="0"/>
                <a:ea typeface="宋体" pitchFamily="2" charset="-122"/>
              </a:rPr>
              <a:t>端口地址；</a:t>
            </a:r>
            <a:r>
              <a:rPr kumimoji="1" lang="en-US" altLang="zh-CN" dirty="0" err="1">
                <a:latin typeface="Times New Roman" pitchFamily="18" charset="0"/>
                <a:ea typeface="宋体" pitchFamily="2" charset="-122"/>
              </a:rPr>
              <a:t>acc</a:t>
            </a:r>
            <a:r>
              <a:rPr kumimoji="1" lang="zh-CN" altLang="en-US" dirty="0">
                <a:latin typeface="Times New Roman" pitchFamily="18" charset="0"/>
                <a:ea typeface="宋体" pitchFamily="2" charset="-122"/>
              </a:rPr>
              <a:t>为累加器，在</a:t>
            </a:r>
            <a:r>
              <a:rPr kumimoji="1" lang="en-US" altLang="zh-CN" dirty="0">
                <a:latin typeface="Times New Roman" pitchFamily="18" charset="0"/>
                <a:ea typeface="宋体" pitchFamily="2" charset="-122"/>
              </a:rPr>
              <a:t>16</a:t>
            </a:r>
            <a:r>
              <a:rPr kumimoji="1" lang="zh-CN" altLang="en-US" dirty="0">
                <a:latin typeface="Times New Roman" pitchFamily="18" charset="0"/>
                <a:ea typeface="宋体" pitchFamily="2" charset="-122"/>
              </a:rPr>
              <a:t>位模式可以是</a:t>
            </a:r>
            <a:r>
              <a:rPr kumimoji="1" lang="en-US" altLang="zh-CN" dirty="0">
                <a:latin typeface="Times New Roman" pitchFamily="18" charset="0"/>
                <a:ea typeface="宋体" pitchFamily="2" charset="-122"/>
              </a:rPr>
              <a:t>AL</a:t>
            </a:r>
            <a:r>
              <a:rPr kumimoji="1" lang="zh-CN" altLang="en-US" dirty="0">
                <a:latin typeface="Times New Roman" pitchFamily="18" charset="0"/>
                <a:ea typeface="宋体" pitchFamily="2" charset="-122"/>
              </a:rPr>
              <a:t>或</a:t>
            </a:r>
            <a:r>
              <a:rPr kumimoji="1" lang="en-US" altLang="zh-CN" dirty="0">
                <a:latin typeface="Times New Roman" pitchFamily="18" charset="0"/>
                <a:ea typeface="宋体" pitchFamily="2" charset="-122"/>
              </a:rPr>
              <a:t>AX</a:t>
            </a:r>
            <a:r>
              <a:rPr kumimoji="1" lang="zh-CN" altLang="en-US" dirty="0">
                <a:latin typeface="Times New Roman" pitchFamily="18" charset="0"/>
                <a:ea typeface="宋体" pitchFamily="2" charset="-122"/>
              </a:rPr>
              <a:t>，在</a:t>
            </a:r>
            <a:r>
              <a:rPr kumimoji="1" lang="en-US" altLang="zh-CN" dirty="0">
                <a:latin typeface="Times New Roman" pitchFamily="18" charset="0"/>
                <a:ea typeface="宋体" pitchFamily="2" charset="-122"/>
              </a:rPr>
              <a:t>32</a:t>
            </a:r>
            <a:r>
              <a:rPr kumimoji="1" lang="zh-CN" altLang="en-US" dirty="0">
                <a:latin typeface="Times New Roman" pitchFamily="18" charset="0"/>
                <a:ea typeface="宋体" pitchFamily="2" charset="-122"/>
              </a:rPr>
              <a:t>位模式还可以是</a:t>
            </a:r>
            <a:r>
              <a:rPr kumimoji="1" lang="en-US" altLang="zh-CN" dirty="0">
                <a:latin typeface="Times New Roman" pitchFamily="18" charset="0"/>
                <a:ea typeface="宋体" pitchFamily="2" charset="-122"/>
              </a:rPr>
              <a:t>EAX</a:t>
            </a:r>
            <a:r>
              <a:rPr kumimoji="1" lang="zh-CN" altLang="en-US" dirty="0">
                <a:latin typeface="Times New Roman" pitchFamily="18" charset="0"/>
                <a:ea typeface="宋体" pitchFamily="2" charset="-122"/>
              </a:rPr>
              <a:t>。</a:t>
            </a:r>
          </a:p>
          <a:p>
            <a:pPr lvl="1" eaLnBrk="1" hangingPunct="1"/>
            <a:endParaRPr lang="zh-CN" altLang="en-US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5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362BF271-DCF2-401E-9BCF-44A1010FBE44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55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指令寻址方式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584" y="1772816"/>
            <a:ext cx="7989888" cy="4537075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zh-CN" altLang="en-US" sz="2400" dirty="0"/>
              <a:t>根据端口地址码的长度，指令具有两种不同的</a:t>
            </a:r>
            <a:r>
              <a:rPr lang="en-US" altLang="zh-CN" sz="2400" dirty="0">
                <a:solidFill>
                  <a:srgbClr val="FF0000"/>
                </a:solidFill>
              </a:rPr>
              <a:t>PORT</a:t>
            </a:r>
            <a:r>
              <a:rPr lang="zh-CN" altLang="en-US" sz="2400" dirty="0"/>
              <a:t>表现形式（</a:t>
            </a:r>
            <a:r>
              <a:rPr lang="en-US" altLang="zh-CN" sz="2400" dirty="0">
                <a:solidFill>
                  <a:srgbClr val="FF0000"/>
                </a:solidFill>
              </a:rPr>
              <a:t>16</a:t>
            </a:r>
            <a:r>
              <a:rPr lang="zh-CN" altLang="en-US" sz="2400" dirty="0">
                <a:solidFill>
                  <a:srgbClr val="FF0000"/>
                </a:solidFill>
              </a:rPr>
              <a:t>位模式和</a:t>
            </a:r>
            <a:r>
              <a:rPr lang="en-US" altLang="zh-CN" sz="2400" dirty="0">
                <a:solidFill>
                  <a:srgbClr val="FF0000"/>
                </a:solidFill>
              </a:rPr>
              <a:t>32</a:t>
            </a:r>
            <a:r>
              <a:rPr lang="zh-CN" altLang="en-US" sz="2400" dirty="0">
                <a:solidFill>
                  <a:srgbClr val="FF0000"/>
                </a:solidFill>
              </a:rPr>
              <a:t>位模式都一样）</a:t>
            </a:r>
            <a:r>
              <a:rPr lang="zh-CN" altLang="en-US" sz="2400" dirty="0"/>
              <a:t>。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400" dirty="0"/>
              <a:t>直接寻址</a:t>
            </a:r>
          </a:p>
          <a:p>
            <a:pPr lvl="1" eaLnBrk="1" hangingPunct="1">
              <a:lnSpc>
                <a:spcPct val="115000"/>
              </a:lnSpc>
              <a:spcBef>
                <a:spcPct val="10000"/>
              </a:spcBef>
            </a:pPr>
            <a:r>
              <a:rPr lang="zh-CN" altLang="en-US" dirty="0"/>
              <a:t>当</a:t>
            </a:r>
            <a:r>
              <a:rPr lang="zh-CN" altLang="en-US" dirty="0" smtClean="0"/>
              <a:t>端口</a:t>
            </a:r>
            <a:r>
              <a:rPr lang="zh-CN" altLang="en-US" dirty="0"/>
              <a:t>地址为</a:t>
            </a:r>
            <a:r>
              <a:rPr lang="en-US" altLang="zh-CN" dirty="0"/>
              <a:t>8</a:t>
            </a:r>
            <a:r>
              <a:rPr lang="zh-CN" altLang="en-US" dirty="0"/>
              <a:t>位时，指令中的</a:t>
            </a:r>
            <a:r>
              <a:rPr lang="en-US" altLang="zh-CN" dirty="0"/>
              <a:t>PORT</a:t>
            </a:r>
            <a:r>
              <a:rPr lang="zh-CN" altLang="en-US" dirty="0"/>
              <a:t>直接由一个</a:t>
            </a:r>
            <a:r>
              <a:rPr lang="en-US" altLang="zh-CN" dirty="0"/>
              <a:t>8</a:t>
            </a:r>
            <a:r>
              <a:rPr lang="zh-CN" altLang="en-US" dirty="0"/>
              <a:t>位无符号常数；</a:t>
            </a:r>
          </a:p>
          <a:p>
            <a:pPr lvl="1" eaLnBrk="1" hangingPunct="1">
              <a:lnSpc>
                <a:spcPct val="115000"/>
              </a:lnSpc>
              <a:spcBef>
                <a:spcPct val="10000"/>
              </a:spcBef>
            </a:pPr>
            <a:r>
              <a:rPr lang="zh-CN" altLang="en-US" dirty="0"/>
              <a:t>可寻址256个端口。</a:t>
            </a:r>
          </a:p>
          <a:p>
            <a:pPr eaLnBrk="1" hangingPunct="1"/>
            <a:r>
              <a:rPr lang="zh-CN" altLang="en-US" sz="2400" dirty="0"/>
              <a:t>间接寻址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 dirty="0"/>
              <a:t>当端口地址超过</a:t>
            </a:r>
            <a:r>
              <a:rPr lang="en-US" altLang="zh-CN" dirty="0"/>
              <a:t>255</a:t>
            </a:r>
            <a:r>
              <a:rPr lang="zh-CN" altLang="en-US" dirty="0"/>
              <a:t>时，地址码为</a:t>
            </a:r>
            <a:r>
              <a:rPr lang="en-US" altLang="zh-CN" dirty="0"/>
              <a:t>16</a:t>
            </a:r>
            <a:r>
              <a:rPr lang="zh-CN" altLang="en-US" dirty="0"/>
              <a:t>位，指令中的端口地址必须由</a:t>
            </a:r>
            <a:r>
              <a:rPr lang="en-US" altLang="zh-CN" dirty="0"/>
              <a:t>DX</a:t>
            </a:r>
            <a:r>
              <a:rPr lang="zh-CN" altLang="en-US" dirty="0"/>
              <a:t>指定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FF0000"/>
                </a:solidFill>
              </a:rPr>
              <a:t>不能使用</a:t>
            </a:r>
            <a:r>
              <a:rPr lang="en-US" altLang="zh-CN" dirty="0">
                <a:solidFill>
                  <a:srgbClr val="FF0000"/>
                </a:solidFill>
              </a:rPr>
              <a:t>EDX</a:t>
            </a:r>
            <a:r>
              <a:rPr lang="zh-CN" altLang="en-US" dirty="0">
                <a:solidFill>
                  <a:srgbClr val="FF0000"/>
                </a:solidFill>
              </a:rPr>
              <a:t>指定</a:t>
            </a:r>
            <a:r>
              <a:rPr lang="en-US" altLang="zh-CN" dirty="0"/>
              <a:t>)</a:t>
            </a:r>
            <a:r>
              <a:rPr lang="zh-CN" altLang="en-US" dirty="0"/>
              <a:t>；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 dirty="0"/>
              <a:t>可寻址64</a:t>
            </a:r>
            <a:r>
              <a:rPr lang="en-US" altLang="zh-CN" dirty="0"/>
              <a:t>K</a:t>
            </a:r>
            <a:r>
              <a:rPr lang="zh-CN" altLang="en-US" dirty="0"/>
              <a:t>个端口。</a:t>
            </a:r>
            <a:endParaRPr lang="en-US" altLang="zh-CN" dirty="0"/>
          </a:p>
          <a:p>
            <a:pPr lvl="1" eaLnBrk="1" hangingPunct="1">
              <a:spcBef>
                <a:spcPct val="10000"/>
              </a:spcBef>
            </a:pPr>
            <a:r>
              <a:rPr lang="zh-CN" altLang="en-US" dirty="0"/>
              <a:t>当端口地址为</a:t>
            </a:r>
            <a:r>
              <a:rPr lang="en-US" altLang="zh-CN" dirty="0"/>
              <a:t>0~255</a:t>
            </a:r>
            <a:r>
              <a:rPr lang="zh-CN" altLang="en-US" dirty="0"/>
              <a:t>时也可以用</a:t>
            </a:r>
            <a:r>
              <a:rPr lang="en-US" altLang="zh-CN" dirty="0"/>
              <a:t>DX</a:t>
            </a:r>
            <a:r>
              <a:rPr lang="zh-CN" altLang="en-US" dirty="0"/>
              <a:t>间接寻址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B893F8A-D349-439F-8570-7DF5330A3D18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56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b="1"/>
              <a:t>I/O</a:t>
            </a:r>
            <a:r>
              <a:rPr lang="zh-CN" altLang="en-US"/>
              <a:t>指令例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6245" y="1988841"/>
            <a:ext cx="7697216" cy="2592288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en-US" altLang="zh-CN" sz="2400" dirty="0"/>
              <a:t>IN  AX，80H</a:t>
            </a:r>
            <a:r>
              <a:rPr lang="zh-CN" altLang="en-US" sz="2400" dirty="0"/>
              <a:t>；从</a:t>
            </a:r>
            <a:r>
              <a:rPr lang="en-US" altLang="zh-CN" sz="2400" dirty="0"/>
              <a:t>80H</a:t>
            </a:r>
            <a:r>
              <a:rPr lang="zh-CN" altLang="en-US" sz="2400" dirty="0"/>
              <a:t>端口输入一个字</a:t>
            </a:r>
            <a:endParaRPr lang="en-US" altLang="zh-CN" sz="2400" dirty="0"/>
          </a:p>
          <a:p>
            <a:pPr eaLnBrk="1" hangingPunct="1">
              <a:lnSpc>
                <a:spcPct val="105000"/>
              </a:lnSpc>
              <a:spcBef>
                <a:spcPct val="55000"/>
              </a:spcBef>
            </a:pPr>
            <a:r>
              <a:rPr lang="en-US" altLang="zh-CN" sz="2400" dirty="0"/>
              <a:t>MOV DX，2400H</a:t>
            </a:r>
          </a:p>
          <a:p>
            <a:pPr eaLnBrk="1" hangingPunct="1">
              <a:lnSpc>
                <a:spcPct val="105000"/>
              </a:lnSpc>
            </a:pPr>
            <a:r>
              <a:rPr lang="en-US" altLang="zh-CN" sz="2400" dirty="0"/>
              <a:t>IN  AL，DX   </a:t>
            </a:r>
            <a:r>
              <a:rPr lang="zh-CN" altLang="en-US" sz="2400" dirty="0"/>
              <a:t>；从</a:t>
            </a:r>
            <a:r>
              <a:rPr lang="en-US" altLang="zh-CN" sz="2400" dirty="0"/>
              <a:t>2400H</a:t>
            </a:r>
            <a:r>
              <a:rPr lang="zh-CN" altLang="en-US" sz="2400" dirty="0"/>
              <a:t>端口输入一个字节</a:t>
            </a:r>
            <a:endParaRPr lang="en-US" altLang="zh-CN" sz="2400" dirty="0"/>
          </a:p>
          <a:p>
            <a:pPr eaLnBrk="1" hangingPunct="1">
              <a:spcBef>
                <a:spcPct val="55000"/>
              </a:spcBef>
              <a:spcAft>
                <a:spcPct val="60000"/>
              </a:spcAft>
            </a:pPr>
            <a:r>
              <a:rPr lang="en-US" altLang="zh-CN" sz="2400" dirty="0"/>
              <a:t>OUT  35H ，EAX</a:t>
            </a:r>
            <a:r>
              <a:rPr lang="zh-CN" altLang="en-US" sz="2400" dirty="0"/>
              <a:t>；向</a:t>
            </a:r>
            <a:r>
              <a:rPr lang="en-US" altLang="zh-CN" sz="2400" dirty="0"/>
              <a:t>35H</a:t>
            </a:r>
            <a:r>
              <a:rPr lang="zh-CN" altLang="en-US" sz="2400" dirty="0"/>
              <a:t>端口输出一个双字数据</a:t>
            </a:r>
            <a:endParaRPr lang="en-US" altLang="zh-CN" sz="2400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4A642D7-5572-4BD6-9E0B-F7FEAC2E3910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57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三、</a:t>
            </a:r>
            <a:r>
              <a:rPr lang="zh-CN" altLang="en-US" dirty="0"/>
              <a:t>取偏移地址指令</a:t>
            </a:r>
            <a:r>
              <a:rPr lang="en-US" altLang="zh-CN" sz="4000" b="1" dirty="0"/>
              <a:t>LEA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896331"/>
            <a:ext cx="7993508" cy="4840288"/>
          </a:xfrm>
        </p:spPr>
        <p:txBody>
          <a:bodyPr/>
          <a:lstStyle/>
          <a:p>
            <a:pPr algn="just" eaLnBrk="1" hangingPunct="1"/>
            <a:r>
              <a:rPr lang="zh-CN" altLang="en-US" sz="2400" dirty="0">
                <a:latin typeface="宋体" pitchFamily="2" charset="-122"/>
              </a:rPr>
              <a:t>操作：</a:t>
            </a:r>
          </a:p>
          <a:p>
            <a:pPr lvl="1" algn="just" eaLnBrk="1" hangingPunct="1">
              <a:spcBef>
                <a:spcPct val="5000"/>
              </a:spcBef>
            </a:pPr>
            <a:r>
              <a:rPr lang="zh-CN" altLang="en-US" dirty="0">
                <a:latin typeface="宋体" pitchFamily="2" charset="-122"/>
              </a:rPr>
              <a:t>将一个存储单元的16位</a:t>
            </a:r>
            <a:r>
              <a:rPr lang="en-US" altLang="zh-CN" dirty="0">
                <a:latin typeface="宋体" pitchFamily="2" charset="-122"/>
              </a:rPr>
              <a:t>(</a:t>
            </a:r>
            <a:r>
              <a:rPr lang="zh-CN" altLang="en-US" dirty="0">
                <a:latin typeface="宋体" pitchFamily="2" charset="-122"/>
              </a:rPr>
              <a:t>实模式</a:t>
            </a:r>
            <a:r>
              <a:rPr lang="en-US" altLang="zh-CN" dirty="0">
                <a:latin typeface="宋体" pitchFamily="2" charset="-122"/>
              </a:rPr>
              <a:t>)</a:t>
            </a:r>
            <a:r>
              <a:rPr lang="zh-CN" altLang="en-US" dirty="0">
                <a:latin typeface="宋体" pitchFamily="2" charset="-122"/>
              </a:rPr>
              <a:t>或</a:t>
            </a:r>
            <a:r>
              <a:rPr lang="en-US" altLang="zh-CN" dirty="0">
                <a:latin typeface="宋体" pitchFamily="2" charset="-122"/>
              </a:rPr>
              <a:t>32</a:t>
            </a:r>
            <a:r>
              <a:rPr lang="zh-CN" altLang="en-US" dirty="0">
                <a:latin typeface="宋体" pitchFamily="2" charset="-122"/>
              </a:rPr>
              <a:t>位</a:t>
            </a:r>
            <a:r>
              <a:rPr lang="en-US" altLang="zh-CN" dirty="0">
                <a:latin typeface="宋体" pitchFamily="2" charset="-122"/>
              </a:rPr>
              <a:t>(</a:t>
            </a:r>
            <a:r>
              <a:rPr lang="zh-CN" altLang="en-US" dirty="0">
                <a:latin typeface="宋体" pitchFamily="2" charset="-122"/>
              </a:rPr>
              <a:t>保护模式</a:t>
            </a:r>
            <a:r>
              <a:rPr lang="en-US" altLang="zh-CN" dirty="0">
                <a:latin typeface="宋体" pitchFamily="2" charset="-122"/>
              </a:rPr>
              <a:t>)</a:t>
            </a:r>
            <a:r>
              <a:rPr lang="zh-CN" altLang="en-US" dirty="0">
                <a:latin typeface="宋体" pitchFamily="2" charset="-122"/>
              </a:rPr>
              <a:t>偏移地址取出送目标寄存器</a:t>
            </a:r>
          </a:p>
          <a:p>
            <a:pPr algn="just" eaLnBrk="1" hangingPunct="1">
              <a:spcBef>
                <a:spcPct val="40000"/>
              </a:spcBef>
            </a:pPr>
            <a:r>
              <a:rPr lang="zh-CN" altLang="en-US" sz="2400" dirty="0"/>
              <a:t>当程序中用符号地址表示内存偏移地址时，可以使用该指令方便获得偏移地址。</a:t>
            </a:r>
            <a:endParaRPr lang="zh-CN" altLang="en-US" sz="2400" dirty="0">
              <a:latin typeface="宋体" pitchFamily="2" charset="-122"/>
            </a:endParaRPr>
          </a:p>
          <a:p>
            <a:pPr algn="just" eaLnBrk="1" hangingPunct="1">
              <a:spcBef>
                <a:spcPct val="40000"/>
              </a:spcBef>
            </a:pPr>
            <a:r>
              <a:rPr lang="zh-CN" altLang="en-US" sz="2400" dirty="0">
                <a:latin typeface="宋体" pitchFamily="2" charset="-122"/>
              </a:rPr>
              <a:t>格式：</a:t>
            </a:r>
          </a:p>
          <a:p>
            <a:pPr algn="just" eaLnBrk="1" hangingPunct="1">
              <a:spcBef>
                <a:spcPct val="5000"/>
              </a:spcBef>
              <a:spcAft>
                <a:spcPct val="20000"/>
              </a:spcAft>
              <a:buFont typeface="Wingdings" pitchFamily="2" charset="2"/>
              <a:buNone/>
            </a:pPr>
            <a:r>
              <a:rPr lang="en-US" altLang="zh-CN" dirty="0">
                <a:latin typeface="宋体" pitchFamily="2" charset="-122"/>
              </a:rPr>
              <a:t>    </a:t>
            </a:r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</a:rPr>
              <a:t>LEA REG，MEM</a:t>
            </a:r>
            <a:r>
              <a:rPr lang="en-US" altLang="zh-CN" dirty="0">
                <a:latin typeface="宋体" pitchFamily="2" charset="-122"/>
              </a:rPr>
              <a:t> </a:t>
            </a:r>
            <a:endParaRPr lang="zh-CN" altLang="en-US" dirty="0">
              <a:latin typeface="宋体" pitchFamily="2" charset="-122"/>
            </a:endParaRPr>
          </a:p>
          <a:p>
            <a:pPr algn="just" eaLnBrk="1" hangingPunct="1">
              <a:spcBef>
                <a:spcPct val="10000"/>
              </a:spcBef>
            </a:pPr>
            <a:r>
              <a:rPr lang="zh-CN" altLang="en-US" sz="2400" dirty="0">
                <a:latin typeface="宋体" pitchFamily="2" charset="-122"/>
              </a:rPr>
              <a:t>指令要求：</a:t>
            </a:r>
          </a:p>
          <a:p>
            <a:pPr lvl="1" algn="just" eaLnBrk="1" hangingPunct="1">
              <a:lnSpc>
                <a:spcPct val="115000"/>
              </a:lnSpc>
              <a:spcBef>
                <a:spcPct val="10000"/>
              </a:spcBef>
            </a:pP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源</a:t>
            </a:r>
            <a:r>
              <a:rPr lang="zh-CN" altLang="en-US" dirty="0" smtClean="0">
                <a:solidFill>
                  <a:srgbClr val="FF0000"/>
                </a:solidFill>
                <a:latin typeface="宋体" pitchFamily="2" charset="-122"/>
              </a:rPr>
              <a:t>操作数</a:t>
            </a:r>
            <a:r>
              <a:rPr lang="en-US" altLang="zh-CN" dirty="0" smtClean="0">
                <a:solidFill>
                  <a:srgbClr val="FF0000"/>
                </a:solidFill>
                <a:latin typeface="宋体" pitchFamily="2" charset="-122"/>
              </a:rPr>
              <a:t>MEM</a:t>
            </a:r>
            <a:r>
              <a:rPr lang="zh-CN" altLang="en-US" dirty="0" smtClean="0">
                <a:latin typeface="宋体" pitchFamily="2" charset="-122"/>
              </a:rPr>
              <a:t>必须</a:t>
            </a:r>
            <a:r>
              <a:rPr lang="zh-CN" altLang="en-US" dirty="0">
                <a:latin typeface="宋体" pitchFamily="2" charset="-122"/>
              </a:rPr>
              <a:t>是一个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存储器操作数</a:t>
            </a:r>
            <a:r>
              <a:rPr lang="zh-CN" altLang="en-US" dirty="0">
                <a:latin typeface="宋体" pitchFamily="2" charset="-122"/>
              </a:rPr>
              <a:t>，目标</a:t>
            </a:r>
            <a:r>
              <a:rPr lang="zh-CN" altLang="en-US" dirty="0" smtClean="0">
                <a:latin typeface="宋体" pitchFamily="2" charset="-122"/>
              </a:rPr>
              <a:t>操作数</a:t>
            </a:r>
            <a:r>
              <a:rPr lang="en-US" altLang="zh-CN" dirty="0" smtClean="0">
                <a:latin typeface="宋体" pitchFamily="2" charset="-122"/>
              </a:rPr>
              <a:t>REG</a:t>
            </a:r>
            <a:r>
              <a:rPr lang="zh-CN" altLang="en-US" dirty="0" smtClean="0">
                <a:latin typeface="宋体" pitchFamily="2" charset="-122"/>
              </a:rPr>
              <a:t>必须</a:t>
            </a:r>
            <a:r>
              <a:rPr lang="zh-CN" altLang="en-US" dirty="0">
                <a:latin typeface="宋体" pitchFamily="2" charset="-122"/>
              </a:rPr>
              <a:t>是</a:t>
            </a:r>
            <a:r>
              <a:rPr lang="en-US" altLang="zh-CN" dirty="0">
                <a:latin typeface="宋体" pitchFamily="2" charset="-122"/>
              </a:rPr>
              <a:t>16</a:t>
            </a:r>
            <a:r>
              <a:rPr lang="zh-CN" altLang="en-US" dirty="0">
                <a:latin typeface="宋体" pitchFamily="2" charset="-122"/>
              </a:rPr>
              <a:t>位或</a:t>
            </a:r>
            <a:r>
              <a:rPr lang="en-US" altLang="zh-CN" dirty="0">
                <a:latin typeface="宋体" pitchFamily="2" charset="-122"/>
              </a:rPr>
              <a:t>32</a:t>
            </a:r>
            <a:r>
              <a:rPr lang="zh-CN" altLang="en-US" dirty="0">
                <a:latin typeface="宋体" pitchFamily="2" charset="-122"/>
              </a:rPr>
              <a:t>位通用寄存器。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7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7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37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1860F6-BFAC-49E4-A370-39C019CE30B4}" type="slidenum">
              <a:rPr lang="zh-CN" altLang="en-US" smtClean="0"/>
              <a:pPr>
                <a:defRPr/>
              </a:pPr>
              <a:t>58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329475" y="116632"/>
            <a:ext cx="223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在实模式下：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475656" y="615943"/>
            <a:ext cx="47525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/>
              <a:t>REG</a:t>
            </a:r>
            <a:r>
              <a:rPr lang="zh-CN" altLang="en-US" sz="2200" b="1" dirty="0"/>
              <a:t>为</a:t>
            </a:r>
            <a:r>
              <a:rPr lang="en-US" altLang="zh-CN" sz="2200" b="1" dirty="0"/>
              <a:t>16</a:t>
            </a:r>
            <a:r>
              <a:rPr lang="zh-CN" altLang="en-US" sz="2200" b="1" dirty="0"/>
              <a:t>位通用寄存器，例如：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464644" y="1080522"/>
            <a:ext cx="76155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/>
              <a:t>LEA  AX, [SI</a:t>
            </a:r>
            <a:r>
              <a:rPr lang="en-US" altLang="zh-CN" sz="2200" b="1" dirty="0" smtClean="0"/>
              <a:t>][BX] </a:t>
            </a:r>
            <a:r>
              <a:rPr lang="en-US" altLang="zh-CN" sz="2200" b="1" dirty="0"/>
              <a:t>; </a:t>
            </a:r>
            <a:r>
              <a:rPr lang="zh-CN" altLang="en-US" sz="2200" b="1" dirty="0"/>
              <a:t>指令将</a:t>
            </a:r>
            <a:r>
              <a:rPr lang="en-US" altLang="zh-CN" sz="2200" b="1" dirty="0"/>
              <a:t>SI</a:t>
            </a:r>
            <a:r>
              <a:rPr lang="zh-CN" altLang="en-US" sz="2200" b="1" dirty="0" smtClean="0"/>
              <a:t>和</a:t>
            </a:r>
            <a:r>
              <a:rPr lang="en-US" altLang="zh-CN" sz="2200" b="1" dirty="0" smtClean="0"/>
              <a:t>BX</a:t>
            </a:r>
            <a:r>
              <a:rPr lang="zh-CN" altLang="en-US" sz="2200" b="1" dirty="0" smtClean="0"/>
              <a:t>的</a:t>
            </a:r>
            <a:r>
              <a:rPr lang="zh-CN" altLang="en-US" sz="2200" b="1" dirty="0"/>
              <a:t>内容相加送入</a:t>
            </a:r>
            <a:r>
              <a:rPr lang="en-US" altLang="zh-CN" sz="2200" b="1" dirty="0"/>
              <a:t>AX</a:t>
            </a:r>
            <a:r>
              <a:rPr lang="zh-CN" altLang="en-US" sz="2200" b="1" dirty="0"/>
              <a:t>中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329475" y="2020621"/>
            <a:ext cx="2664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/>
              <a:t>在保护模式下：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043608" y="2492896"/>
            <a:ext cx="7776864" cy="4084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b="1" dirty="0"/>
              <a:t>REG</a:t>
            </a:r>
            <a:r>
              <a:rPr lang="zh-CN" altLang="en-US" sz="2200" b="1" dirty="0"/>
              <a:t>可以是</a:t>
            </a:r>
            <a:r>
              <a:rPr lang="en-US" altLang="zh-CN" sz="2200" b="1" dirty="0"/>
              <a:t>16</a:t>
            </a:r>
            <a:r>
              <a:rPr lang="zh-CN" altLang="en-US" sz="2200" b="1" dirty="0"/>
              <a:t>位通用寄存器或</a:t>
            </a:r>
            <a:r>
              <a:rPr lang="en-US" altLang="zh-CN" sz="2200" b="1" dirty="0"/>
              <a:t>32</a:t>
            </a:r>
            <a:r>
              <a:rPr lang="zh-CN" altLang="en-US" sz="2200" b="1" dirty="0"/>
              <a:t>位通用寄存器</a:t>
            </a:r>
            <a:endParaRPr lang="en-US" altLang="zh-CN" sz="2200" b="1" dirty="0"/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sz="2200" b="1" dirty="0"/>
              <a:t>若为</a:t>
            </a:r>
            <a:r>
              <a:rPr lang="en-US" altLang="zh-CN" sz="2200" b="1" dirty="0"/>
              <a:t>16</a:t>
            </a:r>
            <a:r>
              <a:rPr lang="zh-CN" altLang="en-US" sz="2200" b="1" dirty="0"/>
              <a:t>位寄存器，则取</a:t>
            </a:r>
            <a:r>
              <a:rPr lang="en-US" altLang="zh-CN" sz="2200" b="1" dirty="0"/>
              <a:t>32</a:t>
            </a:r>
            <a:r>
              <a:rPr lang="zh-CN" altLang="en-US" sz="2200" b="1" dirty="0"/>
              <a:t>位偏移地址的低</a:t>
            </a:r>
            <a:r>
              <a:rPr lang="en-US" altLang="zh-CN" sz="2200" b="1" dirty="0"/>
              <a:t>16</a:t>
            </a:r>
            <a:r>
              <a:rPr lang="zh-CN" altLang="en-US" sz="2200" b="1" dirty="0"/>
              <a:t>位装入该寄存器中。这时就不能直接用该寄存器去访问存储单元。</a:t>
            </a:r>
            <a:endParaRPr lang="en-US" altLang="zh-CN" sz="2200" b="1" dirty="0"/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zh-CN" altLang="en-US" sz="2200" b="1" dirty="0"/>
              <a:t>例如：</a:t>
            </a:r>
            <a:r>
              <a:rPr lang="en-US" altLang="zh-CN" sz="2200" b="1" dirty="0"/>
              <a:t>LEA SI, [EDI]  ;SI</a:t>
            </a:r>
            <a:r>
              <a:rPr lang="zh-CN" altLang="en-US" sz="2200" b="1" dirty="0"/>
              <a:t>中只存储了</a:t>
            </a:r>
            <a:r>
              <a:rPr lang="en-US" altLang="zh-CN" sz="2200" b="1" dirty="0"/>
              <a:t>EDI</a:t>
            </a:r>
            <a:r>
              <a:rPr lang="zh-CN" altLang="en-US" sz="2200" b="1" dirty="0"/>
              <a:t>的低</a:t>
            </a:r>
            <a:r>
              <a:rPr lang="en-US" altLang="zh-CN" sz="2200" b="1" dirty="0"/>
              <a:t>16</a:t>
            </a:r>
            <a:r>
              <a:rPr lang="zh-CN" altLang="en-US" sz="2200" b="1" dirty="0"/>
              <a:t>位</a:t>
            </a:r>
            <a:r>
              <a:rPr lang="en-US" altLang="zh-CN" sz="2200" b="1" dirty="0"/>
              <a:t> </a:t>
            </a: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sz="2200" b="1" dirty="0"/>
              <a:t>若为</a:t>
            </a:r>
            <a:r>
              <a:rPr lang="en-US" altLang="zh-CN" sz="2200" b="1" dirty="0"/>
              <a:t>32</a:t>
            </a:r>
            <a:r>
              <a:rPr lang="zh-CN" altLang="en-US" sz="2200" b="1" dirty="0"/>
              <a:t>位寄存器，则将存储单元的</a:t>
            </a:r>
            <a:r>
              <a:rPr lang="en-US" altLang="zh-CN" sz="2200" b="1" dirty="0"/>
              <a:t>32</a:t>
            </a:r>
            <a:r>
              <a:rPr lang="zh-CN" altLang="en-US" sz="2200" b="1" dirty="0"/>
              <a:t>位偏移地址装入该寄存器。</a:t>
            </a:r>
            <a:endParaRPr lang="en-US" altLang="zh-CN" sz="2200" b="1" dirty="0"/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zh-CN" altLang="en-US" sz="2200" b="1" dirty="0"/>
              <a:t>例如：</a:t>
            </a:r>
            <a:r>
              <a:rPr lang="en-US" altLang="zh-CN" sz="2200" b="1" dirty="0"/>
              <a:t>LEA ESI, [EAX][EBX]</a:t>
            </a: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en-US" altLang="zh-CN" sz="2200" b="1" dirty="0"/>
              <a:t>        </a:t>
            </a:r>
            <a:r>
              <a:rPr lang="zh-CN" altLang="en-US" sz="2200" b="1" dirty="0"/>
              <a:t>指令执行后</a:t>
            </a:r>
            <a:r>
              <a:rPr lang="en-US" altLang="zh-CN" sz="2200" b="1" dirty="0"/>
              <a:t>ESI</a:t>
            </a:r>
            <a:r>
              <a:rPr lang="zh-CN" altLang="en-US" sz="2200" b="1" dirty="0"/>
              <a:t>的内容为</a:t>
            </a:r>
            <a:r>
              <a:rPr lang="en-US" altLang="zh-CN" sz="2200" b="1" dirty="0"/>
              <a:t>EAX</a:t>
            </a:r>
            <a:r>
              <a:rPr lang="zh-CN" altLang="en-US" sz="2200" b="1" dirty="0"/>
              <a:t>和</a:t>
            </a:r>
            <a:r>
              <a:rPr lang="en-US" altLang="zh-CN" sz="2200" b="1" dirty="0"/>
              <a:t>EBX</a:t>
            </a:r>
            <a:r>
              <a:rPr lang="zh-CN" altLang="en-US" sz="2200" b="1" dirty="0"/>
              <a:t>两寄存器内容之和。</a:t>
            </a:r>
          </a:p>
        </p:txBody>
      </p:sp>
    </p:spTree>
    <p:extLst>
      <p:ext uri="{BB962C8B-B14F-4D97-AF65-F5344CB8AC3E}">
        <p14:creationId xmlns:p14="http://schemas.microsoft.com/office/powerpoint/2010/main" val="2069617603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  <p:bldP spid="7" grpId="0" build="p"/>
      <p:bldP spid="8" grpId="0"/>
      <p:bldP spid="9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133848" y="6350669"/>
            <a:ext cx="1905000" cy="457200"/>
          </a:xfrm>
        </p:spPr>
        <p:txBody>
          <a:bodyPr/>
          <a:lstStyle/>
          <a:p>
            <a:pPr>
              <a:defRPr/>
            </a:pPr>
            <a:fld id="{591860F6-BFAC-49E4-A370-39C019CE30B4}" type="slidenum">
              <a:rPr lang="zh-CN" altLang="en-US" smtClean="0"/>
              <a:pPr>
                <a:defRPr/>
              </a:pPr>
              <a:t>59</a:t>
            </a:fld>
            <a:endParaRPr lang="en-US" altLang="zh-CN" dirty="0"/>
          </a:p>
        </p:txBody>
      </p:sp>
      <p:sp>
        <p:nvSpPr>
          <p:cNvPr id="5" name="Text Box 2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7748" y="103328"/>
            <a:ext cx="9108504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600" dirty="0">
                <a:solidFill>
                  <a:schemeClr val="bg2"/>
                </a:solidFill>
              </a:rPr>
              <a:t>例：</a:t>
            </a:r>
            <a:r>
              <a:rPr lang="zh-CN" altLang="zh-CN" sz="2600" dirty="0">
                <a:solidFill>
                  <a:schemeClr val="bg2"/>
                </a:solidFill>
              </a:rPr>
              <a:t>比较指令 </a:t>
            </a:r>
            <a:r>
              <a:rPr lang="zh-CN" altLang="zh-CN" sz="2600" dirty="0">
                <a:solidFill>
                  <a:schemeClr val="hlink"/>
                </a:solidFill>
              </a:rPr>
              <a:t>MOV  </a:t>
            </a:r>
            <a:r>
              <a:rPr lang="en-US" altLang="zh-CN" sz="2600" dirty="0">
                <a:solidFill>
                  <a:schemeClr val="hlink"/>
                </a:solidFill>
              </a:rPr>
              <a:t>EB</a:t>
            </a:r>
            <a:r>
              <a:rPr lang="zh-CN" altLang="zh-CN" sz="2600" dirty="0">
                <a:solidFill>
                  <a:schemeClr val="hlink"/>
                </a:solidFill>
              </a:rPr>
              <a:t>X，[</a:t>
            </a:r>
            <a:r>
              <a:rPr lang="en-US" altLang="zh-CN" sz="2600" dirty="0">
                <a:solidFill>
                  <a:schemeClr val="hlink"/>
                </a:solidFill>
              </a:rPr>
              <a:t>EAX</a:t>
            </a:r>
            <a:r>
              <a:rPr lang="zh-CN" altLang="zh-CN" sz="2600" dirty="0">
                <a:solidFill>
                  <a:schemeClr val="hlink"/>
                </a:solidFill>
              </a:rPr>
              <a:t>]</a:t>
            </a:r>
            <a:r>
              <a:rPr lang="zh-CN" altLang="zh-CN" sz="2600" dirty="0">
                <a:solidFill>
                  <a:schemeClr val="bg2"/>
                </a:solidFill>
              </a:rPr>
              <a:t>与</a:t>
            </a:r>
            <a:r>
              <a:rPr lang="zh-CN" altLang="zh-CN" sz="2600" dirty="0">
                <a:solidFill>
                  <a:schemeClr val="hlink"/>
                </a:solidFill>
              </a:rPr>
              <a:t>LEA   </a:t>
            </a:r>
            <a:r>
              <a:rPr lang="en-US" altLang="zh-CN" sz="2600" dirty="0">
                <a:solidFill>
                  <a:schemeClr val="hlink"/>
                </a:solidFill>
              </a:rPr>
              <a:t>EB</a:t>
            </a:r>
            <a:r>
              <a:rPr lang="zh-CN" altLang="zh-CN" sz="2600" dirty="0">
                <a:solidFill>
                  <a:schemeClr val="hlink"/>
                </a:solidFill>
              </a:rPr>
              <a:t>X，[</a:t>
            </a:r>
            <a:r>
              <a:rPr lang="en-US" altLang="zh-CN" sz="2600" dirty="0">
                <a:solidFill>
                  <a:schemeClr val="hlink"/>
                </a:solidFill>
              </a:rPr>
              <a:t>EAX</a:t>
            </a:r>
            <a:r>
              <a:rPr lang="zh-CN" altLang="zh-CN" sz="2600" dirty="0">
                <a:solidFill>
                  <a:schemeClr val="hlink"/>
                </a:solidFill>
              </a:rPr>
              <a:t>]</a:t>
            </a:r>
            <a:r>
              <a:rPr lang="en-US" altLang="zh-CN" sz="2600" dirty="0">
                <a:solidFill>
                  <a:schemeClr val="hlink"/>
                </a:solidFill>
              </a:rPr>
              <a:t/>
            </a:r>
            <a:br>
              <a:rPr lang="en-US" altLang="zh-CN" sz="2600" dirty="0">
                <a:solidFill>
                  <a:schemeClr val="hlink"/>
                </a:solidFill>
              </a:rPr>
            </a:br>
            <a:r>
              <a:rPr lang="en-US" altLang="zh-CN" sz="2600" dirty="0">
                <a:solidFill>
                  <a:schemeClr val="tx2"/>
                </a:solidFill>
              </a:rPr>
              <a:t>              </a:t>
            </a:r>
            <a:r>
              <a:rPr lang="zh-CN" altLang="en-US" sz="2600" dirty="0">
                <a:solidFill>
                  <a:schemeClr val="tx2"/>
                </a:solidFill>
              </a:rPr>
              <a:t>设</a:t>
            </a:r>
            <a:r>
              <a:rPr lang="en-US" altLang="zh-CN" sz="2600" dirty="0">
                <a:solidFill>
                  <a:schemeClr val="tx2"/>
                </a:solidFill>
              </a:rPr>
              <a:t>EAX=10000H</a:t>
            </a:r>
            <a:endParaRPr lang="zh-CN" altLang="zh-CN" sz="2600" dirty="0">
              <a:solidFill>
                <a:schemeClr val="tx2"/>
              </a:solidFill>
            </a:endParaRPr>
          </a:p>
        </p:txBody>
      </p:sp>
      <p:sp>
        <p:nvSpPr>
          <p:cNvPr id="56" name="Text Box 52"/>
          <p:cNvSpPr txBox="1">
            <a:spLocks noChangeArrowheads="1"/>
          </p:cNvSpPr>
          <p:nvPr/>
        </p:nvSpPr>
        <p:spPr bwMode="auto">
          <a:xfrm>
            <a:off x="611560" y="2111376"/>
            <a:ext cx="3095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400" b="0" dirty="0"/>
              <a:t>MOV  </a:t>
            </a:r>
            <a:r>
              <a:rPr lang="en-US" altLang="zh-CN" sz="2400" b="0" dirty="0"/>
              <a:t>E</a:t>
            </a:r>
            <a:r>
              <a:rPr lang="zh-CN" altLang="zh-CN" sz="2400" b="0" dirty="0"/>
              <a:t>BX, [</a:t>
            </a:r>
            <a:r>
              <a:rPr lang="en-US" altLang="zh-CN" sz="2400" b="0" dirty="0"/>
              <a:t>EAX</a:t>
            </a:r>
            <a:r>
              <a:rPr lang="zh-CN" altLang="zh-CN" sz="2400" b="0" dirty="0"/>
              <a:t>]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086222" y="2890839"/>
            <a:ext cx="3469009" cy="2809651"/>
            <a:chOff x="1086222" y="2890839"/>
            <a:chExt cx="3469009" cy="2809651"/>
          </a:xfrm>
        </p:grpSpPr>
        <p:sp>
          <p:nvSpPr>
            <p:cNvPr id="31" name="Rectangle 27"/>
            <p:cNvSpPr>
              <a:spLocks noChangeArrowheads="1"/>
            </p:cNvSpPr>
            <p:nvPr/>
          </p:nvSpPr>
          <p:spPr bwMode="auto">
            <a:xfrm>
              <a:off x="1086222" y="2890839"/>
              <a:ext cx="1219200" cy="27955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 b="0"/>
            </a:p>
          </p:txBody>
        </p:sp>
        <p:sp>
          <p:nvSpPr>
            <p:cNvPr id="34" name="Line 30"/>
            <p:cNvSpPr>
              <a:spLocks noChangeShapeType="1"/>
            </p:cNvSpPr>
            <p:nvPr/>
          </p:nvSpPr>
          <p:spPr bwMode="auto">
            <a:xfrm>
              <a:off x="1086222" y="3649216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31"/>
            <p:cNvSpPr>
              <a:spLocks noChangeShapeType="1"/>
            </p:cNvSpPr>
            <p:nvPr/>
          </p:nvSpPr>
          <p:spPr bwMode="auto">
            <a:xfrm>
              <a:off x="1086222" y="3954016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32"/>
            <p:cNvSpPr>
              <a:spLocks noChangeShapeType="1"/>
            </p:cNvSpPr>
            <p:nvPr/>
          </p:nvSpPr>
          <p:spPr bwMode="auto">
            <a:xfrm>
              <a:off x="1086222" y="4258816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Text Box 33"/>
            <p:cNvSpPr txBox="1">
              <a:spLocks noChangeArrowheads="1"/>
            </p:cNvSpPr>
            <p:nvPr/>
          </p:nvSpPr>
          <p:spPr bwMode="auto">
            <a:xfrm>
              <a:off x="1462499" y="2967038"/>
              <a:ext cx="553998" cy="762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zh-CN" sz="2400" b="0"/>
                <a:t>…...</a:t>
              </a:r>
            </a:p>
          </p:txBody>
        </p:sp>
        <p:sp>
          <p:nvSpPr>
            <p:cNvPr id="38" name="Text Box 34"/>
            <p:cNvSpPr txBox="1">
              <a:spLocks noChangeArrowheads="1"/>
            </p:cNvSpPr>
            <p:nvPr/>
          </p:nvSpPr>
          <p:spPr bwMode="auto">
            <a:xfrm>
              <a:off x="1493555" y="4938490"/>
              <a:ext cx="553998" cy="762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zh-CN" sz="2400" b="0" dirty="0"/>
                <a:t>…...</a:t>
              </a:r>
            </a:p>
          </p:txBody>
        </p:sp>
        <p:sp>
          <p:nvSpPr>
            <p:cNvPr id="42" name="Text Box 38"/>
            <p:cNvSpPr txBox="1">
              <a:spLocks noChangeArrowheads="1"/>
            </p:cNvSpPr>
            <p:nvPr/>
          </p:nvSpPr>
          <p:spPr bwMode="auto">
            <a:xfrm>
              <a:off x="1314822" y="3573016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bg2"/>
                  </a:solidFill>
                </a:rPr>
                <a:t>12</a:t>
              </a:r>
              <a:r>
                <a:rPr lang="zh-CN" altLang="zh-CN" sz="2400" b="0" dirty="0">
                  <a:solidFill>
                    <a:schemeClr val="bg2"/>
                  </a:solidFill>
                </a:rPr>
                <a:t>H</a:t>
              </a:r>
            </a:p>
          </p:txBody>
        </p:sp>
        <p:sp>
          <p:nvSpPr>
            <p:cNvPr id="43" name="Text Box 39"/>
            <p:cNvSpPr txBox="1">
              <a:spLocks noChangeArrowheads="1"/>
            </p:cNvSpPr>
            <p:nvPr/>
          </p:nvSpPr>
          <p:spPr bwMode="auto">
            <a:xfrm>
              <a:off x="1314822" y="3877816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bg2"/>
                  </a:solidFill>
                </a:rPr>
                <a:t>34</a:t>
              </a:r>
              <a:r>
                <a:rPr lang="zh-CN" altLang="zh-CN" sz="2400" b="0" dirty="0">
                  <a:solidFill>
                    <a:schemeClr val="bg2"/>
                  </a:solidFill>
                </a:rPr>
                <a:t>H</a:t>
              </a:r>
            </a:p>
          </p:txBody>
        </p:sp>
        <p:sp>
          <p:nvSpPr>
            <p:cNvPr id="44" name="AutoShape 40"/>
            <p:cNvSpPr>
              <a:spLocks/>
            </p:cNvSpPr>
            <p:nvPr/>
          </p:nvSpPr>
          <p:spPr bwMode="auto">
            <a:xfrm>
              <a:off x="2381622" y="3801616"/>
              <a:ext cx="228600" cy="990600"/>
            </a:xfrm>
            <a:prstGeom prst="rightBrace">
              <a:avLst>
                <a:gd name="adj1" fmla="val 16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 b="0"/>
            </a:p>
          </p:txBody>
        </p:sp>
        <p:sp>
          <p:nvSpPr>
            <p:cNvPr id="47" name="Line 43"/>
            <p:cNvSpPr>
              <a:spLocks noChangeShapeType="1"/>
            </p:cNvSpPr>
            <p:nvPr/>
          </p:nvSpPr>
          <p:spPr bwMode="auto">
            <a:xfrm flipH="1">
              <a:off x="2343522" y="3729038"/>
              <a:ext cx="2667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Text Box 46"/>
            <p:cNvSpPr txBox="1">
              <a:spLocks noChangeArrowheads="1"/>
            </p:cNvSpPr>
            <p:nvPr/>
          </p:nvSpPr>
          <p:spPr bwMode="auto">
            <a:xfrm>
              <a:off x="2576785" y="3538797"/>
              <a:ext cx="1978446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/>
                <a:t>EAX=10000</a:t>
              </a:r>
              <a:r>
                <a:rPr lang="zh-CN" altLang="zh-CN" sz="2400" b="0" dirty="0"/>
                <a:t>H</a:t>
              </a:r>
            </a:p>
          </p:txBody>
        </p:sp>
        <p:sp>
          <p:nvSpPr>
            <p:cNvPr id="51" name="Rectangle 47"/>
            <p:cNvSpPr>
              <a:spLocks noChangeArrowheads="1"/>
            </p:cNvSpPr>
            <p:nvPr/>
          </p:nvSpPr>
          <p:spPr bwMode="auto">
            <a:xfrm>
              <a:off x="2649413" y="4750469"/>
              <a:ext cx="1706563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0" dirty="0">
                  <a:solidFill>
                    <a:schemeClr val="bg2"/>
                  </a:solidFill>
                </a:rPr>
                <a:t>78563412</a:t>
              </a:r>
              <a:r>
                <a:rPr lang="zh-CN" altLang="zh-CN" sz="2400" b="0" dirty="0">
                  <a:solidFill>
                    <a:schemeClr val="bg2"/>
                  </a:solidFill>
                </a:rPr>
                <a:t>H</a:t>
              </a:r>
            </a:p>
          </p:txBody>
        </p:sp>
        <p:sp>
          <p:nvSpPr>
            <p:cNvPr id="52" name="Line 48"/>
            <p:cNvSpPr>
              <a:spLocks noChangeShapeType="1"/>
            </p:cNvSpPr>
            <p:nvPr/>
          </p:nvSpPr>
          <p:spPr bwMode="auto">
            <a:xfrm>
              <a:off x="2649413" y="4293269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Line 49"/>
            <p:cNvSpPr>
              <a:spLocks noChangeShapeType="1"/>
            </p:cNvSpPr>
            <p:nvPr/>
          </p:nvSpPr>
          <p:spPr bwMode="auto">
            <a:xfrm>
              <a:off x="3106614" y="4293269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Text Box 50"/>
            <p:cNvSpPr txBox="1">
              <a:spLocks noChangeArrowheads="1"/>
            </p:cNvSpPr>
            <p:nvPr/>
          </p:nvSpPr>
          <p:spPr bwMode="auto">
            <a:xfrm>
              <a:off x="2954214" y="5055269"/>
              <a:ext cx="914400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/>
                <a:t>E</a:t>
              </a:r>
              <a:r>
                <a:rPr lang="zh-CN" altLang="zh-CN" sz="2400" b="0" dirty="0"/>
                <a:t>BX</a:t>
              </a:r>
            </a:p>
          </p:txBody>
        </p:sp>
        <p:sp>
          <p:nvSpPr>
            <p:cNvPr id="60" name="Text Box 39"/>
            <p:cNvSpPr txBox="1">
              <a:spLocks noChangeArrowheads="1"/>
            </p:cNvSpPr>
            <p:nvPr/>
          </p:nvSpPr>
          <p:spPr bwMode="auto">
            <a:xfrm>
              <a:off x="1314822" y="4212779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bg2"/>
                  </a:solidFill>
                </a:rPr>
                <a:t>56</a:t>
              </a:r>
              <a:r>
                <a:rPr lang="zh-CN" altLang="zh-CN" sz="2400" b="0" dirty="0">
                  <a:solidFill>
                    <a:schemeClr val="bg2"/>
                  </a:solidFill>
                </a:rPr>
                <a:t>H</a:t>
              </a:r>
            </a:p>
          </p:txBody>
        </p:sp>
        <p:sp>
          <p:nvSpPr>
            <p:cNvPr id="61" name="Text Box 39"/>
            <p:cNvSpPr txBox="1">
              <a:spLocks noChangeArrowheads="1"/>
            </p:cNvSpPr>
            <p:nvPr/>
          </p:nvSpPr>
          <p:spPr bwMode="auto">
            <a:xfrm>
              <a:off x="1314822" y="4517579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bg2"/>
                  </a:solidFill>
                </a:rPr>
                <a:t>78</a:t>
              </a:r>
              <a:r>
                <a:rPr lang="zh-CN" altLang="zh-CN" sz="2400" b="0" dirty="0">
                  <a:solidFill>
                    <a:schemeClr val="bg2"/>
                  </a:solidFill>
                </a:rPr>
                <a:t>H</a:t>
              </a:r>
            </a:p>
          </p:txBody>
        </p:sp>
        <p:sp>
          <p:nvSpPr>
            <p:cNvPr id="58" name="Line 32"/>
            <p:cNvSpPr>
              <a:spLocks noChangeShapeType="1"/>
            </p:cNvSpPr>
            <p:nvPr/>
          </p:nvSpPr>
          <p:spPr bwMode="auto">
            <a:xfrm>
              <a:off x="1086222" y="4576624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Line 32"/>
            <p:cNvSpPr>
              <a:spLocks noChangeShapeType="1"/>
            </p:cNvSpPr>
            <p:nvPr/>
          </p:nvSpPr>
          <p:spPr bwMode="auto">
            <a:xfrm>
              <a:off x="1086222" y="4899248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7" name="Text Box 53"/>
          <p:cNvSpPr txBox="1">
            <a:spLocks noChangeArrowheads="1"/>
          </p:cNvSpPr>
          <p:nvPr/>
        </p:nvSpPr>
        <p:spPr bwMode="auto">
          <a:xfrm>
            <a:off x="4211960" y="2066008"/>
            <a:ext cx="338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400" b="0" dirty="0">
                <a:solidFill>
                  <a:schemeClr val="bg2"/>
                </a:solidFill>
              </a:rPr>
              <a:t>LEA   </a:t>
            </a:r>
            <a:r>
              <a:rPr lang="en-US" altLang="zh-CN" sz="2400" b="0" dirty="0">
                <a:solidFill>
                  <a:schemeClr val="bg2"/>
                </a:solidFill>
              </a:rPr>
              <a:t>E</a:t>
            </a:r>
            <a:r>
              <a:rPr lang="zh-CN" altLang="zh-CN" sz="2400" b="0" dirty="0">
                <a:solidFill>
                  <a:schemeClr val="bg2"/>
                </a:solidFill>
              </a:rPr>
              <a:t>BX</a:t>
            </a:r>
            <a:r>
              <a:rPr lang="en-US" altLang="zh-CN" sz="2400" b="0" dirty="0">
                <a:solidFill>
                  <a:schemeClr val="bg2"/>
                </a:solidFill>
              </a:rPr>
              <a:t>, </a:t>
            </a:r>
            <a:r>
              <a:rPr lang="zh-CN" altLang="zh-CN" sz="2400" b="0" dirty="0">
                <a:solidFill>
                  <a:schemeClr val="bg2"/>
                </a:solidFill>
              </a:rPr>
              <a:t>[</a:t>
            </a:r>
            <a:r>
              <a:rPr lang="en-US" altLang="zh-CN" sz="2400" b="0" dirty="0">
                <a:solidFill>
                  <a:schemeClr val="bg2"/>
                </a:solidFill>
              </a:rPr>
              <a:t>EAX</a:t>
            </a:r>
            <a:r>
              <a:rPr lang="zh-CN" altLang="zh-CN" sz="2400" b="0" dirty="0">
                <a:solidFill>
                  <a:schemeClr val="bg2"/>
                </a:solidFill>
              </a:rPr>
              <a:t>]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4691756" y="2924944"/>
            <a:ext cx="3621088" cy="2809651"/>
            <a:chOff x="4691756" y="2924944"/>
            <a:chExt cx="3621088" cy="2809651"/>
          </a:xfrm>
        </p:grpSpPr>
        <p:sp>
          <p:nvSpPr>
            <p:cNvPr id="18" name="Line 14"/>
            <p:cNvSpPr>
              <a:spLocks noChangeShapeType="1"/>
            </p:cNvSpPr>
            <p:nvPr/>
          </p:nvSpPr>
          <p:spPr bwMode="auto">
            <a:xfrm flipH="1">
              <a:off x="5930846" y="3794777"/>
              <a:ext cx="2973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Text Box 17"/>
            <p:cNvSpPr txBox="1">
              <a:spLocks noChangeArrowheads="1"/>
            </p:cNvSpPr>
            <p:nvPr/>
          </p:nvSpPr>
          <p:spPr bwMode="auto">
            <a:xfrm>
              <a:off x="6139556" y="3545897"/>
              <a:ext cx="2173288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/>
                <a:t>EAX=10000</a:t>
              </a:r>
              <a:r>
                <a:rPr lang="zh-CN" altLang="zh-CN" sz="2400" b="0" dirty="0"/>
                <a:t>H</a:t>
              </a:r>
            </a:p>
          </p:txBody>
        </p:sp>
        <p:sp>
          <p:nvSpPr>
            <p:cNvPr id="22" name="Rectangle 18"/>
            <p:cNvSpPr>
              <a:spLocks noChangeArrowheads="1"/>
            </p:cNvSpPr>
            <p:nvPr/>
          </p:nvSpPr>
          <p:spPr bwMode="auto">
            <a:xfrm>
              <a:off x="6744048" y="4576624"/>
              <a:ext cx="1319213" cy="2921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0" dirty="0">
                  <a:solidFill>
                    <a:schemeClr val="bg2"/>
                  </a:solidFill>
                </a:rPr>
                <a:t>10000H</a:t>
              </a:r>
              <a:endParaRPr lang="zh-CN" altLang="zh-CN" sz="2400" b="0" dirty="0">
                <a:solidFill>
                  <a:schemeClr val="bg2"/>
                </a:solidFill>
              </a:endParaRPr>
            </a:p>
          </p:txBody>
        </p:sp>
        <p:sp>
          <p:nvSpPr>
            <p:cNvPr id="23" name="Text Box 19"/>
            <p:cNvSpPr txBox="1">
              <a:spLocks noChangeArrowheads="1"/>
            </p:cNvSpPr>
            <p:nvPr/>
          </p:nvSpPr>
          <p:spPr bwMode="auto">
            <a:xfrm>
              <a:off x="7125048" y="4881424"/>
              <a:ext cx="838200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/>
                <a:t>E</a:t>
              </a:r>
              <a:r>
                <a:rPr lang="zh-CN" altLang="zh-CN" sz="2400" b="0" dirty="0"/>
                <a:t>BX</a:t>
              </a:r>
            </a:p>
          </p:txBody>
        </p:sp>
        <p:sp>
          <p:nvSpPr>
            <p:cNvPr id="25" name="Line 21"/>
            <p:cNvSpPr>
              <a:spLocks noChangeShapeType="1"/>
            </p:cNvSpPr>
            <p:nvPr/>
          </p:nvSpPr>
          <p:spPr bwMode="auto">
            <a:xfrm flipH="1">
              <a:off x="7421653" y="3980184"/>
              <a:ext cx="0" cy="571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Rectangle 27"/>
            <p:cNvSpPr>
              <a:spLocks noChangeArrowheads="1"/>
            </p:cNvSpPr>
            <p:nvPr/>
          </p:nvSpPr>
          <p:spPr bwMode="auto">
            <a:xfrm>
              <a:off x="4691756" y="2924944"/>
              <a:ext cx="1219200" cy="27955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 b="0"/>
            </a:p>
          </p:txBody>
        </p:sp>
        <p:sp>
          <p:nvSpPr>
            <p:cNvPr id="68" name="Line 30"/>
            <p:cNvSpPr>
              <a:spLocks noChangeShapeType="1"/>
            </p:cNvSpPr>
            <p:nvPr/>
          </p:nvSpPr>
          <p:spPr bwMode="auto">
            <a:xfrm>
              <a:off x="4691756" y="3683321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Line 31"/>
            <p:cNvSpPr>
              <a:spLocks noChangeShapeType="1"/>
            </p:cNvSpPr>
            <p:nvPr/>
          </p:nvSpPr>
          <p:spPr bwMode="auto">
            <a:xfrm>
              <a:off x="4691756" y="3988121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Line 32"/>
            <p:cNvSpPr>
              <a:spLocks noChangeShapeType="1"/>
            </p:cNvSpPr>
            <p:nvPr/>
          </p:nvSpPr>
          <p:spPr bwMode="auto">
            <a:xfrm>
              <a:off x="4691756" y="4292921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Text Box 33"/>
            <p:cNvSpPr txBox="1">
              <a:spLocks noChangeArrowheads="1"/>
            </p:cNvSpPr>
            <p:nvPr/>
          </p:nvSpPr>
          <p:spPr bwMode="auto">
            <a:xfrm>
              <a:off x="5068033" y="3001143"/>
              <a:ext cx="553998" cy="762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zh-CN" sz="2400" b="0"/>
                <a:t>…...</a:t>
              </a:r>
            </a:p>
          </p:txBody>
        </p:sp>
        <p:sp>
          <p:nvSpPr>
            <p:cNvPr id="72" name="Text Box 34"/>
            <p:cNvSpPr txBox="1">
              <a:spLocks noChangeArrowheads="1"/>
            </p:cNvSpPr>
            <p:nvPr/>
          </p:nvSpPr>
          <p:spPr bwMode="auto">
            <a:xfrm>
              <a:off x="5099089" y="4972595"/>
              <a:ext cx="553998" cy="762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zh-CN" sz="2400" b="0" dirty="0"/>
                <a:t>…...</a:t>
              </a:r>
            </a:p>
          </p:txBody>
        </p:sp>
        <p:sp>
          <p:nvSpPr>
            <p:cNvPr id="73" name="Text Box 38"/>
            <p:cNvSpPr txBox="1">
              <a:spLocks noChangeArrowheads="1"/>
            </p:cNvSpPr>
            <p:nvPr/>
          </p:nvSpPr>
          <p:spPr bwMode="auto">
            <a:xfrm>
              <a:off x="4920356" y="3607121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bg2"/>
                  </a:solidFill>
                </a:rPr>
                <a:t>12</a:t>
              </a:r>
              <a:r>
                <a:rPr lang="zh-CN" altLang="zh-CN" sz="2400" b="0" dirty="0">
                  <a:solidFill>
                    <a:schemeClr val="bg2"/>
                  </a:solidFill>
                </a:rPr>
                <a:t>H</a:t>
              </a:r>
            </a:p>
          </p:txBody>
        </p:sp>
        <p:sp>
          <p:nvSpPr>
            <p:cNvPr id="74" name="Text Box 39"/>
            <p:cNvSpPr txBox="1">
              <a:spLocks noChangeArrowheads="1"/>
            </p:cNvSpPr>
            <p:nvPr/>
          </p:nvSpPr>
          <p:spPr bwMode="auto">
            <a:xfrm>
              <a:off x="4920356" y="3911921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bg2"/>
                  </a:solidFill>
                </a:rPr>
                <a:t>34</a:t>
              </a:r>
              <a:r>
                <a:rPr lang="zh-CN" altLang="zh-CN" sz="2400" b="0" dirty="0">
                  <a:solidFill>
                    <a:schemeClr val="bg2"/>
                  </a:solidFill>
                </a:rPr>
                <a:t>H</a:t>
              </a:r>
            </a:p>
          </p:txBody>
        </p:sp>
        <p:sp>
          <p:nvSpPr>
            <p:cNvPr id="75" name="Text Box 39"/>
            <p:cNvSpPr txBox="1">
              <a:spLocks noChangeArrowheads="1"/>
            </p:cNvSpPr>
            <p:nvPr/>
          </p:nvSpPr>
          <p:spPr bwMode="auto">
            <a:xfrm>
              <a:off x="4920356" y="4246884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bg2"/>
                  </a:solidFill>
                </a:rPr>
                <a:t>56</a:t>
              </a:r>
              <a:r>
                <a:rPr lang="zh-CN" altLang="zh-CN" sz="2400" b="0" dirty="0">
                  <a:solidFill>
                    <a:schemeClr val="bg2"/>
                  </a:solidFill>
                </a:rPr>
                <a:t>H</a:t>
              </a:r>
            </a:p>
          </p:txBody>
        </p:sp>
        <p:sp>
          <p:nvSpPr>
            <p:cNvPr id="76" name="Text Box 39"/>
            <p:cNvSpPr txBox="1">
              <a:spLocks noChangeArrowheads="1"/>
            </p:cNvSpPr>
            <p:nvPr/>
          </p:nvSpPr>
          <p:spPr bwMode="auto">
            <a:xfrm>
              <a:off x="4920356" y="4551684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bg2"/>
                  </a:solidFill>
                </a:rPr>
                <a:t>78</a:t>
              </a:r>
              <a:r>
                <a:rPr lang="zh-CN" altLang="zh-CN" sz="2400" b="0" dirty="0">
                  <a:solidFill>
                    <a:schemeClr val="bg2"/>
                  </a:solidFill>
                </a:rPr>
                <a:t>H</a:t>
              </a:r>
            </a:p>
          </p:txBody>
        </p:sp>
        <p:sp>
          <p:nvSpPr>
            <p:cNvPr id="77" name="Line 32"/>
            <p:cNvSpPr>
              <a:spLocks noChangeShapeType="1"/>
            </p:cNvSpPr>
            <p:nvPr/>
          </p:nvSpPr>
          <p:spPr bwMode="auto">
            <a:xfrm>
              <a:off x="4691756" y="4610729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Line 32"/>
            <p:cNvSpPr>
              <a:spLocks noChangeShapeType="1"/>
            </p:cNvSpPr>
            <p:nvPr/>
          </p:nvSpPr>
          <p:spPr bwMode="auto">
            <a:xfrm>
              <a:off x="4691756" y="4933353"/>
              <a:ext cx="1219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20694673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56" grpId="0" autoUpdateAnimBg="0"/>
      <p:bldP spid="5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31335ED-2CCE-4D39-8598-4761A7FDFF57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60</a:t>
            </a:fld>
            <a:endParaRPr lang="en-US" altLang="zh-CN" sz="1400" b="0" dirty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0546"/>
            <a:ext cx="3168600" cy="690594"/>
          </a:xfrm>
        </p:spPr>
        <p:txBody>
          <a:bodyPr/>
          <a:lstStyle/>
          <a:p>
            <a:pPr eaLnBrk="1" hangingPunct="1"/>
            <a:r>
              <a:rPr lang="zh-CN" altLang="en-US" dirty="0"/>
              <a:t>又例如：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5507" y="908721"/>
            <a:ext cx="3957638" cy="4104456"/>
          </a:xfrm>
        </p:spPr>
        <p:txBody>
          <a:bodyPr/>
          <a:lstStyle/>
          <a:p>
            <a:pPr eaLnBrk="1" hangingPunct="1">
              <a:lnSpc>
                <a:spcPts val="2500"/>
              </a:lnSpc>
              <a:spcAft>
                <a:spcPct val="30000"/>
              </a:spcAft>
            </a:pPr>
            <a:r>
              <a:rPr lang="zh-CN" altLang="en-US" dirty="0">
                <a:solidFill>
                  <a:schemeClr val="tx1"/>
                </a:solidFill>
              </a:rPr>
              <a:t>比较下列指令：</a:t>
            </a:r>
          </a:p>
          <a:p>
            <a:pPr eaLnBrk="1" hangingPunct="1">
              <a:lnSpc>
                <a:spcPts val="2500"/>
              </a:lnSpc>
              <a:buFont typeface="Wingdings" pitchFamily="2" charset="2"/>
              <a:buNone/>
            </a:pPr>
            <a:r>
              <a:rPr lang="en-US" altLang="zh-CN" dirty="0"/>
              <a:t>    MOV  ESI，DATA1</a:t>
            </a:r>
          </a:p>
          <a:p>
            <a:pPr eaLnBrk="1" hangingPunct="1">
              <a:lnSpc>
                <a:spcPts val="2500"/>
              </a:lnSpc>
              <a:buFont typeface="Wingdings" pitchFamily="2" charset="2"/>
              <a:buNone/>
            </a:pPr>
            <a:endParaRPr lang="en-US" altLang="zh-CN" dirty="0"/>
          </a:p>
          <a:p>
            <a:pPr eaLnBrk="1" hangingPunct="1">
              <a:lnSpc>
                <a:spcPts val="2500"/>
              </a:lnSpc>
              <a:buFont typeface="Wingdings" pitchFamily="2" charset="2"/>
              <a:buNone/>
            </a:pPr>
            <a:r>
              <a:rPr lang="en-US" altLang="zh-CN" dirty="0"/>
              <a:t>    LEA  ESI，DATA1</a:t>
            </a:r>
          </a:p>
          <a:p>
            <a:pPr eaLnBrk="1" hangingPunct="1">
              <a:lnSpc>
                <a:spcPts val="2500"/>
              </a:lnSpc>
              <a:buFont typeface="Wingdings" pitchFamily="2" charset="2"/>
              <a:buNone/>
            </a:pPr>
            <a:r>
              <a:rPr lang="en-US" altLang="zh-CN" dirty="0"/>
              <a:t> </a:t>
            </a:r>
          </a:p>
          <a:p>
            <a:pPr eaLnBrk="1" hangingPunct="1">
              <a:lnSpc>
                <a:spcPts val="2500"/>
              </a:lnSpc>
              <a:buFont typeface="Wingdings" pitchFamily="2" charset="2"/>
              <a:buNone/>
            </a:pPr>
            <a:r>
              <a:rPr lang="en-US" altLang="zh-CN" dirty="0"/>
              <a:t>    MOV  EAX，[EBX]</a:t>
            </a:r>
          </a:p>
          <a:p>
            <a:pPr eaLnBrk="1" hangingPunct="1">
              <a:lnSpc>
                <a:spcPts val="2500"/>
              </a:lnSpc>
              <a:buFont typeface="Wingdings" pitchFamily="2" charset="2"/>
              <a:buNone/>
            </a:pPr>
            <a:endParaRPr lang="en-US" altLang="zh-CN" dirty="0"/>
          </a:p>
          <a:p>
            <a:pPr eaLnBrk="1" hangingPunct="1">
              <a:lnSpc>
                <a:spcPts val="2500"/>
              </a:lnSpc>
              <a:buFont typeface="Wingdings" pitchFamily="2" charset="2"/>
              <a:buNone/>
            </a:pPr>
            <a:r>
              <a:rPr lang="en-US" altLang="zh-CN" dirty="0"/>
              <a:t>    LEA  EAX，[EBX]</a:t>
            </a:r>
          </a:p>
          <a:p>
            <a:pPr eaLnBrk="1" hangingPunct="1">
              <a:lnSpc>
                <a:spcPts val="2500"/>
              </a:lnSpc>
              <a:buFont typeface="Wingdings" pitchFamily="2" charset="2"/>
              <a:buNone/>
            </a:pPr>
            <a:endParaRPr lang="en-US" altLang="zh-CN" dirty="0"/>
          </a:p>
          <a:p>
            <a:pPr eaLnBrk="1" hangingPunct="1">
              <a:lnSpc>
                <a:spcPts val="2500"/>
              </a:lnSpc>
              <a:buFont typeface="Wingdings" pitchFamily="2" charset="2"/>
              <a:buNone/>
            </a:pPr>
            <a:r>
              <a:rPr lang="en-US" altLang="zh-CN" dirty="0"/>
              <a:t>    </a:t>
            </a:r>
          </a:p>
          <a:p>
            <a:pPr eaLnBrk="1" hangingPunct="1">
              <a:lnSpc>
                <a:spcPts val="2500"/>
              </a:lnSpc>
              <a:buFont typeface="Wingdings" pitchFamily="2" charset="2"/>
              <a:buNone/>
            </a:pPr>
            <a:r>
              <a:rPr lang="en-US" altLang="zh-CN" dirty="0"/>
              <a:t>    </a:t>
            </a:r>
            <a:r>
              <a:rPr lang="en-US" altLang="zh-CN" dirty="0" smtClean="0"/>
              <a:t>LEA  CX, [EBX]</a:t>
            </a:r>
            <a:endParaRPr lang="en-US" altLang="zh-CN" dirty="0"/>
          </a:p>
        </p:txBody>
      </p:sp>
      <p:sp>
        <p:nvSpPr>
          <p:cNvPr id="138264" name="AutoShape 24"/>
          <p:cNvSpPr>
            <a:spLocks noChangeArrowheads="1"/>
          </p:cNvSpPr>
          <p:nvPr/>
        </p:nvSpPr>
        <p:spPr bwMode="auto">
          <a:xfrm>
            <a:off x="4855369" y="229546"/>
            <a:ext cx="1219200" cy="990600"/>
          </a:xfrm>
          <a:prstGeom prst="cloudCallout">
            <a:avLst>
              <a:gd name="adj1" fmla="val -97728"/>
              <a:gd name="adj2" fmla="val 66683"/>
            </a:avLst>
          </a:prstGeom>
          <a:solidFill>
            <a:srgbClr val="FF6600"/>
          </a:solidFill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符号地址</a:t>
            </a:r>
          </a:p>
        </p:txBody>
      </p:sp>
      <p:sp>
        <p:nvSpPr>
          <p:cNvPr id="138271" name="Line 31"/>
          <p:cNvSpPr>
            <a:spLocks noChangeShapeType="1"/>
          </p:cNvSpPr>
          <p:nvPr/>
        </p:nvSpPr>
        <p:spPr bwMode="auto">
          <a:xfrm flipV="1">
            <a:off x="5724400" y="3719042"/>
            <a:ext cx="490538" cy="360362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72" name="Text Box 32"/>
          <p:cNvSpPr txBox="1">
            <a:spLocks noChangeArrowheads="1"/>
          </p:cNvSpPr>
          <p:nvPr/>
        </p:nvSpPr>
        <p:spPr bwMode="auto">
          <a:xfrm>
            <a:off x="4295750" y="4064307"/>
            <a:ext cx="25224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EBX=22331100H</a:t>
            </a:r>
          </a:p>
        </p:txBody>
      </p:sp>
      <p:sp>
        <p:nvSpPr>
          <p:cNvPr id="138274" name="Text Box 34"/>
          <p:cNvSpPr txBox="1">
            <a:spLocks noChangeArrowheads="1"/>
          </p:cNvSpPr>
          <p:nvPr/>
        </p:nvSpPr>
        <p:spPr bwMode="auto">
          <a:xfrm>
            <a:off x="1237574" y="1805657"/>
            <a:ext cx="3622458" cy="462307"/>
          </a:xfrm>
          <a:prstGeom prst="rect">
            <a:avLst/>
          </a:prstGeom>
          <a:solidFill>
            <a:srgbClr val="33CCCC"/>
          </a:solidFill>
          <a:ln w="22225">
            <a:solidFill>
              <a:srgbClr val="33CCCC"/>
            </a:solidFill>
            <a:miter lim="800000"/>
            <a:headEnd/>
            <a:tailEnd type="none" w="lg" len="lg"/>
          </a:ln>
        </p:spPr>
        <p:txBody>
          <a:bodyPr wrap="square"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ea typeface="宋体" pitchFamily="2" charset="-122"/>
              </a:rPr>
              <a:t>执行结果：</a:t>
            </a:r>
            <a:r>
              <a:rPr lang="en-US" altLang="zh-CN" sz="2000" dirty="0">
                <a:solidFill>
                  <a:schemeClr val="tx1"/>
                </a:solidFill>
                <a:ea typeface="宋体" pitchFamily="2" charset="-122"/>
              </a:rPr>
              <a:t>ESI=12345678H</a:t>
            </a:r>
          </a:p>
        </p:txBody>
      </p:sp>
      <p:sp>
        <p:nvSpPr>
          <p:cNvPr id="138275" name="Text Box 35"/>
          <p:cNvSpPr txBox="1">
            <a:spLocks noChangeArrowheads="1"/>
          </p:cNvSpPr>
          <p:nvPr/>
        </p:nvSpPr>
        <p:spPr bwMode="auto">
          <a:xfrm>
            <a:off x="1211699" y="2647481"/>
            <a:ext cx="3045976" cy="421078"/>
          </a:xfrm>
          <a:prstGeom prst="rect">
            <a:avLst/>
          </a:prstGeom>
          <a:solidFill>
            <a:srgbClr val="33CCCC"/>
          </a:solidFill>
          <a:ln w="22225">
            <a:solidFill>
              <a:srgbClr val="33CCCC"/>
            </a:solidFill>
            <a:miter lim="800000"/>
            <a:headEnd/>
            <a:tailEnd type="none" w="lg" len="lg"/>
          </a:ln>
        </p:spPr>
        <p:txBody>
          <a:bodyPr wrap="square"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ea typeface="宋体" pitchFamily="2" charset="-122"/>
              </a:rPr>
              <a:t>执行结果：</a:t>
            </a:r>
            <a:r>
              <a:rPr lang="en-US" altLang="zh-CN" sz="2000" dirty="0">
                <a:solidFill>
                  <a:schemeClr val="tx1"/>
                </a:solidFill>
                <a:ea typeface="宋体" pitchFamily="2" charset="-122"/>
              </a:rPr>
              <a:t>ESI=123H</a:t>
            </a:r>
          </a:p>
        </p:txBody>
      </p:sp>
      <p:sp>
        <p:nvSpPr>
          <p:cNvPr id="138276" name="Text Box 36"/>
          <p:cNvSpPr txBox="1">
            <a:spLocks noChangeArrowheads="1"/>
          </p:cNvSpPr>
          <p:nvPr/>
        </p:nvSpPr>
        <p:spPr bwMode="auto">
          <a:xfrm>
            <a:off x="1181476" y="3485024"/>
            <a:ext cx="3678556" cy="421078"/>
          </a:xfrm>
          <a:prstGeom prst="rect">
            <a:avLst/>
          </a:prstGeom>
          <a:solidFill>
            <a:srgbClr val="33CCCC"/>
          </a:solidFill>
          <a:ln w="22225">
            <a:solidFill>
              <a:srgbClr val="33CCCC"/>
            </a:solidFill>
            <a:miter lim="800000"/>
            <a:headEnd/>
            <a:tailEnd type="none" w="lg" len="lg"/>
          </a:ln>
        </p:spPr>
        <p:txBody>
          <a:bodyPr wrap="square"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ea typeface="宋体" pitchFamily="2" charset="-122"/>
              </a:rPr>
              <a:t>执行结果：</a:t>
            </a:r>
            <a:r>
              <a:rPr lang="en-US" altLang="zh-CN" sz="2000" dirty="0">
                <a:solidFill>
                  <a:schemeClr val="tx1"/>
                </a:solidFill>
                <a:ea typeface="宋体" pitchFamily="2" charset="-122"/>
              </a:rPr>
              <a:t>EAX=55667788H</a:t>
            </a:r>
          </a:p>
        </p:txBody>
      </p:sp>
      <p:sp>
        <p:nvSpPr>
          <p:cNvPr id="138277" name="Text Box 37"/>
          <p:cNvSpPr txBox="1">
            <a:spLocks noChangeArrowheads="1"/>
          </p:cNvSpPr>
          <p:nvPr/>
        </p:nvSpPr>
        <p:spPr bwMode="auto">
          <a:xfrm>
            <a:off x="1181476" y="4453023"/>
            <a:ext cx="3818275" cy="462307"/>
          </a:xfrm>
          <a:prstGeom prst="rect">
            <a:avLst/>
          </a:prstGeom>
          <a:solidFill>
            <a:srgbClr val="33CCCC"/>
          </a:solidFill>
          <a:ln w="22225">
            <a:solidFill>
              <a:srgbClr val="33CCCC"/>
            </a:solidFill>
            <a:miter lim="800000"/>
            <a:headEnd/>
            <a:tailEnd type="none" w="lg" len="lg"/>
          </a:ln>
        </p:spPr>
        <p:txBody>
          <a:bodyPr wrap="square"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ea typeface="宋体" pitchFamily="2" charset="-122"/>
              </a:rPr>
              <a:t>执行结果：</a:t>
            </a:r>
            <a:r>
              <a:rPr lang="en-US" altLang="zh-CN" sz="2000" dirty="0">
                <a:solidFill>
                  <a:schemeClr val="tx1"/>
                </a:solidFill>
                <a:ea typeface="宋体" pitchFamily="2" charset="-122"/>
              </a:rPr>
              <a:t>EAX=22331100H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5597675" y="229546"/>
            <a:ext cx="3366813" cy="5046832"/>
            <a:chOff x="5092975" y="1811167"/>
            <a:chExt cx="3366813" cy="5046832"/>
          </a:xfrm>
        </p:grpSpPr>
        <p:sp>
          <p:nvSpPr>
            <p:cNvPr id="138246" name="Rectangle 6"/>
            <p:cNvSpPr>
              <a:spLocks noChangeArrowheads="1"/>
            </p:cNvSpPr>
            <p:nvPr/>
          </p:nvSpPr>
          <p:spPr bwMode="auto">
            <a:xfrm>
              <a:off x="6707188" y="2357438"/>
              <a:ext cx="1752600" cy="4500561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lg" len="lg"/>
            </a:ln>
          </p:spPr>
          <p:txBody>
            <a:bodyPr wrap="none" anchor="ctr"/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800" b="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138247" name="Line 7"/>
            <p:cNvSpPr>
              <a:spLocks noChangeShapeType="1"/>
            </p:cNvSpPr>
            <p:nvPr/>
          </p:nvSpPr>
          <p:spPr bwMode="auto">
            <a:xfrm flipH="1">
              <a:off x="6697481" y="2346325"/>
              <a:ext cx="11294" cy="4486244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48" name="Line 8"/>
            <p:cNvSpPr>
              <a:spLocks noChangeShapeType="1"/>
            </p:cNvSpPr>
            <p:nvPr/>
          </p:nvSpPr>
          <p:spPr bwMode="auto">
            <a:xfrm>
              <a:off x="8459788" y="2346325"/>
              <a:ext cx="0" cy="4511674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50" name="Line 10"/>
            <p:cNvSpPr>
              <a:spLocks noChangeShapeType="1"/>
            </p:cNvSpPr>
            <p:nvPr/>
          </p:nvSpPr>
          <p:spPr bwMode="auto">
            <a:xfrm>
              <a:off x="6707188" y="2780928"/>
              <a:ext cx="175260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51" name="Line 11"/>
            <p:cNvSpPr>
              <a:spLocks noChangeShapeType="1"/>
            </p:cNvSpPr>
            <p:nvPr/>
          </p:nvSpPr>
          <p:spPr bwMode="auto">
            <a:xfrm>
              <a:off x="6707188" y="3641725"/>
              <a:ext cx="175260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52" name="Line 12"/>
            <p:cNvSpPr>
              <a:spLocks noChangeShapeType="1"/>
            </p:cNvSpPr>
            <p:nvPr/>
          </p:nvSpPr>
          <p:spPr bwMode="auto">
            <a:xfrm>
              <a:off x="6707188" y="4022725"/>
              <a:ext cx="175260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53" name="Line 13"/>
            <p:cNvSpPr>
              <a:spLocks noChangeShapeType="1"/>
            </p:cNvSpPr>
            <p:nvPr/>
          </p:nvSpPr>
          <p:spPr bwMode="auto">
            <a:xfrm>
              <a:off x="6707188" y="2346325"/>
              <a:ext cx="175260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54" name="Line 14"/>
            <p:cNvSpPr>
              <a:spLocks noChangeShapeType="1"/>
            </p:cNvSpPr>
            <p:nvPr/>
          </p:nvSpPr>
          <p:spPr bwMode="auto">
            <a:xfrm>
              <a:off x="6707188" y="5318125"/>
              <a:ext cx="175260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55" name="Line 15"/>
            <p:cNvSpPr>
              <a:spLocks noChangeShapeType="1"/>
            </p:cNvSpPr>
            <p:nvPr/>
          </p:nvSpPr>
          <p:spPr bwMode="auto">
            <a:xfrm>
              <a:off x="6707188" y="4937125"/>
              <a:ext cx="175260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56" name="Line 16"/>
            <p:cNvSpPr>
              <a:spLocks noChangeShapeType="1"/>
            </p:cNvSpPr>
            <p:nvPr/>
          </p:nvSpPr>
          <p:spPr bwMode="auto">
            <a:xfrm>
              <a:off x="6694488" y="6375369"/>
              <a:ext cx="175260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57" name="Line 17"/>
            <p:cNvSpPr>
              <a:spLocks noChangeShapeType="1"/>
            </p:cNvSpPr>
            <p:nvPr/>
          </p:nvSpPr>
          <p:spPr bwMode="auto">
            <a:xfrm>
              <a:off x="6707188" y="5699125"/>
              <a:ext cx="175260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58" name="Text Box 18"/>
            <p:cNvSpPr txBox="1">
              <a:spLocks noChangeArrowheads="1"/>
            </p:cNvSpPr>
            <p:nvPr/>
          </p:nvSpPr>
          <p:spPr bwMode="auto">
            <a:xfrm>
              <a:off x="7316788" y="4461578"/>
              <a:ext cx="609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dirty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┇</a:t>
              </a:r>
              <a:r>
                <a:rPr kumimoji="1" lang="en-US" altLang="zh-CN" sz="2400" dirty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</a:p>
          </p:txBody>
        </p:sp>
        <p:sp>
          <p:nvSpPr>
            <p:cNvPr id="138260" name="Text Box 20"/>
            <p:cNvSpPr txBox="1">
              <a:spLocks noChangeArrowheads="1"/>
            </p:cNvSpPr>
            <p:nvPr/>
          </p:nvSpPr>
          <p:spPr bwMode="auto">
            <a:xfrm>
              <a:off x="7291388" y="2357438"/>
              <a:ext cx="609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dirty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┇</a:t>
              </a:r>
              <a:r>
                <a:rPr kumimoji="1" lang="en-US" altLang="zh-CN" sz="2400" dirty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</a:p>
          </p:txBody>
        </p:sp>
        <p:sp>
          <p:nvSpPr>
            <p:cNvPr id="138261" name="Text Box 21"/>
            <p:cNvSpPr txBox="1">
              <a:spLocks noChangeArrowheads="1"/>
            </p:cNvSpPr>
            <p:nvPr/>
          </p:nvSpPr>
          <p:spPr bwMode="auto">
            <a:xfrm>
              <a:off x="7316788" y="6375369"/>
              <a:ext cx="609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dirty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┇</a:t>
              </a:r>
              <a:r>
                <a:rPr kumimoji="1" lang="en-US" altLang="zh-CN" sz="2400" dirty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</a:p>
          </p:txBody>
        </p:sp>
        <p:sp>
          <p:nvSpPr>
            <p:cNvPr id="138262" name="Text Box 22"/>
            <p:cNvSpPr txBox="1">
              <a:spLocks noChangeArrowheads="1"/>
            </p:cNvSpPr>
            <p:nvPr/>
          </p:nvSpPr>
          <p:spPr bwMode="auto">
            <a:xfrm>
              <a:off x="5440820" y="1811167"/>
              <a:ext cx="187596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000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DATA1=123H</a:t>
              </a:r>
            </a:p>
          </p:txBody>
        </p:sp>
        <p:sp>
          <p:nvSpPr>
            <p:cNvPr id="138265" name="Text Box 25"/>
            <p:cNvSpPr txBox="1">
              <a:spLocks noChangeArrowheads="1"/>
            </p:cNvSpPr>
            <p:nvPr/>
          </p:nvSpPr>
          <p:spPr bwMode="auto">
            <a:xfrm>
              <a:off x="7189788" y="405192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 dirty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12</a:t>
              </a:r>
              <a:r>
                <a:rPr kumimoji="1" lang="en-US" altLang="zh-CN" sz="2400" dirty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H</a:t>
              </a:r>
            </a:p>
          </p:txBody>
        </p:sp>
        <p:sp>
          <p:nvSpPr>
            <p:cNvPr id="138266" name="Text Box 26"/>
            <p:cNvSpPr txBox="1">
              <a:spLocks noChangeArrowheads="1"/>
            </p:cNvSpPr>
            <p:nvPr/>
          </p:nvSpPr>
          <p:spPr bwMode="auto">
            <a:xfrm>
              <a:off x="7223012" y="3619872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dirty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34H</a:t>
              </a:r>
            </a:p>
          </p:txBody>
        </p:sp>
        <p:sp>
          <p:nvSpPr>
            <p:cNvPr id="138268" name="Text Box 28"/>
            <p:cNvSpPr txBox="1">
              <a:spLocks noChangeArrowheads="1"/>
            </p:cNvSpPr>
            <p:nvPr/>
          </p:nvSpPr>
          <p:spPr bwMode="auto">
            <a:xfrm>
              <a:off x="5092975" y="4916488"/>
              <a:ext cx="17666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22331100H</a:t>
              </a:r>
            </a:p>
          </p:txBody>
        </p:sp>
        <p:sp>
          <p:nvSpPr>
            <p:cNvPr id="138269" name="Text Box 29"/>
            <p:cNvSpPr txBox="1">
              <a:spLocks noChangeArrowheads="1"/>
            </p:cNvSpPr>
            <p:nvPr/>
          </p:nvSpPr>
          <p:spPr bwMode="auto">
            <a:xfrm>
              <a:off x="7189788" y="4860925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88H</a:t>
              </a:r>
            </a:p>
          </p:txBody>
        </p:sp>
        <p:sp>
          <p:nvSpPr>
            <p:cNvPr id="138270" name="Text Box 30"/>
            <p:cNvSpPr txBox="1">
              <a:spLocks noChangeArrowheads="1"/>
            </p:cNvSpPr>
            <p:nvPr/>
          </p:nvSpPr>
          <p:spPr bwMode="auto">
            <a:xfrm>
              <a:off x="7189788" y="5292725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dirty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77H</a:t>
              </a:r>
            </a:p>
          </p:txBody>
        </p:sp>
        <p:sp>
          <p:nvSpPr>
            <p:cNvPr id="32" name="Line 10"/>
            <p:cNvSpPr>
              <a:spLocks noChangeShapeType="1"/>
            </p:cNvSpPr>
            <p:nvPr/>
          </p:nvSpPr>
          <p:spPr bwMode="auto">
            <a:xfrm>
              <a:off x="6707188" y="3246564"/>
              <a:ext cx="175260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10"/>
            <p:cNvSpPr>
              <a:spLocks noChangeShapeType="1"/>
            </p:cNvSpPr>
            <p:nvPr/>
          </p:nvSpPr>
          <p:spPr bwMode="auto">
            <a:xfrm>
              <a:off x="6694488" y="4460117"/>
              <a:ext cx="175260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10"/>
            <p:cNvSpPr>
              <a:spLocks noChangeShapeType="1"/>
            </p:cNvSpPr>
            <p:nvPr/>
          </p:nvSpPr>
          <p:spPr bwMode="auto">
            <a:xfrm>
              <a:off x="6694488" y="6021288"/>
              <a:ext cx="175260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Box 30"/>
            <p:cNvSpPr txBox="1">
              <a:spLocks noChangeArrowheads="1"/>
            </p:cNvSpPr>
            <p:nvPr/>
          </p:nvSpPr>
          <p:spPr bwMode="auto">
            <a:xfrm>
              <a:off x="7215188" y="5634037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dirty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66H</a:t>
              </a:r>
            </a:p>
          </p:txBody>
        </p:sp>
        <p:sp>
          <p:nvSpPr>
            <p:cNvPr id="36" name="Text Box 30"/>
            <p:cNvSpPr txBox="1">
              <a:spLocks noChangeArrowheads="1"/>
            </p:cNvSpPr>
            <p:nvPr/>
          </p:nvSpPr>
          <p:spPr bwMode="auto">
            <a:xfrm>
              <a:off x="7208656" y="5934737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dirty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55H</a:t>
              </a:r>
            </a:p>
          </p:txBody>
        </p:sp>
        <p:sp>
          <p:nvSpPr>
            <p:cNvPr id="37" name="Text Box 26"/>
            <p:cNvSpPr txBox="1">
              <a:spLocks noChangeArrowheads="1"/>
            </p:cNvSpPr>
            <p:nvPr/>
          </p:nvSpPr>
          <p:spPr bwMode="auto">
            <a:xfrm>
              <a:off x="7250159" y="3201305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dirty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56H</a:t>
              </a:r>
            </a:p>
          </p:txBody>
        </p:sp>
        <p:sp>
          <p:nvSpPr>
            <p:cNvPr id="38" name="Text Box 26"/>
            <p:cNvSpPr txBox="1">
              <a:spLocks noChangeArrowheads="1"/>
            </p:cNvSpPr>
            <p:nvPr/>
          </p:nvSpPr>
          <p:spPr bwMode="auto">
            <a:xfrm>
              <a:off x="7260319" y="2821483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dirty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78H</a:t>
              </a: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5219700" y="2829897"/>
              <a:ext cx="16951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00000123H</a:t>
              </a:r>
              <a:endParaRPr lang="zh-CN" altLang="en-US" sz="2000" dirty="0"/>
            </a:p>
          </p:txBody>
        </p:sp>
      </p:grpSp>
      <p:sp>
        <p:nvSpPr>
          <p:cNvPr id="41" name="Text Box 37"/>
          <p:cNvSpPr txBox="1">
            <a:spLocks noChangeArrowheads="1"/>
          </p:cNvSpPr>
          <p:nvPr/>
        </p:nvSpPr>
        <p:spPr bwMode="auto">
          <a:xfrm>
            <a:off x="1215639" y="5686089"/>
            <a:ext cx="3818275" cy="421078"/>
          </a:xfrm>
          <a:prstGeom prst="rect">
            <a:avLst/>
          </a:prstGeom>
          <a:solidFill>
            <a:srgbClr val="33CCCC"/>
          </a:solidFill>
          <a:ln w="22225">
            <a:solidFill>
              <a:srgbClr val="33CCCC"/>
            </a:solidFill>
            <a:miter lim="800000"/>
            <a:headEnd/>
            <a:tailEnd type="none" w="lg" len="lg"/>
          </a:ln>
        </p:spPr>
        <p:txBody>
          <a:bodyPr wrap="square"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ea typeface="宋体" pitchFamily="2" charset="-122"/>
              </a:rPr>
              <a:t>执行结果：</a:t>
            </a:r>
            <a:r>
              <a:rPr lang="en-US" altLang="zh-CN" sz="2000" dirty="0">
                <a:solidFill>
                  <a:schemeClr val="tx1"/>
                </a:solidFill>
                <a:ea typeface="宋体" pitchFamily="2" charset="-122"/>
              </a:rPr>
              <a:t>CX=1100H</a:t>
            </a:r>
          </a:p>
        </p:txBody>
      </p:sp>
      <p:sp>
        <p:nvSpPr>
          <p:cNvPr id="4" name="矩形 3"/>
          <p:cNvSpPr/>
          <p:nvPr/>
        </p:nvSpPr>
        <p:spPr>
          <a:xfrm>
            <a:off x="1115616" y="6230237"/>
            <a:ext cx="5702572" cy="412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ts val="25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n-lt"/>
                <a:ea typeface="+mn-ea"/>
              </a:rPr>
              <a:t>MOV  CX, [EBX</a:t>
            </a:r>
            <a:r>
              <a:rPr lang="en-US" altLang="zh-CN" sz="2800" b="1" dirty="0" smtClean="0">
                <a:solidFill>
                  <a:schemeClr val="tx2"/>
                </a:solidFill>
                <a:latin typeface="+mn-lt"/>
                <a:ea typeface="+mn-ea"/>
              </a:rPr>
              <a:t>]    CX=</a:t>
            </a:r>
            <a:r>
              <a:rPr lang="en-US" altLang="zh-CN" sz="2800" b="1" dirty="0" smtClean="0">
                <a:solidFill>
                  <a:srgbClr val="FF0000"/>
                </a:solidFill>
                <a:latin typeface="+mn-lt"/>
                <a:ea typeface="+mn-ea"/>
              </a:rPr>
              <a:t>?</a:t>
            </a:r>
            <a:endParaRPr lang="en-US" altLang="zh-CN" sz="2800" b="1" dirty="0">
              <a:solidFill>
                <a:srgbClr val="FF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8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8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6" presetClass="emph" presetSubtype="0" repeatCount="4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1382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13826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8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6" dur="500"/>
                                        <p:tgtEl>
                                          <p:spTgt spid="1382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8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38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0" dur="500"/>
                                        <p:tgtEl>
                                          <p:spTgt spid="1382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8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8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4" dur="500"/>
                                        <p:tgtEl>
                                          <p:spTgt spid="138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38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3" dur="500"/>
                                        <p:tgtEl>
                                          <p:spTgt spid="1382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38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138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38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64" grpId="0" animBg="1"/>
      <p:bldP spid="138264" grpId="1" animBg="1"/>
      <p:bldP spid="138271" grpId="0" animBg="1"/>
      <p:bldP spid="138272" grpId="0"/>
      <p:bldP spid="138274" grpId="0" animBg="1"/>
      <p:bldP spid="138274" grpId="1" animBg="1"/>
      <p:bldP spid="138275" grpId="0" animBg="1"/>
      <p:bldP spid="138275" grpId="1" animBg="1"/>
      <p:bldP spid="138276" grpId="0" animBg="1"/>
      <p:bldP spid="138276" grpId="1" animBg="1"/>
      <p:bldP spid="138277" grpId="0" animBg="1"/>
      <p:bldP spid="41" grpId="0" animBg="1"/>
      <p:bldP spid="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CEE25B93-AD76-4C01-92A4-7601FC0D356B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61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b="1" dirty="0"/>
              <a:t>LEA</a:t>
            </a:r>
            <a:r>
              <a:rPr lang="zh-CN" altLang="en-US" dirty="0"/>
              <a:t>指令在程序中的应用示例</a:t>
            </a:r>
            <a:endParaRPr lang="en-US" altLang="zh-CN" dirty="0"/>
          </a:p>
        </p:txBody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2133600"/>
            <a:ext cx="7558088" cy="383222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Aft>
                <a:spcPct val="20000"/>
              </a:spcAft>
            </a:pPr>
            <a:r>
              <a:rPr lang="zh-CN" altLang="en-US" dirty="0"/>
              <a:t>将数据段中首地址为</a:t>
            </a:r>
            <a:r>
              <a:rPr lang="en-US" altLang="zh-CN" dirty="0"/>
              <a:t>MEM1 </a:t>
            </a:r>
            <a:r>
              <a:rPr lang="zh-CN" altLang="en-US" dirty="0"/>
              <a:t>的50个字节的数据传送到同一逻辑段首地址为</a:t>
            </a:r>
            <a:r>
              <a:rPr lang="en-US" altLang="zh-CN" dirty="0"/>
              <a:t>MEM2</a:t>
            </a:r>
            <a:r>
              <a:rPr lang="zh-CN" altLang="en-US" dirty="0"/>
              <a:t>的区域存放。编写相应的程序段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  <a:r>
              <a:rPr lang="en-US" altLang="zh-CN" dirty="0"/>
              <a:t>          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162800" y="6308725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4FE900D-C76C-4A04-BA28-5BF0460BBFD4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62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42360" name="AutoShape 24"/>
          <p:cNvSpPr>
            <a:spLocks noChangeArrowheads="1"/>
          </p:cNvSpPr>
          <p:nvPr/>
        </p:nvSpPr>
        <p:spPr bwMode="auto">
          <a:xfrm>
            <a:off x="1409700" y="2622550"/>
            <a:ext cx="1219200" cy="457200"/>
          </a:xfrm>
          <a:prstGeom prst="flowChartAlternateProcess">
            <a:avLst/>
          </a:prstGeom>
          <a:solidFill>
            <a:srgbClr val="339966"/>
          </a:solidFill>
          <a:ln w="25400" cap="sq">
            <a:solidFill>
              <a:schemeClr val="tx1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42357" name="AutoShape 21"/>
          <p:cNvSpPr>
            <a:spLocks noChangeArrowheads="1"/>
          </p:cNvSpPr>
          <p:nvPr/>
        </p:nvSpPr>
        <p:spPr bwMode="auto">
          <a:xfrm>
            <a:off x="4419600" y="5289550"/>
            <a:ext cx="2743200" cy="609600"/>
          </a:xfrm>
          <a:prstGeom prst="flowChartDecision">
            <a:avLst/>
          </a:prstGeom>
          <a:solidFill>
            <a:srgbClr val="339966"/>
          </a:solidFill>
          <a:ln w="25400" cap="sq">
            <a:solidFill>
              <a:schemeClr val="tx1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757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b="1" dirty="0"/>
              <a:t>LEA</a:t>
            </a:r>
            <a:r>
              <a:rPr lang="zh-CN" altLang="en-US" dirty="0"/>
              <a:t>指令在程序中的应用示例</a:t>
            </a:r>
          </a:p>
        </p:txBody>
      </p:sp>
      <p:sp>
        <p:nvSpPr>
          <p:cNvPr id="142340" name="Rectangle 4"/>
          <p:cNvSpPr>
            <a:spLocks noChangeArrowheads="1"/>
          </p:cNvSpPr>
          <p:nvPr/>
        </p:nvSpPr>
        <p:spPr bwMode="auto">
          <a:xfrm>
            <a:off x="952500" y="3536950"/>
            <a:ext cx="2286000" cy="457200"/>
          </a:xfrm>
          <a:prstGeom prst="rect">
            <a:avLst/>
          </a:prstGeom>
          <a:solidFill>
            <a:srgbClr val="339966"/>
          </a:solidFill>
          <a:ln w="25400" cap="sq">
            <a:solidFill>
              <a:schemeClr val="tx1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42341" name="Text Box 5"/>
          <p:cNvSpPr txBox="1">
            <a:spLocks noChangeArrowheads="1"/>
          </p:cNvSpPr>
          <p:nvPr/>
        </p:nvSpPr>
        <p:spPr bwMode="auto">
          <a:xfrm>
            <a:off x="1576388" y="2687638"/>
            <a:ext cx="914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8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开  始</a:t>
            </a:r>
          </a:p>
        </p:txBody>
      </p:sp>
      <p:sp>
        <p:nvSpPr>
          <p:cNvPr id="142342" name="Text Box 6"/>
          <p:cNvSpPr txBox="1">
            <a:spLocks noChangeArrowheads="1"/>
          </p:cNvSpPr>
          <p:nvPr/>
        </p:nvSpPr>
        <p:spPr bwMode="auto">
          <a:xfrm>
            <a:off x="952500" y="3567113"/>
            <a:ext cx="22859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800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取源地址到地址指针</a:t>
            </a:r>
          </a:p>
        </p:txBody>
      </p:sp>
      <p:sp>
        <p:nvSpPr>
          <p:cNvPr id="142343" name="Rectangle 7"/>
          <p:cNvSpPr>
            <a:spLocks noChangeArrowheads="1"/>
          </p:cNvSpPr>
          <p:nvPr/>
        </p:nvSpPr>
        <p:spPr bwMode="auto">
          <a:xfrm>
            <a:off x="987425" y="4447490"/>
            <a:ext cx="2251074" cy="457200"/>
          </a:xfrm>
          <a:prstGeom prst="rect">
            <a:avLst/>
          </a:prstGeom>
          <a:solidFill>
            <a:srgbClr val="339966"/>
          </a:solidFill>
          <a:ln w="25400" cap="sq">
            <a:solidFill>
              <a:schemeClr val="tx1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42344" name="Rectangle 8"/>
          <p:cNvSpPr>
            <a:spLocks noChangeArrowheads="1"/>
          </p:cNvSpPr>
          <p:nvPr/>
        </p:nvSpPr>
        <p:spPr bwMode="auto">
          <a:xfrm>
            <a:off x="952500" y="5365750"/>
            <a:ext cx="2286000" cy="457200"/>
          </a:xfrm>
          <a:prstGeom prst="rect">
            <a:avLst/>
          </a:prstGeom>
          <a:solidFill>
            <a:srgbClr val="339966"/>
          </a:solidFill>
          <a:ln w="25400" cap="sq">
            <a:solidFill>
              <a:schemeClr val="tx1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42345" name="Rectangle 9"/>
          <p:cNvSpPr>
            <a:spLocks noChangeArrowheads="1"/>
          </p:cNvSpPr>
          <p:nvPr/>
        </p:nvSpPr>
        <p:spPr bwMode="auto">
          <a:xfrm>
            <a:off x="4724400" y="2546350"/>
            <a:ext cx="2286000" cy="457200"/>
          </a:xfrm>
          <a:prstGeom prst="rect">
            <a:avLst/>
          </a:prstGeom>
          <a:solidFill>
            <a:srgbClr val="339966"/>
          </a:solidFill>
          <a:ln w="25400" cap="sq">
            <a:solidFill>
              <a:schemeClr val="tx1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42346" name="Text Box 10"/>
          <p:cNvSpPr txBox="1">
            <a:spLocks noChangeArrowheads="1"/>
          </p:cNvSpPr>
          <p:nvPr/>
        </p:nvSpPr>
        <p:spPr bwMode="auto">
          <a:xfrm>
            <a:off x="987425" y="4473575"/>
            <a:ext cx="22510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800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取目标地址到指针</a:t>
            </a:r>
          </a:p>
        </p:txBody>
      </p:sp>
      <p:sp>
        <p:nvSpPr>
          <p:cNvPr id="142347" name="Text Box 11"/>
          <p:cNvSpPr txBox="1">
            <a:spLocks noChangeArrowheads="1"/>
          </p:cNvSpPr>
          <p:nvPr/>
        </p:nvSpPr>
        <p:spPr bwMode="auto">
          <a:xfrm>
            <a:off x="987425" y="5416550"/>
            <a:ext cx="21447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8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送数据块长度到</a:t>
            </a:r>
            <a:r>
              <a:rPr kumimoji="1" lang="en-US" altLang="zh-CN" sz="18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CL</a:t>
            </a:r>
          </a:p>
        </p:txBody>
      </p:sp>
      <p:sp>
        <p:nvSpPr>
          <p:cNvPr id="142348" name="Text Box 12"/>
          <p:cNvSpPr txBox="1">
            <a:spLocks noChangeArrowheads="1"/>
          </p:cNvSpPr>
          <p:nvPr/>
        </p:nvSpPr>
        <p:spPr bwMode="auto">
          <a:xfrm>
            <a:off x="4953000" y="2606675"/>
            <a:ext cx="187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8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传送一个字节</a:t>
            </a:r>
          </a:p>
        </p:txBody>
      </p:sp>
      <p:sp>
        <p:nvSpPr>
          <p:cNvPr id="142349" name="Rectangle 13"/>
          <p:cNvSpPr>
            <a:spLocks noChangeArrowheads="1"/>
          </p:cNvSpPr>
          <p:nvPr/>
        </p:nvSpPr>
        <p:spPr bwMode="auto">
          <a:xfrm>
            <a:off x="4648200" y="3460750"/>
            <a:ext cx="2286000" cy="457200"/>
          </a:xfrm>
          <a:prstGeom prst="rect">
            <a:avLst/>
          </a:prstGeom>
          <a:solidFill>
            <a:srgbClr val="339966"/>
          </a:solidFill>
          <a:ln w="25400" cap="sq">
            <a:solidFill>
              <a:schemeClr val="tx1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42350" name="Rectangle 14"/>
          <p:cNvSpPr>
            <a:spLocks noChangeArrowheads="1"/>
          </p:cNvSpPr>
          <p:nvPr/>
        </p:nvSpPr>
        <p:spPr bwMode="auto">
          <a:xfrm>
            <a:off x="4648200" y="4375150"/>
            <a:ext cx="2286000" cy="457200"/>
          </a:xfrm>
          <a:prstGeom prst="rect">
            <a:avLst/>
          </a:prstGeom>
          <a:solidFill>
            <a:srgbClr val="339966"/>
          </a:solidFill>
          <a:ln w="25400" cap="sq">
            <a:solidFill>
              <a:schemeClr val="tx1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42353" name="Text Box 17"/>
          <p:cNvSpPr txBox="1">
            <a:spLocks noChangeArrowheads="1"/>
          </p:cNvSpPr>
          <p:nvPr/>
        </p:nvSpPr>
        <p:spPr bwMode="auto">
          <a:xfrm>
            <a:off x="4953000" y="3495675"/>
            <a:ext cx="1828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8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修改地址指针</a:t>
            </a:r>
          </a:p>
        </p:txBody>
      </p:sp>
      <p:sp>
        <p:nvSpPr>
          <p:cNvPr id="142355" name="Text Box 19"/>
          <p:cNvSpPr txBox="1">
            <a:spLocks noChangeArrowheads="1"/>
          </p:cNvSpPr>
          <p:nvPr/>
        </p:nvSpPr>
        <p:spPr bwMode="auto">
          <a:xfrm>
            <a:off x="5029200" y="4410075"/>
            <a:ext cx="1828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8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修改计数值</a:t>
            </a:r>
          </a:p>
        </p:txBody>
      </p:sp>
      <p:sp>
        <p:nvSpPr>
          <p:cNvPr id="142356" name="Text Box 20"/>
          <p:cNvSpPr txBox="1">
            <a:spLocks noChangeArrowheads="1"/>
          </p:cNvSpPr>
          <p:nvPr/>
        </p:nvSpPr>
        <p:spPr bwMode="auto">
          <a:xfrm>
            <a:off x="5181600" y="5403850"/>
            <a:ext cx="1828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8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计数值=0？ </a:t>
            </a:r>
          </a:p>
        </p:txBody>
      </p:sp>
      <p:sp>
        <p:nvSpPr>
          <p:cNvPr id="142359" name="Text Box 23"/>
          <p:cNvSpPr txBox="1">
            <a:spLocks noChangeArrowheads="1"/>
          </p:cNvSpPr>
          <p:nvPr/>
        </p:nvSpPr>
        <p:spPr bwMode="auto">
          <a:xfrm>
            <a:off x="5410200" y="6416675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8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结  束</a:t>
            </a:r>
          </a:p>
        </p:txBody>
      </p:sp>
      <p:sp>
        <p:nvSpPr>
          <p:cNvPr id="142361" name="Line 25"/>
          <p:cNvSpPr>
            <a:spLocks noChangeShapeType="1"/>
          </p:cNvSpPr>
          <p:nvPr/>
        </p:nvSpPr>
        <p:spPr bwMode="auto">
          <a:xfrm>
            <a:off x="2019300" y="3079750"/>
            <a:ext cx="0" cy="457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62" name="Line 26"/>
          <p:cNvSpPr>
            <a:spLocks noChangeShapeType="1"/>
          </p:cNvSpPr>
          <p:nvPr/>
        </p:nvSpPr>
        <p:spPr bwMode="auto">
          <a:xfrm>
            <a:off x="2019300" y="3994150"/>
            <a:ext cx="0" cy="457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64" name="Line 28"/>
          <p:cNvSpPr>
            <a:spLocks noChangeShapeType="1"/>
          </p:cNvSpPr>
          <p:nvPr/>
        </p:nvSpPr>
        <p:spPr bwMode="auto">
          <a:xfrm>
            <a:off x="2019300" y="4908550"/>
            <a:ext cx="0" cy="457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67" name="Line 31"/>
          <p:cNvSpPr>
            <a:spLocks noChangeShapeType="1"/>
          </p:cNvSpPr>
          <p:nvPr/>
        </p:nvSpPr>
        <p:spPr bwMode="auto">
          <a:xfrm>
            <a:off x="5791200" y="3003550"/>
            <a:ext cx="0" cy="457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68" name="Line 32"/>
          <p:cNvSpPr>
            <a:spLocks noChangeShapeType="1"/>
          </p:cNvSpPr>
          <p:nvPr/>
        </p:nvSpPr>
        <p:spPr bwMode="auto">
          <a:xfrm>
            <a:off x="5791200" y="1936750"/>
            <a:ext cx="0" cy="6096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69" name="Line 33"/>
          <p:cNvSpPr>
            <a:spLocks noChangeShapeType="1"/>
          </p:cNvSpPr>
          <p:nvPr/>
        </p:nvSpPr>
        <p:spPr bwMode="auto">
          <a:xfrm>
            <a:off x="5791200" y="3917950"/>
            <a:ext cx="0" cy="457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70" name="Line 34"/>
          <p:cNvSpPr>
            <a:spLocks noChangeShapeType="1"/>
          </p:cNvSpPr>
          <p:nvPr/>
        </p:nvSpPr>
        <p:spPr bwMode="auto">
          <a:xfrm>
            <a:off x="5791200" y="4832350"/>
            <a:ext cx="0" cy="457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71" name="Line 35"/>
          <p:cNvSpPr>
            <a:spLocks noChangeShapeType="1"/>
          </p:cNvSpPr>
          <p:nvPr/>
        </p:nvSpPr>
        <p:spPr bwMode="auto">
          <a:xfrm>
            <a:off x="5791200" y="5899150"/>
            <a:ext cx="0" cy="457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75" name="Line 39"/>
          <p:cNvSpPr>
            <a:spLocks noChangeShapeType="1"/>
          </p:cNvSpPr>
          <p:nvPr/>
        </p:nvSpPr>
        <p:spPr bwMode="auto">
          <a:xfrm>
            <a:off x="2032000" y="5822950"/>
            <a:ext cx="0" cy="7620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76" name="Line 40"/>
          <p:cNvSpPr>
            <a:spLocks noChangeShapeType="1"/>
          </p:cNvSpPr>
          <p:nvPr/>
        </p:nvSpPr>
        <p:spPr bwMode="auto">
          <a:xfrm>
            <a:off x="2019300" y="6584950"/>
            <a:ext cx="17526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77" name="Line 41"/>
          <p:cNvSpPr>
            <a:spLocks noChangeShapeType="1"/>
          </p:cNvSpPr>
          <p:nvPr/>
        </p:nvSpPr>
        <p:spPr bwMode="auto">
          <a:xfrm flipV="1">
            <a:off x="3810000" y="1936750"/>
            <a:ext cx="0" cy="4648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78" name="Line 42"/>
          <p:cNvSpPr>
            <a:spLocks noChangeShapeType="1"/>
          </p:cNvSpPr>
          <p:nvPr/>
        </p:nvSpPr>
        <p:spPr bwMode="auto">
          <a:xfrm>
            <a:off x="3810000" y="1936750"/>
            <a:ext cx="19812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79" name="Line 43"/>
          <p:cNvSpPr>
            <a:spLocks noChangeShapeType="1"/>
          </p:cNvSpPr>
          <p:nvPr/>
        </p:nvSpPr>
        <p:spPr bwMode="auto">
          <a:xfrm>
            <a:off x="7162800" y="5594350"/>
            <a:ext cx="9906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81" name="Line 45"/>
          <p:cNvSpPr>
            <a:spLocks noChangeShapeType="1"/>
          </p:cNvSpPr>
          <p:nvPr/>
        </p:nvSpPr>
        <p:spPr bwMode="auto">
          <a:xfrm flipV="1">
            <a:off x="8153400" y="2089150"/>
            <a:ext cx="0" cy="3505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83" name="Line 47"/>
          <p:cNvSpPr>
            <a:spLocks noChangeShapeType="1"/>
          </p:cNvSpPr>
          <p:nvPr/>
        </p:nvSpPr>
        <p:spPr bwMode="auto">
          <a:xfrm flipH="1" flipV="1">
            <a:off x="5791200" y="2089150"/>
            <a:ext cx="2339975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85" name="Text Box 49"/>
          <p:cNvSpPr txBox="1">
            <a:spLocks noChangeArrowheads="1"/>
          </p:cNvSpPr>
          <p:nvPr/>
        </p:nvSpPr>
        <p:spPr bwMode="auto">
          <a:xfrm>
            <a:off x="7308850" y="5157788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N</a:t>
            </a:r>
          </a:p>
        </p:txBody>
      </p:sp>
      <p:sp>
        <p:nvSpPr>
          <p:cNvPr id="142386" name="Text Box 50"/>
          <p:cNvSpPr txBox="1">
            <a:spLocks noChangeArrowheads="1"/>
          </p:cNvSpPr>
          <p:nvPr/>
        </p:nvSpPr>
        <p:spPr bwMode="auto">
          <a:xfrm>
            <a:off x="5867400" y="591185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Y</a:t>
            </a:r>
          </a:p>
        </p:txBody>
      </p:sp>
      <p:sp>
        <p:nvSpPr>
          <p:cNvPr id="3" name="流程图: 终止 2"/>
          <p:cNvSpPr/>
          <p:nvPr/>
        </p:nvSpPr>
        <p:spPr bwMode="auto">
          <a:xfrm>
            <a:off x="5029200" y="6356350"/>
            <a:ext cx="1487016" cy="427038"/>
          </a:xfrm>
          <a:prstGeom prst="flowChartTerminator">
            <a:avLst/>
          </a:prstGeom>
          <a:solidFill>
            <a:schemeClr val="accent5">
              <a:lumMod val="50000"/>
            </a:schemeClr>
          </a:solidFill>
          <a:ln w="22225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ahoma" pitchFamily="34" charset="0"/>
                <a:ea typeface="宋体" pitchFamily="2" charset="-122"/>
              </a:rPr>
              <a:t>结束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5" dur="100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0" dur="50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60" grpId="0" animBg="1"/>
      <p:bldP spid="142357" grpId="0" animBg="1"/>
      <p:bldP spid="142340" grpId="0" animBg="1"/>
      <p:bldP spid="142341" grpId="0"/>
      <p:bldP spid="142342" grpId="0"/>
      <p:bldP spid="142343" grpId="0" animBg="1"/>
      <p:bldP spid="142344" grpId="0" animBg="1"/>
      <p:bldP spid="142345" grpId="0" animBg="1"/>
      <p:bldP spid="142346" grpId="0"/>
      <p:bldP spid="142347" grpId="0"/>
      <p:bldP spid="142348" grpId="0"/>
      <p:bldP spid="142349" grpId="0" animBg="1"/>
      <p:bldP spid="142350" grpId="0" animBg="1"/>
      <p:bldP spid="142353" grpId="0"/>
      <p:bldP spid="142355" grpId="0"/>
      <p:bldP spid="142361" grpId="0" animBg="1"/>
      <p:bldP spid="142362" grpId="0" animBg="1"/>
      <p:bldP spid="142364" grpId="0" animBg="1"/>
      <p:bldP spid="142367" grpId="0" animBg="1"/>
      <p:bldP spid="142368" grpId="0" animBg="1"/>
      <p:bldP spid="142369" grpId="0" animBg="1"/>
      <p:bldP spid="142370" grpId="0" animBg="1"/>
      <p:bldP spid="142371" grpId="0" animBg="1"/>
      <p:bldP spid="142375" grpId="0" animBg="1"/>
      <p:bldP spid="142376" grpId="0" animBg="1"/>
      <p:bldP spid="142377" grpId="0" animBg="1"/>
      <p:bldP spid="142378" grpId="0" animBg="1"/>
      <p:bldP spid="142379" grpId="0" animBg="1"/>
      <p:bldP spid="142381" grpId="0" animBg="1"/>
      <p:bldP spid="142383" grpId="0" animBg="1"/>
      <p:bldP spid="142386" grpId="0"/>
      <p:bldP spid="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CD8923CA-8BEF-4D69-A78F-79B87207EEDB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63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b="1" dirty="0"/>
              <a:t>LEA</a:t>
            </a:r>
            <a:r>
              <a:rPr lang="zh-CN" altLang="en-US" dirty="0"/>
              <a:t>指令在程序中的应用示例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2" y="1916113"/>
            <a:ext cx="5616103" cy="4316412"/>
          </a:xfrm>
        </p:spPr>
        <p:txBody>
          <a:bodyPr/>
          <a:lstStyle/>
          <a:p>
            <a:pPr eaLnBrk="1" hangingPunct="1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2400" dirty="0"/>
              <a:t>              LEA   ESI，MEM1</a:t>
            </a:r>
          </a:p>
          <a:p>
            <a:pPr eaLnBrk="1" hangingPunct="1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2400" dirty="0"/>
              <a:t>              LEA   EDI，MEM2 </a:t>
            </a:r>
          </a:p>
          <a:p>
            <a:pPr eaLnBrk="1" hangingPunct="1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2400" dirty="0"/>
              <a:t>              MOV  CL，50</a:t>
            </a:r>
          </a:p>
          <a:p>
            <a:pPr eaLnBrk="1" hangingPunct="1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2400" dirty="0"/>
              <a:t>NEXT： MOV  AL，[ESI]</a:t>
            </a:r>
          </a:p>
          <a:p>
            <a:pPr eaLnBrk="1" hangingPunct="1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2400" dirty="0"/>
              <a:t>              MOV  [EDI]，AL</a:t>
            </a:r>
          </a:p>
          <a:p>
            <a:pPr eaLnBrk="1" hangingPunct="1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2400" dirty="0"/>
              <a:t>              </a:t>
            </a:r>
            <a:r>
              <a:rPr lang="en-US" altLang="zh-CN" sz="2400" dirty="0">
                <a:solidFill>
                  <a:srgbClr val="FF0000"/>
                </a:solidFill>
              </a:rPr>
              <a:t>INC    </a:t>
            </a:r>
            <a:r>
              <a:rPr lang="en-US" altLang="zh-CN" sz="2400" dirty="0" smtClean="0">
                <a:solidFill>
                  <a:srgbClr val="FF0000"/>
                </a:solidFill>
              </a:rPr>
              <a:t>ESI  ;ESI</a:t>
            </a:r>
            <a:r>
              <a:rPr lang="zh-CN" altLang="en-US" sz="2400" dirty="0" smtClean="0">
                <a:solidFill>
                  <a:srgbClr val="FF0000"/>
                </a:solidFill>
              </a:rPr>
              <a:t>加</a:t>
            </a:r>
            <a:r>
              <a:rPr lang="en-US" altLang="zh-CN" sz="2400" dirty="0" smtClean="0">
                <a:solidFill>
                  <a:srgbClr val="FF0000"/>
                </a:solidFill>
              </a:rPr>
              <a:t>1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              INC    </a:t>
            </a:r>
            <a:r>
              <a:rPr lang="en-US" altLang="zh-CN" sz="2400" dirty="0" smtClean="0">
                <a:solidFill>
                  <a:srgbClr val="FF0000"/>
                </a:solidFill>
              </a:rPr>
              <a:t>EDI ;EDI</a:t>
            </a:r>
            <a:r>
              <a:rPr lang="zh-CN" altLang="en-US" sz="2400" dirty="0" smtClean="0">
                <a:solidFill>
                  <a:srgbClr val="FF0000"/>
                </a:solidFill>
              </a:rPr>
              <a:t>加</a:t>
            </a:r>
            <a:r>
              <a:rPr lang="en-US" altLang="zh-CN" sz="2400" dirty="0" smtClean="0">
                <a:solidFill>
                  <a:srgbClr val="FF0000"/>
                </a:solidFill>
              </a:rPr>
              <a:t>1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              DEC   CL </a:t>
            </a:r>
            <a:r>
              <a:rPr lang="en-US" altLang="zh-CN" sz="2400" dirty="0" smtClean="0">
                <a:solidFill>
                  <a:srgbClr val="FF0000"/>
                </a:solidFill>
              </a:rPr>
              <a:t>   ;CL</a:t>
            </a:r>
            <a:r>
              <a:rPr lang="zh-CN" altLang="en-US" sz="2400" dirty="0" smtClean="0">
                <a:solidFill>
                  <a:srgbClr val="FF0000"/>
                </a:solidFill>
              </a:rPr>
              <a:t>减</a:t>
            </a:r>
            <a:r>
              <a:rPr lang="en-US" altLang="zh-CN" sz="2400" dirty="0" smtClean="0">
                <a:solidFill>
                  <a:srgbClr val="FF0000"/>
                </a:solidFill>
              </a:rPr>
              <a:t>1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              JNZ   </a:t>
            </a:r>
            <a:r>
              <a:rPr lang="en-US" altLang="zh-CN" sz="2400" dirty="0" smtClean="0">
                <a:solidFill>
                  <a:srgbClr val="FF0000"/>
                </a:solidFill>
              </a:rPr>
              <a:t>NEXT;</a:t>
            </a:r>
            <a:r>
              <a:rPr lang="zh-CN" altLang="en-US" sz="2400" dirty="0" smtClean="0">
                <a:solidFill>
                  <a:srgbClr val="FF0000"/>
                </a:solidFill>
              </a:rPr>
              <a:t>不为</a:t>
            </a:r>
            <a:r>
              <a:rPr lang="en-US" altLang="zh-CN" sz="2400" dirty="0" smtClean="0">
                <a:solidFill>
                  <a:srgbClr val="FF0000"/>
                </a:solidFill>
              </a:rPr>
              <a:t>0</a:t>
            </a:r>
            <a:r>
              <a:rPr lang="zh-CN" altLang="en-US" sz="2400" dirty="0" smtClean="0">
                <a:solidFill>
                  <a:srgbClr val="FF0000"/>
                </a:solidFill>
              </a:rPr>
              <a:t>则转</a:t>
            </a:r>
            <a:r>
              <a:rPr lang="en-US" altLang="zh-CN" sz="2400" dirty="0" smtClean="0">
                <a:solidFill>
                  <a:srgbClr val="FF0000"/>
                </a:solidFill>
              </a:rPr>
              <a:t>NEXT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5640388" y="2346325"/>
            <a:ext cx="2819400" cy="3962400"/>
            <a:chOff x="3553" y="1478"/>
            <a:chExt cx="1776" cy="2496"/>
          </a:xfrm>
        </p:grpSpPr>
        <p:sp>
          <p:nvSpPr>
            <p:cNvPr id="76806" name="Rectangle 5"/>
            <p:cNvSpPr>
              <a:spLocks noChangeArrowheads="1"/>
            </p:cNvSpPr>
            <p:nvPr/>
          </p:nvSpPr>
          <p:spPr bwMode="auto">
            <a:xfrm>
              <a:off x="4225" y="1478"/>
              <a:ext cx="1104" cy="2496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lg" len="lg"/>
            </a:ln>
          </p:spPr>
          <p:txBody>
            <a:bodyPr wrap="none" anchor="ctr"/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800" b="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76807" name="Line 6"/>
            <p:cNvSpPr>
              <a:spLocks noChangeShapeType="1"/>
            </p:cNvSpPr>
            <p:nvPr/>
          </p:nvSpPr>
          <p:spPr bwMode="auto">
            <a:xfrm flipH="1">
              <a:off x="4225" y="1478"/>
              <a:ext cx="1" cy="2496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08" name="Line 7"/>
            <p:cNvSpPr>
              <a:spLocks noChangeShapeType="1"/>
            </p:cNvSpPr>
            <p:nvPr/>
          </p:nvSpPr>
          <p:spPr bwMode="auto">
            <a:xfrm>
              <a:off x="5329" y="1478"/>
              <a:ext cx="0" cy="2496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09" name="Line 8"/>
            <p:cNvSpPr>
              <a:spLocks noChangeShapeType="1"/>
            </p:cNvSpPr>
            <p:nvPr/>
          </p:nvSpPr>
          <p:spPr bwMode="auto">
            <a:xfrm>
              <a:off x="4225" y="2054"/>
              <a:ext cx="1104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0" name="Line 9"/>
            <p:cNvSpPr>
              <a:spLocks noChangeShapeType="1"/>
            </p:cNvSpPr>
            <p:nvPr/>
          </p:nvSpPr>
          <p:spPr bwMode="auto">
            <a:xfrm>
              <a:off x="4225" y="2294"/>
              <a:ext cx="1104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1" name="Line 10"/>
            <p:cNvSpPr>
              <a:spLocks noChangeShapeType="1"/>
            </p:cNvSpPr>
            <p:nvPr/>
          </p:nvSpPr>
          <p:spPr bwMode="auto">
            <a:xfrm>
              <a:off x="4225" y="2534"/>
              <a:ext cx="1104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2" name="Line 11"/>
            <p:cNvSpPr>
              <a:spLocks noChangeShapeType="1"/>
            </p:cNvSpPr>
            <p:nvPr/>
          </p:nvSpPr>
          <p:spPr bwMode="auto">
            <a:xfrm>
              <a:off x="4225" y="1478"/>
              <a:ext cx="1104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3" name="Line 12"/>
            <p:cNvSpPr>
              <a:spLocks noChangeShapeType="1"/>
            </p:cNvSpPr>
            <p:nvPr/>
          </p:nvSpPr>
          <p:spPr bwMode="auto">
            <a:xfrm>
              <a:off x="4225" y="3350"/>
              <a:ext cx="1104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4" name="Line 13"/>
            <p:cNvSpPr>
              <a:spLocks noChangeShapeType="1"/>
            </p:cNvSpPr>
            <p:nvPr/>
          </p:nvSpPr>
          <p:spPr bwMode="auto">
            <a:xfrm>
              <a:off x="4225" y="3110"/>
              <a:ext cx="1104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5" name="Line 14"/>
            <p:cNvSpPr>
              <a:spLocks noChangeShapeType="1"/>
            </p:cNvSpPr>
            <p:nvPr/>
          </p:nvSpPr>
          <p:spPr bwMode="auto">
            <a:xfrm>
              <a:off x="4225" y="3974"/>
              <a:ext cx="1104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6" name="Line 15"/>
            <p:cNvSpPr>
              <a:spLocks noChangeShapeType="1"/>
            </p:cNvSpPr>
            <p:nvPr/>
          </p:nvSpPr>
          <p:spPr bwMode="auto">
            <a:xfrm>
              <a:off x="4225" y="3590"/>
              <a:ext cx="1104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7" name="Text Box 16"/>
            <p:cNvSpPr txBox="1">
              <a:spLocks noChangeArrowheads="1"/>
            </p:cNvSpPr>
            <p:nvPr/>
          </p:nvSpPr>
          <p:spPr bwMode="auto">
            <a:xfrm>
              <a:off x="4609" y="267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┇</a:t>
              </a:r>
              <a:r>
                <a:rPr kumimoji="1" lang="en-US" altLang="zh-CN" sz="24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</a:p>
          </p:txBody>
        </p:sp>
        <p:sp>
          <p:nvSpPr>
            <p:cNvPr id="76818" name="Text Box 17"/>
            <p:cNvSpPr txBox="1">
              <a:spLocks noChangeArrowheads="1"/>
            </p:cNvSpPr>
            <p:nvPr/>
          </p:nvSpPr>
          <p:spPr bwMode="auto">
            <a:xfrm>
              <a:off x="4609" y="162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┇</a:t>
              </a:r>
              <a:r>
                <a:rPr kumimoji="1" lang="en-US" altLang="zh-CN" sz="24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</a:p>
          </p:txBody>
        </p:sp>
        <p:sp>
          <p:nvSpPr>
            <p:cNvPr id="76819" name="Text Box 18"/>
            <p:cNvSpPr txBox="1">
              <a:spLocks noChangeArrowheads="1"/>
            </p:cNvSpPr>
            <p:nvPr/>
          </p:nvSpPr>
          <p:spPr bwMode="auto">
            <a:xfrm>
              <a:off x="4609" y="363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┇</a:t>
              </a:r>
              <a:r>
                <a:rPr kumimoji="1" lang="en-US" altLang="zh-CN" sz="24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</a:p>
          </p:txBody>
        </p:sp>
        <p:sp>
          <p:nvSpPr>
            <p:cNvPr id="76820" name="Text Box 19"/>
            <p:cNvSpPr txBox="1">
              <a:spLocks noChangeArrowheads="1"/>
            </p:cNvSpPr>
            <p:nvPr/>
          </p:nvSpPr>
          <p:spPr bwMode="auto">
            <a:xfrm>
              <a:off x="3580" y="2046"/>
              <a:ext cx="66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MEM1</a:t>
              </a:r>
            </a:p>
          </p:txBody>
        </p:sp>
        <p:sp>
          <p:nvSpPr>
            <p:cNvPr id="76821" name="Text Box 20"/>
            <p:cNvSpPr txBox="1">
              <a:spLocks noChangeArrowheads="1"/>
            </p:cNvSpPr>
            <p:nvPr/>
          </p:nvSpPr>
          <p:spPr bwMode="auto">
            <a:xfrm>
              <a:off x="4529" y="2270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12</a:t>
              </a:r>
              <a:r>
                <a:rPr kumimoji="1"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H</a:t>
              </a:r>
            </a:p>
          </p:txBody>
        </p:sp>
        <p:sp>
          <p:nvSpPr>
            <p:cNvPr id="76822" name="Text Box 21"/>
            <p:cNvSpPr txBox="1">
              <a:spLocks noChangeArrowheads="1"/>
            </p:cNvSpPr>
            <p:nvPr/>
          </p:nvSpPr>
          <p:spPr bwMode="auto">
            <a:xfrm>
              <a:off x="4529" y="2030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34H</a:t>
              </a:r>
            </a:p>
          </p:txBody>
        </p:sp>
        <p:sp>
          <p:nvSpPr>
            <p:cNvPr id="76823" name="Text Box 22"/>
            <p:cNvSpPr txBox="1">
              <a:spLocks noChangeArrowheads="1"/>
            </p:cNvSpPr>
            <p:nvPr/>
          </p:nvSpPr>
          <p:spPr bwMode="auto">
            <a:xfrm>
              <a:off x="3553" y="3097"/>
              <a:ext cx="64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MEM2</a:t>
              </a:r>
            </a:p>
          </p:txBody>
        </p:sp>
      </p:grp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44B14CB-4885-4978-84F1-D8B61F84ADB5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64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313" y="2060575"/>
            <a:ext cx="7772400" cy="1512888"/>
          </a:xfrm>
        </p:spPr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en-US" altLang="zh-CN" dirty="0"/>
              <a:t>LAHF          </a:t>
            </a:r>
          </a:p>
          <a:p>
            <a:pPr eaLnBrk="1" hangingPunct="1">
              <a:lnSpc>
                <a:spcPct val="100000"/>
              </a:lnSpc>
            </a:pPr>
            <a:r>
              <a:rPr lang="zh-CN" altLang="en-US" dirty="0"/>
              <a:t>操作：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dirty="0"/>
              <a:t>将</a:t>
            </a:r>
            <a:r>
              <a:rPr lang="en-US" altLang="zh-CN" dirty="0"/>
              <a:t>FLAGS</a:t>
            </a:r>
            <a:r>
              <a:rPr lang="zh-CN" altLang="en-US" dirty="0"/>
              <a:t>的低8位装入</a:t>
            </a:r>
            <a:r>
              <a:rPr lang="en-US" altLang="zh-CN" dirty="0"/>
              <a:t>AH</a:t>
            </a:r>
            <a:endParaRPr lang="zh-CN" altLang="en-US" dirty="0"/>
          </a:p>
        </p:txBody>
      </p:sp>
      <p:sp>
        <p:nvSpPr>
          <p:cNvPr id="147460" name="Rectangle 4"/>
          <p:cNvSpPr>
            <a:spLocks noChangeArrowheads="1"/>
          </p:cNvSpPr>
          <p:nvPr/>
        </p:nvSpPr>
        <p:spPr bwMode="auto">
          <a:xfrm>
            <a:off x="1847850" y="4910138"/>
            <a:ext cx="6469063" cy="3810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47461" name="Line 5"/>
          <p:cNvSpPr>
            <a:spLocks noChangeShapeType="1"/>
          </p:cNvSpPr>
          <p:nvPr/>
        </p:nvSpPr>
        <p:spPr bwMode="auto">
          <a:xfrm>
            <a:off x="7791450" y="4910138"/>
            <a:ext cx="0" cy="381000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62" name="Line 6"/>
          <p:cNvSpPr>
            <a:spLocks noChangeShapeType="1"/>
          </p:cNvSpPr>
          <p:nvPr/>
        </p:nvSpPr>
        <p:spPr bwMode="auto">
          <a:xfrm>
            <a:off x="4133850" y="4910138"/>
            <a:ext cx="0" cy="381000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63" name="Line 7"/>
          <p:cNvSpPr>
            <a:spLocks noChangeShapeType="1"/>
          </p:cNvSpPr>
          <p:nvPr/>
        </p:nvSpPr>
        <p:spPr bwMode="auto">
          <a:xfrm>
            <a:off x="7258050" y="4910138"/>
            <a:ext cx="0" cy="381000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64" name="Line 8"/>
          <p:cNvSpPr>
            <a:spLocks noChangeShapeType="1"/>
          </p:cNvSpPr>
          <p:nvPr/>
        </p:nvSpPr>
        <p:spPr bwMode="auto">
          <a:xfrm>
            <a:off x="6800850" y="4910138"/>
            <a:ext cx="0" cy="381000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65" name="Line 9"/>
          <p:cNvSpPr>
            <a:spLocks noChangeShapeType="1"/>
          </p:cNvSpPr>
          <p:nvPr/>
        </p:nvSpPr>
        <p:spPr bwMode="auto">
          <a:xfrm>
            <a:off x="6267450" y="4910138"/>
            <a:ext cx="0" cy="381000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66" name="Line 10"/>
          <p:cNvSpPr>
            <a:spLocks noChangeShapeType="1"/>
          </p:cNvSpPr>
          <p:nvPr/>
        </p:nvSpPr>
        <p:spPr bwMode="auto">
          <a:xfrm>
            <a:off x="4667250" y="4910138"/>
            <a:ext cx="0" cy="381000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67" name="Line 11"/>
          <p:cNvSpPr>
            <a:spLocks noChangeShapeType="1"/>
          </p:cNvSpPr>
          <p:nvPr/>
        </p:nvSpPr>
        <p:spPr bwMode="auto">
          <a:xfrm>
            <a:off x="5734050" y="4910138"/>
            <a:ext cx="0" cy="381000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68" name="Line 12"/>
          <p:cNvSpPr>
            <a:spLocks noChangeShapeType="1"/>
          </p:cNvSpPr>
          <p:nvPr/>
        </p:nvSpPr>
        <p:spPr bwMode="auto">
          <a:xfrm>
            <a:off x="5200650" y="4910138"/>
            <a:ext cx="0" cy="381000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69" name="Text Box 13"/>
          <p:cNvSpPr txBox="1">
            <a:spLocks noChangeArrowheads="1"/>
          </p:cNvSpPr>
          <p:nvPr/>
        </p:nvSpPr>
        <p:spPr bwMode="auto">
          <a:xfrm>
            <a:off x="4133850" y="4872038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SF</a:t>
            </a:r>
          </a:p>
        </p:txBody>
      </p:sp>
      <p:sp>
        <p:nvSpPr>
          <p:cNvPr id="147470" name="Text Box 14"/>
          <p:cNvSpPr txBox="1">
            <a:spLocks noChangeArrowheads="1"/>
          </p:cNvSpPr>
          <p:nvPr/>
        </p:nvSpPr>
        <p:spPr bwMode="auto">
          <a:xfrm>
            <a:off x="6775450" y="4872038"/>
            <a:ext cx="7488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PF</a:t>
            </a:r>
          </a:p>
        </p:txBody>
      </p:sp>
      <p:sp>
        <p:nvSpPr>
          <p:cNvPr id="147471" name="Text Box 15"/>
          <p:cNvSpPr txBox="1">
            <a:spLocks noChangeArrowheads="1"/>
          </p:cNvSpPr>
          <p:nvPr/>
        </p:nvSpPr>
        <p:spPr bwMode="auto">
          <a:xfrm>
            <a:off x="5708650" y="4846638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AF</a:t>
            </a:r>
          </a:p>
        </p:txBody>
      </p:sp>
      <p:sp>
        <p:nvSpPr>
          <p:cNvPr id="147472" name="Text Box 16"/>
          <p:cNvSpPr txBox="1">
            <a:spLocks noChangeArrowheads="1"/>
          </p:cNvSpPr>
          <p:nvPr/>
        </p:nvSpPr>
        <p:spPr bwMode="auto">
          <a:xfrm>
            <a:off x="4667250" y="4872038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ZF</a:t>
            </a:r>
          </a:p>
        </p:txBody>
      </p:sp>
      <p:sp>
        <p:nvSpPr>
          <p:cNvPr id="147473" name="Text Box 17"/>
          <p:cNvSpPr txBox="1">
            <a:spLocks noChangeArrowheads="1"/>
          </p:cNvSpPr>
          <p:nvPr/>
        </p:nvSpPr>
        <p:spPr bwMode="auto">
          <a:xfrm>
            <a:off x="7778750" y="4872038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CF</a:t>
            </a:r>
          </a:p>
        </p:txBody>
      </p:sp>
      <p:sp>
        <p:nvSpPr>
          <p:cNvPr id="147474" name="Rectangle 18"/>
          <p:cNvSpPr>
            <a:spLocks noChangeArrowheads="1"/>
          </p:cNvSpPr>
          <p:nvPr/>
        </p:nvSpPr>
        <p:spPr bwMode="auto">
          <a:xfrm>
            <a:off x="4133850" y="4071938"/>
            <a:ext cx="4114800" cy="3810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47475" name="Line 19"/>
          <p:cNvSpPr>
            <a:spLocks noChangeShapeType="1"/>
          </p:cNvSpPr>
          <p:nvPr/>
        </p:nvSpPr>
        <p:spPr bwMode="auto">
          <a:xfrm>
            <a:off x="5200650" y="4071938"/>
            <a:ext cx="0" cy="381000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76" name="Line 20"/>
          <p:cNvSpPr>
            <a:spLocks noChangeShapeType="1"/>
          </p:cNvSpPr>
          <p:nvPr/>
        </p:nvSpPr>
        <p:spPr bwMode="auto">
          <a:xfrm>
            <a:off x="4667250" y="4071938"/>
            <a:ext cx="0" cy="381000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77" name="Line 21"/>
          <p:cNvSpPr>
            <a:spLocks noChangeShapeType="1"/>
          </p:cNvSpPr>
          <p:nvPr/>
        </p:nvSpPr>
        <p:spPr bwMode="auto">
          <a:xfrm>
            <a:off x="5734050" y="4071938"/>
            <a:ext cx="0" cy="381000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78" name="Line 22"/>
          <p:cNvSpPr>
            <a:spLocks noChangeShapeType="1"/>
          </p:cNvSpPr>
          <p:nvPr/>
        </p:nvSpPr>
        <p:spPr bwMode="auto">
          <a:xfrm>
            <a:off x="6267450" y="4071938"/>
            <a:ext cx="0" cy="381000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79" name="Line 23"/>
          <p:cNvSpPr>
            <a:spLocks noChangeShapeType="1"/>
          </p:cNvSpPr>
          <p:nvPr/>
        </p:nvSpPr>
        <p:spPr bwMode="auto">
          <a:xfrm>
            <a:off x="6800850" y="4071938"/>
            <a:ext cx="0" cy="381000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80" name="Line 24"/>
          <p:cNvSpPr>
            <a:spLocks noChangeShapeType="1"/>
          </p:cNvSpPr>
          <p:nvPr/>
        </p:nvSpPr>
        <p:spPr bwMode="auto">
          <a:xfrm>
            <a:off x="7258050" y="4071938"/>
            <a:ext cx="0" cy="381000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81" name="Line 25"/>
          <p:cNvSpPr>
            <a:spLocks noChangeShapeType="1"/>
          </p:cNvSpPr>
          <p:nvPr/>
        </p:nvSpPr>
        <p:spPr bwMode="auto">
          <a:xfrm>
            <a:off x="7791450" y="4071938"/>
            <a:ext cx="0" cy="381000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82" name="Line 26"/>
          <p:cNvSpPr>
            <a:spLocks noChangeShapeType="1"/>
          </p:cNvSpPr>
          <p:nvPr/>
        </p:nvSpPr>
        <p:spPr bwMode="auto">
          <a:xfrm flipV="1">
            <a:off x="4413250" y="4452938"/>
            <a:ext cx="0" cy="457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86" name="Line 30"/>
          <p:cNvSpPr>
            <a:spLocks noChangeShapeType="1"/>
          </p:cNvSpPr>
          <p:nvPr/>
        </p:nvSpPr>
        <p:spPr bwMode="auto">
          <a:xfrm flipV="1">
            <a:off x="8020050" y="4452938"/>
            <a:ext cx="0" cy="45720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87" name="Text Box 31"/>
          <p:cNvSpPr txBox="1">
            <a:spLocks noChangeArrowheads="1"/>
          </p:cNvSpPr>
          <p:nvPr/>
        </p:nvSpPr>
        <p:spPr bwMode="auto">
          <a:xfrm>
            <a:off x="5734050" y="4376738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….</a:t>
            </a:r>
          </a:p>
        </p:txBody>
      </p:sp>
      <p:sp>
        <p:nvSpPr>
          <p:cNvPr id="147488" name="Text Box 32"/>
          <p:cNvSpPr txBox="1">
            <a:spLocks noChangeArrowheads="1"/>
          </p:cNvSpPr>
          <p:nvPr/>
        </p:nvSpPr>
        <p:spPr bwMode="auto">
          <a:xfrm>
            <a:off x="3454400" y="4027488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AH</a:t>
            </a:r>
          </a:p>
        </p:txBody>
      </p:sp>
      <p:sp>
        <p:nvSpPr>
          <p:cNvPr id="147489" name="Text Box 33"/>
          <p:cNvSpPr txBox="1">
            <a:spLocks noChangeArrowheads="1"/>
          </p:cNvSpPr>
          <p:nvPr/>
        </p:nvSpPr>
        <p:spPr bwMode="auto">
          <a:xfrm>
            <a:off x="539750" y="4892675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FLAGS</a:t>
            </a:r>
          </a:p>
        </p:txBody>
      </p:sp>
      <p:sp>
        <p:nvSpPr>
          <p:cNvPr id="147490" name="Text Box 34"/>
          <p:cNvSpPr txBox="1">
            <a:spLocks noChangeArrowheads="1"/>
          </p:cNvSpPr>
          <p:nvPr/>
        </p:nvSpPr>
        <p:spPr bwMode="auto">
          <a:xfrm>
            <a:off x="1695450" y="45291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D</a:t>
            </a:r>
            <a:r>
              <a:rPr kumimoji="1" lang="en-US" altLang="zh-CN" sz="16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15</a:t>
            </a:r>
          </a:p>
        </p:txBody>
      </p:sp>
      <p:sp>
        <p:nvSpPr>
          <p:cNvPr id="147491" name="Text Box 35"/>
          <p:cNvSpPr txBox="1">
            <a:spLocks noChangeArrowheads="1"/>
          </p:cNvSpPr>
          <p:nvPr/>
        </p:nvSpPr>
        <p:spPr bwMode="auto">
          <a:xfrm>
            <a:off x="8027988" y="45291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D</a:t>
            </a:r>
            <a:r>
              <a:rPr kumimoji="1" lang="en-US" altLang="zh-CN" sz="16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0</a:t>
            </a:r>
          </a:p>
        </p:txBody>
      </p:sp>
      <p:sp>
        <p:nvSpPr>
          <p:cNvPr id="147492" name="Text Box 36"/>
          <p:cNvSpPr txBox="1">
            <a:spLocks noChangeArrowheads="1"/>
          </p:cNvSpPr>
          <p:nvPr/>
        </p:nvSpPr>
        <p:spPr bwMode="auto">
          <a:xfrm>
            <a:off x="3957638" y="3692525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D</a:t>
            </a:r>
            <a:r>
              <a:rPr kumimoji="1" lang="en-US" altLang="zh-CN" sz="16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7</a:t>
            </a:r>
          </a:p>
        </p:txBody>
      </p:sp>
      <p:sp>
        <p:nvSpPr>
          <p:cNvPr id="147493" name="Text Box 37"/>
          <p:cNvSpPr txBox="1">
            <a:spLocks noChangeArrowheads="1"/>
          </p:cNvSpPr>
          <p:nvPr/>
        </p:nvSpPr>
        <p:spPr bwMode="auto">
          <a:xfrm>
            <a:off x="7918450" y="3690938"/>
            <a:ext cx="68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D</a:t>
            </a:r>
            <a:r>
              <a:rPr kumimoji="1" lang="en-US" altLang="zh-CN" sz="16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0</a:t>
            </a:r>
          </a:p>
        </p:txBody>
      </p:sp>
      <p:sp>
        <p:nvSpPr>
          <p:cNvPr id="147495" name="Text Box 39"/>
          <p:cNvSpPr txBox="1">
            <a:spLocks noChangeArrowheads="1"/>
          </p:cNvSpPr>
          <p:nvPr/>
        </p:nvSpPr>
        <p:spPr bwMode="auto">
          <a:xfrm>
            <a:off x="900113" y="5876925"/>
            <a:ext cx="215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70000"/>
            </a:pPr>
            <a:r>
              <a:rPr lang="en-US" altLang="zh-CN">
                <a:ea typeface="宋体" pitchFamily="2" charset="-122"/>
              </a:rPr>
              <a:t>  SAHF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147496" name="Text Box 40"/>
          <p:cNvSpPr txBox="1">
            <a:spLocks noChangeArrowheads="1"/>
          </p:cNvSpPr>
          <p:nvPr/>
        </p:nvSpPr>
        <p:spPr bwMode="auto">
          <a:xfrm>
            <a:off x="3276600" y="5876925"/>
            <a:ext cx="4392613" cy="541338"/>
          </a:xfrm>
          <a:prstGeom prst="rect">
            <a:avLst/>
          </a:prstGeom>
          <a:solidFill>
            <a:srgbClr val="FF6600"/>
          </a:solidFill>
          <a:ln w="22225">
            <a:solidFill>
              <a:srgbClr val="FF6600"/>
            </a:solidFill>
            <a:miter lim="800000"/>
            <a:headEnd/>
            <a:tailEnd type="none" w="lg" len="lg"/>
          </a:ln>
        </p:spPr>
        <p:txBody>
          <a:bodyPr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>
                <a:solidFill>
                  <a:schemeClr val="tx1"/>
                </a:solidFill>
                <a:ea typeface="宋体" pitchFamily="2" charset="-122"/>
              </a:rPr>
              <a:t>执行与</a:t>
            </a: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LAHF</a:t>
            </a:r>
            <a:r>
              <a:rPr lang="zh-CN" altLang="en-US">
                <a:solidFill>
                  <a:schemeClr val="tx1"/>
                </a:solidFill>
                <a:ea typeface="宋体" pitchFamily="2" charset="-122"/>
              </a:rPr>
              <a:t>相反的操作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584" y="214313"/>
            <a:ext cx="8280920" cy="1462087"/>
          </a:xfrm>
        </p:spPr>
        <p:txBody>
          <a:bodyPr/>
          <a:lstStyle/>
          <a:p>
            <a:r>
              <a:rPr lang="zh-CN" altLang="en-US" dirty="0"/>
              <a:t>四、标志位操作指令</a:t>
            </a:r>
            <a:r>
              <a:rPr lang="en-US" altLang="zh-CN" dirty="0"/>
              <a:t>LAHF/SAHF</a:t>
            </a:r>
            <a:endParaRPr lang="zh-CN" altLang="en-US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7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7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7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7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7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7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7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7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7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7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7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7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7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7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7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7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7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7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7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7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7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7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7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47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47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47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47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47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47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47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47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47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47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47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47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47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47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47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47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47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47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47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47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47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47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47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47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47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47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47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47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47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47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47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47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47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47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47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7" dur="500"/>
                                        <p:tgtEl>
                                          <p:spTgt spid="147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2" dur="500"/>
                                        <p:tgtEl>
                                          <p:spTgt spid="147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9" grpId="0" build="p"/>
      <p:bldP spid="147460" grpId="0" animBg="1"/>
      <p:bldP spid="147461" grpId="0" animBg="1"/>
      <p:bldP spid="147462" grpId="0" animBg="1"/>
      <p:bldP spid="147463" grpId="0" animBg="1"/>
      <p:bldP spid="147464" grpId="0" animBg="1"/>
      <p:bldP spid="147465" grpId="0" animBg="1"/>
      <p:bldP spid="147466" grpId="0" animBg="1"/>
      <p:bldP spid="147467" grpId="0" animBg="1"/>
      <p:bldP spid="147468" grpId="0" animBg="1"/>
      <p:bldP spid="147469" grpId="0"/>
      <p:bldP spid="147470" grpId="0"/>
      <p:bldP spid="147471" grpId="0"/>
      <p:bldP spid="147472" grpId="0"/>
      <p:bldP spid="147473" grpId="0"/>
      <p:bldP spid="147474" grpId="0" animBg="1"/>
      <p:bldP spid="147475" grpId="0" animBg="1"/>
      <p:bldP spid="147476" grpId="0" animBg="1"/>
      <p:bldP spid="147477" grpId="0" animBg="1"/>
      <p:bldP spid="147478" grpId="0" animBg="1"/>
      <p:bldP spid="147479" grpId="0" animBg="1"/>
      <p:bldP spid="147480" grpId="0" animBg="1"/>
      <p:bldP spid="147481" grpId="0" animBg="1"/>
      <p:bldP spid="147482" grpId="0" animBg="1"/>
      <p:bldP spid="147486" grpId="0" animBg="1"/>
      <p:bldP spid="147487" grpId="0"/>
      <p:bldP spid="147488" grpId="0"/>
      <p:bldP spid="147489" grpId="0"/>
      <p:bldP spid="147490" grpId="0"/>
      <p:bldP spid="147491" grpId="0"/>
      <p:bldP spid="147492" grpId="0"/>
      <p:bldP spid="147493" grpId="0"/>
      <p:bldP spid="147495" grpId="0"/>
      <p:bldP spid="14749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2F4A3E3-B13F-4625-B034-0F2929D7FAC1}" type="slidenum">
              <a:rPr lang="zh-CN" altLang="en-US" sz="1400" b="0" smtClean="0">
                <a:solidFill>
                  <a:schemeClr val="bg2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65</a:t>
            </a:fld>
            <a:endParaRPr lang="en-US" altLang="zh-CN" sz="1400" b="0">
              <a:solidFill>
                <a:schemeClr val="bg2"/>
              </a:solidFill>
              <a:ea typeface="宋体" pitchFamily="2" charset="-122"/>
            </a:endParaRPr>
          </a:p>
        </p:txBody>
      </p:sp>
      <p:sp>
        <p:nvSpPr>
          <p:cNvPr id="80899" name="Rectangle 4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181850" cy="1462088"/>
          </a:xfrm>
        </p:spPr>
        <p:txBody>
          <a:bodyPr/>
          <a:lstStyle/>
          <a:p>
            <a:pPr algn="ctr" eaLnBrk="1" hangingPunct="1"/>
            <a:r>
              <a:rPr lang="zh-CN" altLang="en-US" sz="5400">
                <a:ea typeface="华文行楷" pitchFamily="2" charset="-122"/>
              </a:rPr>
              <a:t>算术运算类指令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3C14CBC-F392-420E-93BE-144865F501D4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66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算术运算类指令</a:t>
            </a:r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63713" y="2133600"/>
            <a:ext cx="4038600" cy="2667000"/>
          </a:xfrm>
        </p:spPr>
        <p:txBody>
          <a:bodyPr/>
          <a:lstStyle/>
          <a:p>
            <a:pPr eaLnBrk="1" hangingPunct="1"/>
            <a:r>
              <a:rPr lang="zh-CN" altLang="en-US" sz="3200" dirty="0"/>
              <a:t>加法运算指令</a:t>
            </a:r>
          </a:p>
          <a:p>
            <a:pPr eaLnBrk="1" hangingPunct="1"/>
            <a:r>
              <a:rPr lang="zh-CN" altLang="en-US" sz="3200" dirty="0"/>
              <a:t>减法运算指令</a:t>
            </a:r>
          </a:p>
          <a:p>
            <a:pPr eaLnBrk="1" hangingPunct="1"/>
            <a:r>
              <a:rPr lang="zh-CN" altLang="en-US" sz="3200" dirty="0"/>
              <a:t>乘法指令</a:t>
            </a:r>
          </a:p>
          <a:p>
            <a:pPr eaLnBrk="1" hangingPunct="1"/>
            <a:r>
              <a:rPr lang="zh-CN" altLang="en-US" sz="3200" dirty="0"/>
              <a:t>除法指令</a:t>
            </a:r>
          </a:p>
        </p:txBody>
      </p:sp>
      <p:sp>
        <p:nvSpPr>
          <p:cNvPr id="149510" name="Text Box 6"/>
          <p:cNvSpPr txBox="1">
            <a:spLocks noChangeArrowheads="1"/>
          </p:cNvSpPr>
          <p:nvPr/>
        </p:nvSpPr>
        <p:spPr bwMode="auto">
          <a:xfrm>
            <a:off x="611188" y="5013325"/>
            <a:ext cx="824388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dirty="0">
                <a:solidFill>
                  <a:srgbClr val="FF0000"/>
                </a:solidFill>
                <a:latin typeface="Arial" charset="0"/>
                <a:ea typeface="宋体" pitchFamily="2" charset="-122"/>
              </a:rPr>
              <a:t>算术运算指令的执行大多对状态标志位会产生影响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10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2539C4C2-EB47-40F5-9725-8E75337D2906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67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一、加法指令</a:t>
            </a:r>
          </a:p>
        </p:txBody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87563" y="2263775"/>
            <a:ext cx="5410200" cy="24384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dirty="0"/>
              <a:t>    普通加法指令</a:t>
            </a:r>
            <a:r>
              <a:rPr lang="en-US" altLang="zh-CN" dirty="0"/>
              <a:t>ADD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dirty="0"/>
              <a:t>    </a:t>
            </a:r>
            <a:r>
              <a:rPr lang="zh-CN" altLang="en-US" dirty="0"/>
              <a:t>带进位位的加法指令</a:t>
            </a:r>
            <a:r>
              <a:rPr lang="en-US" altLang="zh-CN" dirty="0"/>
              <a:t>ADC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dirty="0"/>
              <a:t>    加1指令</a:t>
            </a:r>
            <a:r>
              <a:rPr lang="en-US" altLang="zh-CN" dirty="0"/>
              <a:t>INC</a:t>
            </a:r>
          </a:p>
        </p:txBody>
      </p:sp>
      <p:sp>
        <p:nvSpPr>
          <p:cNvPr id="82949" name="AutoShape 4"/>
          <p:cNvSpPr>
            <a:spLocks/>
          </p:cNvSpPr>
          <p:nvPr/>
        </p:nvSpPr>
        <p:spPr bwMode="auto">
          <a:xfrm>
            <a:off x="2195513" y="2565400"/>
            <a:ext cx="215900" cy="1260475"/>
          </a:xfrm>
          <a:prstGeom prst="leftBrace">
            <a:avLst>
              <a:gd name="adj1" fmla="val 48652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50533" name="Text Box 5"/>
          <p:cNvSpPr txBox="1">
            <a:spLocks noChangeArrowheads="1"/>
          </p:cNvSpPr>
          <p:nvPr/>
        </p:nvSpPr>
        <p:spPr bwMode="auto">
          <a:xfrm>
            <a:off x="1114425" y="4675188"/>
            <a:ext cx="7922071" cy="1114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加法指令对操作数的要求与</a:t>
            </a:r>
            <a:r>
              <a:rPr kumimoji="1" lang="en-US" altLang="zh-CN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MOV</a:t>
            </a:r>
            <a:r>
              <a:rPr kumimoji="1" lang="zh-CN" altLang="en-US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指令基本相同，但不能使用段寄存器。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0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E520686-6EC7-4BC8-A1DA-382F3ED48724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68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1" dirty="0"/>
              <a:t>1.</a:t>
            </a:r>
            <a:r>
              <a:rPr lang="zh-CN" altLang="en-US" sz="4000" dirty="0"/>
              <a:t> </a:t>
            </a:r>
            <a:r>
              <a:rPr lang="en-US" altLang="zh-CN" sz="4000" b="1" dirty="0"/>
              <a:t>ADD</a:t>
            </a:r>
            <a:r>
              <a:rPr lang="zh-CN" altLang="en-US" dirty="0"/>
              <a:t>指令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5621337" cy="2706687"/>
          </a:xfrm>
        </p:spPr>
        <p:txBody>
          <a:bodyPr/>
          <a:lstStyle/>
          <a:p>
            <a:pPr eaLnBrk="1" hangingPunct="1"/>
            <a:r>
              <a:rPr lang="zh-CN" altLang="en-US" dirty="0"/>
              <a:t>格式：</a:t>
            </a:r>
          </a:p>
          <a:p>
            <a:pPr lvl="1" eaLnBrk="1" hangingPunct="1"/>
            <a:r>
              <a:rPr lang="zh-CN" altLang="en-US" dirty="0"/>
              <a:t> </a:t>
            </a:r>
            <a:r>
              <a:rPr lang="en-US" altLang="zh-CN" dirty="0"/>
              <a:t>ADD  OPRD1，OPRD2</a:t>
            </a:r>
          </a:p>
          <a:p>
            <a:pPr eaLnBrk="1" hangingPunct="1"/>
            <a:r>
              <a:rPr lang="zh-CN" altLang="en-US" dirty="0"/>
              <a:t>操作：</a:t>
            </a:r>
          </a:p>
          <a:p>
            <a:pPr lvl="1" eaLnBrk="1" hangingPunct="1"/>
            <a:r>
              <a:rPr lang="zh-CN" altLang="en-US" dirty="0"/>
              <a:t> </a:t>
            </a:r>
            <a:r>
              <a:rPr lang="en-US" altLang="zh-CN" dirty="0"/>
              <a:t>OPRD1+OPRD2</a:t>
            </a:r>
          </a:p>
        </p:txBody>
      </p:sp>
      <p:sp>
        <p:nvSpPr>
          <p:cNvPr id="151556" name="Line 4"/>
          <p:cNvSpPr>
            <a:spLocks noChangeShapeType="1"/>
          </p:cNvSpPr>
          <p:nvPr/>
        </p:nvSpPr>
        <p:spPr bwMode="auto">
          <a:xfrm>
            <a:off x="4657725" y="3903663"/>
            <a:ext cx="7620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557" name="Text Box 5"/>
          <p:cNvSpPr txBox="1">
            <a:spLocks noChangeArrowheads="1"/>
          </p:cNvSpPr>
          <p:nvPr/>
        </p:nvSpPr>
        <p:spPr bwMode="auto">
          <a:xfrm>
            <a:off x="899592" y="4169297"/>
            <a:ext cx="6935143" cy="535531"/>
          </a:xfrm>
          <a:prstGeom prst="rect">
            <a:avLst/>
          </a:prstGeom>
          <a:solidFill>
            <a:srgbClr val="CCFFFF"/>
          </a:solidFill>
          <a:ln w="25400" cap="sq">
            <a:solidFill>
              <a:srgbClr val="CCFFFF"/>
            </a:solidFill>
            <a:miter lim="800000"/>
            <a:headEnd type="none" w="sm" len="sm"/>
            <a:tailEnd type="none" w="lg" len="lg"/>
          </a:ln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ADD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指令的执行对全部6个状态标志位都产生影响</a:t>
            </a:r>
          </a:p>
        </p:txBody>
      </p:sp>
      <p:sp>
        <p:nvSpPr>
          <p:cNvPr id="151559" name="Text Box 7"/>
          <p:cNvSpPr txBox="1">
            <a:spLocks noChangeArrowheads="1"/>
          </p:cNvSpPr>
          <p:nvPr/>
        </p:nvSpPr>
        <p:spPr bwMode="auto">
          <a:xfrm>
            <a:off x="5508625" y="3692525"/>
            <a:ext cx="2447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30000"/>
              </a:spcBef>
              <a:spcAft>
                <a:spcPct val="30000"/>
              </a:spcAft>
              <a:buFont typeface="Wingdings" pitchFamily="2" charset="2"/>
              <a:buNone/>
            </a:pP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OPRD1</a:t>
            </a:r>
            <a:endParaRPr lang="zh-CN" altLang="en-US" sz="2400">
              <a:solidFill>
                <a:schemeClr val="tx1"/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1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6" grpId="0" animBg="1"/>
      <p:bldP spid="151557" grpId="0" animBg="1"/>
      <p:bldP spid="151559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F4D61FE-A5B1-4D6F-B151-20C16C2243A2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69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849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b="1"/>
              <a:t>ADD</a:t>
            </a:r>
            <a:r>
              <a:rPr lang="zh-CN" altLang="en-US"/>
              <a:t>指令例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5616" y="1844824"/>
            <a:ext cx="5028728" cy="176294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    MOV  AL，78H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    ADD  AL，99H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/>
              <a:t>指令执行后6个状态标志位的状态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979712" y="3226495"/>
            <a:ext cx="35814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+mn-lt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sz="2400" kern="0"/>
              <a:t>       01111000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kern="0"/>
              <a:t> +   10011001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kern="0"/>
              <a:t>       00010001</a:t>
            </a:r>
            <a:endParaRPr lang="zh-CN" altLang="en-US" sz="2400" kern="0" dirty="0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1946374" y="4269482"/>
            <a:ext cx="2971800" cy="0"/>
          </a:xfrm>
          <a:prstGeom prst="line">
            <a:avLst/>
          </a:prstGeom>
          <a:noFill/>
          <a:ln w="25400" cap="sq">
            <a:solidFill>
              <a:srgbClr val="339966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2306960" y="4301531"/>
            <a:ext cx="360040" cy="461665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1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873224" y="5110151"/>
            <a:ext cx="468788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标志位状态： </a:t>
            </a:r>
            <a:r>
              <a:rPr kumimoji="1"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CF=             SF=</a:t>
            </a:r>
          </a:p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                 AF=             ZF=</a:t>
            </a:r>
          </a:p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                  PF=            OF=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460233" y="5099039"/>
            <a:ext cx="402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1</a:t>
            </a:r>
            <a:endParaRPr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4947977" y="5085184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0</a:t>
            </a:r>
            <a:endParaRPr lang="zh-CN" altLang="en-US" sz="24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3431468" y="5658592"/>
            <a:ext cx="402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1</a:t>
            </a:r>
            <a:endParaRPr lang="zh-CN" altLang="en-US" sz="24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4939664" y="5658591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0</a:t>
            </a:r>
            <a:endParaRPr lang="zh-CN" altLang="en-US" sz="2400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3459427" y="6180108"/>
            <a:ext cx="402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1</a:t>
            </a:r>
            <a:endParaRPr lang="zh-CN" altLang="en-US" sz="24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4947977" y="6167663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0</a:t>
            </a:r>
            <a:endParaRPr lang="zh-CN" altLang="en-US" sz="2400" b="1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C8F8C923-1C7D-48B1-97AA-DC672FCC1F55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70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870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b="1"/>
              <a:t>2.</a:t>
            </a:r>
            <a:r>
              <a:rPr lang="en-US" altLang="zh-CN" sz="4000"/>
              <a:t> </a:t>
            </a:r>
            <a:r>
              <a:rPr lang="en-US" altLang="zh-CN" sz="4000" b="1"/>
              <a:t>ADC</a:t>
            </a:r>
            <a:r>
              <a:rPr lang="zh-CN" altLang="en-US"/>
              <a:t>指令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2060574"/>
            <a:ext cx="7772400" cy="4320753"/>
          </a:xfrm>
        </p:spPr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zh-CN" altLang="en-US" dirty="0"/>
              <a:t>指令格式、对操作数的要求、对标志位的影响与</a:t>
            </a:r>
            <a:r>
              <a:rPr lang="en-US" altLang="zh-CN" dirty="0"/>
              <a:t>ADD</a:t>
            </a:r>
            <a:r>
              <a:rPr lang="zh-CN" altLang="en-US" dirty="0"/>
              <a:t>指令完全一样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30000"/>
              </a:spcAft>
            </a:pPr>
            <a:r>
              <a:rPr lang="zh-CN" altLang="en-US" dirty="0"/>
              <a:t>指令的操作：</a:t>
            </a:r>
          </a:p>
          <a:p>
            <a:pPr lvl="1" eaLnBrk="1" hangingPunct="1">
              <a:lnSpc>
                <a:spcPct val="100000"/>
              </a:lnSpc>
              <a:spcBef>
                <a:spcPct val="50000"/>
              </a:spcBef>
              <a:spcAft>
                <a:spcPct val="30000"/>
              </a:spcAft>
            </a:pPr>
            <a:r>
              <a:rPr lang="zh-CN" altLang="en-US" dirty="0"/>
              <a:t> </a:t>
            </a:r>
            <a:r>
              <a:rPr lang="en-US" altLang="zh-CN" dirty="0"/>
              <a:t>OPRD1+OPRD2+CF             OPRD1</a:t>
            </a:r>
          </a:p>
          <a:p>
            <a:pPr lvl="1" eaLnBrk="1" hangingPunct="1">
              <a:lnSpc>
                <a:spcPct val="100000"/>
              </a:lnSpc>
              <a:spcBef>
                <a:spcPct val="50000"/>
              </a:spcBef>
              <a:spcAft>
                <a:spcPct val="30000"/>
              </a:spcAft>
            </a:pPr>
            <a:r>
              <a:rPr lang="zh-CN" altLang="en-US" dirty="0"/>
              <a:t>注意：</a:t>
            </a:r>
            <a:r>
              <a:rPr lang="en-US" altLang="zh-CN" dirty="0"/>
              <a:t>CF</a:t>
            </a:r>
            <a:r>
              <a:rPr lang="zh-CN" altLang="en-US" dirty="0"/>
              <a:t>是该指令执行前的值</a:t>
            </a:r>
            <a:endParaRPr lang="en-US" altLang="zh-CN" dirty="0"/>
          </a:p>
          <a:p>
            <a:pPr eaLnBrk="1" hangingPunct="1">
              <a:lnSpc>
                <a:spcPct val="115000"/>
              </a:lnSpc>
              <a:spcBef>
                <a:spcPct val="55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ADC</a:t>
            </a:r>
            <a:r>
              <a:rPr lang="zh-CN" altLang="en-US" dirty="0">
                <a:solidFill>
                  <a:srgbClr val="FF0000"/>
                </a:solidFill>
              </a:rPr>
              <a:t>指令常用于多字节数相加，使用前要先将</a:t>
            </a:r>
            <a:r>
              <a:rPr lang="en-US" altLang="zh-CN" dirty="0">
                <a:solidFill>
                  <a:srgbClr val="FF0000"/>
                </a:solidFill>
              </a:rPr>
              <a:t>CF</a:t>
            </a:r>
            <a:r>
              <a:rPr lang="zh-CN" altLang="en-US" dirty="0">
                <a:solidFill>
                  <a:srgbClr val="FF0000"/>
                </a:solidFill>
              </a:rPr>
              <a:t>清零。</a:t>
            </a:r>
          </a:p>
        </p:txBody>
      </p:sp>
      <p:sp>
        <p:nvSpPr>
          <p:cNvPr id="154628" name="Line 4"/>
          <p:cNvSpPr>
            <a:spLocks noChangeShapeType="1"/>
          </p:cNvSpPr>
          <p:nvPr/>
        </p:nvSpPr>
        <p:spPr bwMode="auto">
          <a:xfrm>
            <a:off x="4937125" y="4106863"/>
            <a:ext cx="8382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54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7" grpId="0" build="p"/>
      <p:bldP spid="154628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134FD80-3794-40D8-B867-313C70E85813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71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b="1" dirty="0"/>
              <a:t>ADC</a:t>
            </a:r>
            <a:r>
              <a:rPr lang="zh-CN" altLang="en-US" dirty="0"/>
              <a:t>指令应用例</a:t>
            </a:r>
            <a:r>
              <a:rPr lang="en-US" altLang="zh-CN" sz="28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——</a:t>
            </a:r>
            <a:r>
              <a:rPr lang="zh-CN" altLang="en-US" sz="28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求两个大数的和，两个数的长度都为</a:t>
            </a:r>
            <a:r>
              <a:rPr lang="en-US" altLang="zh-CN" sz="28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20</a:t>
            </a:r>
            <a:r>
              <a:rPr lang="zh-CN" altLang="en-US" sz="28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字节。</a:t>
            </a:r>
          </a:p>
        </p:txBody>
      </p:sp>
      <p:sp>
        <p:nvSpPr>
          <p:cNvPr id="325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4829175" cy="4579937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2000" dirty="0">
                <a:ea typeface="宋体" pitchFamily="2" charset="-122"/>
              </a:rPr>
              <a:t>             LEA  ESI</a:t>
            </a:r>
            <a:r>
              <a:rPr lang="zh-CN" altLang="en-US" sz="2000" dirty="0">
                <a:ea typeface="宋体" pitchFamily="2" charset="-122"/>
              </a:rPr>
              <a:t>，</a:t>
            </a:r>
            <a:r>
              <a:rPr lang="en-US" altLang="zh-CN" sz="2000" dirty="0">
                <a:ea typeface="宋体" pitchFamily="2" charset="-122"/>
              </a:rPr>
              <a:t>M1</a:t>
            </a:r>
          </a:p>
          <a:p>
            <a:pPr marL="0" indent="0" eaLnBrk="1" hangingPunct="1">
              <a:buNone/>
            </a:pPr>
            <a:r>
              <a:rPr lang="en-US" altLang="zh-CN" sz="2000" dirty="0">
                <a:ea typeface="宋体" pitchFamily="2" charset="-122"/>
              </a:rPr>
              <a:t>             LEA  EDI</a:t>
            </a:r>
            <a:r>
              <a:rPr lang="zh-CN" altLang="en-US" sz="2000" dirty="0">
                <a:ea typeface="宋体" pitchFamily="2" charset="-122"/>
              </a:rPr>
              <a:t>，</a:t>
            </a:r>
            <a:r>
              <a:rPr lang="en-US" altLang="zh-CN" sz="2000" dirty="0">
                <a:ea typeface="宋体" pitchFamily="2" charset="-122"/>
              </a:rPr>
              <a:t>M2</a:t>
            </a:r>
          </a:p>
          <a:p>
            <a:pPr marL="0" indent="0" eaLnBrk="1" hangingPunct="1">
              <a:buNone/>
            </a:pPr>
            <a:r>
              <a:rPr lang="en-US" altLang="zh-CN" sz="2000" dirty="0">
                <a:ea typeface="宋体" pitchFamily="2" charset="-122"/>
              </a:rPr>
              <a:t>             MOV CL</a:t>
            </a:r>
            <a:r>
              <a:rPr lang="zh-CN" altLang="en-US" sz="2000" dirty="0">
                <a:ea typeface="宋体" pitchFamily="2" charset="-122"/>
              </a:rPr>
              <a:t>，</a:t>
            </a:r>
            <a:r>
              <a:rPr lang="en-US" altLang="zh-CN" sz="2000" dirty="0">
                <a:ea typeface="宋体" pitchFamily="2" charset="-122"/>
              </a:rPr>
              <a:t>20</a:t>
            </a:r>
          </a:p>
          <a:p>
            <a:pPr marL="0" indent="0" eaLnBrk="1" hangingPunct="1">
              <a:buNone/>
            </a:pPr>
            <a:r>
              <a:rPr lang="en-US" altLang="zh-CN" sz="2000" dirty="0">
                <a:ea typeface="宋体" pitchFamily="2" charset="-122"/>
              </a:rPr>
              <a:t>             CLC                         </a:t>
            </a:r>
            <a:r>
              <a:rPr lang="zh-CN" altLang="en-US" sz="2000" dirty="0">
                <a:solidFill>
                  <a:schemeClr val="tx1"/>
                </a:solidFill>
                <a:ea typeface="宋体" pitchFamily="2" charset="-122"/>
              </a:rPr>
              <a:t>；使</a:t>
            </a:r>
            <a:r>
              <a:rPr lang="en-US" altLang="zh-CN" sz="2000" dirty="0">
                <a:solidFill>
                  <a:schemeClr val="tx1"/>
                </a:solidFill>
                <a:ea typeface="宋体" pitchFamily="2" charset="-122"/>
              </a:rPr>
              <a:t>CF=0</a:t>
            </a:r>
          </a:p>
          <a:p>
            <a:pPr marL="985838" indent="-985838" eaLnBrk="1" hangingPunct="1">
              <a:buNone/>
            </a:pPr>
            <a:r>
              <a:rPr lang="en-US" altLang="zh-CN" sz="2000" dirty="0">
                <a:ea typeface="宋体" pitchFamily="2" charset="-122"/>
              </a:rPr>
              <a:t>NEXT </a:t>
            </a:r>
            <a:r>
              <a:rPr lang="zh-CN" altLang="en-US" sz="2000" dirty="0">
                <a:ea typeface="宋体" pitchFamily="2" charset="-122"/>
              </a:rPr>
              <a:t>：</a:t>
            </a:r>
            <a:r>
              <a:rPr lang="en-US" altLang="zh-CN" sz="2000" dirty="0">
                <a:ea typeface="宋体" pitchFamily="2" charset="-122"/>
              </a:rPr>
              <a:t>MOV AL</a:t>
            </a:r>
            <a:r>
              <a:rPr lang="zh-CN" altLang="en-US" sz="2000" dirty="0">
                <a:ea typeface="宋体" pitchFamily="2" charset="-122"/>
              </a:rPr>
              <a:t>，</a:t>
            </a:r>
            <a:r>
              <a:rPr lang="en-US" altLang="zh-CN" sz="2000" dirty="0">
                <a:ea typeface="宋体" pitchFamily="2" charset="-122"/>
              </a:rPr>
              <a:t>[ESI]</a:t>
            </a:r>
          </a:p>
          <a:p>
            <a:pPr marL="985838" indent="-985838" eaLnBrk="1" hangingPunct="1">
              <a:buFont typeface="Wingdings" pitchFamily="2" charset="2"/>
              <a:buNone/>
            </a:pPr>
            <a:r>
              <a:rPr lang="en-US" altLang="zh-CN" sz="2000" dirty="0">
                <a:ea typeface="宋体" pitchFamily="2" charset="-122"/>
              </a:rPr>
              <a:t>             ADC [EDI]</a:t>
            </a:r>
            <a:r>
              <a:rPr lang="zh-CN" altLang="en-US" sz="2000" dirty="0">
                <a:ea typeface="宋体" pitchFamily="2" charset="-122"/>
              </a:rPr>
              <a:t>，</a:t>
            </a:r>
            <a:r>
              <a:rPr lang="en-US" altLang="zh-CN" sz="2000" dirty="0">
                <a:ea typeface="宋体" pitchFamily="2" charset="-122"/>
              </a:rPr>
              <a:t>AL</a:t>
            </a:r>
          </a:p>
          <a:p>
            <a:pPr marL="0" indent="0" eaLnBrk="1" hangingPunct="1">
              <a:buNone/>
            </a:pPr>
            <a:r>
              <a:rPr lang="en-US" altLang="zh-CN" sz="2000" dirty="0">
                <a:ea typeface="宋体" pitchFamily="2" charset="-122"/>
              </a:rPr>
              <a:t>             INC ESI</a:t>
            </a:r>
          </a:p>
          <a:p>
            <a:pPr marL="0" indent="0" eaLnBrk="1" hangingPunct="1">
              <a:buNone/>
            </a:pPr>
            <a:r>
              <a:rPr lang="en-US" altLang="zh-CN" sz="2000" dirty="0">
                <a:ea typeface="宋体" pitchFamily="2" charset="-122"/>
              </a:rPr>
              <a:t>             INC EDI</a:t>
            </a:r>
          </a:p>
          <a:p>
            <a:pPr marL="0" indent="0" eaLnBrk="1" hangingPunct="1">
              <a:buNone/>
            </a:pPr>
            <a:r>
              <a:rPr lang="en-US" altLang="zh-CN" sz="2000" dirty="0">
                <a:ea typeface="宋体" pitchFamily="2" charset="-122"/>
              </a:rPr>
              <a:t>             DEC CL </a:t>
            </a:r>
          </a:p>
          <a:p>
            <a:pPr marL="0" indent="0" eaLnBrk="1" hangingPunct="1">
              <a:buNone/>
            </a:pPr>
            <a:r>
              <a:rPr lang="en-US" altLang="zh-CN" sz="2000" dirty="0">
                <a:ea typeface="宋体" pitchFamily="2" charset="-122"/>
              </a:rPr>
              <a:t>             JNZ NEXT</a:t>
            </a: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5999163" y="2346325"/>
            <a:ext cx="2460625" cy="3962400"/>
            <a:chOff x="3779" y="1478"/>
            <a:chExt cx="1550" cy="2496"/>
          </a:xfrm>
        </p:grpSpPr>
        <p:sp>
          <p:nvSpPr>
            <p:cNvPr id="88070" name="Rectangle 5"/>
            <p:cNvSpPr>
              <a:spLocks noChangeArrowheads="1"/>
            </p:cNvSpPr>
            <p:nvPr/>
          </p:nvSpPr>
          <p:spPr bwMode="auto">
            <a:xfrm>
              <a:off x="4225" y="1478"/>
              <a:ext cx="1104" cy="2496"/>
            </a:xfrm>
            <a:prstGeom prst="rect">
              <a:avLst/>
            </a:prstGeom>
            <a:solidFill>
              <a:srgbClr val="339966"/>
            </a:solidFill>
            <a:ln w="25400" cap="sq">
              <a:solidFill>
                <a:srgbClr val="339966"/>
              </a:solidFill>
              <a:miter lim="800000"/>
              <a:headEnd type="none" w="sm" len="sm"/>
              <a:tailEnd type="none" w="lg" len="lg"/>
            </a:ln>
          </p:spPr>
          <p:txBody>
            <a:bodyPr wrap="none" anchor="ctr"/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800" b="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88071" name="Line 6"/>
            <p:cNvSpPr>
              <a:spLocks noChangeShapeType="1"/>
            </p:cNvSpPr>
            <p:nvPr/>
          </p:nvSpPr>
          <p:spPr bwMode="auto">
            <a:xfrm flipH="1">
              <a:off x="4225" y="1478"/>
              <a:ext cx="1" cy="2496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72" name="Line 7"/>
            <p:cNvSpPr>
              <a:spLocks noChangeShapeType="1"/>
            </p:cNvSpPr>
            <p:nvPr/>
          </p:nvSpPr>
          <p:spPr bwMode="auto">
            <a:xfrm>
              <a:off x="5329" y="1478"/>
              <a:ext cx="0" cy="2496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73" name="Line 8"/>
            <p:cNvSpPr>
              <a:spLocks noChangeShapeType="1"/>
            </p:cNvSpPr>
            <p:nvPr/>
          </p:nvSpPr>
          <p:spPr bwMode="auto">
            <a:xfrm>
              <a:off x="4225" y="2054"/>
              <a:ext cx="1104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74" name="Line 9"/>
            <p:cNvSpPr>
              <a:spLocks noChangeShapeType="1"/>
            </p:cNvSpPr>
            <p:nvPr/>
          </p:nvSpPr>
          <p:spPr bwMode="auto">
            <a:xfrm>
              <a:off x="4225" y="2294"/>
              <a:ext cx="1104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75" name="Line 10"/>
            <p:cNvSpPr>
              <a:spLocks noChangeShapeType="1"/>
            </p:cNvSpPr>
            <p:nvPr/>
          </p:nvSpPr>
          <p:spPr bwMode="auto">
            <a:xfrm>
              <a:off x="4225" y="2534"/>
              <a:ext cx="1104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76" name="Line 11"/>
            <p:cNvSpPr>
              <a:spLocks noChangeShapeType="1"/>
            </p:cNvSpPr>
            <p:nvPr/>
          </p:nvSpPr>
          <p:spPr bwMode="auto">
            <a:xfrm>
              <a:off x="4225" y="1478"/>
              <a:ext cx="1104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77" name="Line 12"/>
            <p:cNvSpPr>
              <a:spLocks noChangeShapeType="1"/>
            </p:cNvSpPr>
            <p:nvPr/>
          </p:nvSpPr>
          <p:spPr bwMode="auto">
            <a:xfrm>
              <a:off x="4225" y="3350"/>
              <a:ext cx="1104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78" name="Line 13"/>
            <p:cNvSpPr>
              <a:spLocks noChangeShapeType="1"/>
            </p:cNvSpPr>
            <p:nvPr/>
          </p:nvSpPr>
          <p:spPr bwMode="auto">
            <a:xfrm>
              <a:off x="4225" y="3110"/>
              <a:ext cx="1104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79" name="Line 14"/>
            <p:cNvSpPr>
              <a:spLocks noChangeShapeType="1"/>
            </p:cNvSpPr>
            <p:nvPr/>
          </p:nvSpPr>
          <p:spPr bwMode="auto">
            <a:xfrm>
              <a:off x="4225" y="3974"/>
              <a:ext cx="1104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0" name="Line 15"/>
            <p:cNvSpPr>
              <a:spLocks noChangeShapeType="1"/>
            </p:cNvSpPr>
            <p:nvPr/>
          </p:nvSpPr>
          <p:spPr bwMode="auto">
            <a:xfrm>
              <a:off x="4225" y="3590"/>
              <a:ext cx="1104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1" name="Text Box 16"/>
            <p:cNvSpPr txBox="1">
              <a:spLocks noChangeArrowheads="1"/>
            </p:cNvSpPr>
            <p:nvPr/>
          </p:nvSpPr>
          <p:spPr bwMode="auto">
            <a:xfrm>
              <a:off x="4609" y="267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┇</a:t>
              </a:r>
              <a:r>
                <a:rPr kumimoji="1" lang="en-US" altLang="zh-CN" sz="24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</a:p>
          </p:txBody>
        </p:sp>
        <p:sp>
          <p:nvSpPr>
            <p:cNvPr id="88082" name="Text Box 17"/>
            <p:cNvSpPr txBox="1">
              <a:spLocks noChangeArrowheads="1"/>
            </p:cNvSpPr>
            <p:nvPr/>
          </p:nvSpPr>
          <p:spPr bwMode="auto">
            <a:xfrm>
              <a:off x="4609" y="162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┇</a:t>
              </a:r>
              <a:r>
                <a:rPr kumimoji="1" lang="en-US" altLang="zh-CN" sz="24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</a:p>
          </p:txBody>
        </p:sp>
        <p:sp>
          <p:nvSpPr>
            <p:cNvPr id="88083" name="Text Box 18"/>
            <p:cNvSpPr txBox="1">
              <a:spLocks noChangeArrowheads="1"/>
            </p:cNvSpPr>
            <p:nvPr/>
          </p:nvSpPr>
          <p:spPr bwMode="auto">
            <a:xfrm>
              <a:off x="4609" y="363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┇</a:t>
              </a:r>
              <a:r>
                <a:rPr kumimoji="1" lang="en-US" altLang="zh-CN" sz="24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</a:p>
          </p:txBody>
        </p:sp>
        <p:sp>
          <p:nvSpPr>
            <p:cNvPr id="88084" name="Text Box 19"/>
            <p:cNvSpPr txBox="1">
              <a:spLocks noChangeArrowheads="1"/>
            </p:cNvSpPr>
            <p:nvPr/>
          </p:nvSpPr>
          <p:spPr bwMode="auto">
            <a:xfrm>
              <a:off x="3806" y="2046"/>
              <a:ext cx="38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M1</a:t>
              </a:r>
            </a:p>
          </p:txBody>
        </p:sp>
        <p:sp>
          <p:nvSpPr>
            <p:cNvPr id="88085" name="Text Box 20"/>
            <p:cNvSpPr txBox="1">
              <a:spLocks noChangeArrowheads="1"/>
            </p:cNvSpPr>
            <p:nvPr/>
          </p:nvSpPr>
          <p:spPr bwMode="auto">
            <a:xfrm>
              <a:off x="4529" y="2270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12</a:t>
              </a:r>
              <a:r>
                <a:rPr kumimoji="1"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H</a:t>
              </a:r>
            </a:p>
          </p:txBody>
        </p:sp>
        <p:sp>
          <p:nvSpPr>
            <p:cNvPr id="88086" name="Text Box 21"/>
            <p:cNvSpPr txBox="1">
              <a:spLocks noChangeArrowheads="1"/>
            </p:cNvSpPr>
            <p:nvPr/>
          </p:nvSpPr>
          <p:spPr bwMode="auto">
            <a:xfrm>
              <a:off x="4529" y="2030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dirty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94H</a:t>
              </a:r>
            </a:p>
          </p:txBody>
        </p:sp>
        <p:sp>
          <p:nvSpPr>
            <p:cNvPr id="88087" name="Text Box 22"/>
            <p:cNvSpPr txBox="1">
              <a:spLocks noChangeArrowheads="1"/>
            </p:cNvSpPr>
            <p:nvPr/>
          </p:nvSpPr>
          <p:spPr bwMode="auto">
            <a:xfrm>
              <a:off x="3779" y="3097"/>
              <a:ext cx="4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cap="sq">
                  <a:solidFill>
                    <a:srgbClr val="000000"/>
                  </a:solidFill>
                  <a:miter lim="800000"/>
                  <a:headEnd type="none" w="sm" len="sm"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 b="1">
                  <a:solidFill>
                    <a:schemeClr val="tx2"/>
                  </a:solidFill>
                  <a:latin typeface="Tahoma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 b="1">
                  <a:solidFill>
                    <a:schemeClr val="tx1"/>
                  </a:solidFill>
                  <a:latin typeface="Tahoma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000" b="1">
                  <a:solidFill>
                    <a:srgbClr val="FF0000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M2</a:t>
              </a:r>
            </a:p>
          </p:txBody>
        </p:sp>
      </p:grpSp>
      <p:sp>
        <p:nvSpPr>
          <p:cNvPr id="24" name="Text Box 21"/>
          <p:cNvSpPr txBox="1">
            <a:spLocks noChangeArrowheads="1"/>
          </p:cNvSpPr>
          <p:nvPr/>
        </p:nvSpPr>
        <p:spPr bwMode="auto">
          <a:xfrm>
            <a:off x="7189788" y="489528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80H</a:t>
            </a:r>
          </a:p>
        </p:txBody>
      </p:sp>
      <p:sp>
        <p:nvSpPr>
          <p:cNvPr id="25" name="Text Box 21"/>
          <p:cNvSpPr txBox="1">
            <a:spLocks noChangeArrowheads="1"/>
          </p:cNvSpPr>
          <p:nvPr/>
        </p:nvSpPr>
        <p:spPr bwMode="auto">
          <a:xfrm>
            <a:off x="7185027" y="5307012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14H</a:t>
            </a:r>
          </a:p>
        </p:txBody>
      </p:sp>
      <p:sp>
        <p:nvSpPr>
          <p:cNvPr id="3" name="椭圆形标注 2"/>
          <p:cNvSpPr/>
          <p:nvPr/>
        </p:nvSpPr>
        <p:spPr bwMode="auto">
          <a:xfrm>
            <a:off x="35496" y="4060825"/>
            <a:ext cx="1728192" cy="876299"/>
          </a:xfrm>
          <a:prstGeom prst="wedgeEllipseCallout">
            <a:avLst>
              <a:gd name="adj1" fmla="val 79023"/>
              <a:gd name="adj2" fmla="val -30468"/>
            </a:avLst>
          </a:prstGeom>
          <a:solidFill>
            <a:schemeClr val="accent1"/>
          </a:solidFill>
          <a:ln w="22225" cap="flat" cmpd="sng" algn="ctr">
            <a:solidFill>
              <a:srgbClr val="FF66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为什么要用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ADC?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5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25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25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5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25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25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25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25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25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25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444BC7B-C755-4838-9CB2-B0C28AD4DECA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72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890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b="1" dirty="0"/>
              <a:t>3.</a:t>
            </a:r>
            <a:r>
              <a:rPr lang="en-US" altLang="zh-CN" sz="4000" dirty="0"/>
              <a:t> </a:t>
            </a:r>
            <a:r>
              <a:rPr lang="en-US" altLang="zh-CN" sz="4000" b="1" dirty="0"/>
              <a:t>INC</a:t>
            </a:r>
            <a:r>
              <a:rPr lang="zh-CN" altLang="en-US" dirty="0"/>
              <a:t>指令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3352800"/>
          </a:xfrm>
        </p:spPr>
        <p:txBody>
          <a:bodyPr/>
          <a:lstStyle/>
          <a:p>
            <a:pPr eaLnBrk="1" hangingPunct="1"/>
            <a:r>
              <a:rPr lang="zh-CN" altLang="en-US" dirty="0"/>
              <a:t>格式：</a:t>
            </a:r>
          </a:p>
          <a:p>
            <a:pPr eaLnBrk="1" hangingPunct="1">
              <a:spcBef>
                <a:spcPct val="50000"/>
              </a:spcBef>
              <a:spcAft>
                <a:spcPct val="40000"/>
              </a:spcAft>
              <a:buFont typeface="Wingdings" pitchFamily="2" charset="2"/>
              <a:buNone/>
            </a:pPr>
            <a:r>
              <a:rPr lang="zh-CN" altLang="en-US" dirty="0"/>
              <a:t>       </a:t>
            </a:r>
            <a:r>
              <a:rPr lang="en-US" altLang="zh-CN" dirty="0"/>
              <a:t>INC  OPRD</a:t>
            </a:r>
          </a:p>
          <a:p>
            <a:pPr eaLnBrk="1" hangingPunct="1"/>
            <a:r>
              <a:rPr lang="zh-CN" altLang="en-US" dirty="0"/>
              <a:t>操作：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None/>
            </a:pPr>
            <a:r>
              <a:rPr lang="zh-CN" altLang="en-US" dirty="0"/>
              <a:t>       </a:t>
            </a:r>
            <a:r>
              <a:rPr lang="en-US" altLang="zh-CN" dirty="0"/>
              <a:t>OPRD+1            OPRD</a:t>
            </a:r>
          </a:p>
          <a:p>
            <a:pPr lvl="1" eaLnBrk="1" hangingPunct="1">
              <a:spcBef>
                <a:spcPct val="40000"/>
              </a:spcBef>
              <a:buFont typeface="Wingdings" pitchFamily="2" charset="2"/>
              <a:buNone/>
            </a:pPr>
            <a:r>
              <a:rPr lang="zh-CN" altLang="en-US" dirty="0"/>
              <a:t>注意：</a:t>
            </a:r>
            <a:r>
              <a:rPr lang="en-US" altLang="zh-CN" dirty="0"/>
              <a:t>INC</a:t>
            </a:r>
            <a:r>
              <a:rPr lang="zh-CN" altLang="en-US" dirty="0"/>
              <a:t>指令执行</a:t>
            </a:r>
            <a:r>
              <a:rPr lang="zh-CN" altLang="en-US" dirty="0">
                <a:solidFill>
                  <a:srgbClr val="FF0000"/>
                </a:solidFill>
              </a:rPr>
              <a:t>不影响</a:t>
            </a:r>
            <a:r>
              <a:rPr lang="en-US" altLang="zh-CN" dirty="0">
                <a:solidFill>
                  <a:srgbClr val="FF0000"/>
                </a:solidFill>
              </a:rPr>
              <a:t>CF</a:t>
            </a:r>
            <a:r>
              <a:rPr lang="zh-CN" altLang="en-US" dirty="0">
                <a:solidFill>
                  <a:srgbClr val="FF0000"/>
                </a:solidFill>
              </a:rPr>
              <a:t>标志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spcBef>
                <a:spcPct val="40000"/>
              </a:spcBef>
              <a:buNone/>
            </a:pPr>
            <a:r>
              <a:rPr kumimoji="1" lang="zh-CN" altLang="en-US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常用于在程序中修改地址指针</a:t>
            </a:r>
          </a:p>
          <a:p>
            <a:pPr eaLnBrk="1" hangingPunct="1">
              <a:spcBef>
                <a:spcPct val="40000"/>
              </a:spcBef>
              <a:buFont typeface="Wingdings" pitchFamily="2" charset="2"/>
              <a:buNone/>
            </a:pPr>
            <a:endParaRPr lang="en-US" altLang="zh-CN" dirty="0"/>
          </a:p>
        </p:txBody>
      </p:sp>
      <p:sp>
        <p:nvSpPr>
          <p:cNvPr id="155652" name="Line 4"/>
          <p:cNvSpPr>
            <a:spLocks noChangeShapeType="1"/>
          </p:cNvSpPr>
          <p:nvPr/>
        </p:nvSpPr>
        <p:spPr bwMode="auto">
          <a:xfrm>
            <a:off x="3775075" y="4408488"/>
            <a:ext cx="8382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58" name="AutoShape 10"/>
          <p:cNvSpPr>
            <a:spLocks noChangeArrowheads="1"/>
          </p:cNvSpPr>
          <p:nvPr/>
        </p:nvSpPr>
        <p:spPr bwMode="auto">
          <a:xfrm>
            <a:off x="4427984" y="1916832"/>
            <a:ext cx="1981200" cy="762000"/>
          </a:xfrm>
          <a:prstGeom prst="wedgeRectCallout">
            <a:avLst>
              <a:gd name="adj1" fmla="val -83736"/>
              <a:gd name="adj2" fmla="val 59167"/>
            </a:avLst>
          </a:prstGeom>
          <a:ln>
            <a:headEnd type="none" w="sm" len="sm"/>
            <a:tailEnd type="none" w="lg" len="lg"/>
          </a:ln>
        </p:spPr>
        <p:style>
          <a:lnRef idx="2">
            <a:schemeClr val="dk1"/>
          </a:lnRef>
          <a:fillRef idx="100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不能是段寄存器或立即数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5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5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6" presetClass="emph" presetSubtype="0" repeatCount="300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556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556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5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5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5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2" grpId="0" animBg="1"/>
      <p:bldP spid="155658" grpId="0" animBg="1"/>
      <p:bldP spid="155658" grpId="1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C1B8779-8D67-415D-8311-4243E7931FB3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73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011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二、减法指令</a:t>
            </a:r>
          </a:p>
        </p:txBody>
      </p:sp>
      <p:sp>
        <p:nvSpPr>
          <p:cNvPr id="9011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554288" y="2170113"/>
            <a:ext cx="5334000" cy="3124200"/>
          </a:xfrm>
        </p:spPr>
        <p:txBody>
          <a:bodyPr/>
          <a:lstStyle/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dirty="0"/>
              <a:t>普通减法指令</a:t>
            </a:r>
            <a:r>
              <a:rPr lang="en-US" altLang="zh-CN" dirty="0"/>
              <a:t>SUB</a:t>
            </a:r>
          </a:p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dirty="0"/>
              <a:t>带借位的减法指令</a:t>
            </a:r>
            <a:r>
              <a:rPr lang="en-US" altLang="zh-CN" dirty="0"/>
              <a:t>SBB</a:t>
            </a:r>
          </a:p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dirty="0"/>
              <a:t>减1指令</a:t>
            </a:r>
            <a:r>
              <a:rPr lang="en-US" altLang="zh-CN" dirty="0"/>
              <a:t>DEC</a:t>
            </a:r>
          </a:p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dirty="0"/>
              <a:t>比较指令</a:t>
            </a:r>
            <a:r>
              <a:rPr lang="en-US" altLang="zh-CN" dirty="0"/>
              <a:t>CMP</a:t>
            </a:r>
          </a:p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dirty="0"/>
              <a:t>求补指令</a:t>
            </a:r>
            <a:r>
              <a:rPr lang="en-US" altLang="zh-CN" dirty="0"/>
              <a:t>NEG</a:t>
            </a:r>
          </a:p>
        </p:txBody>
      </p:sp>
      <p:sp>
        <p:nvSpPr>
          <p:cNvPr id="90117" name="AutoShape 1028"/>
          <p:cNvSpPr>
            <a:spLocks/>
          </p:cNvSpPr>
          <p:nvPr/>
        </p:nvSpPr>
        <p:spPr bwMode="auto">
          <a:xfrm>
            <a:off x="2195513" y="2511425"/>
            <a:ext cx="228600" cy="2286000"/>
          </a:xfrm>
          <a:prstGeom prst="leftBrace">
            <a:avLst>
              <a:gd name="adj1" fmla="val 83333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56677" name="Text Box 1029"/>
          <p:cNvSpPr txBox="1">
            <a:spLocks noChangeArrowheads="1"/>
          </p:cNvSpPr>
          <p:nvPr/>
        </p:nvSpPr>
        <p:spPr bwMode="auto">
          <a:xfrm>
            <a:off x="611188" y="5357813"/>
            <a:ext cx="7704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减法指令对操作数的要求与对应的加法指令相同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6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255DF2A-139D-4DCC-99E6-05140651D4A2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74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11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1"/>
              <a:t>1.</a:t>
            </a:r>
            <a:r>
              <a:rPr lang="zh-CN" altLang="en-US" sz="4000"/>
              <a:t> </a:t>
            </a:r>
            <a:r>
              <a:rPr lang="en-US" altLang="zh-CN" sz="4000" b="1"/>
              <a:t>SUB</a:t>
            </a:r>
            <a:r>
              <a:rPr lang="zh-CN" altLang="en-US"/>
              <a:t>指令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2017713"/>
            <a:ext cx="7772400" cy="3625850"/>
          </a:xfrm>
        </p:spPr>
        <p:txBody>
          <a:bodyPr/>
          <a:lstStyle/>
          <a:p>
            <a:pPr eaLnBrk="1" hangingPunct="1"/>
            <a:r>
              <a:rPr lang="zh-CN" altLang="en-US" dirty="0"/>
              <a:t>格式：</a:t>
            </a:r>
          </a:p>
          <a:p>
            <a:pPr lvl="1" eaLnBrk="1" hangingPunct="1"/>
            <a:r>
              <a:rPr lang="en-US" altLang="zh-CN" dirty="0"/>
              <a:t>SUB  OPRD1，OPRD2</a:t>
            </a:r>
          </a:p>
          <a:p>
            <a:pPr eaLnBrk="1" hangingPunct="1"/>
            <a:r>
              <a:rPr lang="zh-CN" altLang="en-US" dirty="0"/>
              <a:t>操作：</a:t>
            </a:r>
          </a:p>
          <a:p>
            <a:pPr lvl="1" eaLnBrk="1" hangingPunct="1"/>
            <a:r>
              <a:rPr lang="en-US" altLang="zh-CN" dirty="0"/>
              <a:t>OPRD1- OPRD2              OPRD1</a:t>
            </a:r>
          </a:p>
          <a:p>
            <a:pPr eaLnBrk="1" hangingPunct="1">
              <a:spcBef>
                <a:spcPct val="75000"/>
              </a:spcBef>
              <a:spcAft>
                <a:spcPct val="30000"/>
              </a:spcAft>
            </a:pPr>
            <a:r>
              <a:rPr lang="zh-CN" altLang="en-US" dirty="0">
                <a:solidFill>
                  <a:srgbClr val="FF0000"/>
                </a:solidFill>
              </a:rPr>
              <a:t>对标志位的影响与</a:t>
            </a:r>
            <a:r>
              <a:rPr lang="en-US" altLang="zh-CN" dirty="0">
                <a:solidFill>
                  <a:srgbClr val="FF0000"/>
                </a:solidFill>
              </a:rPr>
              <a:t>ADD</a:t>
            </a:r>
            <a:r>
              <a:rPr lang="zh-CN" altLang="en-US" dirty="0">
                <a:solidFill>
                  <a:srgbClr val="FF0000"/>
                </a:solidFill>
              </a:rPr>
              <a:t>指令同</a:t>
            </a:r>
          </a:p>
        </p:txBody>
      </p:sp>
      <p:sp>
        <p:nvSpPr>
          <p:cNvPr id="157700" name="Line 4"/>
          <p:cNvSpPr>
            <a:spLocks noChangeShapeType="1"/>
          </p:cNvSpPr>
          <p:nvPr/>
        </p:nvSpPr>
        <p:spPr bwMode="auto">
          <a:xfrm>
            <a:off x="4270375" y="3908425"/>
            <a:ext cx="936625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0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B64D82E-F3F0-48D1-AAB5-0C87612D4D35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75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216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116013" y="188913"/>
            <a:ext cx="7793037" cy="1462087"/>
          </a:xfrm>
        </p:spPr>
        <p:txBody>
          <a:bodyPr/>
          <a:lstStyle/>
          <a:p>
            <a:pPr eaLnBrk="1" hangingPunct="1"/>
            <a:r>
              <a:rPr lang="en-US" altLang="zh-CN" sz="4000" b="1" dirty="0"/>
              <a:t>2.</a:t>
            </a:r>
            <a:r>
              <a:rPr lang="en-US" altLang="zh-CN" sz="4000" dirty="0"/>
              <a:t> </a:t>
            </a:r>
            <a:r>
              <a:rPr lang="en-US" altLang="zh-CN" sz="4000" b="1" dirty="0"/>
              <a:t>SBB</a:t>
            </a:r>
            <a:r>
              <a:rPr lang="zh-CN" altLang="en-US" dirty="0"/>
              <a:t>指令</a:t>
            </a:r>
          </a:p>
        </p:txBody>
      </p:sp>
      <p:sp>
        <p:nvSpPr>
          <p:cNvPr id="1587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00113" y="2122488"/>
            <a:ext cx="7772400" cy="4114800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zh-CN" altLang="en-US" dirty="0"/>
              <a:t>指令格式、对操作数的要求、对标志位的影响与</a:t>
            </a:r>
            <a:r>
              <a:rPr lang="en-US" altLang="zh-CN" dirty="0"/>
              <a:t>SUB</a:t>
            </a:r>
            <a:r>
              <a:rPr lang="zh-CN" altLang="en-US" dirty="0"/>
              <a:t>指令完全一样</a:t>
            </a:r>
          </a:p>
          <a:p>
            <a:pPr eaLnBrk="1" hangingPunct="1">
              <a:lnSpc>
                <a:spcPct val="115000"/>
              </a:lnSpc>
              <a:spcBef>
                <a:spcPct val="50000"/>
              </a:spcBef>
              <a:spcAft>
                <a:spcPct val="30000"/>
              </a:spcAft>
            </a:pPr>
            <a:r>
              <a:rPr lang="zh-CN" altLang="en-US" dirty="0"/>
              <a:t>指令的操作：</a:t>
            </a:r>
          </a:p>
          <a:p>
            <a:pPr lvl="1" eaLnBrk="1" hangingPunct="1">
              <a:lnSpc>
                <a:spcPct val="115000"/>
              </a:lnSpc>
              <a:spcBef>
                <a:spcPct val="25000"/>
              </a:spcBef>
              <a:spcAft>
                <a:spcPct val="30000"/>
              </a:spcAft>
            </a:pPr>
            <a:r>
              <a:rPr lang="en-US" altLang="zh-CN" dirty="0"/>
              <a:t>OPRD1- OPRD2- CF             OPRD1</a:t>
            </a:r>
            <a:endParaRPr lang="zh-CN" altLang="en-US" dirty="0"/>
          </a:p>
        </p:txBody>
      </p:sp>
      <p:sp>
        <p:nvSpPr>
          <p:cNvPr id="158724" name="Line 1028"/>
          <p:cNvSpPr>
            <a:spLocks noChangeShapeType="1"/>
          </p:cNvSpPr>
          <p:nvPr/>
        </p:nvSpPr>
        <p:spPr bwMode="auto">
          <a:xfrm>
            <a:off x="4830763" y="4337050"/>
            <a:ext cx="9144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8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BD22474-1FB6-4B17-A818-75A2D1DFFE20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76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31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b="1" dirty="0"/>
              <a:t>3.</a:t>
            </a:r>
            <a:r>
              <a:rPr lang="en-US" altLang="zh-CN" sz="4000" dirty="0"/>
              <a:t> </a:t>
            </a:r>
            <a:r>
              <a:rPr lang="en-US" altLang="zh-CN" sz="4000" b="1" dirty="0"/>
              <a:t>DEC</a:t>
            </a:r>
            <a:r>
              <a:rPr lang="zh-CN" altLang="en-US" dirty="0"/>
              <a:t>指令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格式：</a:t>
            </a:r>
          </a:p>
          <a:p>
            <a:pPr lvl="1" eaLnBrk="1" hangingPunct="1"/>
            <a:r>
              <a:rPr lang="en-US" altLang="zh-CN"/>
              <a:t>DEC  OPRD</a:t>
            </a:r>
          </a:p>
          <a:p>
            <a:pPr eaLnBrk="1" hangingPunct="1"/>
            <a:r>
              <a:rPr lang="zh-CN" altLang="en-US"/>
              <a:t>操作：</a:t>
            </a:r>
          </a:p>
          <a:p>
            <a:pPr lvl="1" eaLnBrk="1" hangingPunct="1"/>
            <a:r>
              <a:rPr lang="en-US" altLang="zh-CN"/>
              <a:t>OPRD - 1            OPRD</a:t>
            </a:r>
            <a:endParaRPr lang="zh-CN" altLang="en-US"/>
          </a:p>
        </p:txBody>
      </p:sp>
      <p:sp>
        <p:nvSpPr>
          <p:cNvPr id="159748" name="Line 4"/>
          <p:cNvSpPr>
            <a:spLocks noChangeShapeType="1"/>
          </p:cNvSpPr>
          <p:nvPr/>
        </p:nvSpPr>
        <p:spPr bwMode="auto">
          <a:xfrm>
            <a:off x="3521075" y="3905250"/>
            <a:ext cx="7620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749" name="Text Box 5"/>
          <p:cNvSpPr txBox="1">
            <a:spLocks noChangeArrowheads="1"/>
          </p:cNvSpPr>
          <p:nvPr/>
        </p:nvSpPr>
        <p:spPr bwMode="auto">
          <a:xfrm>
            <a:off x="827584" y="4672218"/>
            <a:ext cx="7961312" cy="1557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5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dirty="0">
                <a:solidFill>
                  <a:schemeClr val="tx1"/>
                </a:solidFill>
                <a:latin typeface="楷体_GB2312" pitchFamily="49" charset="-122"/>
              </a:rPr>
              <a:t>指令对操作数的要求以及对标志的影响与</a:t>
            </a:r>
            <a:r>
              <a:rPr kumimoji="1" lang="en-US" altLang="zh-CN" dirty="0">
                <a:solidFill>
                  <a:schemeClr val="tx1"/>
                </a:solidFill>
                <a:latin typeface="楷体_GB2312" pitchFamily="49" charset="-122"/>
              </a:rPr>
              <a:t>INC</a:t>
            </a:r>
            <a:r>
              <a:rPr kumimoji="1" lang="zh-CN" altLang="en-US" dirty="0" smtClean="0">
                <a:solidFill>
                  <a:schemeClr val="tx1"/>
                </a:solidFill>
                <a:latin typeface="楷体_GB2312" pitchFamily="49" charset="-122"/>
              </a:rPr>
              <a:t>相同</a:t>
            </a:r>
            <a:r>
              <a:rPr kumimoji="1" lang="zh-CN" altLang="en-US" dirty="0" smtClean="0">
                <a:solidFill>
                  <a:srgbClr val="FF0000"/>
                </a:solidFill>
                <a:latin typeface="楷体_GB2312" pitchFamily="49" charset="-122"/>
              </a:rPr>
              <a:t>注意：不影响</a:t>
            </a:r>
            <a:r>
              <a:rPr kumimoji="1" lang="en-US" altLang="zh-CN" dirty="0" smtClean="0">
                <a:solidFill>
                  <a:srgbClr val="FF0000"/>
                </a:solidFill>
                <a:latin typeface="楷体_GB2312" pitchFamily="49" charset="-122"/>
              </a:rPr>
              <a:t>CF</a:t>
            </a:r>
            <a:r>
              <a:rPr kumimoji="1" lang="zh-CN" altLang="en-US" dirty="0" smtClean="0">
                <a:solidFill>
                  <a:srgbClr val="FF0000"/>
                </a:solidFill>
                <a:latin typeface="楷体_GB2312" pitchFamily="49" charset="-122"/>
              </a:rPr>
              <a:t>。</a:t>
            </a:r>
            <a:endParaRPr kumimoji="1" lang="zh-CN" altLang="en-US" dirty="0">
              <a:solidFill>
                <a:srgbClr val="FF0000"/>
              </a:solidFill>
              <a:latin typeface="楷体_GB2312" pitchFamily="49" charset="-122"/>
            </a:endParaRPr>
          </a:p>
          <a:p>
            <a:pPr>
              <a:lnSpc>
                <a:spcPct val="105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dirty="0" smtClean="0">
                <a:solidFill>
                  <a:schemeClr val="tx2">
                    <a:lumMod val="75000"/>
                  </a:schemeClr>
                </a:solidFill>
                <a:latin typeface="楷体_GB2312" pitchFamily="49" charset="-122"/>
              </a:rPr>
              <a:t>该指令常用在</a:t>
            </a:r>
            <a:r>
              <a:rPr kumimoji="1" lang="zh-CN" altLang="en-US" dirty="0">
                <a:solidFill>
                  <a:schemeClr val="tx2">
                    <a:lumMod val="75000"/>
                  </a:schemeClr>
                </a:solidFill>
                <a:latin typeface="楷体_GB2312" pitchFamily="49" charset="-122"/>
              </a:rPr>
              <a:t>程序中修改计数值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9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9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8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1860F6-BFAC-49E4-A370-39C019CE30B4}" type="slidenum">
              <a:rPr lang="zh-CN" altLang="en-US" smtClean="0"/>
              <a:pPr>
                <a:defRPr/>
              </a:pPr>
              <a:t>77</a:t>
            </a:fld>
            <a:endParaRPr lang="en-US" altLang="zh-CN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605905" y="2345531"/>
            <a:ext cx="4916488" cy="1384995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bg2"/>
                </a:solidFill>
              </a:rPr>
              <a:t>   </a:t>
            </a:r>
            <a:r>
              <a:rPr lang="zh-CN" altLang="zh-CN" dirty="0">
                <a:solidFill>
                  <a:schemeClr val="bg2"/>
                </a:solidFill>
              </a:rPr>
              <a:t>          </a:t>
            </a:r>
            <a:r>
              <a:rPr lang="zh-CN" altLang="zh-CN" dirty="0" smtClean="0">
                <a:solidFill>
                  <a:schemeClr val="bg2"/>
                </a:solidFill>
              </a:rPr>
              <a:t>MOV  </a:t>
            </a:r>
            <a:r>
              <a:rPr lang="zh-CN" altLang="zh-CN" dirty="0">
                <a:solidFill>
                  <a:schemeClr val="bg2"/>
                </a:solidFill>
              </a:rPr>
              <a:t>AL，10H</a:t>
            </a:r>
            <a:br>
              <a:rPr lang="zh-CN" altLang="zh-CN" dirty="0">
                <a:solidFill>
                  <a:schemeClr val="bg2"/>
                </a:solidFill>
              </a:rPr>
            </a:br>
            <a:r>
              <a:rPr lang="zh-CN" altLang="zh-CN" dirty="0" smtClean="0">
                <a:solidFill>
                  <a:schemeClr val="bg2"/>
                </a:solidFill>
              </a:rPr>
              <a:t>LOP</a:t>
            </a:r>
            <a:r>
              <a:rPr lang="zh-CN" altLang="zh-CN" dirty="0">
                <a:solidFill>
                  <a:schemeClr val="bg2"/>
                </a:solidFill>
              </a:rPr>
              <a:t>： DEC    AL</a:t>
            </a:r>
            <a:br>
              <a:rPr lang="zh-CN" altLang="zh-CN" dirty="0">
                <a:solidFill>
                  <a:schemeClr val="bg2"/>
                </a:solidFill>
              </a:rPr>
            </a:br>
            <a:r>
              <a:rPr lang="zh-CN" altLang="zh-CN" dirty="0">
                <a:solidFill>
                  <a:schemeClr val="bg2"/>
                </a:solidFill>
              </a:rPr>
              <a:t>              </a:t>
            </a:r>
            <a:r>
              <a:rPr lang="zh-CN" altLang="zh-CN" dirty="0" smtClean="0">
                <a:solidFill>
                  <a:schemeClr val="bg2"/>
                </a:solidFill>
              </a:rPr>
              <a:t>JNC    LOP </a:t>
            </a:r>
            <a:r>
              <a:rPr lang="en-US" altLang="zh-CN" dirty="0" smtClean="0">
                <a:solidFill>
                  <a:schemeClr val="bg2"/>
                </a:solidFill>
              </a:rPr>
              <a:t>;</a:t>
            </a:r>
            <a:r>
              <a:rPr lang="zh-CN" altLang="en-US" dirty="0" smtClean="0">
                <a:solidFill>
                  <a:schemeClr val="bg2"/>
                </a:solidFill>
              </a:rPr>
              <a:t>够减循环</a:t>
            </a:r>
            <a:r>
              <a:rPr lang="zh-CN" altLang="zh-CN" dirty="0" smtClean="0">
                <a:solidFill>
                  <a:schemeClr val="bg2"/>
                </a:solidFill>
              </a:rPr>
              <a:t> </a:t>
            </a:r>
            <a:endParaRPr lang="zh-CN" altLang="zh-CN" dirty="0">
              <a:solidFill>
                <a:schemeClr val="bg2"/>
              </a:solidFill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90128" y="4005064"/>
            <a:ext cx="813911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dirty="0"/>
              <a:t>上述程序段中</a:t>
            </a:r>
            <a:r>
              <a:rPr lang="zh-CN" altLang="en-US" dirty="0"/>
              <a:t>错误地使用了</a:t>
            </a:r>
            <a:r>
              <a:rPr lang="en-US" altLang="zh-CN" dirty="0"/>
              <a:t>CF</a:t>
            </a:r>
            <a:r>
              <a:rPr lang="zh-CN" altLang="en-US" dirty="0"/>
              <a:t>标志位，</a:t>
            </a:r>
            <a:r>
              <a:rPr lang="en-US" altLang="zh-CN" dirty="0"/>
              <a:t>DEC</a:t>
            </a:r>
            <a:r>
              <a:rPr lang="zh-CN" altLang="en-US" dirty="0"/>
              <a:t>指令不影响</a:t>
            </a:r>
            <a:r>
              <a:rPr lang="en-US" altLang="zh-CN" dirty="0"/>
              <a:t>CF</a:t>
            </a:r>
            <a:r>
              <a:rPr lang="zh-CN" altLang="en-US" dirty="0"/>
              <a:t>标志。</a:t>
            </a:r>
            <a:endParaRPr lang="zh-CN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2627784" y="1102310"/>
            <a:ext cx="5040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实现一个计数循环程序</a:t>
            </a:r>
          </a:p>
        </p:txBody>
      </p:sp>
      <p:cxnSp>
        <p:nvCxnSpPr>
          <p:cNvPr id="8" name="直接连接符 7"/>
          <p:cNvCxnSpPr/>
          <p:nvPr/>
        </p:nvCxnSpPr>
        <p:spPr bwMode="auto">
          <a:xfrm flipH="1">
            <a:off x="7164288" y="2345531"/>
            <a:ext cx="936104" cy="1401763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接连接符 8"/>
          <p:cNvCxnSpPr/>
          <p:nvPr/>
        </p:nvCxnSpPr>
        <p:spPr bwMode="auto">
          <a:xfrm>
            <a:off x="7042150" y="2492896"/>
            <a:ext cx="1202258" cy="1224136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873234467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6" grpId="0" autoUpdateAnimBg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BE9A3CC-A598-4A2E-8FA7-218515442002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78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应用程序示例</a:t>
            </a:r>
          </a:p>
        </p:txBody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2060575"/>
            <a:ext cx="7772400" cy="4464050"/>
          </a:xfrm>
        </p:spPr>
        <p:txBody>
          <a:bodyPr/>
          <a:lstStyle/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en-US" altLang="zh-CN" dirty="0"/>
              <a:t>                MOV  BL，2</a:t>
            </a:r>
          </a:p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en-US" altLang="zh-CN" dirty="0"/>
              <a:t>NEXT1 ：MOV  CX，0FFFFH</a:t>
            </a:r>
          </a:p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en-US" altLang="zh-CN" dirty="0"/>
              <a:t>NEXT2： DEC  CX</a:t>
            </a:r>
          </a:p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en-US" altLang="zh-CN" dirty="0"/>
              <a:t>                JNZ  NEXT2         </a:t>
            </a:r>
            <a:r>
              <a:rPr lang="en-US" altLang="zh-CN" sz="2400" dirty="0">
                <a:solidFill>
                  <a:schemeClr val="tx1"/>
                </a:solidFill>
              </a:rPr>
              <a:t>; ZF=0</a:t>
            </a:r>
            <a:r>
              <a:rPr lang="zh-CN" altLang="en-US" sz="2400" dirty="0">
                <a:solidFill>
                  <a:schemeClr val="tx1"/>
                </a:solidFill>
              </a:rPr>
              <a:t>转</a:t>
            </a:r>
            <a:r>
              <a:rPr lang="en-US" altLang="zh-CN" sz="2400" dirty="0">
                <a:solidFill>
                  <a:schemeClr val="tx1"/>
                </a:solidFill>
              </a:rPr>
              <a:t>NEXT2</a:t>
            </a:r>
          </a:p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en-US" altLang="zh-CN" dirty="0"/>
              <a:t>                DEC  BL</a:t>
            </a:r>
          </a:p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en-US" altLang="zh-CN" dirty="0"/>
              <a:t>                JNZ  NEXT1         </a:t>
            </a:r>
            <a:r>
              <a:rPr lang="en-US" altLang="zh-CN" sz="2400" dirty="0">
                <a:solidFill>
                  <a:schemeClr val="tx1"/>
                </a:solidFill>
              </a:rPr>
              <a:t>; ZF=0</a:t>
            </a:r>
            <a:r>
              <a:rPr lang="zh-CN" altLang="en-US" sz="2400" dirty="0">
                <a:solidFill>
                  <a:schemeClr val="tx1"/>
                </a:solidFill>
              </a:rPr>
              <a:t>转</a:t>
            </a:r>
            <a:r>
              <a:rPr lang="en-US" altLang="zh-CN" sz="2400" dirty="0">
                <a:solidFill>
                  <a:schemeClr val="tx1"/>
                </a:solidFill>
              </a:rPr>
              <a:t>NEXT1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en-US" altLang="zh-CN" dirty="0"/>
              <a:t>                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BB685CF-F673-4E72-BEC1-F75019EC7ADD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79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52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b="1" dirty="0"/>
              <a:t>4.</a:t>
            </a:r>
            <a:r>
              <a:rPr lang="en-US" altLang="zh-CN" sz="4000" dirty="0"/>
              <a:t> </a:t>
            </a:r>
            <a:r>
              <a:rPr lang="en-US" altLang="zh-CN" sz="4000" b="1" dirty="0"/>
              <a:t>NEG</a:t>
            </a:r>
            <a:r>
              <a:rPr lang="zh-CN" altLang="en-US" dirty="0"/>
              <a:t>指令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2988" y="2060575"/>
            <a:ext cx="7772400" cy="3352800"/>
          </a:xfrm>
        </p:spPr>
        <p:txBody>
          <a:bodyPr/>
          <a:lstStyle/>
          <a:p>
            <a:pPr eaLnBrk="1" hangingPunct="1"/>
            <a:r>
              <a:rPr lang="zh-CN" altLang="en-US" dirty="0"/>
              <a:t>格式：</a:t>
            </a:r>
          </a:p>
          <a:p>
            <a:pPr lvl="1" eaLnBrk="1" hangingPunct="1"/>
            <a:r>
              <a:rPr lang="en-US" altLang="zh-CN" dirty="0"/>
              <a:t>NEG  OPRD</a:t>
            </a:r>
          </a:p>
          <a:p>
            <a:pPr eaLnBrk="1" hangingPunct="1"/>
            <a:r>
              <a:rPr lang="zh-CN" altLang="en-US" dirty="0"/>
              <a:t>操作：</a:t>
            </a:r>
          </a:p>
          <a:p>
            <a:pPr lvl="1" eaLnBrk="1" hangingPunct="1"/>
            <a:r>
              <a:rPr lang="zh-CN" altLang="en-US" dirty="0"/>
              <a:t>0 - </a:t>
            </a:r>
            <a:r>
              <a:rPr lang="en-US" altLang="zh-CN" dirty="0"/>
              <a:t>OPRD            </a:t>
            </a:r>
            <a:r>
              <a:rPr lang="en-US" altLang="zh-CN" dirty="0" err="1"/>
              <a:t>OPRD</a:t>
            </a:r>
            <a:endParaRPr lang="zh-CN" altLang="en-US" dirty="0"/>
          </a:p>
        </p:txBody>
      </p:sp>
      <p:sp>
        <p:nvSpPr>
          <p:cNvPr id="161796" name="Line 4"/>
          <p:cNvSpPr>
            <a:spLocks noChangeShapeType="1"/>
          </p:cNvSpPr>
          <p:nvPr/>
        </p:nvSpPr>
        <p:spPr bwMode="auto">
          <a:xfrm>
            <a:off x="3405188" y="3962400"/>
            <a:ext cx="762000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1797" name="AutoShape 5"/>
          <p:cNvSpPr>
            <a:spLocks noChangeArrowheads="1"/>
          </p:cNvSpPr>
          <p:nvPr/>
        </p:nvSpPr>
        <p:spPr bwMode="auto">
          <a:xfrm>
            <a:off x="4462463" y="2019300"/>
            <a:ext cx="1981200" cy="762000"/>
          </a:xfrm>
          <a:prstGeom prst="wedgeRectCallout">
            <a:avLst>
              <a:gd name="adj1" fmla="val -84856"/>
              <a:gd name="adj2" fmla="val 65625"/>
            </a:avLst>
          </a:prstGeom>
          <a:solidFill>
            <a:srgbClr val="FF6600"/>
          </a:solidFill>
          <a:ln w="25400" cap="sq">
            <a:solidFill>
              <a:srgbClr val="FF6600"/>
            </a:solidFill>
            <a:miter lim="800000"/>
            <a:headEnd type="none" w="sm" len="sm"/>
            <a:tailEnd type="none" w="lg" len="lg"/>
          </a:ln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8/16</a:t>
            </a:r>
            <a:r>
              <a:rPr kumimoji="1" lang="en-US" altLang="zh-CN" sz="20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/32</a:t>
            </a:r>
            <a:r>
              <a:rPr kumimoji="1" lang="zh-CN" altLang="en-US" sz="20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位寄存器或存储器操作数</a:t>
            </a:r>
          </a:p>
        </p:txBody>
      </p:sp>
      <p:sp>
        <p:nvSpPr>
          <p:cNvPr id="161798" name="Text Box 6"/>
          <p:cNvSpPr txBox="1">
            <a:spLocks noChangeArrowheads="1"/>
          </p:cNvSpPr>
          <p:nvPr/>
        </p:nvSpPr>
        <p:spPr bwMode="auto">
          <a:xfrm>
            <a:off x="971600" y="4340225"/>
            <a:ext cx="77048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用0减去操作数，相当于对该操作数求补，但不是补码。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1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1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6" presetClass="emph" presetSubtype="0" repeatCount="4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6179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6179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1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1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6" grpId="0" animBg="1"/>
      <p:bldP spid="161797" grpId="0" animBg="1"/>
      <p:bldP spid="161797" grpId="1" animBg="1"/>
      <p:bldP spid="161798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对标志位的影响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82688" y="2017712"/>
            <a:ext cx="7772400" cy="4435623"/>
          </a:xfrm>
        </p:spPr>
        <p:txBody>
          <a:bodyPr/>
          <a:lstStyle/>
          <a:p>
            <a:r>
              <a:rPr lang="zh-CN" altLang="zh-CN" dirty="0">
                <a:solidFill>
                  <a:schemeClr val="bg2"/>
                </a:solidFill>
              </a:rPr>
              <a:t>NEG指令将影响标志PF、AF、ZF、SF、CF和OF。</a:t>
            </a:r>
            <a:endParaRPr lang="en-US" altLang="zh-CN" dirty="0">
              <a:solidFill>
                <a:schemeClr val="bg2"/>
              </a:solidFill>
            </a:endParaRPr>
          </a:p>
          <a:p>
            <a:r>
              <a:rPr lang="zh-CN" altLang="zh-CN" dirty="0">
                <a:solidFill>
                  <a:schemeClr val="bg2"/>
                </a:solidFill>
              </a:rPr>
              <a:t>对进位标志CF的影响</a:t>
            </a:r>
          </a:p>
          <a:p>
            <a:pPr lvl="1"/>
            <a:r>
              <a:rPr lang="zh-CN" altLang="zh-CN" dirty="0">
                <a:solidFill>
                  <a:schemeClr val="bg2"/>
                </a:solidFill>
              </a:rPr>
              <a:t>只有当操作数为零时，进位标志CF被置零，其它情况都被置1</a:t>
            </a:r>
            <a:endParaRPr lang="en-US" altLang="zh-CN" dirty="0">
              <a:solidFill>
                <a:schemeClr val="bg2"/>
              </a:solidFill>
            </a:endParaRPr>
          </a:p>
          <a:p>
            <a:r>
              <a:rPr lang="zh-CN" altLang="zh-CN" dirty="0">
                <a:solidFill>
                  <a:schemeClr val="bg2"/>
                </a:solidFill>
              </a:rPr>
              <a:t>对溢出标志OF的影响</a:t>
            </a:r>
            <a:endParaRPr lang="en-US" altLang="zh-CN" dirty="0">
              <a:solidFill>
                <a:schemeClr val="bg2"/>
              </a:solidFill>
            </a:endParaRPr>
          </a:p>
          <a:p>
            <a:pPr lvl="1"/>
            <a:r>
              <a:rPr lang="zh-CN" altLang="zh-CN" dirty="0">
                <a:solidFill>
                  <a:schemeClr val="bg2"/>
                </a:solidFill>
              </a:rPr>
              <a:t>当字节操作数为-128</a:t>
            </a:r>
            <a:r>
              <a:rPr lang="zh-CN" altLang="en-US" dirty="0">
                <a:solidFill>
                  <a:schemeClr val="bg2"/>
                </a:solidFill>
              </a:rPr>
              <a:t>（</a:t>
            </a:r>
            <a:r>
              <a:rPr lang="en-US" altLang="zh-CN" dirty="0">
                <a:solidFill>
                  <a:schemeClr val="bg2"/>
                </a:solidFill>
              </a:rPr>
              <a:t>80H</a:t>
            </a:r>
            <a:r>
              <a:rPr lang="zh-CN" altLang="en-US" dirty="0">
                <a:solidFill>
                  <a:schemeClr val="bg2"/>
                </a:solidFill>
              </a:rPr>
              <a:t>）</a:t>
            </a:r>
            <a:r>
              <a:rPr lang="zh-CN" altLang="zh-CN" dirty="0">
                <a:solidFill>
                  <a:schemeClr val="bg2"/>
                </a:solidFill>
              </a:rPr>
              <a:t>，或字操作数为</a:t>
            </a:r>
            <a:r>
              <a:rPr lang="en-US" altLang="zh-CN" dirty="0">
                <a:solidFill>
                  <a:schemeClr val="bg2"/>
                </a:solidFill>
              </a:rPr>
              <a:t>      </a:t>
            </a:r>
            <a:r>
              <a:rPr lang="zh-CN" altLang="zh-CN" dirty="0">
                <a:solidFill>
                  <a:schemeClr val="bg2"/>
                </a:solidFill>
              </a:rPr>
              <a:t>-32768</a:t>
            </a:r>
            <a:r>
              <a:rPr lang="zh-CN" altLang="en-US" dirty="0">
                <a:solidFill>
                  <a:schemeClr val="bg2"/>
                </a:solidFill>
              </a:rPr>
              <a:t>（</a:t>
            </a:r>
            <a:r>
              <a:rPr lang="en-US" altLang="zh-CN" dirty="0">
                <a:solidFill>
                  <a:schemeClr val="bg2"/>
                </a:solidFill>
              </a:rPr>
              <a:t>8000H</a:t>
            </a:r>
            <a:r>
              <a:rPr lang="zh-CN" altLang="en-US" dirty="0">
                <a:solidFill>
                  <a:schemeClr val="bg2"/>
                </a:solidFill>
              </a:rPr>
              <a:t>）或双字操作数为</a:t>
            </a:r>
            <a:r>
              <a:rPr lang="en-US" altLang="zh-CN" dirty="0">
                <a:solidFill>
                  <a:schemeClr val="bg2"/>
                </a:solidFill>
              </a:rPr>
              <a:t>80000000H</a:t>
            </a:r>
            <a:r>
              <a:rPr lang="zh-CN" altLang="zh-CN" dirty="0">
                <a:solidFill>
                  <a:schemeClr val="bg2"/>
                </a:solidFill>
              </a:rPr>
              <a:t>时，结果将无变化，但溢出标志OF被置1</a:t>
            </a:r>
            <a:r>
              <a:rPr lang="en-US" altLang="zh-CN" dirty="0">
                <a:solidFill>
                  <a:schemeClr val="bg2"/>
                </a:solidFill>
              </a:rPr>
              <a:t>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1860F6-BFAC-49E4-A370-39C019CE30B4}" type="slidenum">
              <a:rPr lang="zh-CN" altLang="en-US" smtClean="0"/>
              <a:pPr>
                <a:defRPr/>
              </a:pPr>
              <a:t>80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4872775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F0B988F5-5665-4D8E-B1DF-188EF7417B33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81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6259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88913"/>
            <a:ext cx="7793037" cy="1462087"/>
          </a:xfrm>
        </p:spPr>
        <p:txBody>
          <a:bodyPr/>
          <a:lstStyle/>
          <a:p>
            <a:pPr eaLnBrk="1" hangingPunct="1"/>
            <a:r>
              <a:rPr lang="en-US" altLang="zh-CN" sz="4000" b="1" dirty="0"/>
              <a:t>5.</a:t>
            </a:r>
            <a:r>
              <a:rPr lang="en-US" altLang="zh-CN" sz="4000" dirty="0"/>
              <a:t> </a:t>
            </a:r>
            <a:r>
              <a:rPr lang="en-US" altLang="zh-CN" sz="4000" b="1" dirty="0"/>
              <a:t>CMP</a:t>
            </a:r>
            <a:r>
              <a:rPr lang="zh-CN" altLang="en-US" dirty="0"/>
              <a:t>指令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9163" y="1844824"/>
            <a:ext cx="8027987" cy="4752528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格式：</a:t>
            </a:r>
          </a:p>
          <a:p>
            <a:pPr lvl="1" eaLnBrk="1" hangingPunct="1"/>
            <a:r>
              <a:rPr lang="en-US" altLang="zh-CN" dirty="0"/>
              <a:t>CMP  OPRD1，OPRD2</a:t>
            </a:r>
          </a:p>
          <a:p>
            <a:pPr eaLnBrk="1" hangingPunct="1"/>
            <a:r>
              <a:rPr lang="zh-CN" altLang="en-US" sz="2400" dirty="0"/>
              <a:t>操作：</a:t>
            </a:r>
          </a:p>
          <a:p>
            <a:pPr lvl="1" eaLnBrk="1" hangingPunct="1"/>
            <a:r>
              <a:rPr lang="en-US" altLang="zh-CN" dirty="0"/>
              <a:t>OPRD1- OPRD2    </a:t>
            </a:r>
          </a:p>
          <a:p>
            <a:pPr eaLnBrk="1" hangingPunct="1"/>
            <a:r>
              <a:rPr lang="zh-CN" altLang="en-US" sz="2400" dirty="0">
                <a:solidFill>
                  <a:srgbClr val="FF0000"/>
                </a:solidFill>
              </a:rPr>
              <a:t>指令执行的结果不影响目标操作数，仅影响标志位！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eaLnBrk="1" hangingPunct="1">
              <a:spcBef>
                <a:spcPct val="10000"/>
              </a:spcBef>
              <a:spcAft>
                <a:spcPct val="15000"/>
              </a:spcAft>
            </a:pPr>
            <a:r>
              <a:rPr lang="zh-CN" altLang="en-US" sz="2400" dirty="0"/>
              <a:t>用途：</a:t>
            </a:r>
          </a:p>
          <a:p>
            <a:pPr lvl="1" eaLnBrk="1" hangingPunct="1">
              <a:spcAft>
                <a:spcPct val="40000"/>
              </a:spcAft>
            </a:pPr>
            <a:r>
              <a:rPr lang="zh-CN" altLang="en-US" dirty="0"/>
              <a:t>用于比较两个数的大小，可作为条件转移指令转移的条件。</a:t>
            </a:r>
            <a:endParaRPr lang="en-US" altLang="zh-CN" dirty="0"/>
          </a:p>
          <a:p>
            <a:pPr eaLnBrk="1" hangingPunct="1">
              <a:spcAft>
                <a:spcPct val="40000"/>
              </a:spcAft>
            </a:pPr>
            <a:r>
              <a:rPr lang="zh-CN" altLang="en-US" sz="2400" dirty="0">
                <a:solidFill>
                  <a:srgbClr val="FF0000"/>
                </a:solidFill>
              </a:rPr>
              <a:t>指令对操作数的要求及对标志位的影响与</a:t>
            </a:r>
            <a:r>
              <a:rPr lang="en-US" altLang="zh-CN" sz="2400" dirty="0">
                <a:solidFill>
                  <a:srgbClr val="FF0000"/>
                </a:solidFill>
              </a:rPr>
              <a:t>SUB</a:t>
            </a:r>
            <a:r>
              <a:rPr lang="zh-CN" altLang="en-US" sz="2400" dirty="0">
                <a:solidFill>
                  <a:srgbClr val="FF0000"/>
                </a:solidFill>
              </a:rPr>
              <a:t>指令相同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2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2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2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2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2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2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2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2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2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E9C69E0-8AD7-4F9A-942F-627946031BA7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82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1" dirty="0"/>
              <a:t>两个数大小的比较</a:t>
            </a:r>
            <a:endParaRPr lang="zh-CN" altLang="en-US" dirty="0"/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9632" y="1772816"/>
            <a:ext cx="6624910" cy="4104729"/>
          </a:xfrm>
        </p:spPr>
        <p:txBody>
          <a:bodyPr/>
          <a:lstStyle/>
          <a:p>
            <a:pPr eaLnBrk="1" hangingPunct="1">
              <a:lnSpc>
                <a:spcPct val="115000"/>
              </a:lnSpc>
              <a:spcAft>
                <a:spcPct val="20000"/>
              </a:spcAft>
            </a:pPr>
            <a:r>
              <a:rPr lang="zh-CN" altLang="en-US" sz="2400" dirty="0"/>
              <a:t>比较两个无符号数：</a:t>
            </a:r>
          </a:p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sz="2400" dirty="0"/>
              <a:t> 例如：</a:t>
            </a:r>
            <a:r>
              <a:rPr lang="en-US" altLang="zh-CN" sz="2400" dirty="0"/>
              <a:t>CMP  AX，BX</a:t>
            </a:r>
          </a:p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两个数的大小由哪个标志来判断？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sz="2400" dirty="0"/>
              <a:t>   </a:t>
            </a:r>
            <a:r>
              <a:rPr lang="zh-CN" altLang="en-US" sz="2400" dirty="0"/>
              <a:t>若  </a:t>
            </a:r>
            <a:r>
              <a:rPr lang="en-US" altLang="zh-CN" sz="2400" dirty="0"/>
              <a:t>AX </a:t>
            </a:r>
            <a:r>
              <a:rPr lang="en-US" altLang="zh-CN" sz="2400" dirty="0">
                <a:cs typeface="Arial" charset="0"/>
              </a:rPr>
              <a:t>&gt; BX</a:t>
            </a:r>
            <a:endParaRPr lang="en-US" altLang="zh-CN" sz="2400" dirty="0"/>
          </a:p>
          <a:p>
            <a:pPr eaLnBrk="1" hangingPunct="1">
              <a:lnSpc>
                <a:spcPct val="115000"/>
              </a:lnSpc>
            </a:pPr>
            <a:r>
              <a:rPr lang="zh-CN" altLang="en-US" sz="2400" dirty="0"/>
              <a:t>   若  </a:t>
            </a:r>
            <a:r>
              <a:rPr lang="en-US" altLang="zh-CN" sz="2400" dirty="0"/>
              <a:t>AX </a:t>
            </a:r>
            <a:r>
              <a:rPr lang="en-US" altLang="zh-CN" sz="2400" dirty="0">
                <a:cs typeface="Arial" charset="0"/>
              </a:rPr>
              <a:t>&lt; BX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zh-CN" sz="2400" dirty="0">
                <a:cs typeface="Arial" charset="0"/>
              </a:rPr>
              <a:t>   </a:t>
            </a:r>
            <a:r>
              <a:rPr lang="zh-CN" altLang="en-US" sz="2400" dirty="0">
                <a:cs typeface="Arial" charset="0"/>
              </a:rPr>
              <a:t>若  </a:t>
            </a:r>
            <a:r>
              <a:rPr lang="en-US" altLang="zh-CN" sz="2400" dirty="0">
                <a:cs typeface="Arial" charset="0"/>
              </a:rPr>
              <a:t>AX = BX </a:t>
            </a:r>
          </a:p>
          <a:p>
            <a:pPr eaLnBrk="1" hangingPunct="1">
              <a:lnSpc>
                <a:spcPct val="115000"/>
              </a:lnSpc>
              <a:buNone/>
            </a:pPr>
            <a:r>
              <a:rPr lang="zh-CN" altLang="en-US" sz="2400" dirty="0">
                <a:cs typeface="Arial" charset="0"/>
              </a:rPr>
              <a:t>有专门的判断无符号数大小指令：</a:t>
            </a:r>
            <a:r>
              <a:rPr lang="en-US" altLang="zh-CN" sz="2400" dirty="0"/>
              <a:t>JA/JAE/JB/JBE</a:t>
            </a:r>
          </a:p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sz="2400" dirty="0">
                <a:cs typeface="Arial" charset="0"/>
              </a:rPr>
              <a:t>即在比较指令后执行相应的判断指令</a:t>
            </a:r>
            <a:endParaRPr lang="en-US" altLang="zh-CN" sz="2400" dirty="0">
              <a:cs typeface="Arial" charset="0"/>
            </a:endParaRPr>
          </a:p>
          <a:p>
            <a:pPr eaLnBrk="1" hangingPunct="1">
              <a:lnSpc>
                <a:spcPct val="105000"/>
              </a:lnSpc>
              <a:spcBef>
                <a:spcPct val="35000"/>
              </a:spcBef>
            </a:pPr>
            <a:endParaRPr lang="zh-CN" altLang="en-US" sz="2400" dirty="0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64870" name="Text Box 6"/>
          <p:cNvSpPr txBox="1">
            <a:spLocks noChangeArrowheads="1"/>
          </p:cNvSpPr>
          <p:nvPr/>
        </p:nvSpPr>
        <p:spPr bwMode="auto">
          <a:xfrm>
            <a:off x="4211960" y="3359756"/>
            <a:ext cx="2448868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ea typeface="宋体" pitchFamily="2" charset="-122"/>
              </a:rPr>
              <a:t>CF=0,ZF=0</a:t>
            </a:r>
            <a:endParaRPr lang="zh-CN" altLang="en-US" sz="2400" dirty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64871" name="Text Box 7"/>
          <p:cNvSpPr txBox="1">
            <a:spLocks noChangeArrowheads="1"/>
          </p:cNvSpPr>
          <p:nvPr/>
        </p:nvSpPr>
        <p:spPr bwMode="auto">
          <a:xfrm>
            <a:off x="4212474" y="3846159"/>
            <a:ext cx="2304852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 smtClean="0">
                <a:solidFill>
                  <a:schemeClr val="tx1"/>
                </a:solidFill>
                <a:ea typeface="宋体" pitchFamily="2" charset="-122"/>
              </a:rPr>
              <a:t>CF=1</a:t>
            </a:r>
            <a:endParaRPr lang="zh-CN" altLang="en-US" sz="2400" dirty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4229797" y="4308466"/>
            <a:ext cx="1296988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ea typeface="宋体" pitchFamily="2" charset="-122"/>
              </a:rPr>
              <a:t>ZF=1</a:t>
            </a:r>
            <a:endParaRPr lang="zh-CN" altLang="en-US" sz="2400" dirty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06D971-7CF1-497F-A428-8351F01DDC7D}"/>
              </a:ext>
            </a:extLst>
          </p:cNvPr>
          <p:cNvSpPr txBox="1"/>
          <p:nvPr/>
        </p:nvSpPr>
        <p:spPr>
          <a:xfrm>
            <a:off x="6084168" y="2788328"/>
            <a:ext cx="16716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CF</a:t>
            </a:r>
            <a:r>
              <a:rPr lang="zh-CN" altLang="en-US" sz="2800" b="1" dirty="0">
                <a:solidFill>
                  <a:srgbClr val="FF0000"/>
                </a:solidFill>
              </a:rPr>
              <a:t>或</a:t>
            </a:r>
            <a:r>
              <a:rPr lang="en-US" altLang="zh-CN" sz="2800" b="1" dirty="0">
                <a:solidFill>
                  <a:srgbClr val="FF0000"/>
                </a:solidFill>
              </a:rPr>
              <a:t>ZF</a:t>
            </a:r>
            <a:endParaRPr lang="zh-CN" altLang="en-US" sz="2800" b="1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4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4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64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4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70" grpId="0"/>
      <p:bldP spid="164871" grpId="0"/>
      <p:bldP spid="7" grpId="0"/>
      <p:bldP spid="9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398CE71-4DBF-4EFD-AEDA-C41E03D034D7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83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9632" y="476672"/>
            <a:ext cx="6989763" cy="4114800"/>
          </a:xfrm>
        </p:spPr>
        <p:txBody>
          <a:bodyPr/>
          <a:lstStyle/>
          <a:p>
            <a:pPr eaLnBrk="1" hangingPunct="1">
              <a:lnSpc>
                <a:spcPct val="115000"/>
              </a:lnSpc>
              <a:spcBef>
                <a:spcPct val="35000"/>
              </a:spcBef>
              <a:spcAft>
                <a:spcPct val="30000"/>
              </a:spcAft>
            </a:pPr>
            <a:r>
              <a:rPr lang="zh-CN" altLang="en-US" dirty="0"/>
              <a:t>比较两个带符号数</a:t>
            </a:r>
          </a:p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en-US" altLang="zh-CN" dirty="0"/>
              <a:t>       CMP  AX，BX</a:t>
            </a:r>
          </a:p>
          <a:p>
            <a:pPr eaLnBrk="1" hangingPunct="1">
              <a:lnSpc>
                <a:spcPct val="115000"/>
              </a:lnSpc>
              <a:spcBef>
                <a:spcPct val="50000"/>
              </a:spcBef>
              <a:spcAft>
                <a:spcPct val="25000"/>
              </a:spcAft>
              <a:buNone/>
            </a:pPr>
            <a:r>
              <a:rPr lang="zh-CN" altLang="en-US" dirty="0"/>
              <a:t>  </a:t>
            </a:r>
            <a:r>
              <a:rPr lang="zh-CN" altLang="en-US" u="sng" dirty="0">
                <a:solidFill>
                  <a:srgbClr val="FF0000"/>
                </a:solidFill>
              </a:rPr>
              <a:t>两个数的大小由</a:t>
            </a:r>
            <a:r>
              <a:rPr lang="en-US" altLang="zh-CN" u="sng" dirty="0">
                <a:solidFill>
                  <a:srgbClr val="FF0000"/>
                </a:solidFill>
              </a:rPr>
              <a:t>OF</a:t>
            </a:r>
            <a:r>
              <a:rPr lang="zh-CN" altLang="en-US" u="sng" dirty="0">
                <a:solidFill>
                  <a:srgbClr val="FF0000"/>
                </a:solidFill>
              </a:rPr>
              <a:t>、</a:t>
            </a:r>
            <a:r>
              <a:rPr lang="en-US" altLang="zh-CN" u="sng" dirty="0">
                <a:solidFill>
                  <a:srgbClr val="FF0000"/>
                </a:solidFill>
              </a:rPr>
              <a:t>SF</a:t>
            </a:r>
            <a:r>
              <a:rPr lang="zh-CN" altLang="en-US" u="sng" dirty="0">
                <a:solidFill>
                  <a:srgbClr val="FF0000"/>
                </a:solidFill>
              </a:rPr>
              <a:t>和</a:t>
            </a:r>
            <a:r>
              <a:rPr lang="en-US" altLang="zh-CN" u="sng" dirty="0">
                <a:solidFill>
                  <a:srgbClr val="FF0000"/>
                </a:solidFill>
              </a:rPr>
              <a:t>ZF</a:t>
            </a:r>
            <a:r>
              <a:rPr lang="zh-CN" altLang="en-US" u="sng" dirty="0">
                <a:solidFill>
                  <a:srgbClr val="FF0000"/>
                </a:solidFill>
              </a:rPr>
              <a:t>共同决定</a:t>
            </a:r>
          </a:p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en-US" altLang="zh-CN" dirty="0"/>
              <a:t>        </a:t>
            </a:r>
            <a:r>
              <a:rPr lang="en-US" altLang="zh-CN" dirty="0">
                <a:solidFill>
                  <a:schemeClr val="tx1"/>
                </a:solidFill>
              </a:rPr>
              <a:t>OF=SF,ZF=0</a:t>
            </a:r>
            <a:r>
              <a:rPr lang="zh-CN" altLang="en-US" dirty="0">
                <a:solidFill>
                  <a:schemeClr val="tx1"/>
                </a:solidFill>
              </a:rPr>
              <a:t>        </a:t>
            </a:r>
            <a:r>
              <a:rPr lang="en-US" altLang="zh-CN" dirty="0">
                <a:solidFill>
                  <a:schemeClr val="tx1"/>
                </a:solidFill>
              </a:rPr>
              <a:t>AX </a:t>
            </a:r>
            <a:r>
              <a:rPr lang="en-US" altLang="zh-CN" dirty="0">
                <a:solidFill>
                  <a:schemeClr val="tx1"/>
                </a:solidFill>
                <a:cs typeface="Arial" charset="0"/>
              </a:rPr>
              <a:t>&gt; BX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</a:p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 OF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dirty="0">
                <a:solidFill>
                  <a:schemeClr val="tx1"/>
                </a:solidFill>
              </a:rPr>
              <a:t>SF,ZF=0</a:t>
            </a:r>
            <a:r>
              <a:rPr lang="zh-CN" altLang="en-US" dirty="0">
                <a:solidFill>
                  <a:schemeClr val="tx1"/>
                </a:solidFill>
              </a:rPr>
              <a:t>        </a:t>
            </a:r>
            <a:r>
              <a:rPr lang="en-US" altLang="zh-CN" dirty="0">
                <a:solidFill>
                  <a:schemeClr val="tx1"/>
                </a:solidFill>
              </a:rPr>
              <a:t>AX </a:t>
            </a:r>
            <a:r>
              <a:rPr lang="en-US" altLang="zh-CN" dirty="0">
                <a:solidFill>
                  <a:schemeClr val="tx1"/>
                </a:solidFill>
                <a:cs typeface="Arial" charset="0"/>
              </a:rPr>
              <a:t>&lt; BX</a:t>
            </a:r>
          </a:p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chemeClr val="tx1"/>
                </a:solidFill>
                <a:cs typeface="Arial" charset="0"/>
              </a:rPr>
              <a:t>        ZF=1                     AX=BX</a:t>
            </a:r>
          </a:p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dirty="0">
                <a:solidFill>
                  <a:schemeClr val="tx1"/>
                </a:solidFill>
                <a:cs typeface="Arial" charset="0"/>
              </a:rPr>
              <a:t>有专门的判断带符号数大小的指令：</a:t>
            </a:r>
            <a:endParaRPr lang="en-US" altLang="zh-CN" dirty="0">
              <a:solidFill>
                <a:schemeClr val="tx1"/>
              </a:solidFill>
              <a:cs typeface="Arial" charset="0"/>
            </a:endParaRPr>
          </a:p>
          <a:p>
            <a:pPr eaLnBrk="1" hangingPunct="1">
              <a:lnSpc>
                <a:spcPct val="115000"/>
              </a:lnSpc>
              <a:buNone/>
            </a:pPr>
            <a:r>
              <a:rPr lang="en-US" altLang="zh-CN" dirty="0"/>
              <a:t>      JG/JGE/JL/JLE</a:t>
            </a:r>
          </a:p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endParaRPr lang="zh-CN" altLang="en-US" dirty="0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98660" name="AutoShape 4"/>
          <p:cNvSpPr>
            <a:spLocks/>
          </p:cNvSpPr>
          <p:nvPr/>
        </p:nvSpPr>
        <p:spPr bwMode="auto">
          <a:xfrm>
            <a:off x="1835696" y="2708920"/>
            <a:ext cx="144438" cy="1512167"/>
          </a:xfrm>
          <a:prstGeom prst="leftBrace">
            <a:avLst>
              <a:gd name="adj1" fmla="val 29167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8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8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8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8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8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98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8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8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6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F0078ED-BECF-4D46-B8F7-ECFBD06F6D66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84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CMP</a:t>
            </a:r>
            <a:r>
              <a:rPr lang="zh-CN" altLang="en-US" dirty="0"/>
              <a:t>指令示例</a:t>
            </a:r>
          </a:p>
        </p:txBody>
      </p:sp>
      <p:sp>
        <p:nvSpPr>
          <p:cNvPr id="171012" name="Rectangle 4"/>
          <p:cNvSpPr>
            <a:spLocks noChangeArrowheads="1"/>
          </p:cNvSpPr>
          <p:nvPr/>
        </p:nvSpPr>
        <p:spPr bwMode="auto">
          <a:xfrm>
            <a:off x="5778500" y="2600325"/>
            <a:ext cx="1600200" cy="3352800"/>
          </a:xfrm>
          <a:prstGeom prst="rect">
            <a:avLst/>
          </a:prstGeom>
          <a:solidFill>
            <a:srgbClr val="339966"/>
          </a:solidFill>
          <a:ln w="25400" cap="sq">
            <a:solidFill>
              <a:srgbClr val="339966"/>
            </a:solidFill>
            <a:miter lim="800000"/>
            <a:headEnd type="none" w="sm" len="sm"/>
            <a:tailEnd type="none" w="lg" len="lg"/>
          </a:ln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71013" name="Line 5"/>
          <p:cNvSpPr>
            <a:spLocks noChangeShapeType="1"/>
          </p:cNvSpPr>
          <p:nvPr/>
        </p:nvSpPr>
        <p:spPr bwMode="auto">
          <a:xfrm>
            <a:off x="5778500" y="3003550"/>
            <a:ext cx="1600200" cy="0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14" name="Line 6"/>
          <p:cNvSpPr>
            <a:spLocks noChangeShapeType="1"/>
          </p:cNvSpPr>
          <p:nvPr/>
        </p:nvSpPr>
        <p:spPr bwMode="auto">
          <a:xfrm>
            <a:off x="5778500" y="3384550"/>
            <a:ext cx="1600200" cy="0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15" name="Line 7"/>
          <p:cNvSpPr>
            <a:spLocks noChangeShapeType="1"/>
          </p:cNvSpPr>
          <p:nvPr/>
        </p:nvSpPr>
        <p:spPr bwMode="auto">
          <a:xfrm>
            <a:off x="5778500" y="3765550"/>
            <a:ext cx="1600200" cy="0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16" name="Line 8"/>
          <p:cNvSpPr>
            <a:spLocks noChangeShapeType="1"/>
          </p:cNvSpPr>
          <p:nvPr/>
        </p:nvSpPr>
        <p:spPr bwMode="auto">
          <a:xfrm>
            <a:off x="5778500" y="4832350"/>
            <a:ext cx="1600200" cy="0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17" name="Line 9"/>
          <p:cNvSpPr>
            <a:spLocks noChangeShapeType="1"/>
          </p:cNvSpPr>
          <p:nvPr/>
        </p:nvSpPr>
        <p:spPr bwMode="auto">
          <a:xfrm>
            <a:off x="5778500" y="5213350"/>
            <a:ext cx="1600200" cy="0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18" name="Line 10"/>
          <p:cNvSpPr>
            <a:spLocks noChangeShapeType="1"/>
          </p:cNvSpPr>
          <p:nvPr/>
        </p:nvSpPr>
        <p:spPr bwMode="auto">
          <a:xfrm>
            <a:off x="5778500" y="5953125"/>
            <a:ext cx="1600200" cy="0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19" name="Line 11"/>
          <p:cNvSpPr>
            <a:spLocks noChangeShapeType="1"/>
          </p:cNvSpPr>
          <p:nvPr/>
        </p:nvSpPr>
        <p:spPr bwMode="auto">
          <a:xfrm flipH="1">
            <a:off x="5778500" y="2111375"/>
            <a:ext cx="17463" cy="4473575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20" name="Line 12"/>
          <p:cNvSpPr>
            <a:spLocks noChangeShapeType="1"/>
          </p:cNvSpPr>
          <p:nvPr/>
        </p:nvSpPr>
        <p:spPr bwMode="auto">
          <a:xfrm flipH="1">
            <a:off x="7378700" y="2182813"/>
            <a:ext cx="1588" cy="4402137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21" name="Freeform 13"/>
          <p:cNvSpPr>
            <a:spLocks/>
          </p:cNvSpPr>
          <p:nvPr/>
        </p:nvSpPr>
        <p:spPr bwMode="auto">
          <a:xfrm>
            <a:off x="5748338" y="6402388"/>
            <a:ext cx="1631950" cy="388937"/>
          </a:xfrm>
          <a:custGeom>
            <a:avLst/>
            <a:gdLst>
              <a:gd name="T0" fmla="*/ 0 w 1028"/>
              <a:gd name="T1" fmla="*/ 2147483647 h 245"/>
              <a:gd name="T2" fmla="*/ 2147483647 w 1028"/>
              <a:gd name="T3" fmla="*/ 2147483647 h 245"/>
              <a:gd name="T4" fmla="*/ 2147483647 w 1028"/>
              <a:gd name="T5" fmla="*/ 2147483647 h 245"/>
              <a:gd name="T6" fmla="*/ 2147483647 w 1028"/>
              <a:gd name="T7" fmla="*/ 2147483647 h 245"/>
              <a:gd name="T8" fmla="*/ 2147483647 w 1028"/>
              <a:gd name="T9" fmla="*/ 2147483647 h 245"/>
              <a:gd name="T10" fmla="*/ 2147483647 w 1028"/>
              <a:gd name="T11" fmla="*/ 2147483647 h 245"/>
              <a:gd name="T12" fmla="*/ 2147483647 w 1028"/>
              <a:gd name="T13" fmla="*/ 0 h 245"/>
              <a:gd name="T14" fmla="*/ 2147483647 w 1028"/>
              <a:gd name="T15" fmla="*/ 2147483647 h 245"/>
              <a:gd name="T16" fmla="*/ 2147483647 w 1028"/>
              <a:gd name="T17" fmla="*/ 2147483647 h 245"/>
              <a:gd name="T18" fmla="*/ 2147483647 w 1028"/>
              <a:gd name="T19" fmla="*/ 2147483647 h 245"/>
              <a:gd name="T20" fmla="*/ 2147483647 w 1028"/>
              <a:gd name="T21" fmla="*/ 2147483647 h 245"/>
              <a:gd name="T22" fmla="*/ 2147483647 w 1028"/>
              <a:gd name="T23" fmla="*/ 2147483647 h 245"/>
              <a:gd name="T24" fmla="*/ 2147483647 w 1028"/>
              <a:gd name="T25" fmla="*/ 2147483647 h 245"/>
              <a:gd name="T26" fmla="*/ 2147483647 w 1028"/>
              <a:gd name="T27" fmla="*/ 2147483647 h 245"/>
              <a:gd name="T28" fmla="*/ 2147483647 w 1028"/>
              <a:gd name="T29" fmla="*/ 2147483647 h 245"/>
              <a:gd name="T30" fmla="*/ 2147483647 w 1028"/>
              <a:gd name="T31" fmla="*/ 2147483647 h 245"/>
              <a:gd name="T32" fmla="*/ 2147483647 w 1028"/>
              <a:gd name="T33" fmla="*/ 2147483647 h 245"/>
              <a:gd name="T34" fmla="*/ 2147483647 w 1028"/>
              <a:gd name="T35" fmla="*/ 2147483647 h 245"/>
              <a:gd name="T36" fmla="*/ 2147483647 w 1028"/>
              <a:gd name="T37" fmla="*/ 2147483647 h 24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028"/>
              <a:gd name="T58" fmla="*/ 0 h 245"/>
              <a:gd name="T59" fmla="*/ 1028 w 1028"/>
              <a:gd name="T60" fmla="*/ 245 h 245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028" h="245">
                <a:moveTo>
                  <a:pt x="0" y="140"/>
                </a:moveTo>
                <a:cubicBezTo>
                  <a:pt x="14" y="125"/>
                  <a:pt x="32" y="100"/>
                  <a:pt x="49" y="90"/>
                </a:cubicBezTo>
                <a:cubicBezTo>
                  <a:pt x="56" y="85"/>
                  <a:pt x="66" y="86"/>
                  <a:pt x="74" y="82"/>
                </a:cubicBezTo>
                <a:cubicBezTo>
                  <a:pt x="83" y="78"/>
                  <a:pt x="91" y="71"/>
                  <a:pt x="99" y="66"/>
                </a:cubicBezTo>
                <a:cubicBezTo>
                  <a:pt x="102" y="58"/>
                  <a:pt x="101" y="47"/>
                  <a:pt x="107" y="41"/>
                </a:cubicBezTo>
                <a:cubicBezTo>
                  <a:pt x="113" y="35"/>
                  <a:pt x="124" y="37"/>
                  <a:pt x="131" y="33"/>
                </a:cubicBezTo>
                <a:cubicBezTo>
                  <a:pt x="146" y="24"/>
                  <a:pt x="158" y="10"/>
                  <a:pt x="173" y="0"/>
                </a:cubicBezTo>
                <a:cubicBezTo>
                  <a:pt x="275" y="5"/>
                  <a:pt x="342" y="13"/>
                  <a:pt x="436" y="24"/>
                </a:cubicBezTo>
                <a:cubicBezTo>
                  <a:pt x="455" y="29"/>
                  <a:pt x="478" y="28"/>
                  <a:pt x="494" y="41"/>
                </a:cubicBezTo>
                <a:cubicBezTo>
                  <a:pt x="547" y="84"/>
                  <a:pt x="472" y="54"/>
                  <a:pt x="535" y="74"/>
                </a:cubicBezTo>
                <a:cubicBezTo>
                  <a:pt x="617" y="129"/>
                  <a:pt x="492" y="49"/>
                  <a:pt x="592" y="99"/>
                </a:cubicBezTo>
                <a:cubicBezTo>
                  <a:pt x="599" y="102"/>
                  <a:pt x="602" y="111"/>
                  <a:pt x="609" y="115"/>
                </a:cubicBezTo>
                <a:cubicBezTo>
                  <a:pt x="616" y="119"/>
                  <a:pt x="625" y="120"/>
                  <a:pt x="633" y="123"/>
                </a:cubicBezTo>
                <a:cubicBezTo>
                  <a:pt x="639" y="129"/>
                  <a:pt x="646" y="133"/>
                  <a:pt x="650" y="140"/>
                </a:cubicBezTo>
                <a:cubicBezTo>
                  <a:pt x="654" y="147"/>
                  <a:pt x="652" y="158"/>
                  <a:pt x="658" y="164"/>
                </a:cubicBezTo>
                <a:cubicBezTo>
                  <a:pt x="665" y="171"/>
                  <a:pt x="720" y="193"/>
                  <a:pt x="732" y="197"/>
                </a:cubicBezTo>
                <a:cubicBezTo>
                  <a:pt x="802" y="245"/>
                  <a:pt x="909" y="214"/>
                  <a:pt x="987" y="197"/>
                </a:cubicBezTo>
                <a:cubicBezTo>
                  <a:pt x="1008" y="178"/>
                  <a:pt x="1019" y="167"/>
                  <a:pt x="1028" y="140"/>
                </a:cubicBezTo>
                <a:cubicBezTo>
                  <a:pt x="1019" y="104"/>
                  <a:pt x="1020" y="96"/>
                  <a:pt x="1020" y="115"/>
                </a:cubicBezTo>
              </a:path>
            </a:pathLst>
          </a:custGeom>
          <a:noFill/>
          <a:ln w="25400" cap="sq">
            <a:solidFill>
              <a:schemeClr val="accent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22" name="Freeform 14"/>
          <p:cNvSpPr>
            <a:spLocks/>
          </p:cNvSpPr>
          <p:nvPr/>
        </p:nvSpPr>
        <p:spPr bwMode="auto">
          <a:xfrm>
            <a:off x="5773738" y="1916113"/>
            <a:ext cx="1606550" cy="339725"/>
          </a:xfrm>
          <a:custGeom>
            <a:avLst/>
            <a:gdLst>
              <a:gd name="T0" fmla="*/ 0 w 1012"/>
              <a:gd name="T1" fmla="*/ 2147483647 h 214"/>
              <a:gd name="T2" fmla="*/ 2147483647 w 1012"/>
              <a:gd name="T3" fmla="*/ 2147483647 h 214"/>
              <a:gd name="T4" fmla="*/ 2147483647 w 1012"/>
              <a:gd name="T5" fmla="*/ 2147483647 h 214"/>
              <a:gd name="T6" fmla="*/ 2147483647 w 1012"/>
              <a:gd name="T7" fmla="*/ 0 h 214"/>
              <a:gd name="T8" fmla="*/ 2147483647 w 1012"/>
              <a:gd name="T9" fmla="*/ 2147483647 h 214"/>
              <a:gd name="T10" fmla="*/ 2147483647 w 1012"/>
              <a:gd name="T11" fmla="*/ 2147483647 h 214"/>
              <a:gd name="T12" fmla="*/ 2147483647 w 1012"/>
              <a:gd name="T13" fmla="*/ 2147483647 h 214"/>
              <a:gd name="T14" fmla="*/ 2147483647 w 1012"/>
              <a:gd name="T15" fmla="*/ 2147483647 h 214"/>
              <a:gd name="T16" fmla="*/ 2147483647 w 1012"/>
              <a:gd name="T17" fmla="*/ 2147483647 h 214"/>
              <a:gd name="T18" fmla="*/ 2147483647 w 1012"/>
              <a:gd name="T19" fmla="*/ 2147483647 h 214"/>
              <a:gd name="T20" fmla="*/ 2147483647 w 1012"/>
              <a:gd name="T21" fmla="*/ 2147483647 h 214"/>
              <a:gd name="T22" fmla="*/ 2147483647 w 1012"/>
              <a:gd name="T23" fmla="*/ 2147483647 h 214"/>
              <a:gd name="T24" fmla="*/ 2147483647 w 1012"/>
              <a:gd name="T25" fmla="*/ 2147483647 h 214"/>
              <a:gd name="T26" fmla="*/ 2147483647 w 1012"/>
              <a:gd name="T27" fmla="*/ 2147483647 h 21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012"/>
              <a:gd name="T43" fmla="*/ 0 h 214"/>
              <a:gd name="T44" fmla="*/ 1012 w 1012"/>
              <a:gd name="T45" fmla="*/ 214 h 214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012" h="214">
                <a:moveTo>
                  <a:pt x="0" y="115"/>
                </a:moveTo>
                <a:cubicBezTo>
                  <a:pt x="29" y="88"/>
                  <a:pt x="10" y="79"/>
                  <a:pt x="50" y="66"/>
                </a:cubicBezTo>
                <a:cubicBezTo>
                  <a:pt x="72" y="51"/>
                  <a:pt x="91" y="29"/>
                  <a:pt x="115" y="17"/>
                </a:cubicBezTo>
                <a:cubicBezTo>
                  <a:pt x="131" y="9"/>
                  <a:pt x="148" y="6"/>
                  <a:pt x="165" y="0"/>
                </a:cubicBezTo>
                <a:cubicBezTo>
                  <a:pt x="229" y="8"/>
                  <a:pt x="292" y="13"/>
                  <a:pt x="354" y="33"/>
                </a:cubicBezTo>
                <a:cubicBezTo>
                  <a:pt x="394" y="73"/>
                  <a:pt x="449" y="81"/>
                  <a:pt x="502" y="99"/>
                </a:cubicBezTo>
                <a:cubicBezTo>
                  <a:pt x="525" y="121"/>
                  <a:pt x="529" y="158"/>
                  <a:pt x="560" y="173"/>
                </a:cubicBezTo>
                <a:cubicBezTo>
                  <a:pt x="578" y="182"/>
                  <a:pt x="598" y="185"/>
                  <a:pt x="617" y="190"/>
                </a:cubicBezTo>
                <a:cubicBezTo>
                  <a:pt x="631" y="194"/>
                  <a:pt x="645" y="194"/>
                  <a:pt x="659" y="198"/>
                </a:cubicBezTo>
                <a:cubicBezTo>
                  <a:pt x="676" y="202"/>
                  <a:pt x="708" y="214"/>
                  <a:pt x="708" y="214"/>
                </a:cubicBezTo>
                <a:cubicBezTo>
                  <a:pt x="774" y="208"/>
                  <a:pt x="831" y="196"/>
                  <a:pt x="897" y="190"/>
                </a:cubicBezTo>
                <a:cubicBezTo>
                  <a:pt x="930" y="178"/>
                  <a:pt x="963" y="176"/>
                  <a:pt x="996" y="165"/>
                </a:cubicBezTo>
                <a:cubicBezTo>
                  <a:pt x="1001" y="159"/>
                  <a:pt x="1012" y="156"/>
                  <a:pt x="1012" y="148"/>
                </a:cubicBezTo>
                <a:cubicBezTo>
                  <a:pt x="1012" y="108"/>
                  <a:pt x="975" y="136"/>
                  <a:pt x="1012" y="115"/>
                </a:cubicBezTo>
              </a:path>
            </a:pathLst>
          </a:custGeom>
          <a:noFill/>
          <a:ln w="25400" cap="sq">
            <a:solidFill>
              <a:schemeClr val="accent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23" name="Line 15"/>
          <p:cNvSpPr>
            <a:spLocks noChangeShapeType="1"/>
          </p:cNvSpPr>
          <p:nvPr/>
        </p:nvSpPr>
        <p:spPr bwMode="auto">
          <a:xfrm>
            <a:off x="5778500" y="2600325"/>
            <a:ext cx="1600200" cy="0"/>
          </a:xfrm>
          <a:prstGeom prst="line">
            <a:avLst/>
          </a:prstGeom>
          <a:noFill/>
          <a:ln w="25400" cap="sq">
            <a:solidFill>
              <a:schemeClr val="accent1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24" name="Text Box 16"/>
          <p:cNvSpPr txBox="1">
            <a:spLocks noChangeArrowheads="1"/>
          </p:cNvSpPr>
          <p:nvPr/>
        </p:nvSpPr>
        <p:spPr bwMode="auto">
          <a:xfrm>
            <a:off x="6311900" y="206692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┇</a:t>
            </a:r>
            <a:r>
              <a:rPr kumimoji="1" lang="en-US" altLang="zh-CN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sp>
        <p:nvSpPr>
          <p:cNvPr id="171025" name="Text Box 17"/>
          <p:cNvSpPr txBox="1">
            <a:spLocks noChangeArrowheads="1"/>
          </p:cNvSpPr>
          <p:nvPr/>
        </p:nvSpPr>
        <p:spPr bwMode="auto">
          <a:xfrm>
            <a:off x="6311900" y="602932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┇</a:t>
            </a:r>
            <a:r>
              <a:rPr kumimoji="1" lang="en-US" altLang="zh-CN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sp>
        <p:nvSpPr>
          <p:cNvPr id="171026" name="Text Box 18"/>
          <p:cNvSpPr txBox="1">
            <a:spLocks noChangeArrowheads="1"/>
          </p:cNvSpPr>
          <p:nvPr/>
        </p:nvSpPr>
        <p:spPr bwMode="auto">
          <a:xfrm>
            <a:off x="6311900" y="404812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┇</a:t>
            </a:r>
            <a:r>
              <a:rPr kumimoji="1" lang="en-US" altLang="zh-CN" sz="24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sp>
        <p:nvSpPr>
          <p:cNvPr id="171027" name="Text Box 19"/>
          <p:cNvSpPr txBox="1">
            <a:spLocks noChangeArrowheads="1"/>
          </p:cNvSpPr>
          <p:nvPr/>
        </p:nvSpPr>
        <p:spPr bwMode="auto">
          <a:xfrm>
            <a:off x="4762500" y="4759325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MAX</a:t>
            </a:r>
          </a:p>
        </p:txBody>
      </p:sp>
      <p:sp>
        <p:nvSpPr>
          <p:cNvPr id="171028" name="Text Box 20"/>
          <p:cNvSpPr txBox="1">
            <a:spLocks noChangeArrowheads="1"/>
          </p:cNvSpPr>
          <p:nvPr/>
        </p:nvSpPr>
        <p:spPr bwMode="auto">
          <a:xfrm>
            <a:off x="4864100" y="2549525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BUF</a:t>
            </a:r>
          </a:p>
        </p:txBody>
      </p:sp>
      <p:sp>
        <p:nvSpPr>
          <p:cNvPr id="171029" name="Text Box 21"/>
          <p:cNvSpPr txBox="1">
            <a:spLocks noChangeArrowheads="1"/>
          </p:cNvSpPr>
          <p:nvPr/>
        </p:nvSpPr>
        <p:spPr bwMode="auto">
          <a:xfrm>
            <a:off x="6146800" y="2574925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XXH</a:t>
            </a:r>
          </a:p>
        </p:txBody>
      </p:sp>
      <p:sp>
        <p:nvSpPr>
          <p:cNvPr id="171030" name="Text Box 22"/>
          <p:cNvSpPr txBox="1">
            <a:spLocks noChangeArrowheads="1"/>
          </p:cNvSpPr>
          <p:nvPr/>
        </p:nvSpPr>
        <p:spPr bwMode="auto">
          <a:xfrm>
            <a:off x="6159500" y="2981325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XXH</a:t>
            </a:r>
          </a:p>
        </p:txBody>
      </p:sp>
      <p:sp>
        <p:nvSpPr>
          <p:cNvPr id="171031" name="Text Box 23"/>
          <p:cNvSpPr txBox="1">
            <a:spLocks noChangeArrowheads="1"/>
          </p:cNvSpPr>
          <p:nvPr/>
        </p:nvSpPr>
        <p:spPr bwMode="auto">
          <a:xfrm>
            <a:off x="6159500" y="3362325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XXH</a:t>
            </a:r>
          </a:p>
        </p:txBody>
      </p:sp>
      <p:sp>
        <p:nvSpPr>
          <p:cNvPr id="171032" name="Text Box 24"/>
          <p:cNvSpPr txBox="1">
            <a:spLocks noChangeArrowheads="1"/>
          </p:cNvSpPr>
          <p:nvPr/>
        </p:nvSpPr>
        <p:spPr bwMode="auto">
          <a:xfrm>
            <a:off x="1331641" y="3141663"/>
            <a:ext cx="3151460" cy="1366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在20个无符号数中</a:t>
            </a:r>
            <a:r>
              <a:rPr kumimoji="1" lang="zh-CN" altLang="en-US" sz="2400" dirty="0">
                <a:solidFill>
                  <a:schemeClr val="tx1"/>
                </a:solidFill>
                <a:ea typeface="宋体" pitchFamily="2" charset="-122"/>
              </a:rPr>
              <a:t>找出</a:t>
            </a:r>
            <a:r>
              <a:rPr kumimoji="1" lang="zh-CN" altLang="en-US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最大的数，并将其存放在</a:t>
            </a:r>
            <a:r>
              <a:rPr kumimoji="1"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MAX</a:t>
            </a:r>
            <a:r>
              <a:rPr kumimoji="1" lang="zh-CN" altLang="en-US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单元中。</a:t>
            </a:r>
          </a:p>
        </p:txBody>
      </p:sp>
      <p:cxnSp>
        <p:nvCxnSpPr>
          <p:cNvPr id="171034" name="AutoShape 26"/>
          <p:cNvCxnSpPr>
            <a:cxnSpLocks noChangeShapeType="1"/>
          </p:cNvCxnSpPr>
          <p:nvPr/>
        </p:nvCxnSpPr>
        <p:spPr bwMode="auto">
          <a:xfrm rot="16200000" flipH="1">
            <a:off x="3374232" y="3761581"/>
            <a:ext cx="234950" cy="2160587"/>
          </a:xfrm>
          <a:prstGeom prst="bentConnector2">
            <a:avLst/>
          </a:prstGeom>
          <a:noFill/>
          <a:ln w="25400" cap="sq">
            <a:solidFill>
              <a:srgbClr val="FF6600"/>
            </a:solidFill>
            <a:miter lim="800000"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1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1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1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1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1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1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1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1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1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1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1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1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1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1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1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1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1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1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1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1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1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1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1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1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7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7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7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7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2" dur="500"/>
                                        <p:tgtEl>
                                          <p:spTgt spid="17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2" grpId="0" animBg="1"/>
      <p:bldP spid="171013" grpId="0" animBg="1"/>
      <p:bldP spid="171014" grpId="0" animBg="1"/>
      <p:bldP spid="171015" grpId="0" animBg="1"/>
      <p:bldP spid="171016" grpId="0" animBg="1"/>
      <p:bldP spid="171017" grpId="0" animBg="1"/>
      <p:bldP spid="171018" grpId="0" animBg="1"/>
      <p:bldP spid="171019" grpId="0" animBg="1"/>
      <p:bldP spid="171020" grpId="0" animBg="1"/>
      <p:bldP spid="171021" grpId="0" animBg="1"/>
      <p:bldP spid="171022" grpId="0" animBg="1"/>
      <p:bldP spid="171023" grpId="0" animBg="1"/>
      <p:bldP spid="171024" grpId="0"/>
      <p:bldP spid="171025" grpId="0"/>
      <p:bldP spid="171026" grpId="0"/>
      <p:bldP spid="171027" grpId="0"/>
      <p:bldP spid="171028" grpId="0"/>
      <p:bldP spid="171029" grpId="0"/>
      <p:bldP spid="171030" grpId="0"/>
      <p:bldP spid="171031" grpId="0"/>
      <p:bldP spid="171032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70C5A7E-E742-4529-BE6B-6154A8809EFE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85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003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b="1" dirty="0"/>
              <a:t>实现程序</a:t>
            </a:r>
            <a:endParaRPr lang="zh-CN" altLang="en-US" dirty="0"/>
          </a:p>
        </p:txBody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2109788"/>
            <a:ext cx="5329237" cy="43434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         </a:t>
            </a:r>
            <a:r>
              <a:rPr lang="en-US" altLang="zh-CN" sz="2400" dirty="0"/>
              <a:t>LEA EBX，MAX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             LEA ESI，BUF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             MOV CL，20-1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             MOV AL，[ESI]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NEXT：INC   ESI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             CMP AL，[ESI]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             JNC  GOON</a:t>
            </a:r>
            <a:r>
              <a:rPr lang="en-US" altLang="zh-CN" dirty="0"/>
              <a:t>    </a:t>
            </a:r>
            <a:r>
              <a:rPr lang="en-US" altLang="zh-CN" sz="2000" dirty="0">
                <a:solidFill>
                  <a:srgbClr val="A50021"/>
                </a:solidFill>
              </a:rPr>
              <a:t>；CF=0</a:t>
            </a:r>
            <a:r>
              <a:rPr lang="zh-CN" altLang="en-US" sz="2000" dirty="0">
                <a:solidFill>
                  <a:srgbClr val="A50021"/>
                </a:solidFill>
              </a:rPr>
              <a:t>转移</a:t>
            </a:r>
            <a:endParaRPr lang="zh-CN" altLang="en-US" dirty="0">
              <a:solidFill>
                <a:srgbClr val="A50021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         </a:t>
            </a:r>
            <a:r>
              <a:rPr lang="en-US" altLang="zh-CN" sz="2400" dirty="0"/>
              <a:t>MOV  AL, [ESI]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400" dirty="0"/>
          </a:p>
        </p:txBody>
      </p:sp>
      <p:sp>
        <p:nvSpPr>
          <p:cNvPr id="100357" name="Rectangle 4"/>
          <p:cNvSpPr>
            <a:spLocks noChangeArrowheads="1"/>
          </p:cNvSpPr>
          <p:nvPr/>
        </p:nvSpPr>
        <p:spPr bwMode="auto">
          <a:xfrm>
            <a:off x="5158929" y="2138358"/>
            <a:ext cx="3785046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GOON：DEC  CL</a:t>
            </a:r>
          </a:p>
          <a:p>
            <a:pPr eaLnBrk="1" hangingPunct="1"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               JNZ  NEXT</a:t>
            </a:r>
          </a:p>
          <a:p>
            <a:pPr eaLnBrk="1" hangingPunct="1"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               MOV [EBX]，AL</a:t>
            </a:r>
          </a:p>
          <a:p>
            <a:pPr eaLnBrk="1" hangingPunct="1"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>
                <a:solidFill>
                  <a:schemeClr val="tx1"/>
                </a:solidFill>
                <a:latin typeface="Arial" charset="0"/>
                <a:ea typeface="宋体" pitchFamily="2" charset="-122"/>
              </a:rPr>
              <a:t>             </a:t>
            </a:r>
            <a:endParaRPr kumimoji="1" lang="en-US" altLang="zh-CN" sz="2400" dirty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00358" name="Line 5"/>
          <p:cNvSpPr>
            <a:spLocks noChangeShapeType="1"/>
          </p:cNvSpPr>
          <p:nvPr/>
        </p:nvSpPr>
        <p:spPr bwMode="auto">
          <a:xfrm>
            <a:off x="5148064" y="1844675"/>
            <a:ext cx="0" cy="5013325"/>
          </a:xfrm>
          <a:prstGeom prst="line">
            <a:avLst/>
          </a:prstGeom>
          <a:noFill/>
          <a:ln w="25400">
            <a:solidFill>
              <a:srgbClr val="FF6600"/>
            </a:solidFill>
            <a:prstDash val="dashDot"/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CC866473-103B-42ED-A3A2-A9BBCB6C9868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86</a:t>
            </a:fld>
            <a:endParaRPr lang="en-US" altLang="zh-CN" sz="1400" b="0" dirty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024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三、乘法指令</a:t>
            </a:r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36738" y="2060575"/>
            <a:ext cx="5105400" cy="1511300"/>
          </a:xfrm>
        </p:spPr>
        <p:txBody>
          <a:bodyPr/>
          <a:lstStyle/>
          <a:p>
            <a:pPr eaLnBrk="1" hangingPunct="1">
              <a:spcAft>
                <a:spcPct val="30000"/>
              </a:spcAft>
              <a:buFont typeface="Wingdings" pitchFamily="2" charset="2"/>
              <a:buNone/>
            </a:pPr>
            <a:r>
              <a:rPr lang="zh-CN" altLang="en-US"/>
              <a:t>无符号的乘法指令</a:t>
            </a:r>
            <a:r>
              <a:rPr lang="en-US" altLang="zh-CN"/>
              <a:t>MUL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/>
              <a:t>带符号的乘法指令</a:t>
            </a:r>
            <a:r>
              <a:rPr lang="en-US" altLang="zh-CN"/>
              <a:t>IMUL</a:t>
            </a:r>
            <a:endParaRPr lang="zh-CN" altLang="en-US"/>
          </a:p>
        </p:txBody>
      </p:sp>
      <p:sp>
        <p:nvSpPr>
          <p:cNvPr id="166916" name="AutoShape 4"/>
          <p:cNvSpPr>
            <a:spLocks/>
          </p:cNvSpPr>
          <p:nvPr/>
        </p:nvSpPr>
        <p:spPr bwMode="auto">
          <a:xfrm>
            <a:off x="1619250" y="2235200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66917" name="Text Box 5"/>
          <p:cNvSpPr txBox="1">
            <a:spLocks noChangeArrowheads="1"/>
          </p:cNvSpPr>
          <p:nvPr/>
        </p:nvSpPr>
        <p:spPr bwMode="auto">
          <a:xfrm>
            <a:off x="0" y="3323684"/>
            <a:ext cx="8943975" cy="314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marL="261938" indent="-261938" defTabSz="900113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15963" indent="-274638" defTabSz="900113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defTabSz="900113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defTabSz="900113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defTabSz="900113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defTabSz="9001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defTabSz="9001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defTabSz="9001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defTabSz="9001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spcAft>
                <a:spcPct val="15000"/>
              </a:spcAft>
              <a:buClr>
                <a:schemeClr val="tx2"/>
              </a:buClr>
            </a:pPr>
            <a:r>
              <a:rPr kumimoji="1" lang="zh-CN" altLang="en-US" dirty="0">
                <a:latin typeface="Times New Roman" pitchFamily="18" charset="0"/>
                <a:ea typeface="宋体" pitchFamily="2" charset="-122"/>
              </a:rPr>
              <a:t>注意点：</a:t>
            </a:r>
          </a:p>
          <a:p>
            <a:pPr lvl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60000"/>
            </a:pPr>
            <a:r>
              <a:rPr kumimoji="1" lang="zh-CN" altLang="en-US" dirty="0">
                <a:latin typeface="楷体_GB2312" pitchFamily="49" charset="-122"/>
              </a:rPr>
              <a:t>运算结果长度是乘数的两倍，即</a:t>
            </a:r>
            <a:r>
              <a:rPr kumimoji="1" lang="en-US" altLang="zh-CN" dirty="0">
                <a:latin typeface="楷体_GB2312" pitchFamily="49" charset="-122"/>
              </a:rPr>
              <a:t>8</a:t>
            </a:r>
            <a:r>
              <a:rPr kumimoji="1" lang="zh-CN" altLang="en-US" dirty="0">
                <a:latin typeface="楷体_GB2312" pitchFamily="49" charset="-122"/>
              </a:rPr>
              <a:t>位</a:t>
            </a:r>
            <a:r>
              <a:rPr kumimoji="1" lang="en-US" altLang="zh-CN" dirty="0">
                <a:latin typeface="楷体_GB2312" pitchFamily="49" charset="-122"/>
              </a:rPr>
              <a:t>-&gt;16</a:t>
            </a:r>
            <a:r>
              <a:rPr kumimoji="1" lang="zh-CN" altLang="en-US" dirty="0">
                <a:latin typeface="楷体_GB2312" pitchFamily="49" charset="-122"/>
              </a:rPr>
              <a:t>位，</a:t>
            </a:r>
            <a:r>
              <a:rPr kumimoji="1" lang="en-US" altLang="zh-CN" dirty="0">
                <a:latin typeface="楷体_GB2312" pitchFamily="49" charset="-122"/>
              </a:rPr>
              <a:t>16</a:t>
            </a:r>
            <a:r>
              <a:rPr kumimoji="1" lang="zh-CN" altLang="en-US" dirty="0">
                <a:latin typeface="楷体_GB2312" pitchFamily="49" charset="-122"/>
              </a:rPr>
              <a:t>位</a:t>
            </a:r>
            <a:r>
              <a:rPr kumimoji="1" lang="en-US" altLang="zh-CN" dirty="0">
                <a:latin typeface="楷体_GB2312" pitchFamily="49" charset="-122"/>
              </a:rPr>
              <a:t>-&gt;32</a:t>
            </a:r>
            <a:r>
              <a:rPr kumimoji="1" lang="zh-CN" altLang="en-US" dirty="0">
                <a:latin typeface="楷体_GB2312" pitchFamily="49" charset="-122"/>
              </a:rPr>
              <a:t>位</a:t>
            </a:r>
            <a:r>
              <a:rPr kumimoji="1" lang="en-US" altLang="zh-CN" dirty="0">
                <a:latin typeface="楷体_GB2312" pitchFamily="49" charset="-122"/>
              </a:rPr>
              <a:t>…</a:t>
            </a:r>
          </a:p>
          <a:p>
            <a:pPr lvl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SzPct val="60000"/>
            </a:pPr>
            <a:r>
              <a:rPr kumimoji="1" lang="zh-CN" altLang="en-US" dirty="0">
                <a:latin typeface="楷体_GB2312" pitchFamily="49" charset="-122"/>
              </a:rPr>
              <a:t>乘法指令采用隐含寻址，隐含的是存放被乘数的累加器</a:t>
            </a:r>
            <a:r>
              <a:rPr kumimoji="1" lang="en-US" altLang="zh-CN" dirty="0">
                <a:latin typeface="楷体_GB2312" pitchFamily="49" charset="-122"/>
              </a:rPr>
              <a:t>AL</a:t>
            </a:r>
            <a:r>
              <a:rPr kumimoji="1" lang="zh-CN" altLang="en-US" dirty="0">
                <a:latin typeface="楷体_GB2312" pitchFamily="49" charset="-122"/>
              </a:rPr>
              <a:t>或</a:t>
            </a:r>
            <a:r>
              <a:rPr kumimoji="1" lang="en-US" altLang="zh-CN" dirty="0">
                <a:latin typeface="楷体_GB2312" pitchFamily="49" charset="-122"/>
              </a:rPr>
              <a:t>AX</a:t>
            </a:r>
            <a:r>
              <a:rPr kumimoji="1" lang="zh-CN" altLang="en-US" dirty="0">
                <a:latin typeface="楷体_GB2312" pitchFamily="49" charset="-122"/>
              </a:rPr>
              <a:t>或</a:t>
            </a:r>
            <a:r>
              <a:rPr kumimoji="1" lang="en-US" altLang="zh-CN" dirty="0">
                <a:latin typeface="楷体_GB2312" pitchFamily="49" charset="-122"/>
              </a:rPr>
              <a:t>EAX</a:t>
            </a:r>
            <a:r>
              <a:rPr kumimoji="1" lang="zh-CN" altLang="en-US" dirty="0">
                <a:latin typeface="楷体_GB2312" pitchFamily="49" charset="-122"/>
              </a:rPr>
              <a:t>及存放结果的</a:t>
            </a:r>
            <a:r>
              <a:rPr kumimoji="1" lang="en-US" altLang="zh-CN" dirty="0">
                <a:latin typeface="楷体_GB2312" pitchFamily="49" charset="-122"/>
              </a:rPr>
              <a:t>AX，DX</a:t>
            </a:r>
            <a:r>
              <a:rPr kumimoji="1" lang="zh-CN" altLang="en-US" dirty="0">
                <a:latin typeface="楷体_GB2312" pitchFamily="49" charset="-122"/>
              </a:rPr>
              <a:t>，</a:t>
            </a:r>
            <a:r>
              <a:rPr kumimoji="1" lang="en-US" altLang="zh-CN" dirty="0">
                <a:latin typeface="楷体_GB2312" pitchFamily="49" charset="-122"/>
              </a:rPr>
              <a:t>EDX；</a:t>
            </a:r>
          </a:p>
          <a:p>
            <a:pPr lvl="1">
              <a:lnSpc>
                <a:spcPct val="120000"/>
              </a:lnSpc>
              <a:spcBef>
                <a:spcPct val="10000"/>
              </a:spcBef>
              <a:spcAft>
                <a:spcPct val="15000"/>
              </a:spcAft>
              <a:buClr>
                <a:srgbClr val="FF0000"/>
              </a:buClr>
              <a:buSzPct val="60000"/>
            </a:pPr>
            <a:r>
              <a:rPr kumimoji="1" lang="zh-CN" altLang="en-US" dirty="0">
                <a:latin typeface="楷体_GB2312" pitchFamily="49" charset="-122"/>
              </a:rPr>
              <a:t>若运算结果的高半部分是</a:t>
            </a:r>
            <a:r>
              <a:rPr kumimoji="1" lang="zh-CN" altLang="en-US" dirty="0">
                <a:solidFill>
                  <a:srgbClr val="FF0000"/>
                </a:solidFill>
                <a:latin typeface="楷体_GB2312" pitchFamily="49" charset="-122"/>
              </a:rPr>
              <a:t>无效数值</a:t>
            </a:r>
            <a:r>
              <a:rPr kumimoji="1" lang="zh-CN" altLang="en-US" dirty="0">
                <a:latin typeface="楷体_GB2312" pitchFamily="49" charset="-122"/>
              </a:rPr>
              <a:t>，则</a:t>
            </a:r>
            <a:r>
              <a:rPr kumimoji="1" lang="en-US" altLang="zh-CN" dirty="0">
                <a:latin typeface="楷体_GB2312" pitchFamily="49" charset="-122"/>
              </a:rPr>
              <a:t>OF=CF=0</a:t>
            </a:r>
            <a:r>
              <a:rPr kumimoji="1" lang="zh-CN" altLang="en-US" dirty="0">
                <a:latin typeface="楷体_GB2312" pitchFamily="49" charset="-122"/>
              </a:rPr>
              <a:t>，否则</a:t>
            </a:r>
            <a:r>
              <a:rPr kumimoji="1" lang="en-US" altLang="zh-CN" dirty="0">
                <a:latin typeface="楷体_GB2312" pitchFamily="49" charset="-122"/>
              </a:rPr>
              <a:t>OF=CF=1</a:t>
            </a:r>
            <a:r>
              <a:rPr kumimoji="1" lang="zh-CN" altLang="en-US" dirty="0">
                <a:latin typeface="楷体_GB2312" pitchFamily="49" charset="-122"/>
              </a:rPr>
              <a:t>。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6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6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69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69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669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6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1. </a:t>
            </a:r>
            <a:r>
              <a:rPr lang="zh-CN" altLang="en-US" dirty="0"/>
              <a:t>无符号数乘法指令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1860F6-BFAC-49E4-A370-39C019CE30B4}" type="slidenum">
              <a:rPr lang="zh-CN" altLang="en-US" smtClean="0"/>
              <a:pPr>
                <a:defRPr/>
              </a:pPr>
              <a:t>87</a:t>
            </a:fld>
            <a:endParaRPr lang="en-US" altLang="zh-CN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251520" y="1971297"/>
            <a:ext cx="8748712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/>
              <a:t>指令格式：</a:t>
            </a:r>
            <a:r>
              <a:rPr lang="zh-CN" altLang="zh-CN" sz="2800" b="1" dirty="0">
                <a:solidFill>
                  <a:srgbClr val="0000CC"/>
                </a:solidFill>
              </a:rPr>
              <a:t>MUL    OPRD</a:t>
            </a:r>
          </a:p>
          <a:p>
            <a:pPr marL="457200" indent="-457200">
              <a:spcBef>
                <a:spcPct val="50000"/>
              </a:spcBef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zh-CN" sz="2400" b="1" dirty="0">
                <a:solidFill>
                  <a:srgbClr val="0000CC"/>
                </a:solidFill>
              </a:rPr>
              <a:t>OPRD</a:t>
            </a:r>
            <a:r>
              <a:rPr lang="zh-CN" altLang="zh-CN" sz="2400" b="1" dirty="0"/>
              <a:t>提供乘法运算的一个操作数，</a:t>
            </a:r>
            <a:r>
              <a:rPr lang="zh-CN" altLang="zh-CN" sz="2400" b="1" dirty="0">
                <a:solidFill>
                  <a:schemeClr val="hlink"/>
                </a:solidFill>
              </a:rPr>
              <a:t>只能是寄存器或存储器操作数</a:t>
            </a:r>
            <a:r>
              <a:rPr lang="zh-CN" altLang="zh-CN" sz="2400" b="1" dirty="0"/>
              <a:t>。</a:t>
            </a:r>
            <a:endParaRPr lang="en-US" altLang="zh-CN" sz="2400" b="1" dirty="0"/>
          </a:p>
          <a:p>
            <a:pPr marL="457200" indent="-457200">
              <a:spcBef>
                <a:spcPct val="50000"/>
              </a:spcBef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/>
              <a:t>指令的</a:t>
            </a:r>
            <a:r>
              <a:rPr lang="zh-CN" altLang="zh-CN" sz="2400" b="1" dirty="0"/>
              <a:t>另一操作数隐含使用AL或AX</a:t>
            </a:r>
            <a:r>
              <a:rPr lang="zh-CN" altLang="en-US" sz="2400" b="1" dirty="0"/>
              <a:t>或</a:t>
            </a:r>
            <a:r>
              <a:rPr lang="en-US" altLang="zh-CN" sz="2400" b="1" dirty="0"/>
              <a:t>EAX</a:t>
            </a:r>
            <a:r>
              <a:rPr lang="zh-CN" altLang="zh-CN" sz="2400" b="1" dirty="0"/>
              <a:t>寄存器。</a:t>
            </a:r>
            <a:endParaRPr lang="en-US" altLang="zh-CN" sz="2400" b="1" dirty="0"/>
          </a:p>
          <a:p>
            <a:pPr marL="457200" indent="-457200">
              <a:spcBef>
                <a:spcPct val="50000"/>
              </a:spcBef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zh-CN" sz="2400" b="1" dirty="0"/>
              <a:t>结果存放在AX</a:t>
            </a:r>
            <a:r>
              <a:rPr lang="en-US" altLang="zh-CN" sz="2400" b="1" dirty="0"/>
              <a:t>(</a:t>
            </a:r>
            <a:r>
              <a:rPr lang="zh-CN" altLang="zh-CN" sz="2400" b="1" dirty="0"/>
              <a:t>字节</a:t>
            </a:r>
            <a:r>
              <a:rPr lang="zh-CN" altLang="en-US" sz="2400" b="1" dirty="0"/>
              <a:t>乘法</a:t>
            </a:r>
            <a:r>
              <a:rPr lang="en-US" altLang="zh-CN" sz="2400" b="1" dirty="0"/>
              <a:t>)</a:t>
            </a:r>
            <a:r>
              <a:rPr lang="zh-CN" altLang="zh-CN" sz="2400" b="1" dirty="0"/>
              <a:t>或DX</a:t>
            </a:r>
            <a:r>
              <a:rPr lang="en-US" altLang="zh-CN" sz="2400" b="1" dirty="0"/>
              <a:t>:</a:t>
            </a:r>
            <a:r>
              <a:rPr lang="zh-CN" altLang="zh-CN" sz="2400" b="1" dirty="0"/>
              <a:t>AX</a:t>
            </a:r>
            <a:r>
              <a:rPr lang="en-US" altLang="zh-CN" sz="2400" b="1" dirty="0"/>
              <a:t>(</a:t>
            </a:r>
            <a:r>
              <a:rPr lang="zh-CN" altLang="zh-CN" sz="2400" b="1" dirty="0"/>
              <a:t>字乘法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或</a:t>
            </a:r>
            <a:r>
              <a:rPr lang="en-US" altLang="zh-CN" sz="2400" b="1" dirty="0"/>
              <a:t>EDX:EAX(</a:t>
            </a:r>
            <a:r>
              <a:rPr lang="zh-CN" altLang="en-US" sz="2400" b="1" dirty="0"/>
              <a:t>双字乘法</a:t>
            </a:r>
            <a:r>
              <a:rPr lang="en-US" altLang="zh-CN" sz="2400" b="1" dirty="0"/>
              <a:t>)</a:t>
            </a:r>
            <a:r>
              <a:rPr lang="zh-CN" altLang="zh-CN" sz="2400" b="1" dirty="0"/>
              <a:t>中。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043608" y="5013176"/>
            <a:ext cx="7056784" cy="1569660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Ø"/>
            </a:pPr>
            <a:r>
              <a:rPr lang="zh-CN" altLang="en-US" sz="2400" b="1" dirty="0"/>
              <a:t>字节运算：</a:t>
            </a:r>
            <a:r>
              <a:rPr lang="zh-CN" altLang="en-US" sz="2400" b="1" dirty="0">
                <a:latin typeface="宋体" pitchFamily="2" charset="-122"/>
              </a:rPr>
              <a:t>AX&lt;=(AL)</a:t>
            </a:r>
            <a:r>
              <a:rPr lang="zh-CN" altLang="en-US" sz="2400" b="1" dirty="0"/>
              <a:t> </a:t>
            </a:r>
            <a:r>
              <a:rPr lang="zh-CN" altLang="en-US" sz="2400" b="1" dirty="0">
                <a:latin typeface="宋体" pitchFamily="2" charset="-122"/>
              </a:rPr>
              <a:t>×(OPRD)</a:t>
            </a:r>
          </a:p>
          <a:p>
            <a:pPr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Ø"/>
            </a:pPr>
            <a:r>
              <a:rPr lang="zh-CN" altLang="en-US" sz="2400" b="1" dirty="0">
                <a:latin typeface="宋体" pitchFamily="2" charset="-122"/>
              </a:rPr>
              <a:t>字运算 ：DX:AX&lt;= (AX)×(OPRD)</a:t>
            </a:r>
            <a:endParaRPr lang="en-US" altLang="zh-CN" sz="2400" b="1" dirty="0">
              <a:latin typeface="宋体" pitchFamily="2" charset="-122"/>
            </a:endParaRPr>
          </a:p>
          <a:p>
            <a:pPr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Ø"/>
            </a:pPr>
            <a:r>
              <a:rPr lang="zh-CN" altLang="en-US" sz="2400" b="1" dirty="0">
                <a:latin typeface="宋体" pitchFamily="2" charset="-122"/>
              </a:rPr>
              <a:t>双字运算：</a:t>
            </a:r>
            <a:r>
              <a:rPr lang="en-US" altLang="zh-CN" sz="2400" b="1" dirty="0">
                <a:latin typeface="宋体" pitchFamily="2" charset="-122"/>
              </a:rPr>
              <a:t>EDX:EAX&lt;=(EAX)</a:t>
            </a:r>
            <a:r>
              <a:rPr lang="zh-CN" altLang="en-US" sz="2400" b="1" dirty="0">
                <a:latin typeface="宋体" pitchFamily="2" charset="-122"/>
              </a:rPr>
              <a:t> ×(OPRD)</a:t>
            </a:r>
          </a:p>
        </p:txBody>
      </p:sp>
    </p:spTree>
    <p:extLst>
      <p:ext uri="{BB962C8B-B14F-4D97-AF65-F5344CB8AC3E}">
        <p14:creationId xmlns:p14="http://schemas.microsoft.com/office/powerpoint/2010/main" val="2415737613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6" grpId="0" animBg="1" autoUpdateAnimBg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773388" y="6305548"/>
            <a:ext cx="2133600" cy="365125"/>
          </a:xfrm>
        </p:spPr>
        <p:txBody>
          <a:bodyPr/>
          <a:lstStyle/>
          <a:p>
            <a:pPr>
              <a:defRPr/>
            </a:pPr>
            <a:fld id="{591860F6-BFAC-49E4-A370-39C019CE30B4}" type="slidenum">
              <a:rPr lang="zh-CN" altLang="en-US" smtClean="0"/>
              <a:pPr>
                <a:defRPr/>
              </a:pPr>
              <a:t>88</a:t>
            </a:fld>
            <a:endParaRPr lang="en-US" altLang="zh-CN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561354" y="198224"/>
            <a:ext cx="8207375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/>
              <a:t>MUL只对CF和OF标志产生有效影响,其他标志位的值不确定。</a:t>
            </a:r>
            <a:endParaRPr lang="en-US" altLang="zh-CN" sz="2800" b="1" dirty="0"/>
          </a:p>
          <a:p>
            <a:pPr marL="457200" indent="-457200">
              <a:spcBef>
                <a:spcPct val="50000"/>
              </a:spcBef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/>
              <a:t>若结果的AH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字节运算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或DX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字运算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或</a:t>
            </a:r>
            <a:r>
              <a:rPr lang="en-US" altLang="zh-CN" sz="2800" b="1" dirty="0"/>
              <a:t>EDX(</a:t>
            </a:r>
            <a:r>
              <a:rPr lang="zh-CN" altLang="en-US" sz="2800" b="1" dirty="0"/>
              <a:t>双字运算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为全0，则CF=OF=0，否则 CF=OF=1。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561354" y="2673784"/>
            <a:ext cx="6533356" cy="64633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3600" b="1" dirty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2、带符号数乘法指令IMUL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89308" y="3320115"/>
            <a:ext cx="8289726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>
                <a:solidFill>
                  <a:srgbClr val="0000CC"/>
                </a:solidFill>
              </a:rPr>
              <a:t>指令格式：IMUL   OPRD</a:t>
            </a:r>
          </a:p>
          <a:p>
            <a:pPr>
              <a:spcBef>
                <a:spcPct val="50000"/>
              </a:spcBef>
            </a:pPr>
            <a:r>
              <a:rPr lang="en-US" altLang="zh-CN" sz="2800" b="1" dirty="0"/>
              <a:t>IMUL</a:t>
            </a:r>
            <a:r>
              <a:rPr lang="zh-CN" altLang="zh-CN" sz="2800" b="1" dirty="0"/>
              <a:t>的功能除了操作数是带符号外，其余与MUL指令相同。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602553" y="4920553"/>
            <a:ext cx="8433943" cy="1384995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/>
              <a:t>对标志位的影响：若乘积的高半部</a:t>
            </a:r>
            <a:r>
              <a:rPr lang="zh-CN" altLang="en-US" sz="2800" b="1" dirty="0"/>
              <a:t>（</a:t>
            </a:r>
            <a:r>
              <a:rPr lang="zh-CN" altLang="zh-CN" sz="2800" b="1" dirty="0"/>
              <a:t>AH或DX</a:t>
            </a:r>
            <a:r>
              <a:rPr lang="zh-CN" altLang="en-US" sz="2800" b="1" dirty="0"/>
              <a:t>或</a:t>
            </a:r>
            <a:r>
              <a:rPr lang="en-US" altLang="zh-CN" sz="2800" b="1" dirty="0"/>
              <a:t>EDX</a:t>
            </a:r>
            <a:r>
              <a:rPr lang="zh-CN" altLang="zh-CN" sz="2800" b="1" dirty="0"/>
              <a:t>）是低半部的符号扩展</a:t>
            </a:r>
            <a:r>
              <a:rPr lang="en-US" altLang="zh-CN" sz="2800" b="1" dirty="0"/>
              <a:t>(</a:t>
            </a:r>
            <a:r>
              <a:rPr lang="zh-CN" altLang="zh-CN" sz="2800" b="1" dirty="0"/>
              <a:t>不是有效数值</a:t>
            </a:r>
            <a:r>
              <a:rPr lang="en-US" altLang="zh-CN" sz="2800" b="1" dirty="0"/>
              <a:t>)</a:t>
            </a:r>
            <a:r>
              <a:rPr lang="zh-CN" altLang="zh-CN" sz="2800" b="1" dirty="0"/>
              <a:t>，则CF=OF=0 。否则CF=OF=1 。</a:t>
            </a:r>
          </a:p>
        </p:txBody>
      </p:sp>
    </p:spTree>
    <p:extLst>
      <p:ext uri="{BB962C8B-B14F-4D97-AF65-F5344CB8AC3E}">
        <p14:creationId xmlns:p14="http://schemas.microsoft.com/office/powerpoint/2010/main" val="297226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6" grpId="0"/>
      <p:bldP spid="7" grpId="0" build="p" autoUpdateAnimBg="0"/>
      <p:bldP spid="8" grpId="0" animBg="1" autoUpdateAnimBg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 descr="羊皮纸"/>
          <p:cNvSpPr txBox="1">
            <a:spLocks noChangeArrowheads="1"/>
          </p:cNvSpPr>
          <p:nvPr/>
        </p:nvSpPr>
        <p:spPr bwMode="auto">
          <a:xfrm>
            <a:off x="428077" y="415528"/>
            <a:ext cx="8464401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800" b="1" dirty="0"/>
              <a:t>例如，对</a:t>
            </a:r>
            <a:r>
              <a:rPr lang="zh-CN" altLang="en-US" sz="2800" b="1" dirty="0"/>
              <a:t>于</a:t>
            </a:r>
            <a:r>
              <a:rPr lang="zh-CN" altLang="zh-CN" sz="2800" b="1" dirty="0"/>
              <a:t>字节乘法：</a:t>
            </a:r>
          </a:p>
          <a:p>
            <a:pPr marL="457200" indent="-457200">
              <a:spcBef>
                <a:spcPct val="50000"/>
              </a:spcBef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n"/>
            </a:pPr>
            <a:r>
              <a:rPr lang="zh-CN" altLang="zh-CN" sz="2800" b="1" dirty="0"/>
              <a:t>若乘积的(AH)=11111111，且AL最高位为1，表示符号扩展, 则CF=OF=0；</a:t>
            </a:r>
          </a:p>
          <a:p>
            <a:pPr marL="457200" indent="-457200">
              <a:spcBef>
                <a:spcPct val="50000"/>
              </a:spcBef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n"/>
            </a:pPr>
            <a:r>
              <a:rPr lang="zh-CN" altLang="zh-CN" sz="2800" b="1" dirty="0"/>
              <a:t>若乘积的(AH)=00000000，且AL最高为0，表示符号扩展, 则CF=OF=0；</a:t>
            </a:r>
          </a:p>
          <a:p>
            <a:pPr marL="457200" indent="-457200">
              <a:spcBef>
                <a:spcPct val="50000"/>
              </a:spcBef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n"/>
            </a:pPr>
            <a:r>
              <a:rPr lang="zh-CN" altLang="zh-CN" sz="2800" b="1" dirty="0"/>
              <a:t>若乘积的(AH)=11111111，但AL最高位为0，不是符号扩展, 则CF=OF=1；</a:t>
            </a:r>
          </a:p>
          <a:p>
            <a:pPr marL="457200" indent="-457200">
              <a:spcBef>
                <a:spcPct val="50000"/>
              </a:spcBef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n"/>
            </a:pPr>
            <a:r>
              <a:rPr lang="zh-CN" altLang="zh-CN" sz="2800" b="1" dirty="0"/>
              <a:t>若乘积的(AH)=11111110，不是符号扩展, 则CF=OF=1；</a:t>
            </a:r>
          </a:p>
          <a:p>
            <a:pPr marL="457200" indent="-457200">
              <a:spcBef>
                <a:spcPct val="50000"/>
              </a:spcBef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n"/>
            </a:pPr>
            <a:r>
              <a:rPr lang="zh-CN" altLang="zh-CN" sz="2800" b="1" dirty="0"/>
              <a:t>若乘积的(AH)=00000010，不是符号扩展, 则CF=OF=1。</a:t>
            </a:r>
          </a:p>
        </p:txBody>
      </p:sp>
    </p:spTree>
    <p:extLst>
      <p:ext uri="{BB962C8B-B14F-4D97-AF65-F5344CB8AC3E}">
        <p14:creationId xmlns:p14="http://schemas.microsoft.com/office/powerpoint/2010/main" val="232127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600" y="70297"/>
            <a:ext cx="7793037" cy="766415"/>
          </a:xfrm>
        </p:spPr>
        <p:txBody>
          <a:bodyPr/>
          <a:lstStyle/>
          <a:p>
            <a:r>
              <a:rPr lang="en-US" altLang="zh-CN" dirty="0"/>
              <a:t>3. 32</a:t>
            </a:r>
            <a:r>
              <a:rPr lang="zh-CN" altLang="en-US" dirty="0"/>
              <a:t>位模式新增</a:t>
            </a:r>
            <a:r>
              <a:rPr lang="en-US" altLang="zh-CN" dirty="0"/>
              <a:t>IMUL</a:t>
            </a:r>
            <a:r>
              <a:rPr lang="zh-CN" altLang="en-US" dirty="0"/>
              <a:t>指令格式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2236" y="836712"/>
            <a:ext cx="7900243" cy="5688632"/>
          </a:xfrm>
        </p:spPr>
        <p:txBody>
          <a:bodyPr/>
          <a:lstStyle/>
          <a:p>
            <a:r>
              <a:rPr lang="zh-CN" altLang="en-US" sz="2000" dirty="0"/>
              <a:t>双操作数格式</a:t>
            </a:r>
            <a:r>
              <a:rPr lang="en-US" altLang="zh-CN" sz="2000" dirty="0"/>
              <a:t>: </a:t>
            </a:r>
            <a:r>
              <a:rPr lang="pt-BR" altLang="en-US" sz="2000" dirty="0">
                <a:solidFill>
                  <a:schemeClr val="tx2">
                    <a:lumMod val="75000"/>
                  </a:schemeClr>
                </a:solidFill>
              </a:rPr>
              <a:t>IMUL DEST, SRC </a:t>
            </a:r>
          </a:p>
          <a:p>
            <a:pPr marL="0" indent="0">
              <a:buNone/>
            </a:pPr>
            <a:r>
              <a:rPr lang="pt-BR" altLang="zh-CN" sz="2000" dirty="0">
                <a:solidFill>
                  <a:schemeClr val="tx2">
                    <a:lumMod val="75000"/>
                  </a:schemeClr>
                </a:solidFill>
              </a:rPr>
              <a:t>    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</a:rPr>
              <a:t>指令功能：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</a:rPr>
              <a:t>DEST&lt;=(DEST)×(SRC)</a:t>
            </a:r>
            <a:endParaRPr lang="en-US" altLang="zh-CN" sz="2000" dirty="0"/>
          </a:p>
          <a:p>
            <a:pPr lvl="1"/>
            <a:r>
              <a:rPr lang="en-US" altLang="zh-CN" sz="2000" dirty="0"/>
              <a:t>16</a:t>
            </a:r>
            <a:r>
              <a:rPr lang="zh-CN" altLang="en-US" sz="2000" dirty="0"/>
              <a:t>位操作数格式：</a:t>
            </a:r>
            <a:endParaRPr lang="en-US" altLang="zh-CN" sz="2000" dirty="0"/>
          </a:p>
          <a:p>
            <a:pPr lvl="2"/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IMUL reg16,reg/mem16</a:t>
            </a:r>
          </a:p>
          <a:p>
            <a:pPr lvl="2"/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IMUL reg16,imm8/imm16</a:t>
            </a:r>
          </a:p>
          <a:p>
            <a:pPr lvl="1"/>
            <a:r>
              <a:rPr lang="en-US" altLang="zh-CN" sz="2000" dirty="0"/>
              <a:t>32</a:t>
            </a:r>
            <a:r>
              <a:rPr lang="zh-CN" altLang="en-US" sz="2000" dirty="0"/>
              <a:t>位操作数格式：</a:t>
            </a:r>
            <a:endParaRPr lang="en-US" altLang="zh-CN" sz="2000" dirty="0"/>
          </a:p>
          <a:p>
            <a:pPr lvl="2"/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IMUL reg32,reg/mem32</a:t>
            </a:r>
          </a:p>
          <a:p>
            <a:pPr lvl="2"/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IMUL reg32,imm8/imm16/imm32</a:t>
            </a:r>
          </a:p>
          <a:p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</a:rPr>
              <a:t>三操作数格式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pt-BR" altLang="en-US" sz="2000" dirty="0">
                <a:solidFill>
                  <a:schemeClr val="tx2">
                    <a:lumMod val="75000"/>
                  </a:schemeClr>
                </a:solidFill>
              </a:rPr>
              <a:t>IMUL DEST, SRC1, SRC2</a:t>
            </a:r>
          </a:p>
          <a:p>
            <a:pPr marL="0" indent="0">
              <a:buNone/>
            </a:pPr>
            <a:r>
              <a:rPr lang="pt-BR" altLang="en-US" sz="2000" dirty="0">
                <a:solidFill>
                  <a:schemeClr val="tx2">
                    <a:lumMod val="75000"/>
                  </a:schemeClr>
                </a:solidFill>
              </a:rPr>
              <a:t>  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</a:rPr>
              <a:t>指令功能：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</a:rPr>
              <a:t>DEST&lt;=(SRC1) ×(SRC1) </a:t>
            </a:r>
            <a:endParaRPr lang="pt-BR" alt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pPr lvl="2"/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IMUL reg16,reg/mem16,imm8/imm16</a:t>
            </a:r>
          </a:p>
          <a:p>
            <a:pPr lvl="2"/>
            <a:r>
              <a:rPr lang="en-US" altLang="zh-CN" dirty="0">
                <a:solidFill>
                  <a:schemeClr val="tx2">
                    <a:lumMod val="75000"/>
                  </a:schemeClr>
                </a:solidFill>
              </a:rPr>
              <a:t>IMUL reg32,reg/mem32,imm8/imm16/imm32</a:t>
            </a:r>
          </a:p>
          <a:p>
            <a:r>
              <a:rPr lang="zh-CN" altLang="en-US" sz="2000" dirty="0">
                <a:solidFill>
                  <a:srgbClr val="FF0000"/>
                </a:solidFill>
              </a:rPr>
              <a:t>注意：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</a:rPr>
              <a:t>如果存放结果的目的寄存器中丢弃了乘积高位的有效数值，则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</a:rPr>
              <a:t>CF=OF=1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</a:rPr>
              <a:t>，因此使用这些指令后应该检查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</a:rPr>
              <a:t>CF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</a:rPr>
              <a:t>或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</a:rPr>
              <a:t>OF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</a:rPr>
              <a:t>标志。</a:t>
            </a:r>
            <a:endParaRPr lang="en-US" altLang="zh-CN" sz="2000" dirty="0">
              <a:solidFill>
                <a:schemeClr val="tx2">
                  <a:lumMod val="75000"/>
                </a:schemeClr>
              </a:solidFill>
            </a:endParaRPr>
          </a:p>
          <a:p>
            <a:endParaRPr lang="zh-CN" altLang="en-US"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1860F6-BFAC-49E4-A370-39C019CE30B4}" type="slidenum">
              <a:rPr lang="zh-CN" altLang="en-US" smtClean="0"/>
              <a:pPr>
                <a:defRPr/>
              </a:pPr>
              <a:t>90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558191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CDECCA33-C92D-427A-A321-21E8B4F5548C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91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054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四、除法指令</a:t>
            </a:r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9632" y="1814979"/>
            <a:ext cx="7848872" cy="2622133"/>
          </a:xfrm>
        </p:spPr>
        <p:txBody>
          <a:bodyPr/>
          <a:lstStyle/>
          <a:p>
            <a:pPr eaLnBrk="1" hangingPunct="1">
              <a:lnSpc>
                <a:spcPct val="115000"/>
              </a:lnSpc>
              <a:buFont typeface="Wingdings" pitchFamily="2" charset="2"/>
              <a:buNone/>
            </a:pPr>
            <a:r>
              <a:rPr lang="zh-CN" altLang="en-US" sz="2400" u="sng" dirty="0"/>
              <a:t>无符号除法指令</a:t>
            </a:r>
            <a:r>
              <a:rPr lang="zh-CN" altLang="en-US" sz="2400" dirty="0"/>
              <a:t>格式：</a:t>
            </a:r>
          </a:p>
          <a:p>
            <a:pPr marL="457200" lvl="1" indent="0" eaLnBrk="1" hangingPunct="1">
              <a:lnSpc>
                <a:spcPct val="115000"/>
              </a:lnSpc>
              <a:buNone/>
            </a:pPr>
            <a:r>
              <a:rPr lang="en-US" altLang="zh-CN" sz="2000" dirty="0"/>
              <a:t>DIV  </a:t>
            </a:r>
            <a:r>
              <a:rPr lang="en-US" altLang="zh-CN" sz="2000" dirty="0" err="1"/>
              <a:t>reg</a:t>
            </a:r>
            <a:r>
              <a:rPr lang="en-US" altLang="zh-CN" sz="2000" dirty="0"/>
              <a:t>/mem8</a:t>
            </a:r>
            <a:r>
              <a:rPr lang="zh-CN" altLang="en-US" sz="2000" dirty="0"/>
              <a:t>或</a:t>
            </a:r>
            <a:r>
              <a:rPr lang="en-US" altLang="zh-CN" sz="2000" dirty="0"/>
              <a:t>DIV </a:t>
            </a:r>
            <a:r>
              <a:rPr lang="en-US" altLang="zh-CN" sz="2000" dirty="0" err="1"/>
              <a:t>reg</a:t>
            </a:r>
            <a:r>
              <a:rPr lang="en-US" altLang="zh-CN" sz="2000" dirty="0"/>
              <a:t>/mem16</a:t>
            </a:r>
            <a:r>
              <a:rPr lang="zh-CN" altLang="en-US" sz="2000" dirty="0"/>
              <a:t>或</a:t>
            </a:r>
            <a:r>
              <a:rPr lang="en-US" altLang="zh-CN" sz="2000" dirty="0"/>
              <a:t>DIV </a:t>
            </a:r>
            <a:r>
              <a:rPr lang="en-US" altLang="zh-CN" sz="2000" dirty="0" err="1"/>
              <a:t>reg</a:t>
            </a:r>
            <a:r>
              <a:rPr lang="en-US" altLang="zh-CN" sz="2000" dirty="0"/>
              <a:t>/mem32</a:t>
            </a:r>
          </a:p>
          <a:p>
            <a:pPr eaLnBrk="1" hangingPunct="1">
              <a:lnSpc>
                <a:spcPct val="115000"/>
              </a:lnSpc>
              <a:spcBef>
                <a:spcPct val="55000"/>
              </a:spcBef>
              <a:buFont typeface="Wingdings" pitchFamily="2" charset="2"/>
              <a:buNone/>
            </a:pPr>
            <a:r>
              <a:rPr lang="zh-CN" altLang="en-US" sz="2400" u="sng" dirty="0"/>
              <a:t>有符号除法指令</a:t>
            </a:r>
            <a:r>
              <a:rPr lang="zh-CN" altLang="en-US" sz="2400" dirty="0"/>
              <a:t>格式：</a:t>
            </a:r>
          </a:p>
          <a:p>
            <a:pPr marL="457200" lvl="1" indent="0" eaLnBrk="1" hangingPunct="1">
              <a:lnSpc>
                <a:spcPct val="115000"/>
              </a:lnSpc>
              <a:buNone/>
            </a:pPr>
            <a:r>
              <a:rPr lang="en-US" altLang="zh-CN" sz="2000" dirty="0"/>
              <a:t>IDIV </a:t>
            </a:r>
            <a:r>
              <a:rPr lang="en-US" altLang="zh-CN" sz="2000" dirty="0" err="1"/>
              <a:t>reg</a:t>
            </a:r>
            <a:r>
              <a:rPr lang="en-US" altLang="zh-CN" sz="2000" dirty="0"/>
              <a:t>/mem8</a:t>
            </a:r>
            <a:r>
              <a:rPr lang="zh-CN" altLang="en-US" sz="2000" dirty="0"/>
              <a:t>或</a:t>
            </a:r>
            <a:r>
              <a:rPr lang="en-US" altLang="zh-CN" sz="2000" dirty="0"/>
              <a:t>DIV </a:t>
            </a:r>
            <a:r>
              <a:rPr lang="en-US" altLang="zh-CN" sz="2000" dirty="0" err="1"/>
              <a:t>reg</a:t>
            </a:r>
            <a:r>
              <a:rPr lang="en-US" altLang="zh-CN" sz="2000" dirty="0"/>
              <a:t>/mem16</a:t>
            </a:r>
            <a:r>
              <a:rPr lang="zh-CN" altLang="en-US" sz="2000" dirty="0"/>
              <a:t>或</a:t>
            </a:r>
            <a:r>
              <a:rPr lang="en-US" altLang="zh-CN" sz="2000" dirty="0"/>
              <a:t>DIV </a:t>
            </a:r>
            <a:r>
              <a:rPr lang="en-US" altLang="zh-CN" sz="2000" dirty="0" err="1"/>
              <a:t>reg</a:t>
            </a:r>
            <a:r>
              <a:rPr lang="en-US" altLang="zh-CN" sz="2000" dirty="0"/>
              <a:t>/mem32</a:t>
            </a:r>
          </a:p>
          <a:p>
            <a:pPr marL="57150" indent="0" eaLnBrk="1" hangingPunct="1">
              <a:lnSpc>
                <a:spcPct val="115000"/>
              </a:lnSpc>
              <a:buNone/>
            </a:pPr>
            <a:r>
              <a:rPr lang="zh-CN" altLang="en-US" sz="2400" dirty="0"/>
              <a:t>指令中只给出除数，而被除数和商、余数都为隐含。</a:t>
            </a:r>
            <a:endParaRPr lang="en-US" altLang="zh-CN" sz="2400" dirty="0"/>
          </a:p>
          <a:p>
            <a:pPr marL="57150" indent="0" eaLnBrk="1" hangingPunct="1">
              <a:lnSpc>
                <a:spcPct val="115000"/>
              </a:lnSpc>
              <a:buNone/>
            </a:pPr>
            <a:endParaRPr lang="zh-CN" altLang="en-US" sz="2400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385170"/>
              </p:ext>
            </p:extLst>
          </p:nvPr>
        </p:nvGraphicFramePr>
        <p:xfrm>
          <a:off x="1331640" y="4437112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6617163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635778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80556712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748825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被除数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除数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商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余数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53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reg</a:t>
                      </a:r>
                      <a:r>
                        <a:rPr lang="en-US" altLang="zh-CN" dirty="0"/>
                        <a:t>/mem8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AH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591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DX:AX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reg</a:t>
                      </a:r>
                      <a:r>
                        <a:rPr lang="en-US" altLang="zh-CN" dirty="0"/>
                        <a:t>/mem16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DX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232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EDX:EAX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/>
                        <a:t>reg</a:t>
                      </a:r>
                      <a:r>
                        <a:rPr lang="en-US" altLang="zh-CN" dirty="0"/>
                        <a:t>/mem32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EAX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EDX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105633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043608" y="5920472"/>
            <a:ext cx="7128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latin typeface="Times New Roman" pitchFamily="18" charset="0"/>
              </a:rPr>
              <a:t>指令要求被除数是除数的双倍字长，因此</a:t>
            </a:r>
            <a:r>
              <a:rPr kumimoji="1" lang="zh-CN" altLang="en-US" sz="2400" b="1" dirty="0"/>
              <a:t>除法指令常与扩展指令</a:t>
            </a:r>
            <a:r>
              <a:rPr kumimoji="1" lang="en-US" altLang="zh-CN" sz="2400" b="1" dirty="0"/>
              <a:t>CBW</a:t>
            </a:r>
            <a:r>
              <a:rPr kumimoji="1" lang="zh-CN" altLang="en-US" sz="2400" b="1" dirty="0"/>
              <a:t>、</a:t>
            </a:r>
            <a:r>
              <a:rPr kumimoji="1" lang="en-US" altLang="zh-CN" sz="2400" b="1" dirty="0"/>
              <a:t>CWD</a:t>
            </a:r>
            <a:r>
              <a:rPr kumimoji="1" lang="zh-CN" altLang="en-US" sz="2400" b="1" dirty="0"/>
              <a:t>、</a:t>
            </a:r>
            <a:r>
              <a:rPr kumimoji="1" lang="en-US" altLang="zh-CN" sz="2400" b="1" dirty="0"/>
              <a:t>CDQ</a:t>
            </a:r>
            <a:r>
              <a:rPr kumimoji="1" lang="zh-CN" altLang="en-US" sz="2400" b="1" dirty="0"/>
              <a:t>配合使用。</a:t>
            </a:r>
            <a:endParaRPr lang="zh-CN" altLang="en-US" dirty="0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2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2574F788-824E-4F5B-85C5-55352C46E13E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92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6451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43608" y="1782987"/>
            <a:ext cx="4168100" cy="551929"/>
          </a:xfrm>
        </p:spPr>
        <p:txBody>
          <a:bodyPr/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字节到字的扩展指令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CBW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697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043609" y="2276872"/>
            <a:ext cx="7421562" cy="2880320"/>
          </a:xfrm>
        </p:spPr>
        <p:txBody>
          <a:bodyPr/>
          <a:lstStyle/>
          <a:p>
            <a:pPr>
              <a:spcAft>
                <a:spcPct val="0"/>
              </a:spcAft>
            </a:pPr>
            <a:r>
              <a:rPr lang="zh-CN" altLang="en-US" sz="2400" dirty="0"/>
              <a:t>功能：将</a:t>
            </a:r>
            <a:r>
              <a:rPr lang="en-US" altLang="zh-CN" sz="2400" dirty="0"/>
              <a:t>AL</a:t>
            </a:r>
            <a:r>
              <a:rPr lang="zh-CN" altLang="en-US" sz="2400" dirty="0"/>
              <a:t>的符号位扩展到</a:t>
            </a:r>
            <a:r>
              <a:rPr lang="en-US" altLang="zh-CN" sz="2400" dirty="0"/>
              <a:t>AH</a:t>
            </a:r>
          </a:p>
          <a:p>
            <a:pPr>
              <a:spcAft>
                <a:spcPct val="0"/>
              </a:spcAft>
            </a:pPr>
            <a:r>
              <a:rPr lang="zh-CN" altLang="en-US" sz="2400" dirty="0"/>
              <a:t>规则：</a:t>
            </a:r>
          </a:p>
          <a:p>
            <a:pPr lvl="1"/>
            <a:r>
              <a:rPr lang="zh-CN" altLang="en-US" dirty="0"/>
              <a:t>若</a:t>
            </a:r>
            <a:r>
              <a:rPr lang="en-US" altLang="zh-CN" dirty="0"/>
              <a:t>AL</a:t>
            </a:r>
            <a:r>
              <a:rPr lang="zh-CN" altLang="en-US" dirty="0"/>
              <a:t>最高位=1，则执行后</a:t>
            </a:r>
            <a:r>
              <a:rPr lang="en-US" altLang="zh-CN" dirty="0"/>
              <a:t>AH=FFH</a:t>
            </a:r>
          </a:p>
          <a:p>
            <a:pPr lvl="1"/>
            <a:r>
              <a:rPr lang="zh-CN" altLang="en-US" dirty="0"/>
              <a:t>若</a:t>
            </a:r>
            <a:r>
              <a:rPr lang="en-US" altLang="zh-CN" dirty="0"/>
              <a:t>AL</a:t>
            </a:r>
            <a:r>
              <a:rPr lang="zh-CN" altLang="en-US" dirty="0"/>
              <a:t>最高位=0，则执行后</a:t>
            </a:r>
            <a:r>
              <a:rPr lang="en-US" altLang="zh-CN" dirty="0"/>
              <a:t>AH=00H</a:t>
            </a:r>
            <a:endParaRPr lang="zh-CN" altLang="en-US" dirty="0"/>
          </a:p>
        </p:txBody>
      </p:sp>
      <p:sp>
        <p:nvSpPr>
          <p:cNvPr id="5" name="Rectangle 1026"/>
          <p:cNvSpPr txBox="1">
            <a:spLocks noChangeArrowheads="1"/>
          </p:cNvSpPr>
          <p:nvPr/>
        </p:nvSpPr>
        <p:spPr bwMode="auto">
          <a:xfrm>
            <a:off x="954048" y="85938"/>
            <a:ext cx="7793037" cy="694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A5002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A50021"/>
                </a:solidFill>
                <a:latin typeface="Tahoma" pitchFamily="34" charset="0"/>
                <a:ea typeface="隶书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A50021"/>
                </a:solidFill>
                <a:latin typeface="Tahoma" pitchFamily="34" charset="0"/>
                <a:ea typeface="隶书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A50021"/>
                </a:solidFill>
                <a:latin typeface="Tahoma" pitchFamily="34" charset="0"/>
                <a:ea typeface="隶书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A50021"/>
                </a:solidFill>
                <a:latin typeface="Tahoma" pitchFamily="34" charset="0"/>
                <a:ea typeface="隶书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A50021"/>
                </a:solidFill>
                <a:latin typeface="Tahoma" pitchFamily="34" charset="0"/>
                <a:ea typeface="隶书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A50021"/>
                </a:solidFill>
                <a:latin typeface="Tahoma" pitchFamily="34" charset="0"/>
                <a:ea typeface="隶书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A50021"/>
                </a:solidFill>
                <a:latin typeface="Tahoma" pitchFamily="34" charset="0"/>
                <a:ea typeface="隶书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A50021"/>
                </a:solidFill>
                <a:latin typeface="Tahoma" pitchFamily="34" charset="0"/>
                <a:ea typeface="隶书" pitchFamily="49" charset="-122"/>
              </a:defRPr>
            </a:lvl9pPr>
          </a:lstStyle>
          <a:p>
            <a:pPr eaLnBrk="1" hangingPunct="1"/>
            <a:r>
              <a:rPr lang="zh-CN" altLang="en-US" kern="0" dirty="0"/>
              <a:t>字位扩展指令</a:t>
            </a:r>
            <a:r>
              <a:rPr kumimoji="1" lang="en-US" altLang="zh-CN" b="1" kern="0" dirty="0">
                <a:latin typeface="宋体" panose="02010600030101010101" pitchFamily="2" charset="-122"/>
                <a:ea typeface="宋体" panose="02010600030101010101" pitchFamily="2" charset="-122"/>
              </a:rPr>
              <a:t>CBW</a:t>
            </a:r>
            <a:r>
              <a:rPr kumimoji="1" lang="zh-CN" altLang="en-US" b="1" kern="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b="1" kern="0" dirty="0">
                <a:latin typeface="宋体" panose="02010600030101010101" pitchFamily="2" charset="-122"/>
                <a:ea typeface="宋体" panose="02010600030101010101" pitchFamily="2" charset="-122"/>
              </a:rPr>
              <a:t>CWD</a:t>
            </a:r>
            <a:r>
              <a:rPr kumimoji="1" lang="zh-CN" altLang="en-US" b="1" kern="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b="1" kern="0" dirty="0">
                <a:latin typeface="宋体" panose="02010600030101010101" pitchFamily="2" charset="-122"/>
                <a:ea typeface="宋体" panose="02010600030101010101" pitchFamily="2" charset="-122"/>
              </a:rPr>
              <a:t>CDQ</a:t>
            </a:r>
            <a:r>
              <a:rPr lang="zh-CN" altLang="en-US" kern="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" name="Rectangle 1027"/>
          <p:cNvSpPr txBox="1">
            <a:spLocks noChangeArrowheads="1"/>
          </p:cNvSpPr>
          <p:nvPr/>
        </p:nvSpPr>
        <p:spPr bwMode="auto">
          <a:xfrm>
            <a:off x="1043608" y="890173"/>
            <a:ext cx="7421563" cy="892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+mn-lt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spcAft>
                <a:spcPct val="40000"/>
              </a:spcAft>
            </a:pPr>
            <a:r>
              <a:rPr lang="zh-CN" altLang="en-US" sz="2400" kern="0" dirty="0"/>
              <a:t>指令为零操作数指令，采用隐含寻址，隐含的操作数为</a:t>
            </a:r>
            <a:r>
              <a:rPr lang="en-US" altLang="zh-CN" sz="2400" kern="0" dirty="0">
                <a:solidFill>
                  <a:srgbClr val="FF0000"/>
                </a:solidFill>
              </a:rPr>
              <a:t>AX</a:t>
            </a:r>
            <a:r>
              <a:rPr lang="zh-CN" altLang="en-US" sz="2400" kern="0" dirty="0"/>
              <a:t>、</a:t>
            </a:r>
            <a:r>
              <a:rPr lang="en-US" altLang="zh-CN" sz="2400" kern="0" dirty="0">
                <a:solidFill>
                  <a:srgbClr val="FF0000"/>
                </a:solidFill>
              </a:rPr>
              <a:t>DX</a:t>
            </a:r>
            <a:r>
              <a:rPr lang="zh-CN" altLang="en-US" sz="2400" kern="0" dirty="0">
                <a:solidFill>
                  <a:schemeClr val="tx1"/>
                </a:solidFill>
              </a:rPr>
              <a:t>或</a:t>
            </a:r>
            <a:r>
              <a:rPr lang="en-US" altLang="zh-CN" sz="2400" kern="0" dirty="0">
                <a:solidFill>
                  <a:srgbClr val="FF0000"/>
                </a:solidFill>
              </a:rPr>
              <a:t>EAX</a:t>
            </a:r>
            <a:r>
              <a:rPr lang="zh-CN" altLang="en-US" sz="2400" kern="0" dirty="0">
                <a:solidFill>
                  <a:schemeClr val="tx1"/>
                </a:solidFill>
              </a:rPr>
              <a:t>、</a:t>
            </a:r>
            <a:r>
              <a:rPr lang="en-US" altLang="zh-CN" sz="2400" kern="0" dirty="0">
                <a:solidFill>
                  <a:srgbClr val="FF0000"/>
                </a:solidFill>
              </a:rPr>
              <a:t>EDX</a:t>
            </a:r>
            <a:r>
              <a:rPr lang="zh-CN" altLang="en-US" sz="2400" kern="0" dirty="0">
                <a:solidFill>
                  <a:schemeClr val="tx1"/>
                </a:solidFill>
              </a:rPr>
              <a:t>。</a:t>
            </a:r>
            <a:endParaRPr lang="en-US" altLang="zh-CN" sz="2400" kern="0" dirty="0">
              <a:solidFill>
                <a:schemeClr val="tx1"/>
              </a:solidFill>
            </a:endParaRPr>
          </a:p>
        </p:txBody>
      </p:sp>
      <p:sp>
        <p:nvSpPr>
          <p:cNvPr id="7" name="Rectangle 4099"/>
          <p:cNvSpPr txBox="1">
            <a:spLocks noChangeArrowheads="1"/>
          </p:cNvSpPr>
          <p:nvPr/>
        </p:nvSpPr>
        <p:spPr bwMode="auto">
          <a:xfrm>
            <a:off x="1172669" y="4755890"/>
            <a:ext cx="7021462" cy="2102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+mn-lt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>
              <a:spcBef>
                <a:spcPts val="1200"/>
              </a:spcBef>
              <a:spcAft>
                <a:spcPct val="0"/>
              </a:spcAft>
            </a:pPr>
            <a:r>
              <a:rPr lang="zh-CN" altLang="en-US" sz="2400" kern="0" dirty="0"/>
              <a:t>功能：将</a:t>
            </a:r>
            <a:r>
              <a:rPr lang="en-US" altLang="zh-CN" sz="2400" kern="0" dirty="0"/>
              <a:t>AX</a:t>
            </a:r>
            <a:r>
              <a:rPr lang="zh-CN" altLang="en-US" sz="2400" kern="0" dirty="0"/>
              <a:t>符号位扩展到</a:t>
            </a:r>
            <a:r>
              <a:rPr lang="en-US" altLang="zh-CN" sz="2400" kern="0" dirty="0"/>
              <a:t>DX</a:t>
            </a:r>
          </a:p>
          <a:p>
            <a:r>
              <a:rPr lang="zh-CN" altLang="en-US" sz="2400" kern="0" dirty="0"/>
              <a:t>规则：</a:t>
            </a:r>
          </a:p>
          <a:p>
            <a:pPr lvl="1"/>
            <a:r>
              <a:rPr lang="zh-CN" altLang="en-US" kern="0" dirty="0"/>
              <a:t>若</a:t>
            </a:r>
            <a:r>
              <a:rPr lang="en-US" altLang="zh-CN" kern="0" dirty="0"/>
              <a:t>AX</a:t>
            </a:r>
            <a:r>
              <a:rPr lang="zh-CN" altLang="en-US" kern="0" dirty="0"/>
              <a:t>最高位=1，则执行后</a:t>
            </a:r>
            <a:r>
              <a:rPr lang="en-US" altLang="zh-CN" kern="0" dirty="0"/>
              <a:t>DX=FFFFH</a:t>
            </a:r>
          </a:p>
          <a:p>
            <a:pPr lvl="1"/>
            <a:r>
              <a:rPr lang="zh-CN" altLang="en-US" kern="0" dirty="0"/>
              <a:t>若</a:t>
            </a:r>
            <a:r>
              <a:rPr lang="en-US" altLang="zh-CN" kern="0" dirty="0"/>
              <a:t>AX</a:t>
            </a:r>
            <a:r>
              <a:rPr lang="zh-CN" altLang="en-US" kern="0" dirty="0"/>
              <a:t>最高位=0，则执行后</a:t>
            </a:r>
            <a:r>
              <a:rPr lang="en-US" altLang="zh-CN" kern="0" dirty="0"/>
              <a:t>DX=0000H</a:t>
            </a:r>
            <a:endParaRPr lang="zh-CN" altLang="en-US" kern="0" dirty="0"/>
          </a:p>
        </p:txBody>
      </p:sp>
      <p:sp>
        <p:nvSpPr>
          <p:cNvPr id="8" name="Rectangle 4098"/>
          <p:cNvSpPr txBox="1">
            <a:spLocks noChangeArrowheads="1"/>
          </p:cNvSpPr>
          <p:nvPr/>
        </p:nvSpPr>
        <p:spPr bwMode="auto">
          <a:xfrm>
            <a:off x="935725" y="4276269"/>
            <a:ext cx="4213150" cy="479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A5002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A50021"/>
                </a:solidFill>
                <a:latin typeface="Tahoma" pitchFamily="34" charset="0"/>
                <a:ea typeface="隶书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A50021"/>
                </a:solidFill>
                <a:latin typeface="Tahoma" pitchFamily="34" charset="0"/>
                <a:ea typeface="隶书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A50021"/>
                </a:solidFill>
                <a:latin typeface="Tahoma" pitchFamily="34" charset="0"/>
                <a:ea typeface="隶书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A50021"/>
                </a:solidFill>
                <a:latin typeface="Tahoma" pitchFamily="34" charset="0"/>
                <a:ea typeface="隶书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A50021"/>
                </a:solidFill>
                <a:latin typeface="Tahoma" pitchFamily="34" charset="0"/>
                <a:ea typeface="隶书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A50021"/>
                </a:solidFill>
                <a:latin typeface="Tahoma" pitchFamily="34" charset="0"/>
                <a:ea typeface="隶书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A50021"/>
                </a:solidFill>
                <a:latin typeface="Tahoma" pitchFamily="34" charset="0"/>
                <a:ea typeface="隶书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A50021"/>
                </a:solidFill>
                <a:latin typeface="Tahoma" pitchFamily="34" charset="0"/>
                <a:ea typeface="隶书" pitchFamily="49" charset="-122"/>
              </a:defRPr>
            </a:lvl9pPr>
          </a:lstStyle>
          <a:p>
            <a:r>
              <a:rPr lang="zh-CN" altLang="en-US" sz="2800" b="1" kern="0" dirty="0">
                <a:latin typeface="宋体" panose="02010600030101010101" pitchFamily="2" charset="-122"/>
                <a:ea typeface="宋体" panose="02010600030101010101" pitchFamily="2" charset="-122"/>
              </a:rPr>
              <a:t>字到双字的扩展指令</a:t>
            </a:r>
            <a:r>
              <a:rPr lang="en-US" altLang="zh-CN" sz="2800" b="1" kern="0" dirty="0">
                <a:latin typeface="宋体" panose="02010600030101010101" pitchFamily="2" charset="-122"/>
                <a:ea typeface="宋体" panose="02010600030101010101" pitchFamily="2" charset="-122"/>
              </a:rPr>
              <a:t>CWD</a:t>
            </a:r>
            <a:endParaRPr lang="zh-CN" altLang="en-US" sz="2800" b="1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/>
      <p:bldP spid="6" grpId="0"/>
      <p:bldP spid="7" grpId="0" build="p"/>
      <p:bldP spid="8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3E8170D-BA82-497B-9504-445A560C9A97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93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65539" name="Rectangle 4098"/>
          <p:cNvSpPr>
            <a:spLocks noGrp="1" noChangeArrowheads="1"/>
          </p:cNvSpPr>
          <p:nvPr>
            <p:ph type="title"/>
          </p:nvPr>
        </p:nvSpPr>
        <p:spPr>
          <a:xfrm>
            <a:off x="1182688" y="0"/>
            <a:ext cx="4501182" cy="695672"/>
          </a:xfrm>
        </p:spPr>
        <p:txBody>
          <a:bodyPr/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双字到四字的扩展指令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CDQ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8003" name="Rectangle 4099"/>
          <p:cNvSpPr>
            <a:spLocks noGrp="1" noChangeArrowheads="1"/>
          </p:cNvSpPr>
          <p:nvPr>
            <p:ph type="body" idx="1"/>
          </p:nvPr>
        </p:nvSpPr>
        <p:spPr>
          <a:xfrm>
            <a:off x="1115616" y="836712"/>
            <a:ext cx="7961312" cy="2157264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ct val="0"/>
              </a:spcAft>
            </a:pPr>
            <a:r>
              <a:rPr lang="zh-CN" altLang="en-US" sz="2400" dirty="0"/>
              <a:t>功能：将</a:t>
            </a:r>
            <a:r>
              <a:rPr lang="en-US" altLang="zh-CN" sz="2400" dirty="0"/>
              <a:t>EAX</a:t>
            </a:r>
            <a:r>
              <a:rPr lang="zh-CN" altLang="en-US" sz="2400" dirty="0"/>
              <a:t>符号位扩展到</a:t>
            </a:r>
            <a:r>
              <a:rPr lang="en-US" altLang="zh-CN" sz="2400" dirty="0"/>
              <a:t>EDX</a:t>
            </a:r>
          </a:p>
          <a:p>
            <a:r>
              <a:rPr lang="zh-CN" altLang="en-US" sz="2400" dirty="0"/>
              <a:t>规则：</a:t>
            </a:r>
          </a:p>
          <a:p>
            <a:pPr lvl="1"/>
            <a:r>
              <a:rPr lang="zh-CN" altLang="en-US" dirty="0"/>
              <a:t>若</a:t>
            </a:r>
            <a:r>
              <a:rPr lang="en-US" altLang="zh-CN" dirty="0"/>
              <a:t>EAX</a:t>
            </a:r>
            <a:r>
              <a:rPr lang="zh-CN" altLang="en-US" dirty="0"/>
              <a:t>最高位=1，则执行后</a:t>
            </a:r>
            <a:r>
              <a:rPr lang="en-US" altLang="zh-CN" dirty="0"/>
              <a:t>EDX=FFFFFFFFH</a:t>
            </a:r>
          </a:p>
          <a:p>
            <a:pPr lvl="1"/>
            <a:r>
              <a:rPr lang="zh-CN" altLang="en-US" dirty="0"/>
              <a:t>若</a:t>
            </a:r>
            <a:r>
              <a:rPr lang="en-US" altLang="zh-CN" dirty="0"/>
              <a:t>EAX</a:t>
            </a:r>
            <a:r>
              <a:rPr lang="zh-CN" altLang="en-US" dirty="0"/>
              <a:t>最高位=0，则执行后</a:t>
            </a:r>
            <a:r>
              <a:rPr lang="en-US" altLang="zh-CN" dirty="0"/>
              <a:t>EDX=00000000H</a:t>
            </a:r>
            <a:endParaRPr lang="zh-CN" altLang="en-US" dirty="0"/>
          </a:p>
        </p:txBody>
      </p:sp>
      <p:sp>
        <p:nvSpPr>
          <p:cNvPr id="5" name="Rectangle 1027"/>
          <p:cNvSpPr txBox="1">
            <a:spLocks noChangeArrowheads="1"/>
          </p:cNvSpPr>
          <p:nvPr/>
        </p:nvSpPr>
        <p:spPr bwMode="auto">
          <a:xfrm>
            <a:off x="1115616" y="2993976"/>
            <a:ext cx="5396011" cy="3528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+mn-lt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zh-CN" altLang="en-US" kern="0">
                <a:solidFill>
                  <a:srgbClr val="A50021"/>
                </a:solidFill>
              </a:rPr>
              <a:t>字位扩展指令示例</a:t>
            </a:r>
            <a:endParaRPr lang="en-US" altLang="zh-CN" u="sng" kern="0">
              <a:solidFill>
                <a:srgbClr val="A50021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zh-CN" altLang="en-US" sz="2400" u="sng" kern="0">
                <a:solidFill>
                  <a:schemeClr val="tx1"/>
                </a:solidFill>
              </a:rPr>
              <a:t>判断以下指令执行结果：</a:t>
            </a:r>
            <a:endParaRPr lang="en-US" altLang="zh-CN" sz="2400" u="sng" ker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en-US" altLang="zh-CN" sz="2400" kern="0"/>
              <a:t>  </a:t>
            </a:r>
            <a:r>
              <a:rPr lang="en-US" altLang="zh-CN" sz="2000" kern="0"/>
              <a:t>  MOV  AL，44H</a:t>
            </a:r>
            <a:br>
              <a:rPr lang="en-US" altLang="zh-CN" sz="2000" kern="0"/>
            </a:br>
            <a:r>
              <a:rPr lang="en-US" altLang="zh-CN" sz="2000" kern="0"/>
              <a:t>CBW</a:t>
            </a:r>
          </a:p>
          <a:p>
            <a:pPr>
              <a:buFont typeface="Wingdings" pitchFamily="2" charset="2"/>
              <a:buNone/>
            </a:pPr>
            <a:r>
              <a:rPr lang="en-US" altLang="zh-CN" sz="2000" kern="0"/>
              <a:t>    MOV  AX，0AFDEH</a:t>
            </a:r>
            <a:br>
              <a:rPr lang="en-US" altLang="zh-CN" sz="2000" kern="0"/>
            </a:br>
            <a:r>
              <a:rPr lang="en-US" altLang="zh-CN" sz="2000" kern="0"/>
              <a:t>CWD</a:t>
            </a:r>
          </a:p>
          <a:p>
            <a:pPr>
              <a:buFont typeface="Wingdings" pitchFamily="2" charset="2"/>
              <a:buNone/>
            </a:pPr>
            <a:r>
              <a:rPr lang="en-US" altLang="zh-CN" sz="2000" kern="0"/>
              <a:t>    MOV  AL，86H</a:t>
            </a:r>
            <a:br>
              <a:rPr lang="en-US" altLang="zh-CN" sz="2000" kern="0"/>
            </a:br>
            <a:r>
              <a:rPr lang="en-US" altLang="zh-CN" sz="2000" kern="0"/>
              <a:t>CBW</a:t>
            </a:r>
            <a:endParaRPr lang="en-US" altLang="zh-CN" sz="2000" kern="0" dirty="0"/>
          </a:p>
        </p:txBody>
      </p:sp>
    </p:spTree>
    <p:extLst>
      <p:ext uri="{BB962C8B-B14F-4D97-AF65-F5344CB8AC3E}">
        <p14:creationId xmlns:p14="http://schemas.microsoft.com/office/powerpoint/2010/main" val="3548473300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3" grpId="0" build="p"/>
      <p:bldP spid="5" grpId="0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 b="1">
                <a:solidFill>
                  <a:schemeClr val="tx2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b="1">
                <a:solidFill>
                  <a:srgbClr val="FF0000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4A09FEF-9F1E-4623-9024-F051024B1EE0}" type="slidenum">
              <a:rPr lang="zh-CN" altLang="en-US" sz="1400" b="0" smtClean="0">
                <a:solidFill>
                  <a:schemeClr val="tx1"/>
                </a:solidFill>
                <a:ea typeface="宋体" pitchFamily="2" charset="-122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94</a:t>
            </a:fld>
            <a:endParaRPr lang="en-US" altLang="zh-CN" sz="1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075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五、</a:t>
            </a:r>
            <a:r>
              <a:rPr lang="en-US" altLang="zh-CN" sz="4000" b="1"/>
              <a:t>BCD</a:t>
            </a:r>
            <a:r>
              <a:rPr lang="zh-CN" altLang="en-US" sz="4800"/>
              <a:t>码调整指令</a:t>
            </a:r>
          </a:p>
        </p:txBody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988840"/>
            <a:ext cx="7772400" cy="4105275"/>
          </a:xfrm>
        </p:spPr>
        <p:txBody>
          <a:bodyPr/>
          <a:lstStyle/>
          <a:p>
            <a:pPr eaLnBrk="1" fontAlgn="ctr" hangingPunct="1">
              <a:lnSpc>
                <a:spcPct val="125000"/>
              </a:lnSpc>
            </a:pPr>
            <a:r>
              <a:rPr lang="zh-CN" altLang="en-US" dirty="0"/>
              <a:t>共6条（详见教材表</a:t>
            </a:r>
            <a:r>
              <a:rPr lang="en-US" altLang="zh-CN" dirty="0"/>
              <a:t>3-3</a:t>
            </a:r>
            <a:r>
              <a:rPr lang="zh-CN" altLang="en-US" dirty="0"/>
              <a:t>）</a:t>
            </a:r>
            <a:r>
              <a:rPr lang="en-US" altLang="zh-CN" dirty="0"/>
              <a:t>:</a:t>
            </a:r>
          </a:p>
          <a:p>
            <a:pPr marL="0" indent="0" eaLnBrk="1" fontAlgn="ctr" hangingPunct="1">
              <a:lnSpc>
                <a:spcPct val="125000"/>
              </a:lnSpc>
              <a:buNone/>
            </a:pPr>
            <a:r>
              <a:rPr lang="en-US" altLang="zh-CN" dirty="0"/>
              <a:t>      DAA</a:t>
            </a:r>
            <a:r>
              <a:rPr lang="zh-CN" altLang="en-US" dirty="0"/>
              <a:t>，</a:t>
            </a:r>
            <a:r>
              <a:rPr lang="en-US" altLang="zh-CN" dirty="0"/>
              <a:t>AAA</a:t>
            </a:r>
            <a:r>
              <a:rPr lang="zh-CN" altLang="en-US" dirty="0"/>
              <a:t>，</a:t>
            </a:r>
            <a:r>
              <a:rPr lang="en-US" altLang="zh-CN" dirty="0"/>
              <a:t>DAS</a:t>
            </a:r>
            <a:r>
              <a:rPr lang="zh-CN" altLang="en-US" dirty="0"/>
              <a:t>，</a:t>
            </a:r>
            <a:r>
              <a:rPr lang="en-US" altLang="zh-CN" dirty="0"/>
              <a:t>AAS</a:t>
            </a:r>
            <a:r>
              <a:rPr lang="zh-CN" altLang="en-US" dirty="0"/>
              <a:t>，</a:t>
            </a:r>
            <a:r>
              <a:rPr lang="en-US" altLang="zh-CN" dirty="0"/>
              <a:t>AAM</a:t>
            </a:r>
            <a:r>
              <a:rPr lang="zh-CN" altLang="en-US" dirty="0"/>
              <a:t>，</a:t>
            </a:r>
            <a:r>
              <a:rPr lang="en-US" altLang="zh-CN" dirty="0"/>
              <a:t>AAD</a:t>
            </a:r>
          </a:p>
          <a:p>
            <a:pPr eaLnBrk="1" fontAlgn="ctr" hangingPunct="1">
              <a:lnSpc>
                <a:spcPct val="125000"/>
              </a:lnSpc>
            </a:pPr>
            <a:r>
              <a:rPr lang="zh-CN" altLang="en-US" dirty="0"/>
              <a:t>都是隐含寻址方式，隐含的操作数是</a:t>
            </a:r>
            <a:r>
              <a:rPr lang="en-US" altLang="zh-CN" dirty="0"/>
              <a:t>:</a:t>
            </a:r>
            <a:endParaRPr lang="zh-CN" altLang="en-US" dirty="0"/>
          </a:p>
          <a:p>
            <a:pPr eaLnBrk="1" fontAlgn="ctr" hangingPunct="1">
              <a:lnSpc>
                <a:spcPct val="125000"/>
              </a:lnSpc>
              <a:buFont typeface="Wingdings" pitchFamily="2" charset="2"/>
              <a:buNone/>
            </a:pPr>
            <a:r>
              <a:rPr lang="en-US" altLang="zh-CN" dirty="0"/>
              <a:t>    AL </a:t>
            </a:r>
            <a:r>
              <a:rPr lang="zh-CN" altLang="en-US" dirty="0"/>
              <a:t>或者 </a:t>
            </a:r>
            <a:r>
              <a:rPr lang="en-US" altLang="zh-CN" dirty="0"/>
              <a:t>AX</a:t>
            </a:r>
            <a:r>
              <a:rPr lang="zh-CN" altLang="en-US" dirty="0"/>
              <a:t>（</a:t>
            </a:r>
            <a:r>
              <a:rPr lang="en-US" altLang="zh-CN" dirty="0"/>
              <a:t>AL</a:t>
            </a:r>
            <a:r>
              <a:rPr lang="zh-CN" altLang="en-US" dirty="0"/>
              <a:t>与</a:t>
            </a:r>
            <a:r>
              <a:rPr lang="en-US" altLang="zh-CN" dirty="0"/>
              <a:t>AH</a:t>
            </a:r>
            <a:r>
              <a:rPr lang="zh-CN" altLang="en-US" dirty="0"/>
              <a:t>）</a:t>
            </a:r>
            <a:endParaRPr lang="en-US" altLang="zh-CN" dirty="0"/>
          </a:p>
          <a:p>
            <a:pPr eaLnBrk="1" fontAlgn="ctr" hangingPunct="1">
              <a:lnSpc>
                <a:spcPct val="125000"/>
              </a:lnSpc>
            </a:pPr>
            <a:r>
              <a:rPr lang="zh-CN" altLang="en-US" dirty="0"/>
              <a:t>不能单独使用，要与相应的算术运算指令配合使用；加、减、乘、除指令。</a:t>
            </a:r>
          </a:p>
          <a:p>
            <a:pPr eaLnBrk="1" fontAlgn="ctr" hangingPunct="1">
              <a:lnSpc>
                <a:spcPct val="125000"/>
              </a:lnSpc>
            </a:pPr>
            <a:r>
              <a:rPr lang="zh-CN" altLang="en-US" dirty="0"/>
              <a:t>执行结果为压缩</a:t>
            </a:r>
            <a:r>
              <a:rPr lang="en-US" altLang="zh-CN" dirty="0"/>
              <a:t>BCD</a:t>
            </a:r>
            <a:r>
              <a:rPr lang="zh-CN" altLang="en-US" dirty="0"/>
              <a:t>码或非压缩</a:t>
            </a:r>
            <a:r>
              <a:rPr lang="en-US" altLang="zh-CN" dirty="0"/>
              <a:t>BCD</a:t>
            </a:r>
            <a:r>
              <a:rPr lang="zh-CN" altLang="en-US" dirty="0"/>
              <a:t>码表示的十进制数。</a:t>
            </a: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7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75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75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75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75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75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4" grpId="0" uiExpand="1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>
                <a:solidFill>
                  <a:schemeClr val="hlink"/>
                </a:solidFill>
              </a:rPr>
              <a:t>十进制数的表示</a:t>
            </a:r>
            <a:r>
              <a:rPr lang="en-US" altLang="zh-CN" b="1" dirty="0">
                <a:solidFill>
                  <a:schemeClr val="hlink"/>
                </a:solidFill>
              </a:rPr>
              <a:t>—BCD</a:t>
            </a:r>
            <a:r>
              <a:rPr lang="zh-CN" altLang="en-US" b="1" dirty="0">
                <a:solidFill>
                  <a:schemeClr val="hlink"/>
                </a:solidFill>
              </a:rPr>
              <a:t>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计算机中采用BCD码来表示十进制数。BCD码就是使用四位二进制数表示一位十进制数。</a:t>
            </a:r>
            <a:endParaRPr lang="en-US" altLang="zh-CN" dirty="0"/>
          </a:p>
          <a:p>
            <a:r>
              <a:rPr lang="zh-CN" altLang="zh-CN" dirty="0"/>
              <a:t>BCD码分为两种格式：</a:t>
            </a:r>
          </a:p>
          <a:p>
            <a:pPr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Ø"/>
            </a:pPr>
            <a:r>
              <a:rPr lang="zh-CN" altLang="zh-CN" dirty="0"/>
              <a:t>压缩型（组合型、装配型）</a:t>
            </a:r>
          </a:p>
          <a:p>
            <a:pPr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Ø"/>
            </a:pPr>
            <a:r>
              <a:rPr lang="zh-CN" altLang="zh-CN" dirty="0"/>
              <a:t>非压缩型（非组合型、拆散型）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1860F6-BFAC-49E4-A370-39C019CE30B4}" type="slidenum">
              <a:rPr lang="zh-CN" altLang="en-US" smtClean="0"/>
              <a:pPr>
                <a:defRPr/>
              </a:pPr>
              <a:t>95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1369206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10400" y="6475735"/>
            <a:ext cx="2133600" cy="365125"/>
          </a:xfrm>
        </p:spPr>
        <p:txBody>
          <a:bodyPr/>
          <a:lstStyle/>
          <a:p>
            <a:pPr>
              <a:defRPr/>
            </a:pPr>
            <a:fld id="{591860F6-BFAC-49E4-A370-39C019CE30B4}" type="slidenum">
              <a:rPr lang="zh-CN" altLang="en-US" sz="1400" b="1" smtClean="0"/>
              <a:pPr>
                <a:defRPr/>
              </a:pPr>
              <a:t>96</a:t>
            </a:fld>
            <a:endParaRPr lang="en-US" altLang="zh-CN" sz="1400" b="1" dirty="0"/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323528" y="226963"/>
            <a:ext cx="882047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</a:rPr>
              <a:t>压缩</a:t>
            </a:r>
            <a:r>
              <a:rPr lang="zh-CN" altLang="zh-CN" sz="2800" b="1" dirty="0">
                <a:solidFill>
                  <a:schemeClr val="tx2">
                    <a:lumMod val="75000"/>
                  </a:schemeClr>
                </a:solidFill>
              </a:rPr>
              <a:t>型：一个字节表示两个BCD码，即两位十进制数。</a:t>
            </a: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827584" y="2379613"/>
            <a:ext cx="5544616" cy="46166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/>
              <a:t>例如：0010 0011 表示十进制数的23</a:t>
            </a:r>
          </a:p>
        </p:txBody>
      </p:sp>
      <p:graphicFrame>
        <p:nvGraphicFramePr>
          <p:cNvPr id="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5623072"/>
              </p:ext>
            </p:extLst>
          </p:nvPr>
        </p:nvGraphicFramePr>
        <p:xfrm>
          <a:off x="1117252" y="750183"/>
          <a:ext cx="6172200" cy="151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2" r:id="rId3" imgW="8725936" imgH="2212992" progId="Visio.Drawing.6">
                  <p:embed/>
                </p:oleObj>
              </mc:Choice>
              <mc:Fallback>
                <p:oleObj r:id="rId3" imgW="8725936" imgH="221299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252" y="750183"/>
                        <a:ext cx="6172200" cy="151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96638" y="3196084"/>
            <a:ext cx="88473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dirty="0">
                <a:solidFill>
                  <a:schemeClr val="tx2">
                    <a:lumMod val="75000"/>
                  </a:schemeClr>
                </a:solidFill>
              </a:rPr>
              <a:t>非</a:t>
            </a:r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</a:rPr>
              <a:t>压缩</a:t>
            </a:r>
            <a:r>
              <a:rPr lang="zh-CN" altLang="zh-CN" sz="2800" b="1" dirty="0">
                <a:solidFill>
                  <a:schemeClr val="tx2">
                    <a:lumMod val="75000"/>
                  </a:schemeClr>
                </a:solidFill>
              </a:rPr>
              <a:t>型：一个字节的低四位表示一个BCD码，而高四位对所表示的十进制数没有影响</a:t>
            </a:r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</a:rPr>
              <a:t>，</a:t>
            </a:r>
            <a:r>
              <a:rPr lang="zh-CN" altLang="zh-CN" sz="2800" b="1" dirty="0">
                <a:solidFill>
                  <a:schemeClr val="tx2">
                    <a:lumMod val="75000"/>
                  </a:schemeClr>
                </a:solidFill>
              </a:rPr>
              <a:t>常为0000或0011。</a:t>
            </a:r>
            <a:endParaRPr lang="zh-CN" altLang="en-US" sz="2800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8643730"/>
              </p:ext>
            </p:extLst>
          </p:nvPr>
        </p:nvGraphicFramePr>
        <p:xfrm>
          <a:off x="1961466" y="4293096"/>
          <a:ext cx="5410200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3" r:id="rId5" imgW="7469038" imgH="2212675" progId="Visio.Drawing.11">
                  <p:embed/>
                </p:oleObj>
              </mc:Choice>
              <mc:Fallback>
                <p:oleObj r:id="rId5" imgW="7469038" imgH="2212675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1466" y="4293096"/>
                        <a:ext cx="5410200" cy="155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467543" y="5805264"/>
            <a:ext cx="8280921" cy="830997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b="1" dirty="0"/>
              <a:t>例如：0000 1001与0011 1001都是十进制数9的非</a:t>
            </a:r>
            <a:r>
              <a:rPr lang="zh-CN" altLang="en-US" sz="2400" b="1" dirty="0"/>
              <a:t>压缩</a:t>
            </a:r>
            <a:r>
              <a:rPr lang="zh-CN" altLang="zh-CN" sz="2400" b="1" dirty="0"/>
              <a:t>型BCD码</a:t>
            </a:r>
          </a:p>
        </p:txBody>
      </p:sp>
    </p:spTree>
    <p:extLst>
      <p:ext uri="{BB962C8B-B14F-4D97-AF65-F5344CB8AC3E}">
        <p14:creationId xmlns:p14="http://schemas.microsoft.com/office/powerpoint/2010/main" val="29692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 autoUpdateAnimBg="0"/>
      <p:bldP spid="13" grpId="0"/>
      <p:bldP spid="15" grpId="0" animBg="1" autoUpdateAnimBg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十进制数(BCD码)的运算有两种方法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544" y="1916832"/>
            <a:ext cx="8674224" cy="4392488"/>
          </a:xfrm>
        </p:spPr>
        <p:txBody>
          <a:bodyPr/>
          <a:lstStyle/>
          <a:p>
            <a:r>
              <a:rPr lang="zh-CN" altLang="zh-CN" dirty="0">
                <a:solidFill>
                  <a:srgbClr val="FF0000"/>
                </a:solidFill>
              </a:rPr>
              <a:t>数制转换</a:t>
            </a:r>
            <a:r>
              <a:rPr lang="zh-CN" altLang="zh-CN" dirty="0"/>
              <a:t>: 先把十进制数转换为二进制数,</a:t>
            </a:r>
            <a:r>
              <a:rPr lang="zh-CN" altLang="en-US" dirty="0"/>
              <a:t>再</a:t>
            </a:r>
            <a:r>
              <a:rPr lang="zh-CN" altLang="zh-CN" dirty="0"/>
              <a:t>用二进制运算指令进行运算。最后将结果由二进制数转换为十进制数</a:t>
            </a:r>
            <a:r>
              <a:rPr lang="en-US" altLang="zh-CN" dirty="0"/>
              <a:t>(BCD</a:t>
            </a:r>
            <a:r>
              <a:rPr lang="zh-CN" altLang="en-US" dirty="0"/>
              <a:t>码</a:t>
            </a:r>
            <a:r>
              <a:rPr lang="en-US" altLang="zh-CN" dirty="0"/>
              <a:t>)</a:t>
            </a:r>
            <a:r>
              <a:rPr lang="zh-CN" altLang="zh-CN" dirty="0"/>
              <a:t>。</a:t>
            </a:r>
          </a:p>
          <a:p>
            <a:r>
              <a:rPr lang="zh-CN" altLang="zh-CN" dirty="0">
                <a:solidFill>
                  <a:srgbClr val="FF0000"/>
                </a:solidFill>
              </a:rPr>
              <a:t>用BCD码</a:t>
            </a:r>
            <a:r>
              <a:rPr lang="zh-CN" altLang="en-US" dirty="0">
                <a:solidFill>
                  <a:srgbClr val="FF0000"/>
                </a:solidFill>
              </a:rPr>
              <a:t>处理</a:t>
            </a:r>
            <a:r>
              <a:rPr lang="zh-CN" altLang="zh-CN" dirty="0">
                <a:solidFill>
                  <a:srgbClr val="FF0000"/>
                </a:solidFill>
              </a:rPr>
              <a:t>指令</a:t>
            </a:r>
            <a:r>
              <a:rPr lang="zh-CN" altLang="zh-CN" dirty="0"/>
              <a:t>，直接进行十进制数运算。</a:t>
            </a:r>
            <a:r>
              <a:rPr lang="zh-CN" altLang="en-US" dirty="0"/>
              <a:t>它又有两种方法：</a:t>
            </a:r>
            <a:endParaRPr lang="en-US" altLang="zh-CN" dirty="0"/>
          </a:p>
          <a:p>
            <a:pPr lvl="1"/>
            <a:r>
              <a:rPr lang="zh-CN" altLang="zh-CN" dirty="0">
                <a:solidFill>
                  <a:schemeClr val="bg2"/>
                </a:solidFill>
              </a:rPr>
              <a:t>指令系统提供专门实现BCD码运算的加、减、乘、除运算指令。</a:t>
            </a:r>
          </a:p>
          <a:p>
            <a:pPr lvl="1"/>
            <a:r>
              <a:rPr lang="zh-CN" altLang="zh-CN" dirty="0">
                <a:solidFill>
                  <a:schemeClr val="bg2"/>
                </a:solidFill>
              </a:rPr>
              <a:t>先用二进制数的加、减、乘、除运算指令对BCD码运算，再用BCD码</a:t>
            </a:r>
            <a:r>
              <a:rPr lang="zh-CN" altLang="en-US" dirty="0">
                <a:solidFill>
                  <a:schemeClr val="bg2"/>
                </a:solidFill>
              </a:rPr>
              <a:t>调整</a:t>
            </a:r>
            <a:r>
              <a:rPr lang="zh-CN" altLang="zh-CN" dirty="0">
                <a:solidFill>
                  <a:schemeClr val="bg2"/>
                </a:solidFill>
              </a:rPr>
              <a:t>指令对结果校正。</a:t>
            </a:r>
            <a:r>
              <a:rPr lang="en-US" altLang="zh-CN" dirty="0">
                <a:solidFill>
                  <a:schemeClr val="bg2"/>
                </a:solidFill>
              </a:rPr>
              <a:t>--80x86</a:t>
            </a:r>
            <a:r>
              <a:rPr lang="zh-CN" altLang="en-US" dirty="0">
                <a:solidFill>
                  <a:schemeClr val="bg2"/>
                </a:solidFill>
              </a:rPr>
              <a:t>就是用这种</a:t>
            </a:r>
            <a:endParaRPr lang="zh-CN" altLang="zh-CN" sz="20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1860F6-BFAC-49E4-A370-39C019CE30B4}" type="slidenum">
              <a:rPr lang="zh-CN" altLang="en-US" smtClean="0"/>
              <a:pPr>
                <a:defRPr/>
              </a:pPr>
              <a:t>97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0648007"/>
      </p:ext>
    </p:extLst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RANCHTO" val="257"/>
  <p:tag name="HOTSPOTTYPE" val="DefinedInNavigator"/>
  <p:tag name="DEFINEDINNAVIGATOR" val="True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隶书"/>
        <a:cs typeface=""/>
      </a:majorFont>
      <a:minorFont>
        <a:latin typeface="Tahoma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2225" cap="flat" cmpd="sng" algn="ctr">
          <a:solidFill>
            <a:srgbClr val="FF6600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2225" cap="flat" cmpd="sng" algn="ctr">
          <a:solidFill>
            <a:srgbClr val="FF6600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诗情画意">
  <a:themeElements>
    <a:clrScheme name="诗情画意 1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DC5900"/>
      </a:hlink>
      <a:folHlink>
        <a:srgbClr val="7979A5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2225" cap="flat" cmpd="sng" algn="ctr">
          <a:solidFill>
            <a:srgbClr val="FF6600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2225" cap="flat" cmpd="sng" algn="ctr">
          <a:solidFill>
            <a:srgbClr val="FF6600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9531</TotalTime>
  <Words>5457</Words>
  <Application>Microsoft Office PowerPoint</Application>
  <PresentationFormat>全屏显示(4:3)</PresentationFormat>
  <Paragraphs>1085</Paragraphs>
  <Slides>97</Slides>
  <Notes>75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97</vt:i4>
      </vt:variant>
    </vt:vector>
  </HeadingPairs>
  <TitlesOfParts>
    <vt:vector size="114" baseType="lpstr">
      <vt:lpstr>黑体</vt:lpstr>
      <vt:lpstr>华文宋体</vt:lpstr>
      <vt:lpstr>华文行楷</vt:lpstr>
      <vt:lpstr>楷体_GB2312</vt:lpstr>
      <vt:lpstr>隶书</vt:lpstr>
      <vt:lpstr>宋体</vt:lpstr>
      <vt:lpstr>Arial</vt:lpstr>
      <vt:lpstr>Calibri</vt:lpstr>
      <vt:lpstr>Tahoma</vt:lpstr>
      <vt:lpstr>Times New Roman</vt:lpstr>
      <vt:lpstr>Wingdings</vt:lpstr>
      <vt:lpstr>Blends</vt:lpstr>
      <vt:lpstr>自定义设计方案</vt:lpstr>
      <vt:lpstr>诗情画意</vt:lpstr>
      <vt:lpstr>剪辑</vt:lpstr>
      <vt:lpstr>Visio.Drawing.6</vt:lpstr>
      <vt:lpstr>Visio.Drawing.11</vt:lpstr>
      <vt:lpstr>第3章  指令系统</vt:lpstr>
      <vt:lpstr>主要内容：</vt:lpstr>
      <vt:lpstr>§3.1 概述</vt:lpstr>
      <vt:lpstr>一、指令与指令系统</vt:lpstr>
      <vt:lpstr>二、指令格式</vt:lpstr>
      <vt:lpstr>指令的一般格式</vt:lpstr>
      <vt:lpstr>指令格式：</vt:lpstr>
      <vt:lpstr>三、指令中的操作数的类型</vt:lpstr>
      <vt:lpstr>立即数操作数</vt:lpstr>
      <vt:lpstr>寄存器操作数：</vt:lpstr>
      <vt:lpstr>存储器操作数</vt:lpstr>
      <vt:lpstr>存储器操作数举例</vt:lpstr>
      <vt:lpstr>四、指令的执行速度</vt:lpstr>
      <vt:lpstr>§3.2 寻址方式(32位模式)</vt:lpstr>
      <vt:lpstr>寻址方式</vt:lpstr>
      <vt:lpstr>寻址方式</vt:lpstr>
      <vt:lpstr>一、立即寻址</vt:lpstr>
      <vt:lpstr>二、寄存器寻址</vt:lpstr>
      <vt:lpstr>三、直接寻址</vt:lpstr>
      <vt:lpstr>PowerPoint 演示文稿</vt:lpstr>
      <vt:lpstr>PowerPoint 演示文稿</vt:lpstr>
      <vt:lpstr>四、寄存器间接寻址</vt:lpstr>
      <vt:lpstr>PowerPoint 演示文稿</vt:lpstr>
      <vt:lpstr>五、寄存器相对寻址</vt:lpstr>
      <vt:lpstr>六、基址-变址寻址</vt:lpstr>
      <vt:lpstr>例：</vt:lpstr>
      <vt:lpstr>PowerPoint 演示文稿</vt:lpstr>
      <vt:lpstr>七、隐含寻址</vt:lpstr>
      <vt:lpstr>§3.3 80x86指令系统</vt:lpstr>
      <vt:lpstr>掌握：</vt:lpstr>
      <vt:lpstr>整数操作类指令</vt:lpstr>
      <vt:lpstr>数据传送指令</vt:lpstr>
      <vt:lpstr>一、通用数据传送</vt:lpstr>
      <vt:lpstr>1. 一般数据传送指令</vt:lpstr>
      <vt:lpstr>MOV指令使用上的注意</vt:lpstr>
      <vt:lpstr>MOV指令的传送方向示意图</vt:lpstr>
      <vt:lpstr>MOV传送指令示例</vt:lpstr>
      <vt:lpstr>一般数据传送指令应用例</vt:lpstr>
      <vt:lpstr>零扩展和符号扩展传送指令 MOVZX/MOVSX</vt:lpstr>
      <vt:lpstr>PowerPoint 演示文稿</vt:lpstr>
      <vt:lpstr>PowerPoint 演示文稿</vt:lpstr>
      <vt:lpstr>2. 堆栈操作指令</vt:lpstr>
      <vt:lpstr>堆栈操作指令</vt:lpstr>
      <vt:lpstr>压栈指令 PUSH</vt:lpstr>
      <vt:lpstr>压栈指令的操作示例</vt:lpstr>
      <vt:lpstr>出栈指令POP</vt:lpstr>
      <vt:lpstr>出栈指令的操作示例</vt:lpstr>
      <vt:lpstr>使用注意：</vt:lpstr>
      <vt:lpstr>堆栈操作指令示例</vt:lpstr>
      <vt:lpstr>PowerPoint 演示文稿</vt:lpstr>
      <vt:lpstr>PowerPoint 演示文稿</vt:lpstr>
      <vt:lpstr>3. 交换指令</vt:lpstr>
      <vt:lpstr>二、输入输出指令</vt:lpstr>
      <vt:lpstr>输入输出指令</vt:lpstr>
      <vt:lpstr>指令寻址方式</vt:lpstr>
      <vt:lpstr>I/O指令例</vt:lpstr>
      <vt:lpstr>三、取偏移地址指令LEA</vt:lpstr>
      <vt:lpstr>PowerPoint 演示文稿</vt:lpstr>
      <vt:lpstr>例：比较指令 MOV  EBX，[EAX]与LEA   EBX，[EAX]               设EAX=10000H</vt:lpstr>
      <vt:lpstr>又例如：</vt:lpstr>
      <vt:lpstr>LEA指令在程序中的应用示例</vt:lpstr>
      <vt:lpstr>LEA指令在程序中的应用示例</vt:lpstr>
      <vt:lpstr>LEA指令在程序中的应用示例</vt:lpstr>
      <vt:lpstr>四、标志位操作指令LAHF/SAHF</vt:lpstr>
      <vt:lpstr>算术运算类指令</vt:lpstr>
      <vt:lpstr>算术运算类指令</vt:lpstr>
      <vt:lpstr>一、加法指令</vt:lpstr>
      <vt:lpstr>1. ADD指令</vt:lpstr>
      <vt:lpstr>ADD指令例</vt:lpstr>
      <vt:lpstr>2. ADC指令</vt:lpstr>
      <vt:lpstr>ADC指令应用例——求两个大数的和，两个数的长度都为20字节。</vt:lpstr>
      <vt:lpstr>3. INC指令</vt:lpstr>
      <vt:lpstr>二、减法指令</vt:lpstr>
      <vt:lpstr>1. SUB指令</vt:lpstr>
      <vt:lpstr>2. SBB指令</vt:lpstr>
      <vt:lpstr>3. DEC指令</vt:lpstr>
      <vt:lpstr>例如</vt:lpstr>
      <vt:lpstr>应用程序示例</vt:lpstr>
      <vt:lpstr>4. NEG指令</vt:lpstr>
      <vt:lpstr>对标志位的影响</vt:lpstr>
      <vt:lpstr>5. CMP指令</vt:lpstr>
      <vt:lpstr>两个数大小的比较</vt:lpstr>
      <vt:lpstr>PowerPoint 演示文稿</vt:lpstr>
      <vt:lpstr>CMP指令示例</vt:lpstr>
      <vt:lpstr>实现程序</vt:lpstr>
      <vt:lpstr>三、乘法指令</vt:lpstr>
      <vt:lpstr>1. 无符号数乘法指令</vt:lpstr>
      <vt:lpstr>PowerPoint 演示文稿</vt:lpstr>
      <vt:lpstr>PowerPoint 演示文稿</vt:lpstr>
      <vt:lpstr>3. 32位模式新增IMUL指令格式 </vt:lpstr>
      <vt:lpstr>四、除法指令</vt:lpstr>
      <vt:lpstr>字节到字的扩展指令CBW</vt:lpstr>
      <vt:lpstr>双字到四字的扩展指令CDQ</vt:lpstr>
      <vt:lpstr>五、BCD码调整指令</vt:lpstr>
      <vt:lpstr>十进制数的表示—BCD码</vt:lpstr>
      <vt:lpstr>PowerPoint 演示文稿</vt:lpstr>
      <vt:lpstr>十进制数(BCD码)的运算有两种方法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微型计算机基础</dc:title>
  <dc:creator>Xiangguo Yan</dc:creator>
  <cp:lastModifiedBy>liaoj</cp:lastModifiedBy>
  <cp:revision>578</cp:revision>
  <cp:lastPrinted>1995-12-08T18:33:06Z</cp:lastPrinted>
  <dcterms:created xsi:type="dcterms:W3CDTF">2002-02-18T14:13:56Z</dcterms:created>
  <dcterms:modified xsi:type="dcterms:W3CDTF">2023-09-20T07:41:54Z</dcterms:modified>
</cp:coreProperties>
</file>
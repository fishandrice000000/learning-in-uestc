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7"/>
  </p:notesMasterIdLst>
  <p:sldIdLst>
    <p:sldId id="256" r:id="rId3"/>
    <p:sldId id="351" r:id="rId4"/>
    <p:sldId id="257" r:id="rId5"/>
    <p:sldId id="258" r:id="rId6"/>
    <p:sldId id="261" r:id="rId7"/>
    <p:sldId id="262" r:id="rId8"/>
    <p:sldId id="264" r:id="rId9"/>
    <p:sldId id="265" r:id="rId10"/>
    <p:sldId id="266" r:id="rId11"/>
    <p:sldId id="267" r:id="rId12"/>
    <p:sldId id="357" r:id="rId13"/>
    <p:sldId id="271" r:id="rId14"/>
    <p:sldId id="358" r:id="rId15"/>
    <p:sldId id="272" r:id="rId16"/>
    <p:sldId id="273" r:id="rId17"/>
    <p:sldId id="275" r:id="rId18"/>
    <p:sldId id="276" r:id="rId19"/>
    <p:sldId id="277" r:id="rId20"/>
    <p:sldId id="278" r:id="rId21"/>
    <p:sldId id="356" r:id="rId22"/>
    <p:sldId id="279" r:id="rId23"/>
    <p:sldId id="280" r:id="rId24"/>
    <p:sldId id="281" r:id="rId25"/>
    <p:sldId id="359"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386" r:id="rId43"/>
    <p:sldId id="298" r:id="rId44"/>
    <p:sldId id="299" r:id="rId45"/>
    <p:sldId id="360" r:id="rId46"/>
    <p:sldId id="300" r:id="rId47"/>
    <p:sldId id="301" r:id="rId48"/>
    <p:sldId id="302" r:id="rId49"/>
    <p:sldId id="303" r:id="rId50"/>
    <p:sldId id="305" r:id="rId51"/>
    <p:sldId id="306" r:id="rId52"/>
    <p:sldId id="328" r:id="rId53"/>
    <p:sldId id="329" r:id="rId54"/>
    <p:sldId id="373" r:id="rId55"/>
    <p:sldId id="372" r:id="rId56"/>
    <p:sldId id="374" r:id="rId57"/>
    <p:sldId id="375" r:id="rId58"/>
    <p:sldId id="376" r:id="rId59"/>
    <p:sldId id="377" r:id="rId60"/>
    <p:sldId id="378" r:id="rId61"/>
    <p:sldId id="379" r:id="rId62"/>
    <p:sldId id="380" r:id="rId63"/>
    <p:sldId id="381" r:id="rId64"/>
    <p:sldId id="382" r:id="rId65"/>
    <p:sldId id="383" r:id="rId66"/>
    <p:sldId id="384" r:id="rId67"/>
    <p:sldId id="385" r:id="rId68"/>
    <p:sldId id="330" r:id="rId69"/>
    <p:sldId id="331" r:id="rId70"/>
    <p:sldId id="333" r:id="rId71"/>
    <p:sldId id="387" r:id="rId72"/>
    <p:sldId id="430" r:id="rId73"/>
    <p:sldId id="431" r:id="rId74"/>
    <p:sldId id="432" r:id="rId75"/>
    <p:sldId id="433" r:id="rId76"/>
    <p:sldId id="434" r:id="rId77"/>
    <p:sldId id="435" r:id="rId78"/>
    <p:sldId id="436" r:id="rId79"/>
    <p:sldId id="437" r:id="rId80"/>
    <p:sldId id="438" r:id="rId81"/>
    <p:sldId id="439" r:id="rId82"/>
    <p:sldId id="440" r:id="rId83"/>
    <p:sldId id="441" r:id="rId84"/>
    <p:sldId id="442" r:id="rId85"/>
    <p:sldId id="443" r:id="rId86"/>
  </p:sldIdLst>
  <p:sldSz cx="9144000" cy="6858000" type="screen4x3"/>
  <p:notesSz cx="6858000" cy="9144000"/>
  <p:defaultTextStyle>
    <a:defPPr>
      <a:defRPr lang="zh-CN"/>
    </a:defPPr>
    <a:lvl1pPr algn="l" rtl="0" fontAlgn="base">
      <a:spcBef>
        <a:spcPct val="0"/>
      </a:spcBef>
      <a:spcAft>
        <a:spcPct val="0"/>
      </a:spcAft>
      <a:buFont typeface="Arial" pitchFamily="34" charset="0"/>
      <a:defRPr sz="28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buFont typeface="Arial" pitchFamily="34" charset="0"/>
      <a:defRPr sz="28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buFont typeface="Arial" pitchFamily="34" charset="0"/>
      <a:defRPr sz="28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buFont typeface="Arial" pitchFamily="34" charset="0"/>
      <a:defRPr sz="28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buFont typeface="Arial" pitchFamily="34" charset="0"/>
      <a:defRPr sz="2800" kern="1200">
        <a:solidFill>
          <a:schemeClr val="tx1"/>
        </a:solidFill>
        <a:latin typeface="Times New Roman" pitchFamily="18" charset="0"/>
        <a:ea typeface="宋体" pitchFamily="2" charset="-122"/>
        <a:cs typeface="+mn-cs"/>
      </a:defRPr>
    </a:lvl5pPr>
    <a:lvl6pPr marL="2286000" algn="l" defTabSz="914400" rtl="0" eaLnBrk="1" latinLnBrk="0" hangingPunct="1">
      <a:defRPr sz="2800" kern="1200">
        <a:solidFill>
          <a:schemeClr val="tx1"/>
        </a:solidFill>
        <a:latin typeface="Times New Roman" pitchFamily="18" charset="0"/>
        <a:ea typeface="宋体" pitchFamily="2" charset="-122"/>
        <a:cs typeface="+mn-cs"/>
      </a:defRPr>
    </a:lvl6pPr>
    <a:lvl7pPr marL="2743200" algn="l" defTabSz="914400" rtl="0" eaLnBrk="1" latinLnBrk="0" hangingPunct="1">
      <a:defRPr sz="2800" kern="1200">
        <a:solidFill>
          <a:schemeClr val="tx1"/>
        </a:solidFill>
        <a:latin typeface="Times New Roman" pitchFamily="18" charset="0"/>
        <a:ea typeface="宋体" pitchFamily="2" charset="-122"/>
        <a:cs typeface="+mn-cs"/>
      </a:defRPr>
    </a:lvl7pPr>
    <a:lvl8pPr marL="3200400" algn="l" defTabSz="914400" rtl="0" eaLnBrk="1" latinLnBrk="0" hangingPunct="1">
      <a:defRPr sz="2800" kern="1200">
        <a:solidFill>
          <a:schemeClr val="tx1"/>
        </a:solidFill>
        <a:latin typeface="Times New Roman" pitchFamily="18" charset="0"/>
        <a:ea typeface="宋体" pitchFamily="2" charset="-122"/>
        <a:cs typeface="+mn-cs"/>
      </a:defRPr>
    </a:lvl8pPr>
    <a:lvl9pPr marL="3657600" algn="l" defTabSz="914400" rtl="0" eaLnBrk="1" latinLnBrk="0" hangingPunct="1">
      <a:defRPr sz="28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5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ao jianming" initials="L jm" lastIdx="1" clrIdx="0">
    <p:extLst>
      <p:ext uri="{19B8F6BF-5375-455C-9EA6-DF929625EA0E}">
        <p15:presenceInfo xmlns:p15="http://schemas.microsoft.com/office/powerpoint/2012/main" userId="Liao jianming" providerId="None"/>
      </p:ext>
    </p:extLst>
  </p:cmAuthor>
  <p:cmAuthor id="2" name="liaoj" initials="l" lastIdx="1" clrIdx="1">
    <p:extLst>
      <p:ext uri="{19B8F6BF-5375-455C-9EA6-DF929625EA0E}">
        <p15:presenceInfo xmlns:p15="http://schemas.microsoft.com/office/powerpoint/2012/main" userId="b4d93a93c19b5cd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33CC33"/>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189" autoAdjust="0"/>
  </p:normalViewPr>
  <p:slideViewPr>
    <p:cSldViewPr>
      <p:cViewPr varScale="1">
        <p:scale>
          <a:sx n="64" d="100"/>
          <a:sy n="64" d="100"/>
        </p:scale>
        <p:origin x="1231" y="34"/>
      </p:cViewPr>
      <p:guideLst>
        <p:guide orient="horz" pos="2160"/>
        <p:guide pos="285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052" name="Rectangle 4"/>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vl1pPr>
          </a:lstStyle>
          <a:p>
            <a:fld id="{1DE0C311-EC4E-419F-85FF-F47C86322F30}" type="slidenum">
              <a:rPr lang="en-US" altLang="zh-CN"/>
              <a:pPr/>
              <a:t>‹#›</a:t>
            </a:fld>
            <a:endParaRPr lang="en-US" altLang="zh-CN"/>
          </a:p>
        </p:txBody>
      </p:sp>
    </p:spTree>
    <p:extLst>
      <p:ext uri="{BB962C8B-B14F-4D97-AF65-F5344CB8AC3E}">
        <p14:creationId xmlns:p14="http://schemas.microsoft.com/office/powerpoint/2010/main" val="14768839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baidu.com/link?url=QBtsS74GXFU0VhcgoJk3-p77tMCXNbKW7zooxVkslRMxv9kzphcBe2anGy9G4XMnUAyQsfQslVkFmzMop7iU70713VL8tCpU54SwDbdRmXtwejD1AzJhGFQDjsoiz0mO"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www.baidu.com/link?url=2-zOqSypr3bTjGq5VlgEjhY6j21_iXSjsqDBikEBXTKK9iXQ5oiANC0ZxgaadJC-EkiVCAPKZRS0ZQ6pKDR9ViAuvQYlluPsuaxvOwshn-u"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二进制</a:t>
            </a:r>
            <a:r>
              <a:rPr lang="en-US" altLang="zh-CN" dirty="0"/>
              <a:t>:Binary  </a:t>
            </a:r>
            <a:r>
              <a:rPr lang="zh-CN" altLang="en-US" dirty="0"/>
              <a:t>八进制</a:t>
            </a:r>
            <a:r>
              <a:rPr lang="en-US" altLang="zh-CN" dirty="0"/>
              <a:t>:Octal </a:t>
            </a:r>
            <a:r>
              <a:rPr lang="zh-CN" altLang="en-US" dirty="0"/>
              <a:t>十进制：</a:t>
            </a:r>
            <a:r>
              <a:rPr lang="en-US" altLang="zh-CN" sz="1200" b="1" i="0" u="none" strike="noStrike" kern="1200" dirty="0">
                <a:solidFill>
                  <a:schemeClr val="bg2"/>
                </a:solidFill>
                <a:effectLst/>
                <a:latin typeface="Times New Roman" pitchFamily="18" charset="0"/>
                <a:ea typeface="宋体" pitchFamily="2" charset="-122"/>
                <a:cs typeface="+mn-cs"/>
                <a:hlinkClick r:id="rId3"/>
              </a:rPr>
              <a:t>decimal</a:t>
            </a:r>
            <a:r>
              <a:rPr lang="en-US" altLang="zh-CN" sz="1200" b="0" i="0" u="none" strike="noStrike" kern="1200" dirty="0">
                <a:solidFill>
                  <a:schemeClr val="tx1"/>
                </a:solidFill>
                <a:effectLst/>
                <a:latin typeface="Times New Roman" pitchFamily="18" charset="0"/>
                <a:ea typeface="宋体" pitchFamily="2" charset="-122"/>
                <a:cs typeface="+mn-cs"/>
                <a:hlinkClick r:id="rId3"/>
              </a:rPr>
              <a:t> </a:t>
            </a:r>
            <a:r>
              <a:rPr lang="en-US" altLang="zh-CN" sz="1200" b="0" i="0" u="none" strike="noStrike" kern="1200" dirty="0">
                <a:solidFill>
                  <a:schemeClr val="tx1"/>
                </a:solidFill>
                <a:effectLst/>
                <a:latin typeface="Times New Roman" pitchFamily="18" charset="0"/>
                <a:ea typeface="宋体" pitchFamily="2" charset="-122"/>
                <a:cs typeface="+mn-cs"/>
              </a:rPr>
              <a:t>  </a:t>
            </a:r>
            <a:r>
              <a:rPr lang="zh-CN" altLang="en-US" sz="1200" b="0" i="0" u="none" strike="noStrike" kern="1200" dirty="0">
                <a:solidFill>
                  <a:schemeClr val="tx1"/>
                </a:solidFill>
                <a:effectLst/>
                <a:latin typeface="Times New Roman" pitchFamily="18" charset="0"/>
                <a:ea typeface="宋体" pitchFamily="2" charset="-122"/>
                <a:cs typeface="+mn-cs"/>
              </a:rPr>
              <a:t>十六进制：</a:t>
            </a:r>
            <a:r>
              <a:rPr lang="en-US" altLang="zh-CN" sz="1200" b="0" i="0" u="none" strike="noStrike" kern="1200" dirty="0" smtClean="0">
                <a:solidFill>
                  <a:schemeClr val="bg2"/>
                </a:solidFill>
                <a:effectLst/>
                <a:latin typeface="Times New Roman" pitchFamily="18" charset="0"/>
                <a:ea typeface="宋体" pitchFamily="2" charset="-122"/>
                <a:cs typeface="+mn-cs"/>
                <a:hlinkClick r:id="rId4"/>
              </a:rPr>
              <a:t>hexadecimal</a:t>
            </a:r>
            <a:endParaRPr lang="en-US" altLang="zh-CN" sz="1200" b="0" i="0" u="none" strike="noStrike" kern="1200" dirty="0" smtClean="0">
              <a:solidFill>
                <a:schemeClr val="bg2"/>
              </a:solidFill>
              <a:effectLst/>
              <a:latin typeface="Times New Roman" pitchFamily="18" charset="0"/>
              <a:ea typeface="宋体" pitchFamily="2" charset="-122"/>
              <a:cs typeface="+mn-cs"/>
            </a:endParaRPr>
          </a:p>
          <a:p>
            <a:r>
              <a:rPr lang="zh-CN" altLang="en-US" sz="1200" b="1" dirty="0" smtClean="0">
                <a:solidFill>
                  <a:schemeClr val="bg2"/>
                </a:solidFill>
              </a:rPr>
              <a:t>实数转换为</a:t>
            </a:r>
            <a:r>
              <a:rPr lang="en-US" altLang="zh-CN" sz="1200" b="1" dirty="0" smtClean="0">
                <a:solidFill>
                  <a:schemeClr val="bg2"/>
                </a:solidFill>
              </a:rPr>
              <a:t>4</a:t>
            </a:r>
            <a:r>
              <a:rPr lang="zh-CN" altLang="en-US" sz="1200" b="1" dirty="0" smtClean="0">
                <a:solidFill>
                  <a:schemeClr val="bg2"/>
                </a:solidFill>
              </a:rPr>
              <a:t>字节、</a:t>
            </a:r>
            <a:r>
              <a:rPr lang="en-US" altLang="zh-CN" sz="1200" b="1" dirty="0" smtClean="0">
                <a:solidFill>
                  <a:schemeClr val="bg2"/>
                </a:solidFill>
              </a:rPr>
              <a:t>8</a:t>
            </a:r>
            <a:r>
              <a:rPr lang="zh-CN" altLang="en-US" sz="1200" b="1" dirty="0" smtClean="0">
                <a:solidFill>
                  <a:schemeClr val="bg2"/>
                </a:solidFill>
              </a:rPr>
              <a:t>字节或</a:t>
            </a:r>
            <a:r>
              <a:rPr lang="en-US" altLang="zh-CN" sz="1200" b="1" dirty="0" smtClean="0">
                <a:solidFill>
                  <a:schemeClr val="bg2"/>
                </a:solidFill>
              </a:rPr>
              <a:t>10</a:t>
            </a:r>
            <a:r>
              <a:rPr lang="zh-CN" altLang="en-US" sz="1200" b="1" dirty="0" smtClean="0">
                <a:solidFill>
                  <a:schemeClr val="bg2"/>
                </a:solidFill>
              </a:rPr>
              <a:t>字节的二进制数形式存放对应称为单精度、双精度和双精度扩展浮点数。</a:t>
            </a:r>
            <a:endParaRPr lang="zh-CN" altLang="en-US" dirty="0">
              <a:solidFill>
                <a:schemeClr val="bg2"/>
              </a:solidFill>
            </a:endParaRPr>
          </a:p>
        </p:txBody>
      </p:sp>
      <p:sp>
        <p:nvSpPr>
          <p:cNvPr id="4" name="灯片编号占位符 3"/>
          <p:cNvSpPr>
            <a:spLocks noGrp="1"/>
          </p:cNvSpPr>
          <p:nvPr>
            <p:ph type="sldNum" sz="quarter" idx="10"/>
          </p:nvPr>
        </p:nvSpPr>
        <p:spPr/>
        <p:txBody>
          <a:bodyPr/>
          <a:lstStyle/>
          <a:p>
            <a:fld id="{1DE0C311-EC4E-419F-85FF-F47C86322F30}" type="slidenum">
              <a:rPr lang="en-US" altLang="zh-CN" smtClean="0"/>
              <a:pPr/>
              <a:t>10</a:t>
            </a:fld>
            <a:endParaRPr lang="en-US" altLang="zh-CN" dirty="0"/>
          </a:p>
        </p:txBody>
      </p:sp>
    </p:spTree>
    <p:extLst>
      <p:ext uri="{BB962C8B-B14F-4D97-AF65-F5344CB8AC3E}">
        <p14:creationId xmlns:p14="http://schemas.microsoft.com/office/powerpoint/2010/main" val="1606057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sz="1200" dirty="0" err="1"/>
              <a:t>DT:define</a:t>
            </a:r>
            <a:r>
              <a:rPr lang="en-US" altLang="zh-CN" sz="1200" dirty="0"/>
              <a:t> ten bytes </a:t>
            </a:r>
          </a:p>
          <a:p>
            <a:pPr eaLnBrk="1" hangingPunct="1"/>
            <a:r>
              <a:rPr lang="en-US" altLang="zh-CN" sz="1200" i="1" u="sng" dirty="0"/>
              <a:t>DQ</a:t>
            </a:r>
            <a:r>
              <a:rPr lang="zh-CN" altLang="en-US" sz="1200" dirty="0"/>
              <a:t>（</a:t>
            </a:r>
            <a:r>
              <a:rPr lang="en-US" altLang="zh-CN" sz="1200" dirty="0"/>
              <a:t>define </a:t>
            </a:r>
            <a:r>
              <a:rPr lang="en-US" altLang="zh-CN" sz="1200" dirty="0" err="1"/>
              <a:t>quadword</a:t>
            </a:r>
            <a:r>
              <a:rPr lang="zh-CN" altLang="en-US" sz="1200" dirty="0"/>
              <a:t>四倍字长） </a:t>
            </a:r>
          </a:p>
          <a:p>
            <a:pPr eaLnBrk="1" hangingPunct="1"/>
            <a:endParaRPr lang="en-US" altLang="zh-CN" sz="1200" dirty="0"/>
          </a:p>
        </p:txBody>
      </p:sp>
      <p:sp>
        <p:nvSpPr>
          <p:cNvPr id="4" name="灯片编号占位符 3"/>
          <p:cNvSpPr>
            <a:spLocks noGrp="1"/>
          </p:cNvSpPr>
          <p:nvPr>
            <p:ph type="sldNum" sz="quarter" idx="10"/>
          </p:nvPr>
        </p:nvSpPr>
        <p:spPr/>
        <p:txBody>
          <a:bodyPr/>
          <a:lstStyle/>
          <a:p>
            <a:fld id="{1DE0C311-EC4E-419F-85FF-F47C86322F30}" type="slidenum">
              <a:rPr lang="en-US" altLang="zh-CN" smtClean="0"/>
              <a:pPr/>
              <a:t>13</a:t>
            </a:fld>
            <a:endParaRPr lang="en-US" altLang="zh-CN"/>
          </a:p>
        </p:txBody>
      </p:sp>
    </p:spTree>
    <p:extLst>
      <p:ext uri="{BB962C8B-B14F-4D97-AF65-F5344CB8AC3E}">
        <p14:creationId xmlns:p14="http://schemas.microsoft.com/office/powerpoint/2010/main" val="1134628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0CA43383-4A11-475F-A2E7-96C1AEFFED89}" type="slidenum">
              <a:rPr lang="en-US" altLang="zh-CN" sz="1200"/>
              <a:pPr algn="r" eaLnBrk="1" hangingPunct="1"/>
              <a:t>14</a:t>
            </a:fld>
            <a:endParaRPr lang="en-US" altLang="zh-CN" sz="1200"/>
          </a:p>
        </p:txBody>
      </p:sp>
      <p:sp>
        <p:nvSpPr>
          <p:cNvPr id="23555" name="Rectangle 2"/>
          <p:cNvSpPr>
            <a:spLocks noGrp="1" noRot="1" noChangeAspect="1" noChangeArrowheads="1" noTextEdit="1"/>
          </p:cNvSpPr>
          <p:nvPr>
            <p:ph type="sldImg"/>
          </p:nvPr>
        </p:nvSpPr>
        <p:spPr/>
      </p:sp>
      <p:sp>
        <p:nvSpPr>
          <p:cNvPr id="23556" name="Rectangle 3"/>
          <p:cNvSpPr>
            <a:spLocks noGrp="1" noChangeArrowheads="1"/>
          </p:cNvSpPr>
          <p:nvPr>
            <p:ph type="body" idx="1"/>
          </p:nvPr>
        </p:nvSpPr>
        <p:spPr/>
        <p:txBody>
          <a:bodyPr anchor="t"/>
          <a:lstStyle/>
          <a:p>
            <a:pPr eaLnBrk="1" hangingPunct="1"/>
            <a:endParaRPr lang="en-US" altLang="zh-CN" sz="2000" dirty="0"/>
          </a:p>
        </p:txBody>
      </p:sp>
    </p:spTree>
    <p:extLst>
      <p:ext uri="{BB962C8B-B14F-4D97-AF65-F5344CB8AC3E}">
        <p14:creationId xmlns:p14="http://schemas.microsoft.com/office/powerpoint/2010/main" val="405540856"/>
      </p:ext>
    </p:extLst>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如果变量没有在中括号里，则只能放在用中括号之前，不能放在后面。</a:t>
            </a:r>
          </a:p>
        </p:txBody>
      </p:sp>
      <p:sp>
        <p:nvSpPr>
          <p:cNvPr id="4" name="灯片编号占位符 3"/>
          <p:cNvSpPr>
            <a:spLocks noGrp="1"/>
          </p:cNvSpPr>
          <p:nvPr>
            <p:ph type="sldNum" sz="quarter" idx="10"/>
          </p:nvPr>
        </p:nvSpPr>
        <p:spPr/>
        <p:txBody>
          <a:bodyPr/>
          <a:lstStyle/>
          <a:p>
            <a:fld id="{1DE0C311-EC4E-419F-85FF-F47C86322F30}" type="slidenum">
              <a:rPr lang="en-US" altLang="zh-CN" smtClean="0"/>
              <a:pPr/>
              <a:t>36</a:t>
            </a:fld>
            <a:endParaRPr lang="en-US" altLang="zh-CN"/>
          </a:p>
        </p:txBody>
      </p:sp>
    </p:spTree>
    <p:extLst>
      <p:ext uri="{BB962C8B-B14F-4D97-AF65-F5344CB8AC3E}">
        <p14:creationId xmlns:p14="http://schemas.microsoft.com/office/powerpoint/2010/main" val="2837608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E0C311-EC4E-419F-85FF-F47C86322F30}" type="slidenum">
              <a:rPr lang="en-US" altLang="zh-CN" smtClean="0"/>
              <a:pPr/>
              <a:t>39</a:t>
            </a:fld>
            <a:endParaRPr lang="en-US" altLang="zh-CN"/>
          </a:p>
        </p:txBody>
      </p:sp>
    </p:spTree>
    <p:extLst>
      <p:ext uri="{BB962C8B-B14F-4D97-AF65-F5344CB8AC3E}">
        <p14:creationId xmlns:p14="http://schemas.microsoft.com/office/powerpoint/2010/main" val="357733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DE0C311-EC4E-419F-85FF-F47C86322F30}" type="slidenum">
              <a:rPr lang="en-US" altLang="zh-CN" smtClean="0"/>
              <a:pPr/>
              <a:t>40</a:t>
            </a:fld>
            <a:endParaRPr lang="en-US" altLang="zh-CN"/>
          </a:p>
        </p:txBody>
      </p:sp>
    </p:spTree>
    <p:extLst>
      <p:ext uri="{BB962C8B-B14F-4D97-AF65-F5344CB8AC3E}">
        <p14:creationId xmlns:p14="http://schemas.microsoft.com/office/powerpoint/2010/main" val="130081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bg2"/>
                </a:solidFill>
              </a:rPr>
              <a:t>指令</a:t>
            </a:r>
            <a:r>
              <a:rPr lang="en-US" altLang="zh-CN" sz="1200" dirty="0">
                <a:solidFill>
                  <a:schemeClr val="bg2"/>
                </a:solidFill>
              </a:rPr>
              <a:t>MOV EBP, OFFSET ADDR[ESI]</a:t>
            </a:r>
            <a:r>
              <a:rPr lang="zh-CN" altLang="en-US" sz="1200" dirty="0">
                <a:solidFill>
                  <a:schemeClr val="bg2"/>
                </a:solidFill>
              </a:rPr>
              <a:t>中</a:t>
            </a:r>
            <a:r>
              <a:rPr lang="en-US" altLang="zh-CN" sz="1200" dirty="0">
                <a:solidFill>
                  <a:schemeClr val="bg2"/>
                </a:solidFill>
              </a:rPr>
              <a:t>offset</a:t>
            </a:r>
            <a:r>
              <a:rPr lang="zh-CN" altLang="en-US" sz="1200" dirty="0">
                <a:solidFill>
                  <a:schemeClr val="bg2"/>
                </a:solidFill>
              </a:rPr>
              <a:t>运算符只能取变量的偏移量，无法取到寄存器的值</a:t>
            </a:r>
            <a:r>
              <a:rPr lang="zh-CN" altLang="en-US" sz="1200" dirty="0" smtClean="0">
                <a:solidFill>
                  <a:schemeClr val="bg2"/>
                </a:solidFill>
              </a:rPr>
              <a:t>。</a:t>
            </a:r>
            <a:endParaRPr lang="en-US" altLang="zh-CN" sz="1200" dirty="0">
              <a:solidFill>
                <a:schemeClr val="bg2"/>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LEA</a:t>
            </a:r>
            <a:r>
              <a:rPr lang="zh-CN" altLang="en-US" dirty="0"/>
              <a:t>指令取出的偏移量可以送到</a:t>
            </a:r>
            <a:r>
              <a:rPr lang="en-US" altLang="zh-CN" dirty="0"/>
              <a:t>16</a:t>
            </a:r>
            <a:r>
              <a:rPr lang="zh-CN" altLang="en-US" dirty="0"/>
              <a:t>位通用寄存器，但</a:t>
            </a:r>
            <a:r>
              <a:rPr lang="en-US" altLang="zh-CN" dirty="0"/>
              <a:t>OFFSET</a:t>
            </a:r>
            <a:r>
              <a:rPr lang="zh-CN" altLang="en-US" dirty="0"/>
              <a:t>取出的偏移量不能送</a:t>
            </a:r>
            <a:r>
              <a:rPr lang="en-US" altLang="zh-CN" dirty="0"/>
              <a:t>16</a:t>
            </a:r>
            <a:r>
              <a:rPr lang="zh-CN" altLang="en-US" dirty="0"/>
              <a:t>位通用寄存器。</a:t>
            </a:r>
          </a:p>
          <a:p>
            <a:endParaRPr lang="zh-CN" altLang="en-US" dirty="0"/>
          </a:p>
        </p:txBody>
      </p:sp>
      <p:sp>
        <p:nvSpPr>
          <p:cNvPr id="4" name="灯片编号占位符 3"/>
          <p:cNvSpPr>
            <a:spLocks noGrp="1"/>
          </p:cNvSpPr>
          <p:nvPr>
            <p:ph type="sldNum" sz="quarter" idx="10"/>
          </p:nvPr>
        </p:nvSpPr>
        <p:spPr/>
        <p:txBody>
          <a:bodyPr/>
          <a:lstStyle/>
          <a:p>
            <a:fld id="{1DE0C311-EC4E-419F-85FF-F47C86322F30}" type="slidenum">
              <a:rPr lang="en-US" altLang="zh-CN" smtClean="0"/>
              <a:pPr/>
              <a:t>41</a:t>
            </a:fld>
            <a:endParaRPr lang="en-US" altLang="zh-CN"/>
          </a:p>
        </p:txBody>
      </p:sp>
    </p:spTree>
    <p:extLst>
      <p:ext uri="{BB962C8B-B14F-4D97-AF65-F5344CB8AC3E}">
        <p14:creationId xmlns:p14="http://schemas.microsoft.com/office/powerpoint/2010/main" val="804833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使用寄存器返回参数是指在过程的功能语句中把过程中的某些参数值送入某些寄存器中，而在调用该过程的上级过程中可以从这些寄存器中获取到参数值。</a:t>
            </a:r>
            <a:endParaRPr lang="zh-CN" altLang="en-US" dirty="0"/>
          </a:p>
        </p:txBody>
      </p:sp>
      <p:sp>
        <p:nvSpPr>
          <p:cNvPr id="4" name="灯片编号占位符 3"/>
          <p:cNvSpPr>
            <a:spLocks noGrp="1"/>
          </p:cNvSpPr>
          <p:nvPr>
            <p:ph type="sldNum" sz="quarter" idx="10"/>
          </p:nvPr>
        </p:nvSpPr>
        <p:spPr/>
        <p:txBody>
          <a:bodyPr/>
          <a:lstStyle/>
          <a:p>
            <a:fld id="{1DE0C311-EC4E-419F-85FF-F47C86322F30}" type="slidenum">
              <a:rPr lang="en-US" altLang="zh-CN" smtClean="0"/>
              <a:pPr/>
              <a:t>53</a:t>
            </a:fld>
            <a:endParaRPr lang="en-US" altLang="zh-CN"/>
          </a:p>
        </p:txBody>
      </p:sp>
    </p:spTree>
    <p:extLst>
      <p:ext uri="{BB962C8B-B14F-4D97-AF65-F5344CB8AC3E}">
        <p14:creationId xmlns:p14="http://schemas.microsoft.com/office/powerpoint/2010/main" val="1859246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伪指令</a:t>
            </a:r>
            <a:r>
              <a:rPr lang="en-US" altLang="zh-CN" dirty="0"/>
              <a:t>invoke</a:t>
            </a:r>
            <a:r>
              <a:rPr lang="zh-CN" altLang="en-US" dirty="0"/>
              <a:t>调用</a:t>
            </a:r>
            <a:r>
              <a:rPr lang="zh-CN" altLang="en-US" dirty="0" smtClean="0"/>
              <a:t>过程时可以后跟参数，根据</a:t>
            </a:r>
            <a:r>
              <a:rPr lang="zh-CN" altLang="en-US" dirty="0"/>
              <a:t>过程定义中是否有参数，编译器翻译成：参数压栈</a:t>
            </a:r>
            <a:r>
              <a:rPr lang="en-US" altLang="zh-CN" dirty="0"/>
              <a:t>+CALL</a:t>
            </a:r>
            <a:r>
              <a:rPr lang="zh-CN" altLang="en-US" dirty="0"/>
              <a:t>指令或</a:t>
            </a:r>
            <a:r>
              <a:rPr lang="en-US" altLang="zh-CN" dirty="0"/>
              <a:t>CALL</a:t>
            </a:r>
            <a:r>
              <a:rPr lang="zh-CN" altLang="en-US" dirty="0"/>
              <a:t>指令。</a:t>
            </a:r>
            <a:endParaRPr lang="en-US" altLang="zh-CN" dirty="0"/>
          </a:p>
          <a:p>
            <a:r>
              <a:rPr lang="zh-CN" altLang="en-US" dirty="0"/>
              <a:t>用户主程序若只在最后安排一条</a:t>
            </a:r>
            <a:r>
              <a:rPr lang="en-US" altLang="zh-CN" dirty="0"/>
              <a:t>ret</a:t>
            </a:r>
            <a:r>
              <a:rPr lang="zh-CN" altLang="en-US" dirty="0"/>
              <a:t>指令是无法返回操作系统的。</a:t>
            </a:r>
          </a:p>
        </p:txBody>
      </p:sp>
      <p:sp>
        <p:nvSpPr>
          <p:cNvPr id="4" name="灯片编号占位符 3"/>
          <p:cNvSpPr>
            <a:spLocks noGrp="1"/>
          </p:cNvSpPr>
          <p:nvPr>
            <p:ph type="sldNum" sz="quarter" idx="10"/>
          </p:nvPr>
        </p:nvSpPr>
        <p:spPr/>
        <p:txBody>
          <a:bodyPr/>
          <a:lstStyle/>
          <a:p>
            <a:fld id="{1DE0C311-EC4E-419F-85FF-F47C86322F30}" type="slidenum">
              <a:rPr lang="en-US" altLang="zh-CN" smtClean="0"/>
              <a:pPr/>
              <a:t>54</a:t>
            </a:fld>
            <a:endParaRPr lang="en-US" altLang="zh-CN"/>
          </a:p>
        </p:txBody>
      </p:sp>
    </p:spTree>
    <p:extLst>
      <p:ext uri="{BB962C8B-B14F-4D97-AF65-F5344CB8AC3E}">
        <p14:creationId xmlns:p14="http://schemas.microsoft.com/office/powerpoint/2010/main" val="645516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fld id="{1DE0C311-EC4E-419F-85FF-F47C86322F30}" type="slidenum">
              <a:rPr kumimoji="0" lang="en-US" altLang="zh-CN" sz="12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t>57</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87583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DE0C311-EC4E-419F-85FF-F47C86322F30}" type="slidenum">
              <a:rPr lang="en-US" altLang="zh-CN" smtClean="0"/>
              <a:pPr/>
              <a:t>58</a:t>
            </a:fld>
            <a:endParaRPr lang="en-US" altLang="zh-CN"/>
          </a:p>
        </p:txBody>
      </p:sp>
    </p:spTree>
    <p:extLst>
      <p:ext uri="{BB962C8B-B14F-4D97-AF65-F5344CB8AC3E}">
        <p14:creationId xmlns:p14="http://schemas.microsoft.com/office/powerpoint/2010/main" val="3357325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这里的库文件包含了动态链接库文件（</a:t>
            </a:r>
            <a:r>
              <a:rPr lang="en-US" altLang="zh-CN" dirty="0"/>
              <a:t>DLL</a:t>
            </a:r>
            <a:r>
              <a:rPr lang="zh-CN" altLang="en-US" dirty="0"/>
              <a:t>）和对应的导入库文件（</a:t>
            </a:r>
            <a:r>
              <a:rPr lang="en-US" altLang="zh-CN" dirty="0"/>
              <a:t>.LIB</a:t>
            </a:r>
            <a:r>
              <a:rPr lang="zh-CN" altLang="en-US" dirty="0"/>
              <a:t>）两层含义，</a:t>
            </a:r>
            <a:r>
              <a:rPr lang="en-US" altLang="zh-CN" dirty="0"/>
              <a:t>API</a:t>
            </a:r>
            <a:r>
              <a:rPr lang="zh-CN" altLang="en-US" dirty="0"/>
              <a:t>函数对应的目标代码在</a:t>
            </a:r>
            <a:r>
              <a:rPr lang="en-US" altLang="zh-CN" dirty="0"/>
              <a:t>DLL</a:t>
            </a:r>
            <a:r>
              <a:rPr lang="zh-CN" altLang="en-US" dirty="0"/>
              <a:t>文件中，而对应的导入库文件</a:t>
            </a:r>
            <a:r>
              <a:rPr lang="zh-CN" altLang="en-US" sz="1200" b="0" i="0" kern="1200" dirty="0">
                <a:solidFill>
                  <a:schemeClr val="tx1"/>
                </a:solidFill>
                <a:effectLst/>
                <a:latin typeface="Times New Roman" pitchFamily="18" charset="0"/>
                <a:ea typeface="宋体" pitchFamily="2" charset="-122"/>
                <a:cs typeface="+mn-cs"/>
              </a:rPr>
              <a:t>只包含了函数的地址符号表等确保程序能找到对应函数的一些基本地址信息。在源</a:t>
            </a:r>
            <a:r>
              <a:rPr lang="zh-CN" altLang="en-US" dirty="0"/>
              <a:t>程序中将导入库文件（</a:t>
            </a:r>
            <a:r>
              <a:rPr lang="en-US" altLang="zh-CN" dirty="0"/>
              <a:t>.LIB</a:t>
            </a:r>
            <a:r>
              <a:rPr lang="zh-CN" altLang="en-US" dirty="0"/>
              <a:t>）包含进去，汇编与链接生成的可执行文件中没有所调用的</a:t>
            </a:r>
            <a:r>
              <a:rPr lang="en-US" altLang="zh-CN" dirty="0"/>
              <a:t>API</a:t>
            </a:r>
            <a:r>
              <a:rPr lang="zh-CN" altLang="en-US" dirty="0"/>
              <a:t>函数的代码。在执行该程序时，才将相应的</a:t>
            </a:r>
            <a:r>
              <a:rPr lang="en-US" altLang="zh-CN" dirty="0"/>
              <a:t>DLL</a:t>
            </a:r>
            <a:r>
              <a:rPr lang="zh-CN" altLang="en-US" dirty="0"/>
              <a:t>文件一起装入内存。</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fld id="{1DE0C311-EC4E-419F-85FF-F47C86322F30}" type="slidenum">
              <a:rPr kumimoji="0" lang="en-US" altLang="zh-CN" sz="12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t>61</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3272888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.data</a:t>
            </a:r>
            <a:r>
              <a:rPr lang="zh-CN" altLang="en-US" dirty="0"/>
              <a:t>与</a:t>
            </a:r>
            <a:r>
              <a:rPr lang="en-US" altLang="zh-CN" dirty="0"/>
              <a:t>.data?</a:t>
            </a:r>
            <a:r>
              <a:rPr lang="zh-CN" altLang="en-US" dirty="0"/>
              <a:t>数据段的差异：</a:t>
            </a:r>
            <a:r>
              <a:rPr lang="zh-CN" altLang="en-US" b="0" dirty="0"/>
              <a:t>源</a:t>
            </a:r>
            <a:r>
              <a:rPr kumimoji="0" lang="zh-CN" altLang="en-US" sz="12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程序被汇编时，若是</a:t>
            </a:r>
            <a:r>
              <a:rPr kumimoji="0" lang="en-US" altLang="zh-CN" sz="12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.data</a:t>
            </a:r>
            <a:r>
              <a:rPr kumimoji="0" lang="zh-CN" altLang="en-US" sz="12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则在生成的目标文件中占有相应大小的数据区（</a:t>
            </a:r>
            <a:r>
              <a:rPr kumimoji="0" lang="en-US" altLang="zh-CN" sz="12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_DATA</a:t>
            </a:r>
            <a:r>
              <a:rPr kumimoji="0" lang="zh-CN" altLang="en-US" sz="12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节区），而</a:t>
            </a:r>
            <a:r>
              <a:rPr kumimoji="0" lang="en-US" altLang="zh-CN" sz="12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.data</a:t>
            </a:r>
            <a:r>
              <a:rPr lang="en-US" altLang="zh-CN" sz="1200" b="0" kern="0" dirty="0">
                <a:solidFill>
                  <a:srgbClr val="000000"/>
                </a:solidFill>
              </a:rPr>
              <a:t>?</a:t>
            </a:r>
            <a:r>
              <a:rPr lang="zh-CN" altLang="en-US" sz="1200" b="0" kern="0" dirty="0">
                <a:solidFill>
                  <a:srgbClr val="000000"/>
                </a:solidFill>
              </a:rPr>
              <a:t>则</a:t>
            </a:r>
            <a:r>
              <a:rPr kumimoji="0" lang="zh-CN" altLang="en-US" sz="12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不会在文件中生产数据区，只是将文件在装入内存时才分配相应的存储区。</a:t>
            </a:r>
            <a:endParaRPr kumimoji="0" lang="en-US" altLang="zh-CN" sz="12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fld id="{1DE0C311-EC4E-419F-85FF-F47C86322F30}" type="slidenum">
              <a:rPr lang="en-US" altLang="zh-CN" smtClean="0"/>
              <a:pPr/>
              <a:t>63</a:t>
            </a:fld>
            <a:endParaRPr lang="en-US" altLang="zh-CN"/>
          </a:p>
        </p:txBody>
      </p:sp>
    </p:spTree>
    <p:extLst>
      <p:ext uri="{BB962C8B-B14F-4D97-AF65-F5344CB8AC3E}">
        <p14:creationId xmlns:p14="http://schemas.microsoft.com/office/powerpoint/2010/main" val="3850650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7A55B8C-F0D4-4044-A59B-BB3559ADFD3B}" type="slidenum">
              <a:rPr lang="en-US" altLang="zh-CN"/>
              <a:pPr/>
              <a:t>‹#›</a:t>
            </a:fld>
            <a:endParaRPr lang="en-US" altLang="zh-CN"/>
          </a:p>
        </p:txBody>
      </p:sp>
    </p:spTree>
    <p:extLst>
      <p:ext uri="{BB962C8B-B14F-4D97-AF65-F5344CB8AC3E}">
        <p14:creationId xmlns:p14="http://schemas.microsoft.com/office/powerpoint/2010/main" val="4022161558"/>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AFDC095-0E12-4FD8-AF4B-79EF4193B8B2}" type="slidenum">
              <a:rPr lang="en-US" altLang="zh-CN"/>
              <a:pPr/>
              <a:t>‹#›</a:t>
            </a:fld>
            <a:endParaRPr lang="en-US" altLang="zh-CN"/>
          </a:p>
        </p:txBody>
      </p:sp>
    </p:spTree>
    <p:extLst>
      <p:ext uri="{BB962C8B-B14F-4D97-AF65-F5344CB8AC3E}">
        <p14:creationId xmlns:p14="http://schemas.microsoft.com/office/powerpoint/2010/main" val="1364202105"/>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62468B3-BF88-4145-957B-43BE0FA5B26A}" type="slidenum">
              <a:rPr lang="en-US" altLang="zh-CN"/>
              <a:pPr/>
              <a:t>‹#›</a:t>
            </a:fld>
            <a:endParaRPr lang="en-US" altLang="zh-CN"/>
          </a:p>
        </p:txBody>
      </p:sp>
    </p:spTree>
    <p:extLst>
      <p:ext uri="{BB962C8B-B14F-4D97-AF65-F5344CB8AC3E}">
        <p14:creationId xmlns:p14="http://schemas.microsoft.com/office/powerpoint/2010/main" val="331820293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8DA97D8-4CD6-4D31-B5AD-A5A474F6AF59}" type="slidenum">
              <a:rPr lang="en-US" altLang="zh-CN"/>
              <a:pPr/>
              <a:t>‹#›</a:t>
            </a:fld>
            <a:endParaRPr lang="en-US" altLang="zh-CN"/>
          </a:p>
        </p:txBody>
      </p:sp>
    </p:spTree>
    <p:extLst>
      <p:ext uri="{BB962C8B-B14F-4D97-AF65-F5344CB8AC3E}">
        <p14:creationId xmlns:p14="http://schemas.microsoft.com/office/powerpoint/2010/main" val="180406390"/>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6BD5A101-E3CC-44DF-93CB-A47A69804248}" type="slidenum">
              <a:rPr lang="en-US" altLang="zh-CN"/>
              <a:pPr/>
              <a:t>‹#›</a:t>
            </a:fld>
            <a:endParaRPr lang="en-US" altLang="zh-CN"/>
          </a:p>
        </p:txBody>
      </p:sp>
    </p:spTree>
    <p:extLst>
      <p:ext uri="{BB962C8B-B14F-4D97-AF65-F5344CB8AC3E}">
        <p14:creationId xmlns:p14="http://schemas.microsoft.com/office/powerpoint/2010/main" val="3847915079"/>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09E3A907-5729-4561-B81B-14725886E44B}" type="slidenum">
              <a:rPr lang="en-US" altLang="zh-CN"/>
              <a:pPr/>
              <a:t>‹#›</a:t>
            </a:fld>
            <a:endParaRPr lang="en-US" altLang="zh-CN"/>
          </a:p>
        </p:txBody>
      </p:sp>
    </p:spTree>
    <p:extLst>
      <p:ext uri="{BB962C8B-B14F-4D97-AF65-F5344CB8AC3E}">
        <p14:creationId xmlns:p14="http://schemas.microsoft.com/office/powerpoint/2010/main" val="3913125865"/>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5B7D2636-8A8C-404A-BF36-25DC15AA5DD0}" type="slidenum">
              <a:rPr lang="en-US" altLang="zh-CN"/>
              <a:pPr/>
              <a:t>‹#›</a:t>
            </a:fld>
            <a:endParaRPr lang="en-US" altLang="zh-CN"/>
          </a:p>
        </p:txBody>
      </p:sp>
    </p:spTree>
    <p:extLst>
      <p:ext uri="{BB962C8B-B14F-4D97-AF65-F5344CB8AC3E}">
        <p14:creationId xmlns:p14="http://schemas.microsoft.com/office/powerpoint/2010/main" val="516651850"/>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BF8FF2E-A256-4943-B8FE-4623AAE3EF91}" type="slidenum">
              <a:rPr lang="en-US" altLang="zh-CN"/>
              <a:pPr/>
              <a:t>‹#›</a:t>
            </a:fld>
            <a:endParaRPr lang="en-US" altLang="zh-CN"/>
          </a:p>
        </p:txBody>
      </p:sp>
    </p:spTree>
    <p:extLst>
      <p:ext uri="{BB962C8B-B14F-4D97-AF65-F5344CB8AC3E}">
        <p14:creationId xmlns:p14="http://schemas.microsoft.com/office/powerpoint/2010/main" val="135267713"/>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8D4FD34-9B45-46C6-B425-D5D8A066AA47}" type="slidenum">
              <a:rPr lang="en-US" altLang="zh-CN"/>
              <a:pPr/>
              <a:t>‹#›</a:t>
            </a:fld>
            <a:endParaRPr lang="en-US" altLang="zh-CN"/>
          </a:p>
        </p:txBody>
      </p:sp>
    </p:spTree>
    <p:extLst>
      <p:ext uri="{BB962C8B-B14F-4D97-AF65-F5344CB8AC3E}">
        <p14:creationId xmlns:p14="http://schemas.microsoft.com/office/powerpoint/2010/main" val="1425392687"/>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756EA91-B8F7-47EE-8C07-F3F009A3D86D}" type="slidenum">
              <a:rPr lang="en-US" altLang="zh-CN"/>
              <a:pPr/>
              <a:t>‹#›</a:t>
            </a:fld>
            <a:endParaRPr lang="en-US" altLang="zh-CN"/>
          </a:p>
        </p:txBody>
      </p:sp>
    </p:spTree>
    <p:extLst>
      <p:ext uri="{BB962C8B-B14F-4D97-AF65-F5344CB8AC3E}">
        <p14:creationId xmlns:p14="http://schemas.microsoft.com/office/powerpoint/2010/main" val="3157347308"/>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140B96D-CC1D-46FC-82E5-CCC33EC2CB87}" type="slidenum">
              <a:rPr lang="en-US" altLang="zh-CN"/>
              <a:pPr/>
              <a:t>‹#›</a:t>
            </a:fld>
            <a:endParaRPr lang="en-US" altLang="zh-CN"/>
          </a:p>
        </p:txBody>
      </p:sp>
    </p:spTree>
    <p:extLst>
      <p:ext uri="{BB962C8B-B14F-4D97-AF65-F5344CB8AC3E}">
        <p14:creationId xmlns:p14="http://schemas.microsoft.com/office/powerpoint/2010/main" val="552191423"/>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4E26304-A8A2-45DB-850D-09D2F8F33CEF}" type="slidenum">
              <a:rPr lang="en-US" altLang="zh-CN"/>
              <a:pPr/>
              <a:t>‹#›</a:t>
            </a:fld>
            <a:endParaRPr lang="en-US" altLang="zh-CN"/>
          </a:p>
        </p:txBody>
      </p:sp>
    </p:spTree>
    <p:extLst>
      <p:ext uri="{BB962C8B-B14F-4D97-AF65-F5344CB8AC3E}">
        <p14:creationId xmlns:p14="http://schemas.microsoft.com/office/powerpoint/2010/main" val="4079031611"/>
      </p:ext>
    </p:extLst>
  </p:cSld>
  <p:clrMapOvr>
    <a:masterClrMapping/>
  </p:clrMapOvr>
  <p:transition spd="med">
    <p:zoom dir="in"/>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EC93B7D-E773-46D5-909C-7E48EBF58254}" type="slidenum">
              <a:rPr lang="en-US" altLang="zh-CN"/>
              <a:pPr/>
              <a:t>‹#›</a:t>
            </a:fld>
            <a:endParaRPr lang="en-US" altLang="zh-CN"/>
          </a:p>
        </p:txBody>
      </p:sp>
    </p:spTree>
    <p:extLst>
      <p:ext uri="{BB962C8B-B14F-4D97-AF65-F5344CB8AC3E}">
        <p14:creationId xmlns:p14="http://schemas.microsoft.com/office/powerpoint/2010/main" val="1118609762"/>
      </p:ext>
    </p:extLst>
  </p:cSld>
  <p:clrMapOvr>
    <a:masterClrMapping/>
  </p:clrMapOvr>
  <p:transition spd="med">
    <p:zoom dir="in"/>
    <p:sndAc>
      <p:stSnd>
        <p:snd r:embed="rId1" name="CAMERA.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141C014-2448-46C7-8713-471C344DB3AC}" type="slidenum">
              <a:rPr lang="en-US" altLang="zh-CN"/>
              <a:pPr/>
              <a:t>‹#›</a:t>
            </a:fld>
            <a:endParaRPr lang="en-US" altLang="zh-CN"/>
          </a:p>
        </p:txBody>
      </p:sp>
    </p:spTree>
    <p:extLst>
      <p:ext uri="{BB962C8B-B14F-4D97-AF65-F5344CB8AC3E}">
        <p14:creationId xmlns:p14="http://schemas.microsoft.com/office/powerpoint/2010/main" val="2198999959"/>
      </p:ext>
    </p:extLst>
  </p:cSld>
  <p:clrMapOvr>
    <a:masterClrMapping/>
  </p:clrMapOvr>
  <p:transition spd="med">
    <p:zoom dir="in"/>
    <p:sndAc>
      <p:stSnd>
        <p:snd r:embed="rId1" name="CAMERA.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6AA4CD2-F7F2-48F1-A6DF-80FB20F6A6BA}" type="slidenum">
              <a:rPr lang="en-US" altLang="zh-CN"/>
              <a:pPr/>
              <a:t>‹#›</a:t>
            </a:fld>
            <a:endParaRPr lang="en-US" altLang="zh-CN"/>
          </a:p>
        </p:txBody>
      </p:sp>
    </p:spTree>
    <p:extLst>
      <p:ext uri="{BB962C8B-B14F-4D97-AF65-F5344CB8AC3E}">
        <p14:creationId xmlns:p14="http://schemas.microsoft.com/office/powerpoint/2010/main" val="3439453443"/>
      </p:ext>
    </p:extLst>
  </p:cSld>
  <p:clrMapOvr>
    <a:masterClrMapping/>
  </p:clrMapOvr>
  <p:transition spd="med">
    <p:zoom dir="in"/>
    <p:sndAc>
      <p:stSnd>
        <p:snd r:embed="rId1" name="CAMERA.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B5E09AC4-8825-4235-BF61-A8A7F8D05265}" type="slidenum">
              <a:rPr lang="en-US" altLang="zh-CN"/>
              <a:pPr/>
              <a:t>‹#›</a:t>
            </a:fld>
            <a:endParaRPr lang="en-US" altLang="zh-CN"/>
          </a:p>
        </p:txBody>
      </p:sp>
    </p:spTree>
    <p:extLst>
      <p:ext uri="{BB962C8B-B14F-4D97-AF65-F5344CB8AC3E}">
        <p14:creationId xmlns:p14="http://schemas.microsoft.com/office/powerpoint/2010/main" val="2284082693"/>
      </p:ext>
    </p:extLst>
  </p:cSld>
  <p:clrMapOvr>
    <a:masterClrMapping/>
  </p:clrMapOvr>
  <p:transition spd="med">
    <p:zoom dir="in"/>
    <p:sndAc>
      <p:stSnd>
        <p:snd r:embed="rId1" name="CAMERA.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3D9E779B-D048-451E-9444-B03DDD2488E6}" type="slidenum">
              <a:rPr lang="en-US" altLang="zh-CN"/>
              <a:pPr/>
              <a:t>‹#›</a:t>
            </a:fld>
            <a:endParaRPr lang="en-US" altLang="zh-CN"/>
          </a:p>
        </p:txBody>
      </p:sp>
    </p:spTree>
    <p:extLst>
      <p:ext uri="{BB962C8B-B14F-4D97-AF65-F5344CB8AC3E}">
        <p14:creationId xmlns:p14="http://schemas.microsoft.com/office/powerpoint/2010/main" val="540028466"/>
      </p:ext>
    </p:extLst>
  </p:cSld>
  <p:clrMapOvr>
    <a:masterClrMapping/>
  </p:clrMapOvr>
  <p:transition spd="med">
    <p:zoom dir="in"/>
    <p:sndAc>
      <p:stSnd>
        <p:snd r:embed="rId1" name="CAMERA.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a:xfrm>
            <a:off x="8388424" y="6381328"/>
            <a:ext cx="720080" cy="457200"/>
          </a:xfrm>
        </p:spPr>
        <p:txBody>
          <a:bodyPr/>
          <a:lstStyle>
            <a:lvl1pPr>
              <a:defRPr/>
            </a:lvl1pPr>
          </a:lstStyle>
          <a:p>
            <a:fld id="{8D39E476-DD35-4BFD-89C4-7612931FFDA8}" type="slidenum">
              <a:rPr lang="en-US" altLang="zh-CN"/>
              <a:pPr/>
              <a:t>‹#›</a:t>
            </a:fld>
            <a:endParaRPr lang="en-US" altLang="zh-CN"/>
          </a:p>
        </p:txBody>
      </p:sp>
    </p:spTree>
    <p:extLst>
      <p:ext uri="{BB962C8B-B14F-4D97-AF65-F5344CB8AC3E}">
        <p14:creationId xmlns:p14="http://schemas.microsoft.com/office/powerpoint/2010/main" val="2921519647"/>
      </p:ext>
    </p:extLst>
  </p:cSld>
  <p:clrMapOvr>
    <a:masterClrMapping/>
  </p:clrMapOvr>
  <p:transition spd="med">
    <p:zoom dir="in"/>
    <p:sndAc>
      <p:stSnd>
        <p:snd r:embed="rId1" name="CAMERA.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96F0019-3471-465E-B3BA-5EA85BCDB8EA}" type="slidenum">
              <a:rPr lang="en-US" altLang="zh-CN"/>
              <a:pPr/>
              <a:t>‹#›</a:t>
            </a:fld>
            <a:endParaRPr lang="en-US" altLang="zh-CN"/>
          </a:p>
        </p:txBody>
      </p:sp>
    </p:spTree>
    <p:extLst>
      <p:ext uri="{BB962C8B-B14F-4D97-AF65-F5344CB8AC3E}">
        <p14:creationId xmlns:p14="http://schemas.microsoft.com/office/powerpoint/2010/main" val="3852126288"/>
      </p:ext>
    </p:extLst>
  </p:cSld>
  <p:clrMapOvr>
    <a:masterClrMapping/>
  </p:clrMapOvr>
  <p:transition spd="med">
    <p:zoom dir="in"/>
    <p:sndAc>
      <p:stSnd>
        <p:snd r:embed="rId1" name="CAMERA.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FD6EB49-1487-40EC-B6EE-C5FA9CC03105}" type="slidenum">
              <a:rPr lang="en-US" altLang="zh-CN"/>
              <a:pPr/>
              <a:t>‹#›</a:t>
            </a:fld>
            <a:endParaRPr lang="en-US" altLang="zh-CN"/>
          </a:p>
        </p:txBody>
      </p:sp>
    </p:spTree>
    <p:extLst>
      <p:ext uri="{BB962C8B-B14F-4D97-AF65-F5344CB8AC3E}">
        <p14:creationId xmlns:p14="http://schemas.microsoft.com/office/powerpoint/2010/main" val="2537223606"/>
      </p:ext>
    </p:extLst>
  </p:cSld>
  <p:clrMapOvr>
    <a:masterClrMapping/>
  </p:clrMapOvr>
  <p:transition spd="med">
    <p:zoom dir="in"/>
    <p:sndAc>
      <p:stSnd>
        <p:snd r:embed="rId1" name="CAMERA.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51A730F-D140-4CD2-B5C4-09ED4AFA0022}" type="slidenum">
              <a:rPr lang="en-US" altLang="zh-CN"/>
              <a:pPr/>
              <a:t>‹#›</a:t>
            </a:fld>
            <a:endParaRPr lang="en-US" altLang="zh-CN"/>
          </a:p>
        </p:txBody>
      </p:sp>
    </p:spTree>
    <p:extLst>
      <p:ext uri="{BB962C8B-B14F-4D97-AF65-F5344CB8AC3E}">
        <p14:creationId xmlns:p14="http://schemas.microsoft.com/office/powerpoint/2010/main" val="2271365819"/>
      </p:ext>
    </p:extLst>
  </p:cSld>
  <p:clrMapOvr>
    <a:masterClrMapping/>
  </p:clrMapOvr>
  <p:transition spd="med">
    <p:zoom dir="in"/>
    <p:sndAc>
      <p:stSnd>
        <p:snd r:embed="rId1" name="CAMERA.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74DFC85-53B0-4C58-9998-417503C3C576}" type="slidenum">
              <a:rPr lang="en-US" altLang="zh-CN"/>
              <a:pPr/>
              <a:t>‹#›</a:t>
            </a:fld>
            <a:endParaRPr lang="en-US" altLang="zh-CN"/>
          </a:p>
        </p:txBody>
      </p:sp>
    </p:spTree>
    <p:extLst>
      <p:ext uri="{BB962C8B-B14F-4D97-AF65-F5344CB8AC3E}">
        <p14:creationId xmlns:p14="http://schemas.microsoft.com/office/powerpoint/2010/main" val="2468574270"/>
      </p:ext>
    </p:extLst>
  </p:cSld>
  <p:clrMapOvr>
    <a:masterClrMapping/>
  </p:clrMapOvr>
  <p:transition spd="med">
    <p:zoom dir="in"/>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audio" Target="../media/audio1.wav"/><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solidFill>
                  <a:schemeClr val="bg2"/>
                </a:solidFill>
              </a:defRPr>
            </a:lvl1pPr>
          </a:lstStyle>
          <a:p>
            <a:fld id="{F6FF51EB-C0A3-48E7-9C16-890CEEFB6D85}"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eaLnBrk="0" fontAlgn="base" hangingPunct="0">
        <a:spcBef>
          <a:spcPct val="0"/>
        </a:spcBef>
        <a:spcAft>
          <a:spcPct val="0"/>
        </a:spcAft>
        <a:defRPr sz="4400">
          <a:solidFill>
            <a:schemeClr val="tx2"/>
          </a:solidFill>
          <a:latin typeface="Times New Roman" pitchFamily="18" charset="0"/>
          <a:ea typeface="宋体" pitchFamily="2" charset="-122"/>
        </a:defRPr>
      </a:lvl6pPr>
      <a:lvl7pPr marL="914400" algn="ctr" rtl="0" eaLnBrk="0" fontAlgn="base" hangingPunct="0">
        <a:spcBef>
          <a:spcPct val="0"/>
        </a:spcBef>
        <a:spcAft>
          <a:spcPct val="0"/>
        </a:spcAft>
        <a:defRPr sz="4400">
          <a:solidFill>
            <a:schemeClr val="tx2"/>
          </a:solidFill>
          <a:latin typeface="Times New Roman" pitchFamily="18" charset="0"/>
          <a:ea typeface="宋体" pitchFamily="2" charset="-122"/>
        </a:defRPr>
      </a:lvl7pPr>
      <a:lvl8pPr marL="1371600" algn="ctr" rtl="0" eaLnBrk="0" fontAlgn="base" hangingPunct="0">
        <a:spcBef>
          <a:spcPct val="0"/>
        </a:spcBef>
        <a:spcAft>
          <a:spcPct val="0"/>
        </a:spcAft>
        <a:defRPr sz="4400">
          <a:solidFill>
            <a:schemeClr val="tx2"/>
          </a:solidFill>
          <a:latin typeface="Times New Roman" pitchFamily="18" charset="0"/>
          <a:ea typeface="宋体" pitchFamily="2" charset="-122"/>
        </a:defRPr>
      </a:lvl8pPr>
      <a:lvl9pPr marL="1828800" algn="ctr" rtl="0" eaLnBrk="0" fontAlgn="base" hangingPunct="0">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246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246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6246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6247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79AFDECA-D966-4583-8DA4-E258D1BAB13A}" type="slidenum">
              <a:rPr lang="en-US" altLang="zh-CN"/>
              <a:pPr/>
              <a:t>‹#›</a:t>
            </a:fld>
            <a:endParaRPr lang="en-US" altLang="zh-CN"/>
          </a:p>
        </p:txBody>
      </p:sp>
    </p:spTree>
    <p:extLst>
      <p:ext uri="{BB962C8B-B14F-4D97-AF65-F5344CB8AC3E}">
        <p14:creationId xmlns:p14="http://schemas.microsoft.com/office/powerpoint/2010/main" val="3790664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zoom dir="in"/>
    <p:sndAc>
      <p:stSnd>
        <p:snd r:embed="rId13" name="CAMERA.WAV"/>
      </p:stSnd>
    </p:sndAc>
  </p:transition>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itchFamily="18" charset="0"/>
          <a:ea typeface="宋体" pitchFamily="2" charset="-122"/>
        </a:defRPr>
      </a:lvl2pPr>
      <a:lvl3pPr algn="ctr" rtl="0" fontAlgn="base">
        <a:spcBef>
          <a:spcPct val="0"/>
        </a:spcBef>
        <a:spcAft>
          <a:spcPct val="0"/>
        </a:spcAft>
        <a:defRPr kumimoji="1" sz="4400">
          <a:solidFill>
            <a:schemeClr val="tx2"/>
          </a:solidFill>
          <a:latin typeface="Times New Roman" pitchFamily="18" charset="0"/>
          <a:ea typeface="宋体" pitchFamily="2" charset="-122"/>
        </a:defRPr>
      </a:lvl3pPr>
      <a:lvl4pPr algn="ctr" rtl="0" fontAlgn="base">
        <a:spcBef>
          <a:spcPct val="0"/>
        </a:spcBef>
        <a:spcAft>
          <a:spcPct val="0"/>
        </a:spcAft>
        <a:defRPr kumimoji="1" sz="4400">
          <a:solidFill>
            <a:schemeClr val="tx2"/>
          </a:solidFill>
          <a:latin typeface="Times New Roman" pitchFamily="18" charset="0"/>
          <a:ea typeface="宋体" pitchFamily="2" charset="-122"/>
        </a:defRPr>
      </a:lvl4pPr>
      <a:lvl5pPr algn="ctr" rtl="0" fontAlgn="base">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28602CAF-74DC-4E67-9250-FE0F41EA15D8}" type="slidenum">
              <a:rPr lang="en-US" altLang="zh-CN" sz="1400">
                <a:solidFill>
                  <a:schemeClr val="bg2"/>
                </a:solidFill>
              </a:rPr>
              <a:pPr algn="r" eaLnBrk="1" hangingPunct="1"/>
              <a:t>1</a:t>
            </a:fld>
            <a:endParaRPr lang="en-US" altLang="zh-CN" sz="1400" dirty="0">
              <a:solidFill>
                <a:schemeClr val="bg2"/>
              </a:solidFill>
            </a:endParaRPr>
          </a:p>
        </p:txBody>
      </p:sp>
      <p:sp>
        <p:nvSpPr>
          <p:cNvPr id="3075" name="Rectangle 3"/>
          <p:cNvSpPr>
            <a:spLocks noChangeArrowheads="1"/>
          </p:cNvSpPr>
          <p:nvPr/>
        </p:nvSpPr>
        <p:spPr bwMode="auto">
          <a:xfrm>
            <a:off x="1478494" y="461951"/>
            <a:ext cx="6498895" cy="646331"/>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3600" b="1" dirty="0">
                <a:solidFill>
                  <a:schemeClr val="hlink"/>
                </a:solidFill>
              </a:rPr>
              <a:t>第四章   汇编语言程序设计基础</a:t>
            </a:r>
          </a:p>
        </p:txBody>
      </p:sp>
      <p:sp>
        <p:nvSpPr>
          <p:cNvPr id="3076" name="Text Box 7"/>
          <p:cNvSpPr txBox="1">
            <a:spLocks noChangeArrowheads="1"/>
          </p:cNvSpPr>
          <p:nvPr/>
        </p:nvSpPr>
        <p:spPr bwMode="auto">
          <a:xfrm>
            <a:off x="1331913" y="1485900"/>
            <a:ext cx="2736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b="1">
                <a:solidFill>
                  <a:schemeClr val="bg2"/>
                </a:solidFill>
              </a:rPr>
              <a:t>本章主要内容：</a:t>
            </a:r>
          </a:p>
        </p:txBody>
      </p:sp>
      <p:sp>
        <p:nvSpPr>
          <p:cNvPr id="6" name="Text Box 8">
            <a:extLst>
              <a:ext uri="{FF2B5EF4-FFF2-40B4-BE49-F238E27FC236}">
                <a16:creationId xmlns:a16="http://schemas.microsoft.com/office/drawing/2014/main" id="{9AC2B3AC-30F1-4AEA-83FB-19BEDBA86BC3}"/>
              </a:ext>
            </a:extLst>
          </p:cNvPr>
          <p:cNvSpPr txBox="1">
            <a:spLocks noChangeArrowheads="1"/>
          </p:cNvSpPr>
          <p:nvPr/>
        </p:nvSpPr>
        <p:spPr bwMode="auto">
          <a:xfrm>
            <a:off x="1475581" y="2370590"/>
            <a:ext cx="6192838" cy="2462213"/>
          </a:xfrm>
          <a:prstGeom prst="rect">
            <a:avLst/>
          </a:prstGeom>
          <a:solidFill>
            <a:srgbClr val="FFFF99"/>
          </a:solidFill>
          <a:ln w="28575" cmpd="sng">
            <a:solidFill>
              <a:srgbClr val="0000FF"/>
            </a:solidFill>
            <a:miter lim="800000"/>
            <a:headEnd/>
            <a:tailEnd/>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buClr>
                <a:schemeClr val="hlink"/>
              </a:buClr>
              <a:buFont typeface="Wingdings" pitchFamily="2" charset="2"/>
              <a:buChar char="u"/>
            </a:pPr>
            <a:r>
              <a:rPr lang="zh-CN" altLang="en-US" b="1" dirty="0">
                <a:solidFill>
                  <a:schemeClr val="bg2"/>
                </a:solidFill>
              </a:rPr>
              <a:t>汇编语言基本语法</a:t>
            </a:r>
          </a:p>
          <a:p>
            <a:pPr eaLnBrk="1" hangingPunct="1">
              <a:spcBef>
                <a:spcPct val="50000"/>
              </a:spcBef>
              <a:buClr>
                <a:schemeClr val="hlink"/>
              </a:buClr>
              <a:buFont typeface="Wingdings" pitchFamily="2" charset="2"/>
              <a:buChar char="u"/>
            </a:pPr>
            <a:r>
              <a:rPr lang="zh-CN" altLang="en-US" b="1" dirty="0">
                <a:solidFill>
                  <a:schemeClr val="bg2"/>
                </a:solidFill>
              </a:rPr>
              <a:t>常用伪指令介绍</a:t>
            </a:r>
          </a:p>
          <a:p>
            <a:pPr eaLnBrk="1" hangingPunct="1">
              <a:spcBef>
                <a:spcPct val="50000"/>
              </a:spcBef>
              <a:buClr>
                <a:schemeClr val="hlink"/>
              </a:buClr>
              <a:buFont typeface="Wingdings" pitchFamily="2" charset="2"/>
              <a:buChar char="u"/>
            </a:pPr>
            <a:r>
              <a:rPr lang="zh-CN" altLang="en-US" b="1" dirty="0">
                <a:solidFill>
                  <a:schemeClr val="bg2"/>
                </a:solidFill>
              </a:rPr>
              <a:t>汇编语言源程序的基本框架</a:t>
            </a:r>
            <a:endParaRPr lang="en-US" altLang="zh-CN" b="1" dirty="0">
              <a:solidFill>
                <a:schemeClr val="bg2"/>
              </a:solidFill>
            </a:endParaRPr>
          </a:p>
          <a:p>
            <a:pPr eaLnBrk="1" hangingPunct="1">
              <a:spcBef>
                <a:spcPct val="50000"/>
              </a:spcBef>
              <a:buClr>
                <a:schemeClr val="hlink"/>
              </a:buClr>
              <a:buFont typeface="Wingdings" pitchFamily="2" charset="2"/>
              <a:buChar char="u"/>
            </a:pPr>
            <a:r>
              <a:rPr lang="zh-CN" altLang="en-US" b="1" dirty="0">
                <a:solidFill>
                  <a:schemeClr val="bg2"/>
                </a:solidFill>
              </a:rPr>
              <a:t>基于</a:t>
            </a:r>
            <a:r>
              <a:rPr lang="en-US" altLang="zh-CN" b="1" dirty="0">
                <a:solidFill>
                  <a:schemeClr val="bg2"/>
                </a:solidFill>
              </a:rPr>
              <a:t>MS-Windows</a:t>
            </a:r>
            <a:r>
              <a:rPr lang="zh-CN" altLang="en-US" b="1" dirty="0">
                <a:solidFill>
                  <a:schemeClr val="bg2"/>
                </a:solidFill>
              </a:rPr>
              <a:t>的输入输出编程</a:t>
            </a:r>
            <a:endParaRPr lang="en-US" altLang="zh-CN" b="1" dirty="0">
              <a:solidFill>
                <a:schemeClr val="bg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0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3076"/>
                                        </p:tgtEl>
                                        <p:attrNameLst>
                                          <p:attrName>style.visibility</p:attrName>
                                        </p:attrNameLst>
                                      </p:cBhvr>
                                      <p:to>
                                        <p:strVal val="visible"/>
                                      </p:to>
                                    </p:set>
                                    <p:anim calcmode="lin" valueType="num">
                                      <p:cBhvr additive="base">
                                        <p:cTn id="11" dur="500" fill="hold"/>
                                        <p:tgtEl>
                                          <p:spTgt spid="3076"/>
                                        </p:tgtEl>
                                        <p:attrNameLst>
                                          <p:attrName>ppt_x</p:attrName>
                                        </p:attrNameLst>
                                      </p:cBhvr>
                                      <p:tavLst>
                                        <p:tav tm="0">
                                          <p:val>
                                            <p:strVal val="0-#ppt_w/2"/>
                                          </p:val>
                                        </p:tav>
                                        <p:tav tm="100000">
                                          <p:val>
                                            <p:strVal val="#ppt_x"/>
                                          </p:val>
                                        </p:tav>
                                      </p:tavLst>
                                    </p:anim>
                                    <p:anim calcmode="lin" valueType="num">
                                      <p:cBhvr additive="base">
                                        <p:cTn id="12" dur="500" fill="hold"/>
                                        <p:tgtEl>
                                          <p:spTgt spid="307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ou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nimBg="1" autoUpdateAnimBg="0"/>
      <p:bldP spid="3076" grpId="0" autoUpdateAnimBg="0"/>
      <p:bldP spid="6" grpId="0" bldLvl="0" animBg="1"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8350D4A9-D58C-4CF0-8D2D-17254B3C362C}" type="slidenum">
              <a:rPr lang="en-US" altLang="zh-CN" sz="1400">
                <a:solidFill>
                  <a:schemeClr val="bg2"/>
                </a:solidFill>
              </a:rPr>
              <a:pPr algn="r" eaLnBrk="1" hangingPunct="1"/>
              <a:t>2</a:t>
            </a:fld>
            <a:endParaRPr lang="en-US" altLang="zh-CN" sz="1400" dirty="0">
              <a:solidFill>
                <a:schemeClr val="bg2"/>
              </a:solidFill>
            </a:endParaRPr>
          </a:p>
        </p:txBody>
      </p:sp>
      <p:sp>
        <p:nvSpPr>
          <p:cNvPr id="4099" name="Rectangle 5"/>
          <p:cNvSpPr>
            <a:spLocks noChangeArrowheads="1"/>
          </p:cNvSpPr>
          <p:nvPr/>
        </p:nvSpPr>
        <p:spPr bwMode="auto">
          <a:xfrm>
            <a:off x="631630" y="1124744"/>
            <a:ext cx="8062912" cy="5262979"/>
          </a:xfrm>
          <a:prstGeom prst="rect">
            <a:avLst/>
          </a:prstGeom>
          <a:solidFill>
            <a:schemeClr val="bg1"/>
          </a:solidFill>
          <a:ln>
            <a:noFill/>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457200" indent="-457200" eaLnBrk="1" hangingPunct="1">
              <a:lnSpc>
                <a:spcPct val="150000"/>
              </a:lnSpc>
              <a:buClr>
                <a:srgbClr val="0066FF"/>
              </a:buClr>
              <a:buFont typeface="Wingdings" panose="05000000000000000000" pitchFamily="2" charset="2"/>
              <a:buChar char="n"/>
            </a:pPr>
            <a:r>
              <a:rPr lang="zh-CN" altLang="en-US" b="1" dirty="0">
                <a:solidFill>
                  <a:schemeClr val="bg2"/>
                </a:solidFill>
              </a:rPr>
              <a:t>不同的汇编程序有不同的汇编语言编程规定。</a:t>
            </a:r>
            <a:endParaRPr lang="en-US" altLang="zh-CN" b="1" dirty="0">
              <a:solidFill>
                <a:schemeClr val="bg2"/>
              </a:solidFill>
            </a:endParaRPr>
          </a:p>
          <a:p>
            <a:pPr marL="457200" indent="-457200" eaLnBrk="1" hangingPunct="1">
              <a:lnSpc>
                <a:spcPct val="150000"/>
              </a:lnSpc>
              <a:buClr>
                <a:srgbClr val="0066FF"/>
              </a:buClr>
              <a:buFont typeface="Wingdings" panose="05000000000000000000" pitchFamily="2" charset="2"/>
              <a:buChar char="n"/>
            </a:pPr>
            <a:r>
              <a:rPr lang="zh-CN" altLang="en-US" b="1" dirty="0">
                <a:solidFill>
                  <a:schemeClr val="bg2"/>
                </a:solidFill>
              </a:rPr>
              <a:t>目前支持</a:t>
            </a:r>
            <a:r>
              <a:rPr lang="en-US" altLang="zh-CN" b="1" dirty="0">
                <a:solidFill>
                  <a:schemeClr val="bg2"/>
                </a:solidFill>
              </a:rPr>
              <a:t>Intel x86</a:t>
            </a:r>
            <a:r>
              <a:rPr lang="zh-CN" altLang="en-US" b="1" dirty="0">
                <a:solidFill>
                  <a:schemeClr val="bg2"/>
                </a:solidFill>
              </a:rPr>
              <a:t>系列微机常用的汇编程序有</a:t>
            </a:r>
            <a:r>
              <a:rPr lang="en-US" altLang="zh-CN" b="1" dirty="0">
                <a:solidFill>
                  <a:schemeClr val="bg2"/>
                </a:solidFill>
              </a:rPr>
              <a:t>ASM</a:t>
            </a:r>
            <a:r>
              <a:rPr lang="zh-CN" altLang="en-US" b="1" dirty="0">
                <a:solidFill>
                  <a:schemeClr val="bg2"/>
                </a:solidFill>
              </a:rPr>
              <a:t>、</a:t>
            </a:r>
            <a:r>
              <a:rPr lang="en-US" altLang="zh-CN" b="1" dirty="0">
                <a:solidFill>
                  <a:schemeClr val="bg2"/>
                </a:solidFill>
              </a:rPr>
              <a:t>MASM</a:t>
            </a:r>
            <a:r>
              <a:rPr lang="zh-CN" altLang="en-US" b="1" dirty="0">
                <a:solidFill>
                  <a:schemeClr val="bg2"/>
                </a:solidFill>
              </a:rPr>
              <a:t>、</a:t>
            </a:r>
            <a:r>
              <a:rPr lang="en-US" altLang="zh-CN" b="1" dirty="0">
                <a:solidFill>
                  <a:schemeClr val="bg2"/>
                </a:solidFill>
              </a:rPr>
              <a:t>TASM</a:t>
            </a:r>
            <a:r>
              <a:rPr lang="zh-CN" altLang="en-US" b="1" dirty="0">
                <a:solidFill>
                  <a:schemeClr val="bg2"/>
                </a:solidFill>
              </a:rPr>
              <a:t>、</a:t>
            </a:r>
            <a:r>
              <a:rPr lang="en-US" altLang="zh-CN" b="1" dirty="0">
                <a:solidFill>
                  <a:schemeClr val="bg2"/>
                </a:solidFill>
              </a:rPr>
              <a:t>OPTASM</a:t>
            </a:r>
            <a:r>
              <a:rPr lang="zh-CN" altLang="en-US" b="1" dirty="0">
                <a:solidFill>
                  <a:schemeClr val="bg2"/>
                </a:solidFill>
              </a:rPr>
              <a:t>等 。</a:t>
            </a:r>
            <a:endParaRPr lang="en-US" altLang="zh-CN" b="1" dirty="0">
              <a:solidFill>
                <a:schemeClr val="bg2"/>
              </a:solidFill>
            </a:endParaRPr>
          </a:p>
          <a:p>
            <a:pPr marL="457200" indent="-457200" eaLnBrk="1" hangingPunct="1">
              <a:lnSpc>
                <a:spcPct val="150000"/>
              </a:lnSpc>
              <a:buClr>
                <a:srgbClr val="0066FF"/>
              </a:buClr>
              <a:buFont typeface="Wingdings" panose="05000000000000000000" pitchFamily="2" charset="2"/>
              <a:buChar char="n"/>
            </a:pPr>
            <a:r>
              <a:rPr lang="zh-CN" altLang="en-US" b="1" dirty="0">
                <a:solidFill>
                  <a:schemeClr val="bg2"/>
                </a:solidFill>
              </a:rPr>
              <a:t>同一种汇编程序的不同版本之间也有一定的差异。</a:t>
            </a:r>
            <a:endParaRPr lang="en-US" altLang="zh-CN" b="1" dirty="0">
              <a:solidFill>
                <a:schemeClr val="bg2"/>
              </a:solidFill>
            </a:endParaRPr>
          </a:p>
          <a:p>
            <a:pPr marL="457200" indent="-457200" eaLnBrk="1" hangingPunct="1">
              <a:lnSpc>
                <a:spcPct val="150000"/>
              </a:lnSpc>
              <a:buClr>
                <a:srgbClr val="0066FF"/>
              </a:buClr>
              <a:buFont typeface="Wingdings" panose="05000000000000000000" pitchFamily="2" charset="2"/>
              <a:buChar char="n"/>
            </a:pPr>
            <a:r>
              <a:rPr lang="zh-CN" altLang="en-US" b="1" dirty="0">
                <a:solidFill>
                  <a:schemeClr val="bg2"/>
                </a:solidFill>
              </a:rPr>
              <a:t>本章主要介绍基于</a:t>
            </a:r>
            <a:r>
              <a:rPr lang="en-US" altLang="zh-CN" b="1" dirty="0">
                <a:solidFill>
                  <a:schemeClr val="bg2"/>
                </a:solidFill>
              </a:rPr>
              <a:t>MASM</a:t>
            </a:r>
            <a:r>
              <a:rPr lang="zh-CN" altLang="en-US" b="1" dirty="0">
                <a:solidFill>
                  <a:schemeClr val="bg2"/>
                </a:solidFill>
              </a:rPr>
              <a:t>的汇编语言的一些基本语法规则以及源程序的基本结构。</a:t>
            </a:r>
          </a:p>
          <a:p>
            <a:pPr eaLnBrk="1" hangingPunct="1">
              <a:lnSpc>
                <a:spcPct val="150000"/>
              </a:lnSpc>
              <a:buClr>
                <a:srgbClr val="0066FF"/>
              </a:buClr>
            </a:pPr>
            <a:endParaRPr lang="zh-CN" altLang="en-US" b="1" dirty="0">
              <a:solidFill>
                <a:schemeClr val="bg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ipe(down)">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wipe(down)">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wipe(down)">
                                      <p:cBhvr>
                                        <p:cTn id="17" dur="500"/>
                                        <p:tgtEl>
                                          <p:spTgt spid="4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wipe(down)">
                                      <p:cBhvr>
                                        <p:cTn id="22" dur="500"/>
                                        <p:tgtEl>
                                          <p:spTgt spid="40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DFEBC798-9F1B-416D-8BA6-5EB8412B067D}" type="slidenum">
              <a:rPr lang="en-US" altLang="zh-CN" sz="1400">
                <a:solidFill>
                  <a:schemeClr val="bg2"/>
                </a:solidFill>
              </a:rPr>
              <a:pPr algn="r" eaLnBrk="1" hangingPunct="1"/>
              <a:t>3</a:t>
            </a:fld>
            <a:endParaRPr lang="en-US" altLang="zh-CN" sz="1400" dirty="0">
              <a:solidFill>
                <a:schemeClr val="bg2"/>
              </a:solidFill>
            </a:endParaRPr>
          </a:p>
        </p:txBody>
      </p:sp>
      <p:sp>
        <p:nvSpPr>
          <p:cNvPr id="5123" name="Rectangle 2"/>
          <p:cNvSpPr>
            <a:spLocks noChangeArrowheads="1"/>
          </p:cNvSpPr>
          <p:nvPr/>
        </p:nvSpPr>
        <p:spPr bwMode="auto">
          <a:xfrm>
            <a:off x="539029" y="2990037"/>
            <a:ext cx="8139881" cy="83099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      </a:t>
            </a:r>
            <a:r>
              <a:rPr lang="zh-CN" altLang="en-US" sz="2400" b="1" dirty="0">
                <a:solidFill>
                  <a:schemeClr val="bg2"/>
                </a:solidFill>
              </a:rPr>
              <a:t>每一条指令语句在汇编时都要产生一个可供</a:t>
            </a:r>
            <a:r>
              <a:rPr lang="en-US" altLang="zh-CN" sz="2400" b="1" dirty="0">
                <a:solidFill>
                  <a:schemeClr val="bg2"/>
                </a:solidFill>
              </a:rPr>
              <a:t>CPU</a:t>
            </a:r>
            <a:r>
              <a:rPr lang="zh-CN" altLang="en-US" sz="2400" b="1" dirty="0">
                <a:solidFill>
                  <a:schemeClr val="bg2"/>
                </a:solidFill>
              </a:rPr>
              <a:t>执行的机器目标代码，它又叫可执行语句。</a:t>
            </a:r>
          </a:p>
        </p:txBody>
      </p:sp>
      <p:sp>
        <p:nvSpPr>
          <p:cNvPr id="5124" name="Rectangle 3"/>
          <p:cNvSpPr>
            <a:spLocks noChangeArrowheads="1"/>
          </p:cNvSpPr>
          <p:nvPr/>
        </p:nvSpPr>
        <p:spPr bwMode="auto">
          <a:xfrm>
            <a:off x="528493" y="2186436"/>
            <a:ext cx="2778737" cy="52322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b="1" dirty="0">
                <a:solidFill>
                  <a:schemeClr val="hlink"/>
                </a:solidFill>
              </a:rPr>
              <a:t>一、指令语句</a:t>
            </a:r>
          </a:p>
        </p:txBody>
      </p:sp>
      <p:sp>
        <p:nvSpPr>
          <p:cNvPr id="5125" name="Rectangle 4"/>
          <p:cNvSpPr>
            <a:spLocks noChangeArrowheads="1"/>
          </p:cNvSpPr>
          <p:nvPr/>
        </p:nvSpPr>
        <p:spPr bwMode="auto">
          <a:xfrm>
            <a:off x="554903" y="4060142"/>
            <a:ext cx="3597597"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指令语句的一般格式：</a:t>
            </a:r>
          </a:p>
        </p:txBody>
      </p:sp>
      <p:grpSp>
        <p:nvGrpSpPr>
          <p:cNvPr id="5126" name="Group 6"/>
          <p:cNvGrpSpPr>
            <a:grpSpLocks/>
          </p:cNvGrpSpPr>
          <p:nvPr/>
        </p:nvGrpSpPr>
        <p:grpSpPr bwMode="auto">
          <a:xfrm>
            <a:off x="379413" y="4192588"/>
            <a:ext cx="8764587" cy="1371600"/>
            <a:chOff x="0" y="0"/>
            <a:chExt cx="5521" cy="864"/>
          </a:xfrm>
        </p:grpSpPr>
        <p:sp>
          <p:nvSpPr>
            <p:cNvPr id="5127" name="Rectangle 5"/>
            <p:cNvSpPr>
              <a:spLocks noChangeArrowheads="1"/>
            </p:cNvSpPr>
            <p:nvPr/>
          </p:nvSpPr>
          <p:spPr bwMode="auto">
            <a:xfrm>
              <a:off x="246" y="432"/>
              <a:ext cx="641"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标号</a:t>
              </a:r>
            </a:p>
          </p:txBody>
        </p:sp>
        <p:sp>
          <p:nvSpPr>
            <p:cNvPr id="5128" name="Rectangle 6"/>
            <p:cNvSpPr>
              <a:spLocks noChangeArrowheads="1"/>
            </p:cNvSpPr>
            <p:nvPr/>
          </p:nvSpPr>
          <p:spPr bwMode="auto">
            <a:xfrm>
              <a:off x="1676" y="432"/>
              <a:ext cx="1183"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指令助记符</a:t>
              </a:r>
            </a:p>
          </p:txBody>
        </p:sp>
        <p:sp>
          <p:nvSpPr>
            <p:cNvPr id="5129" name="Rectangle 7"/>
            <p:cNvSpPr>
              <a:spLocks noChangeArrowheads="1"/>
            </p:cNvSpPr>
            <p:nvPr/>
          </p:nvSpPr>
          <p:spPr bwMode="auto">
            <a:xfrm>
              <a:off x="3106" y="432"/>
              <a:ext cx="838"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操作数</a:t>
              </a:r>
            </a:p>
          </p:txBody>
        </p:sp>
        <p:sp>
          <p:nvSpPr>
            <p:cNvPr id="5130" name="Rectangle 8"/>
            <p:cNvSpPr>
              <a:spLocks noChangeArrowheads="1"/>
            </p:cNvSpPr>
            <p:nvPr/>
          </p:nvSpPr>
          <p:spPr bwMode="auto">
            <a:xfrm>
              <a:off x="4732" y="432"/>
              <a:ext cx="543"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注释</a:t>
              </a:r>
            </a:p>
          </p:txBody>
        </p:sp>
        <p:sp>
          <p:nvSpPr>
            <p:cNvPr id="5131" name="Oval 9"/>
            <p:cNvSpPr>
              <a:spLocks noChangeArrowheads="1"/>
            </p:cNvSpPr>
            <p:nvPr/>
          </p:nvSpPr>
          <p:spPr bwMode="auto">
            <a:xfrm>
              <a:off x="4239" y="432"/>
              <a:ext cx="296" cy="288"/>
            </a:xfrm>
            <a:prstGeom prst="ellipse">
              <a:avLst/>
            </a:prstGeom>
            <a:solidFill>
              <a:schemeClr val="accent2"/>
            </a:solidFill>
            <a:ln w="9525" cmpd="sng">
              <a:solidFill>
                <a:schemeClr val="tx1"/>
              </a:solidFill>
              <a:round/>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endParaRPr lang="zh-CN" altLang="en-US" sz="2400" b="1">
                <a:solidFill>
                  <a:schemeClr val="bg2"/>
                </a:solidFill>
              </a:endParaRPr>
            </a:p>
          </p:txBody>
        </p:sp>
        <p:sp>
          <p:nvSpPr>
            <p:cNvPr id="5132" name="Text Box 10"/>
            <p:cNvSpPr txBox="1">
              <a:spLocks noChangeArrowheads="1"/>
            </p:cNvSpPr>
            <p:nvPr/>
          </p:nvSpPr>
          <p:spPr bwMode="auto">
            <a:xfrm>
              <a:off x="4289" y="384"/>
              <a:ext cx="29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a:t>
              </a:r>
            </a:p>
          </p:txBody>
        </p:sp>
        <p:sp>
          <p:nvSpPr>
            <p:cNvPr id="5133" name="Oval 11"/>
            <p:cNvSpPr>
              <a:spLocks noChangeArrowheads="1"/>
            </p:cNvSpPr>
            <p:nvPr/>
          </p:nvSpPr>
          <p:spPr bwMode="auto">
            <a:xfrm>
              <a:off x="1134" y="432"/>
              <a:ext cx="296" cy="288"/>
            </a:xfrm>
            <a:prstGeom prst="ellipse">
              <a:avLst/>
            </a:prstGeom>
            <a:solidFill>
              <a:schemeClr val="accent2"/>
            </a:solidFill>
            <a:ln w="9525" cmpd="sng">
              <a:solidFill>
                <a:schemeClr val="tx1"/>
              </a:solidFill>
              <a:round/>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endParaRPr lang="zh-CN" altLang="en-US" sz="2400" b="1">
                <a:solidFill>
                  <a:schemeClr val="bg2"/>
                </a:solidFill>
              </a:endParaRPr>
            </a:p>
          </p:txBody>
        </p:sp>
        <p:sp>
          <p:nvSpPr>
            <p:cNvPr id="5134" name="Text Box 12"/>
            <p:cNvSpPr txBox="1">
              <a:spLocks noChangeArrowheads="1"/>
            </p:cNvSpPr>
            <p:nvPr/>
          </p:nvSpPr>
          <p:spPr bwMode="auto">
            <a:xfrm>
              <a:off x="1134" y="384"/>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a:t>
              </a:r>
            </a:p>
          </p:txBody>
        </p:sp>
        <p:sp>
          <p:nvSpPr>
            <p:cNvPr id="5135" name="Oval 15"/>
            <p:cNvSpPr>
              <a:spLocks noChangeArrowheads="1"/>
            </p:cNvSpPr>
            <p:nvPr/>
          </p:nvSpPr>
          <p:spPr bwMode="auto">
            <a:xfrm>
              <a:off x="3401" y="96"/>
              <a:ext cx="296" cy="288"/>
            </a:xfrm>
            <a:prstGeom prst="ellipse">
              <a:avLst/>
            </a:prstGeom>
            <a:solidFill>
              <a:schemeClr val="accent2"/>
            </a:solidFill>
            <a:ln w="9525" cmpd="sng">
              <a:solidFill>
                <a:schemeClr val="tx1"/>
              </a:solidFill>
              <a:round/>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endParaRPr lang="zh-CN" altLang="en-US" sz="2400" b="1">
                <a:solidFill>
                  <a:schemeClr val="bg2"/>
                </a:solidFill>
              </a:endParaRPr>
            </a:p>
          </p:txBody>
        </p:sp>
        <p:sp>
          <p:nvSpPr>
            <p:cNvPr id="5136" name="Text Box 16"/>
            <p:cNvSpPr txBox="1">
              <a:spLocks noChangeArrowheads="1"/>
            </p:cNvSpPr>
            <p:nvPr/>
          </p:nvSpPr>
          <p:spPr bwMode="auto">
            <a:xfrm>
              <a:off x="3451" y="0"/>
              <a:ext cx="1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a:solidFill>
                    <a:schemeClr val="bg2"/>
                  </a:solidFill>
                </a:rPr>
                <a:t>，</a:t>
              </a:r>
            </a:p>
          </p:txBody>
        </p:sp>
        <p:sp>
          <p:nvSpPr>
            <p:cNvPr id="5137" name="Line 17"/>
            <p:cNvSpPr>
              <a:spLocks noChangeShapeType="1"/>
            </p:cNvSpPr>
            <p:nvPr/>
          </p:nvSpPr>
          <p:spPr bwMode="auto">
            <a:xfrm>
              <a:off x="0" y="576"/>
              <a:ext cx="246"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38" name="Line 18"/>
            <p:cNvSpPr>
              <a:spLocks noChangeShapeType="1"/>
            </p:cNvSpPr>
            <p:nvPr/>
          </p:nvSpPr>
          <p:spPr bwMode="auto">
            <a:xfrm>
              <a:off x="887" y="576"/>
              <a:ext cx="247"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39" name="Line 19"/>
            <p:cNvSpPr>
              <a:spLocks noChangeShapeType="1"/>
            </p:cNvSpPr>
            <p:nvPr/>
          </p:nvSpPr>
          <p:spPr bwMode="auto">
            <a:xfrm>
              <a:off x="1430" y="576"/>
              <a:ext cx="246"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0" name="Line 20"/>
            <p:cNvSpPr>
              <a:spLocks noChangeShapeType="1"/>
            </p:cNvSpPr>
            <p:nvPr/>
          </p:nvSpPr>
          <p:spPr bwMode="auto">
            <a:xfrm>
              <a:off x="2859" y="576"/>
              <a:ext cx="247"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1" name="Line 21"/>
            <p:cNvSpPr>
              <a:spLocks noChangeShapeType="1"/>
            </p:cNvSpPr>
            <p:nvPr/>
          </p:nvSpPr>
          <p:spPr bwMode="auto">
            <a:xfrm>
              <a:off x="3944" y="576"/>
              <a:ext cx="295"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2" name="Line 23"/>
            <p:cNvSpPr>
              <a:spLocks noChangeShapeType="1"/>
            </p:cNvSpPr>
            <p:nvPr/>
          </p:nvSpPr>
          <p:spPr bwMode="auto">
            <a:xfrm>
              <a:off x="5275" y="576"/>
              <a:ext cx="246"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3" name="Line 24"/>
            <p:cNvSpPr>
              <a:spLocks noChangeShapeType="1"/>
            </p:cNvSpPr>
            <p:nvPr/>
          </p:nvSpPr>
          <p:spPr bwMode="auto">
            <a:xfrm>
              <a:off x="99" y="576"/>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4" name="Line 25"/>
            <p:cNvSpPr>
              <a:spLocks noChangeShapeType="1"/>
            </p:cNvSpPr>
            <p:nvPr/>
          </p:nvSpPr>
          <p:spPr bwMode="auto">
            <a:xfrm flipV="1">
              <a:off x="99" y="864"/>
              <a:ext cx="1429"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5" name="Line 28"/>
            <p:cNvSpPr>
              <a:spLocks noChangeShapeType="1"/>
            </p:cNvSpPr>
            <p:nvPr/>
          </p:nvSpPr>
          <p:spPr bwMode="auto">
            <a:xfrm flipV="1">
              <a:off x="1528" y="576"/>
              <a:ext cx="0" cy="288"/>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6" name="Line 30"/>
            <p:cNvSpPr>
              <a:spLocks noChangeShapeType="1"/>
            </p:cNvSpPr>
            <p:nvPr/>
          </p:nvSpPr>
          <p:spPr bwMode="auto">
            <a:xfrm>
              <a:off x="2958" y="576"/>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7" name="Line 31"/>
            <p:cNvSpPr>
              <a:spLocks noChangeShapeType="1"/>
            </p:cNvSpPr>
            <p:nvPr/>
          </p:nvSpPr>
          <p:spPr bwMode="auto">
            <a:xfrm>
              <a:off x="2958" y="864"/>
              <a:ext cx="1133"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8" name="Line 32"/>
            <p:cNvSpPr>
              <a:spLocks noChangeShapeType="1"/>
            </p:cNvSpPr>
            <p:nvPr/>
          </p:nvSpPr>
          <p:spPr bwMode="auto">
            <a:xfrm flipV="1">
              <a:off x="4091" y="576"/>
              <a:ext cx="0" cy="288"/>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49" name="Line 33"/>
            <p:cNvSpPr>
              <a:spLocks noChangeShapeType="1"/>
            </p:cNvSpPr>
            <p:nvPr/>
          </p:nvSpPr>
          <p:spPr bwMode="auto">
            <a:xfrm flipV="1">
              <a:off x="4042" y="288"/>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50" name="Line 34"/>
            <p:cNvSpPr>
              <a:spLocks noChangeShapeType="1"/>
            </p:cNvSpPr>
            <p:nvPr/>
          </p:nvSpPr>
          <p:spPr bwMode="auto">
            <a:xfrm flipH="1">
              <a:off x="3697" y="288"/>
              <a:ext cx="345"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51" name="Line 35"/>
            <p:cNvSpPr>
              <a:spLocks noChangeShapeType="1"/>
            </p:cNvSpPr>
            <p:nvPr/>
          </p:nvSpPr>
          <p:spPr bwMode="auto">
            <a:xfrm flipH="1">
              <a:off x="3007" y="240"/>
              <a:ext cx="394"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52" name="Line 36"/>
            <p:cNvSpPr>
              <a:spLocks noChangeShapeType="1"/>
            </p:cNvSpPr>
            <p:nvPr/>
          </p:nvSpPr>
          <p:spPr bwMode="auto">
            <a:xfrm>
              <a:off x="3007" y="240"/>
              <a:ext cx="0" cy="336"/>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53" name="Line 37"/>
            <p:cNvSpPr>
              <a:spLocks noChangeShapeType="1"/>
            </p:cNvSpPr>
            <p:nvPr/>
          </p:nvSpPr>
          <p:spPr bwMode="auto">
            <a:xfrm>
              <a:off x="4141" y="576"/>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54" name="Line 38"/>
            <p:cNvSpPr>
              <a:spLocks noChangeShapeType="1"/>
            </p:cNvSpPr>
            <p:nvPr/>
          </p:nvSpPr>
          <p:spPr bwMode="auto">
            <a:xfrm>
              <a:off x="4141" y="864"/>
              <a:ext cx="1281"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55" name="Line 39"/>
            <p:cNvSpPr>
              <a:spLocks noChangeShapeType="1"/>
            </p:cNvSpPr>
            <p:nvPr/>
          </p:nvSpPr>
          <p:spPr bwMode="auto">
            <a:xfrm flipV="1">
              <a:off x="5422" y="576"/>
              <a:ext cx="0" cy="288"/>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5156" name="Line 40"/>
            <p:cNvSpPr>
              <a:spLocks noChangeShapeType="1"/>
            </p:cNvSpPr>
            <p:nvPr/>
          </p:nvSpPr>
          <p:spPr bwMode="auto">
            <a:xfrm>
              <a:off x="4535" y="576"/>
              <a:ext cx="197"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grpSp>
      <p:sp>
        <p:nvSpPr>
          <p:cNvPr id="5157" name="Rectangle 41"/>
          <p:cNvSpPr>
            <a:spLocks noChangeArrowheads="1"/>
          </p:cNvSpPr>
          <p:nvPr/>
        </p:nvSpPr>
        <p:spPr bwMode="auto">
          <a:xfrm>
            <a:off x="684213" y="6021388"/>
            <a:ext cx="4967907" cy="46166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solidFill>
                  <a:schemeClr val="bg2"/>
                </a:solidFill>
              </a:rPr>
              <a:t>一条指令语句最多可以包含</a:t>
            </a:r>
            <a:r>
              <a:rPr lang="en-US" altLang="zh-CN" sz="2400" b="1" dirty="0">
                <a:solidFill>
                  <a:schemeClr val="bg2"/>
                </a:solidFill>
              </a:rPr>
              <a:t>4</a:t>
            </a:r>
            <a:r>
              <a:rPr lang="zh-CN" altLang="en-US" sz="2400" b="1">
                <a:solidFill>
                  <a:schemeClr val="bg2"/>
                </a:solidFill>
              </a:rPr>
              <a:t>个字段</a:t>
            </a:r>
          </a:p>
        </p:txBody>
      </p:sp>
      <p:sp>
        <p:nvSpPr>
          <p:cNvPr id="5158" name="Rectangle 44"/>
          <p:cNvSpPr>
            <a:spLocks noChangeArrowheads="1"/>
          </p:cNvSpPr>
          <p:nvPr/>
        </p:nvSpPr>
        <p:spPr bwMode="auto">
          <a:xfrm>
            <a:off x="1187450" y="188913"/>
            <a:ext cx="5670550" cy="579437"/>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3200" b="1" dirty="0">
                <a:solidFill>
                  <a:schemeClr val="hlink"/>
                </a:solidFill>
              </a:rPr>
              <a:t>4.1 </a:t>
            </a:r>
            <a:r>
              <a:rPr lang="zh-CN" altLang="en-US" sz="3200" b="1" dirty="0">
                <a:solidFill>
                  <a:schemeClr val="hlink"/>
                </a:solidFill>
              </a:rPr>
              <a:t>汇编语言语句种类及其格式</a:t>
            </a:r>
          </a:p>
        </p:txBody>
      </p:sp>
      <p:sp>
        <p:nvSpPr>
          <p:cNvPr id="5159" name="Text Box 45"/>
          <p:cNvSpPr txBox="1">
            <a:spLocks noChangeArrowheads="1"/>
          </p:cNvSpPr>
          <p:nvPr/>
        </p:nvSpPr>
        <p:spPr bwMode="auto">
          <a:xfrm>
            <a:off x="1300531" y="1256916"/>
            <a:ext cx="2551112" cy="461665"/>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 </a:t>
            </a:r>
            <a:r>
              <a:rPr lang="zh-CN" altLang="en-US" sz="2400" b="1" dirty="0">
                <a:solidFill>
                  <a:schemeClr val="bg2"/>
                </a:solidFill>
              </a:rPr>
              <a:t>汇编语言语句</a:t>
            </a:r>
            <a:endParaRPr lang="zh-CN" altLang="en-US" sz="2400" b="1" dirty="0">
              <a:solidFill>
                <a:srgbClr val="FF0000"/>
              </a:solidFill>
            </a:endParaRPr>
          </a:p>
        </p:txBody>
      </p:sp>
      <p:sp>
        <p:nvSpPr>
          <p:cNvPr id="40" name="Text Box 45"/>
          <p:cNvSpPr txBox="1">
            <a:spLocks noChangeArrowheads="1"/>
          </p:cNvSpPr>
          <p:nvPr/>
        </p:nvSpPr>
        <p:spPr bwMode="auto">
          <a:xfrm>
            <a:off x="3706523" y="1012633"/>
            <a:ext cx="1744315" cy="461665"/>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rgbClr val="FF0000"/>
                </a:solidFill>
              </a:rPr>
              <a:t>指令语句</a:t>
            </a:r>
          </a:p>
        </p:txBody>
      </p:sp>
      <p:sp>
        <p:nvSpPr>
          <p:cNvPr id="41" name="Text Box 45"/>
          <p:cNvSpPr txBox="1">
            <a:spLocks noChangeArrowheads="1"/>
          </p:cNvSpPr>
          <p:nvPr/>
        </p:nvSpPr>
        <p:spPr bwMode="auto">
          <a:xfrm>
            <a:off x="3681662" y="1484262"/>
            <a:ext cx="2096838" cy="461665"/>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rgbClr val="FF0000"/>
                </a:solidFill>
              </a:rPr>
              <a:t>伪指令语句</a:t>
            </a:r>
          </a:p>
        </p:txBody>
      </p:sp>
      <p:sp>
        <p:nvSpPr>
          <p:cNvPr id="2" name="左大括号 1"/>
          <p:cNvSpPr/>
          <p:nvPr/>
        </p:nvSpPr>
        <p:spPr bwMode="auto">
          <a:xfrm>
            <a:off x="3445697" y="1200027"/>
            <a:ext cx="232743" cy="679166"/>
          </a:xfrm>
          <a:prstGeom prst="leftBrace">
            <a:avLst/>
          </a:prstGeom>
          <a:solidFill>
            <a:schemeClr val="bg1"/>
          </a:solidFill>
          <a:ln w="28575"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59"/>
                                        </p:tgtEl>
                                        <p:attrNameLst>
                                          <p:attrName>style.visibility</p:attrName>
                                        </p:attrNameLst>
                                      </p:cBhvr>
                                      <p:to>
                                        <p:strVal val="visible"/>
                                      </p:to>
                                    </p:set>
                                  </p:childTnLst>
                                </p:cTn>
                              </p:par>
                            </p:childTnLst>
                          </p:cTn>
                        </p:par>
                        <p:par>
                          <p:cTn id="11" fill="hold" nodeType="withGroup">
                            <p:stCondLst>
                              <p:cond delay="0"/>
                            </p:stCondLst>
                            <p:childTnLst>
                              <p:par>
                                <p:cTn id="12" presetID="22" presetClass="entr" presetSubtype="4" fill="hold" grpId="0" nodeType="afterEffect">
                                  <p:stCondLst>
                                    <p:cond delay="25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par>
                          <p:cTn id="15" fill="hold">
                            <p:stCondLst>
                              <p:cond delay="750"/>
                            </p:stCondLst>
                            <p:childTnLst>
                              <p:par>
                                <p:cTn id="16" presetID="1" presetClass="entr" presetSubtype="0" fill="hold" grpId="0" nodeType="afterEffect">
                                  <p:stCondLst>
                                    <p:cond delay="250"/>
                                  </p:stCondLst>
                                  <p:childTnLst>
                                    <p:set>
                                      <p:cBhvr>
                                        <p:cTn id="17" dur="1" fill="hold">
                                          <p:stCondLst>
                                            <p:cond delay="0"/>
                                          </p:stCondLst>
                                        </p:cTn>
                                        <p:tgtEl>
                                          <p:spTgt spid="40"/>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grpId="0" nodeType="afterEffect">
                                  <p:stCondLst>
                                    <p:cond delay="50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51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51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125"/>
                                        </p:tgtEl>
                                        <p:attrNameLst>
                                          <p:attrName>style.visibility</p:attrName>
                                        </p:attrNameLst>
                                      </p:cBhvr>
                                      <p:to>
                                        <p:strVal val="visible"/>
                                      </p:to>
                                    </p:set>
                                    <p:anim calcmode="lin" valueType="num">
                                      <p:cBhvr additive="base">
                                        <p:cTn id="33" dur="500" fill="hold"/>
                                        <p:tgtEl>
                                          <p:spTgt spid="5125"/>
                                        </p:tgtEl>
                                        <p:attrNameLst>
                                          <p:attrName>ppt_x</p:attrName>
                                        </p:attrNameLst>
                                      </p:cBhvr>
                                      <p:tavLst>
                                        <p:tav tm="0">
                                          <p:val>
                                            <p:strVal val="#ppt_x"/>
                                          </p:val>
                                        </p:tav>
                                        <p:tav tm="100000">
                                          <p:val>
                                            <p:strVal val="#ppt_x"/>
                                          </p:val>
                                        </p:tav>
                                      </p:tavLst>
                                    </p:anim>
                                    <p:anim calcmode="lin" valueType="num">
                                      <p:cBhvr additive="base">
                                        <p:cTn id="34" dur="500" fill="hold"/>
                                        <p:tgtEl>
                                          <p:spTgt spid="512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5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nimBg="1" autoUpdateAnimBg="0"/>
      <p:bldP spid="5124" grpId="0" animBg="1" autoUpdateAnimBg="0"/>
      <p:bldP spid="5125" grpId="0" animBg="1" autoUpdateAnimBg="0"/>
      <p:bldP spid="5157" grpId="0" animBg="1" autoUpdateAnimBg="0"/>
      <p:bldP spid="5158" grpId="0" animBg="1" autoUpdateAnimBg="0"/>
      <p:bldP spid="5159" grpId="0" animBg="1" autoUpdateAnimBg="0"/>
      <p:bldP spid="40" grpId="0" animBg="1" autoUpdateAnimBg="0"/>
      <p:bldP spid="41" grpId="0" animBg="1" autoUpdateAnimBg="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2CEF98CD-205F-43AC-87A8-4CAB2766ED55}" type="slidenum">
              <a:rPr lang="en-US" altLang="zh-CN" sz="1400">
                <a:solidFill>
                  <a:schemeClr val="bg2"/>
                </a:solidFill>
              </a:rPr>
              <a:pPr algn="r" eaLnBrk="1" hangingPunct="1"/>
              <a:t>4</a:t>
            </a:fld>
            <a:endParaRPr lang="en-US" altLang="zh-CN" sz="1400" dirty="0">
              <a:solidFill>
                <a:schemeClr val="bg2"/>
              </a:solidFill>
            </a:endParaRPr>
          </a:p>
        </p:txBody>
      </p:sp>
      <p:sp>
        <p:nvSpPr>
          <p:cNvPr id="6147" name="Rectangle 2"/>
          <p:cNvSpPr>
            <a:spLocks noChangeArrowheads="1"/>
          </p:cNvSpPr>
          <p:nvPr/>
        </p:nvSpPr>
        <p:spPr bwMode="auto">
          <a:xfrm>
            <a:off x="220662" y="1764099"/>
            <a:ext cx="8791574" cy="3200876"/>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457200" indent="-457200" eaLnBrk="1" hangingPunct="1">
              <a:lnSpc>
                <a:spcPct val="150000"/>
              </a:lnSpc>
              <a:buClr>
                <a:srgbClr val="C00000"/>
              </a:buClr>
              <a:buFont typeface="Wingdings" panose="05000000000000000000" pitchFamily="2" charset="2"/>
              <a:buChar char="u"/>
            </a:pPr>
            <a:r>
              <a:rPr lang="zh-CN" altLang="en-US" sz="2400" b="1" dirty="0">
                <a:solidFill>
                  <a:srgbClr val="FF0000"/>
                </a:solidFill>
              </a:rPr>
              <a:t>指令助记符</a:t>
            </a:r>
            <a:r>
              <a:rPr lang="zh-CN" altLang="en-US" sz="2400" b="1" dirty="0">
                <a:solidFill>
                  <a:schemeClr val="bg2"/>
                </a:solidFill>
              </a:rPr>
              <a:t>和</a:t>
            </a:r>
            <a:r>
              <a:rPr lang="zh-CN" altLang="en-US" sz="2400" b="1" dirty="0">
                <a:solidFill>
                  <a:srgbClr val="FF0000"/>
                </a:solidFill>
              </a:rPr>
              <a:t>操作数</a:t>
            </a:r>
            <a:r>
              <a:rPr lang="zh-CN" altLang="en-US" sz="2400" b="1" dirty="0">
                <a:solidFill>
                  <a:schemeClr val="bg2"/>
                </a:solidFill>
              </a:rPr>
              <a:t>两个字段就是前面介绍的指令</a:t>
            </a:r>
            <a:endParaRPr lang="en-US" altLang="zh-CN" sz="2400" b="1" dirty="0">
              <a:solidFill>
                <a:schemeClr val="bg2"/>
              </a:solidFill>
            </a:endParaRPr>
          </a:p>
          <a:p>
            <a:pPr marL="457200" indent="-457200" eaLnBrk="1" hangingPunct="1">
              <a:spcAft>
                <a:spcPts val="1200"/>
              </a:spcAft>
              <a:buClr>
                <a:srgbClr val="C00000"/>
              </a:buClr>
              <a:buFont typeface="Wingdings" panose="05000000000000000000" pitchFamily="2" charset="2"/>
              <a:buChar char="u"/>
            </a:pPr>
            <a:r>
              <a:rPr lang="zh-CN" altLang="en-US" sz="2400" b="1" dirty="0">
                <a:solidFill>
                  <a:srgbClr val="FF0000"/>
                </a:solidFill>
              </a:rPr>
              <a:t>标号</a:t>
            </a:r>
            <a:r>
              <a:rPr lang="zh-CN" altLang="en-US" sz="2400" b="1" dirty="0">
                <a:solidFill>
                  <a:schemeClr val="bg2"/>
                </a:solidFill>
              </a:rPr>
              <a:t>是可选字段，后面必须跟“：”</a:t>
            </a:r>
            <a:r>
              <a:rPr lang="zh-CN" altLang="en-US" sz="2400" b="1" dirty="0" smtClean="0">
                <a:solidFill>
                  <a:schemeClr val="bg2"/>
                </a:solidFill>
              </a:rPr>
              <a:t>。在控制程序执行顺序时标号</a:t>
            </a:r>
            <a:r>
              <a:rPr lang="zh-CN" altLang="en-US" sz="2400" b="1" dirty="0">
                <a:solidFill>
                  <a:schemeClr val="bg2"/>
                </a:solidFill>
              </a:rPr>
              <a:t>被</a:t>
            </a:r>
            <a:r>
              <a:rPr lang="zh-CN" altLang="en-US" sz="2400" b="1" dirty="0" smtClean="0">
                <a:solidFill>
                  <a:schemeClr val="bg2"/>
                </a:solidFill>
              </a:rPr>
              <a:t>用来的位置指示。</a:t>
            </a:r>
            <a:endParaRPr lang="en-US" altLang="zh-CN" sz="2400" b="1" dirty="0">
              <a:solidFill>
                <a:schemeClr val="bg2"/>
              </a:solidFill>
            </a:endParaRPr>
          </a:p>
          <a:p>
            <a:pPr marL="457200" indent="-457200" eaLnBrk="1" hangingPunct="1">
              <a:lnSpc>
                <a:spcPct val="150000"/>
              </a:lnSpc>
              <a:buClr>
                <a:srgbClr val="C00000"/>
              </a:buClr>
              <a:buFont typeface="Wingdings" panose="05000000000000000000" pitchFamily="2" charset="2"/>
              <a:buChar char="u"/>
            </a:pPr>
            <a:r>
              <a:rPr lang="zh-CN" altLang="en-US" sz="2400" b="1" dirty="0">
                <a:solidFill>
                  <a:srgbClr val="FF0000"/>
                </a:solidFill>
              </a:rPr>
              <a:t>注释字段</a:t>
            </a:r>
            <a:r>
              <a:rPr lang="zh-CN" altLang="en-US" sz="2400" b="1" dirty="0">
                <a:solidFill>
                  <a:schemeClr val="bg2"/>
                </a:solidFill>
              </a:rPr>
              <a:t>为可选项，该字段以分号“</a:t>
            </a:r>
            <a:r>
              <a:rPr lang="en-US" altLang="zh-CN" sz="2400" b="1" dirty="0">
                <a:solidFill>
                  <a:schemeClr val="bg2"/>
                </a:solidFill>
              </a:rPr>
              <a:t>;”</a:t>
            </a:r>
            <a:r>
              <a:rPr lang="zh-CN" altLang="en-US" sz="2400" b="1" dirty="0">
                <a:solidFill>
                  <a:schemeClr val="bg2"/>
                </a:solidFill>
              </a:rPr>
              <a:t>开始。</a:t>
            </a:r>
            <a:endParaRPr lang="en-US" altLang="zh-CN" sz="2400" b="1" dirty="0">
              <a:solidFill>
                <a:schemeClr val="bg2"/>
              </a:solidFill>
            </a:endParaRPr>
          </a:p>
          <a:p>
            <a:pPr marL="1200150" lvl="1" indent="-457200" eaLnBrk="1" hangingPunct="1">
              <a:lnSpc>
                <a:spcPct val="150000"/>
              </a:lnSpc>
              <a:buClr>
                <a:srgbClr val="C00000"/>
              </a:buClr>
              <a:buFont typeface="Wingdings" panose="05000000000000000000" pitchFamily="2" charset="2"/>
              <a:buChar char="ü"/>
            </a:pPr>
            <a:r>
              <a:rPr lang="zh-CN" altLang="en-US" sz="2400" b="1" dirty="0">
                <a:solidFill>
                  <a:schemeClr val="bg2"/>
                </a:solidFill>
              </a:rPr>
              <a:t>它不会产生机器目标代码，不影响程序的功能。</a:t>
            </a:r>
            <a:endParaRPr lang="en-US" altLang="zh-CN" sz="2400" b="1" dirty="0">
              <a:solidFill>
                <a:schemeClr val="bg2"/>
              </a:solidFill>
            </a:endParaRPr>
          </a:p>
          <a:p>
            <a:pPr marL="1200150" lvl="1" indent="-457200" eaLnBrk="1" hangingPunct="1">
              <a:lnSpc>
                <a:spcPct val="150000"/>
              </a:lnSpc>
              <a:buClr>
                <a:srgbClr val="C00000"/>
              </a:buClr>
              <a:buFont typeface="Wingdings" panose="05000000000000000000" pitchFamily="2" charset="2"/>
              <a:buChar char="ü"/>
            </a:pPr>
            <a:r>
              <a:rPr lang="zh-CN" altLang="en-US" sz="2400" b="1" dirty="0">
                <a:solidFill>
                  <a:schemeClr val="bg2"/>
                </a:solidFill>
              </a:rPr>
              <a:t>注释可以加在指令的后面，也可以是整个语句行。</a:t>
            </a:r>
          </a:p>
        </p:txBody>
      </p:sp>
      <p:grpSp>
        <p:nvGrpSpPr>
          <p:cNvPr id="6152" name="Group 8"/>
          <p:cNvGrpSpPr>
            <a:grpSpLocks/>
          </p:cNvGrpSpPr>
          <p:nvPr/>
        </p:nvGrpSpPr>
        <p:grpSpPr bwMode="auto">
          <a:xfrm>
            <a:off x="146050" y="116632"/>
            <a:ext cx="8764587" cy="1362076"/>
            <a:chOff x="0" y="0"/>
            <a:chExt cx="5521" cy="864"/>
          </a:xfrm>
        </p:grpSpPr>
        <p:sp>
          <p:nvSpPr>
            <p:cNvPr id="6153" name="Rectangle 8"/>
            <p:cNvSpPr>
              <a:spLocks noChangeArrowheads="1"/>
            </p:cNvSpPr>
            <p:nvPr/>
          </p:nvSpPr>
          <p:spPr bwMode="auto">
            <a:xfrm>
              <a:off x="246" y="432"/>
              <a:ext cx="641"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标号</a:t>
              </a:r>
            </a:p>
          </p:txBody>
        </p:sp>
        <p:sp>
          <p:nvSpPr>
            <p:cNvPr id="6154" name="Rectangle 9"/>
            <p:cNvSpPr>
              <a:spLocks noChangeArrowheads="1"/>
            </p:cNvSpPr>
            <p:nvPr/>
          </p:nvSpPr>
          <p:spPr bwMode="auto">
            <a:xfrm>
              <a:off x="1676" y="432"/>
              <a:ext cx="1183"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指令助记符</a:t>
              </a:r>
            </a:p>
          </p:txBody>
        </p:sp>
        <p:sp>
          <p:nvSpPr>
            <p:cNvPr id="6155" name="Rectangle 10"/>
            <p:cNvSpPr>
              <a:spLocks noChangeArrowheads="1"/>
            </p:cNvSpPr>
            <p:nvPr/>
          </p:nvSpPr>
          <p:spPr bwMode="auto">
            <a:xfrm>
              <a:off x="3106" y="432"/>
              <a:ext cx="838"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操作数</a:t>
              </a:r>
            </a:p>
          </p:txBody>
        </p:sp>
        <p:sp>
          <p:nvSpPr>
            <p:cNvPr id="6156" name="Rectangle 11"/>
            <p:cNvSpPr>
              <a:spLocks noChangeArrowheads="1"/>
            </p:cNvSpPr>
            <p:nvPr/>
          </p:nvSpPr>
          <p:spPr bwMode="auto">
            <a:xfrm>
              <a:off x="4732" y="432"/>
              <a:ext cx="543"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注释</a:t>
              </a:r>
            </a:p>
          </p:txBody>
        </p:sp>
        <p:sp>
          <p:nvSpPr>
            <p:cNvPr id="6157" name="Oval 12"/>
            <p:cNvSpPr>
              <a:spLocks noChangeArrowheads="1"/>
            </p:cNvSpPr>
            <p:nvPr/>
          </p:nvSpPr>
          <p:spPr bwMode="auto">
            <a:xfrm>
              <a:off x="4239" y="432"/>
              <a:ext cx="296" cy="288"/>
            </a:xfrm>
            <a:prstGeom prst="ellipse">
              <a:avLst/>
            </a:prstGeom>
            <a:solidFill>
              <a:schemeClr val="accent2"/>
            </a:solidFill>
            <a:ln w="9525" cmpd="sng">
              <a:solidFill>
                <a:schemeClr val="tx1"/>
              </a:solidFill>
              <a:round/>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endParaRPr lang="zh-CN" altLang="en-US" sz="2400" b="1">
                <a:solidFill>
                  <a:schemeClr val="bg2"/>
                </a:solidFill>
              </a:endParaRPr>
            </a:p>
          </p:txBody>
        </p:sp>
        <p:sp>
          <p:nvSpPr>
            <p:cNvPr id="6158" name="Text Box 13"/>
            <p:cNvSpPr txBox="1">
              <a:spLocks noChangeArrowheads="1"/>
            </p:cNvSpPr>
            <p:nvPr/>
          </p:nvSpPr>
          <p:spPr bwMode="auto">
            <a:xfrm>
              <a:off x="4289" y="384"/>
              <a:ext cx="29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a:t>
              </a:r>
            </a:p>
          </p:txBody>
        </p:sp>
        <p:sp>
          <p:nvSpPr>
            <p:cNvPr id="6159" name="Oval 14"/>
            <p:cNvSpPr>
              <a:spLocks noChangeArrowheads="1"/>
            </p:cNvSpPr>
            <p:nvPr/>
          </p:nvSpPr>
          <p:spPr bwMode="auto">
            <a:xfrm>
              <a:off x="1134" y="432"/>
              <a:ext cx="296" cy="288"/>
            </a:xfrm>
            <a:prstGeom prst="ellipse">
              <a:avLst/>
            </a:prstGeom>
            <a:solidFill>
              <a:schemeClr val="accent2"/>
            </a:solidFill>
            <a:ln w="9525" cmpd="sng">
              <a:solidFill>
                <a:schemeClr val="tx1"/>
              </a:solidFill>
              <a:round/>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endParaRPr lang="zh-CN" altLang="en-US" sz="2400" b="1">
                <a:solidFill>
                  <a:schemeClr val="bg2"/>
                </a:solidFill>
              </a:endParaRPr>
            </a:p>
          </p:txBody>
        </p:sp>
        <p:sp>
          <p:nvSpPr>
            <p:cNvPr id="6160" name="Text Box 15"/>
            <p:cNvSpPr txBox="1">
              <a:spLocks noChangeArrowheads="1"/>
            </p:cNvSpPr>
            <p:nvPr/>
          </p:nvSpPr>
          <p:spPr bwMode="auto">
            <a:xfrm>
              <a:off x="1134" y="384"/>
              <a:ext cx="246"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a:t>
              </a:r>
            </a:p>
          </p:txBody>
        </p:sp>
        <p:sp>
          <p:nvSpPr>
            <p:cNvPr id="6161" name="Oval 16"/>
            <p:cNvSpPr>
              <a:spLocks noChangeArrowheads="1"/>
            </p:cNvSpPr>
            <p:nvPr/>
          </p:nvSpPr>
          <p:spPr bwMode="auto">
            <a:xfrm>
              <a:off x="3401" y="96"/>
              <a:ext cx="296" cy="288"/>
            </a:xfrm>
            <a:prstGeom prst="ellipse">
              <a:avLst/>
            </a:prstGeom>
            <a:solidFill>
              <a:schemeClr val="accent2"/>
            </a:solidFill>
            <a:ln w="9525" cmpd="sng">
              <a:solidFill>
                <a:schemeClr val="tx1"/>
              </a:solidFill>
              <a:round/>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endParaRPr lang="zh-CN" altLang="en-US" sz="2400" b="1">
                <a:solidFill>
                  <a:schemeClr val="bg2"/>
                </a:solidFill>
              </a:endParaRPr>
            </a:p>
          </p:txBody>
        </p:sp>
        <p:sp>
          <p:nvSpPr>
            <p:cNvPr id="6162" name="Text Box 17"/>
            <p:cNvSpPr txBox="1">
              <a:spLocks noChangeArrowheads="1"/>
            </p:cNvSpPr>
            <p:nvPr/>
          </p:nvSpPr>
          <p:spPr bwMode="auto">
            <a:xfrm>
              <a:off x="3451" y="0"/>
              <a:ext cx="197"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dirty="0">
                  <a:solidFill>
                    <a:schemeClr val="bg2"/>
                  </a:solidFill>
                </a:rPr>
                <a:t>，</a:t>
              </a:r>
            </a:p>
          </p:txBody>
        </p:sp>
        <p:sp>
          <p:nvSpPr>
            <p:cNvPr id="6163" name="Line 18"/>
            <p:cNvSpPr>
              <a:spLocks noChangeShapeType="1"/>
            </p:cNvSpPr>
            <p:nvPr/>
          </p:nvSpPr>
          <p:spPr bwMode="auto">
            <a:xfrm>
              <a:off x="0" y="576"/>
              <a:ext cx="246"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64" name="Line 19"/>
            <p:cNvSpPr>
              <a:spLocks noChangeShapeType="1"/>
            </p:cNvSpPr>
            <p:nvPr/>
          </p:nvSpPr>
          <p:spPr bwMode="auto">
            <a:xfrm>
              <a:off x="887" y="576"/>
              <a:ext cx="247"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65" name="Line 20"/>
            <p:cNvSpPr>
              <a:spLocks noChangeShapeType="1"/>
            </p:cNvSpPr>
            <p:nvPr/>
          </p:nvSpPr>
          <p:spPr bwMode="auto">
            <a:xfrm>
              <a:off x="1430" y="576"/>
              <a:ext cx="246"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66" name="Line 21"/>
            <p:cNvSpPr>
              <a:spLocks noChangeShapeType="1"/>
            </p:cNvSpPr>
            <p:nvPr/>
          </p:nvSpPr>
          <p:spPr bwMode="auto">
            <a:xfrm>
              <a:off x="2859" y="576"/>
              <a:ext cx="247"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67" name="Line 22"/>
            <p:cNvSpPr>
              <a:spLocks noChangeShapeType="1"/>
            </p:cNvSpPr>
            <p:nvPr/>
          </p:nvSpPr>
          <p:spPr bwMode="auto">
            <a:xfrm>
              <a:off x="3944" y="576"/>
              <a:ext cx="295"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68" name="Line 23"/>
            <p:cNvSpPr>
              <a:spLocks noChangeShapeType="1"/>
            </p:cNvSpPr>
            <p:nvPr/>
          </p:nvSpPr>
          <p:spPr bwMode="auto">
            <a:xfrm>
              <a:off x="5275" y="576"/>
              <a:ext cx="246"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69" name="Line 24"/>
            <p:cNvSpPr>
              <a:spLocks noChangeShapeType="1"/>
            </p:cNvSpPr>
            <p:nvPr/>
          </p:nvSpPr>
          <p:spPr bwMode="auto">
            <a:xfrm>
              <a:off x="99" y="576"/>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0" name="Line 25"/>
            <p:cNvSpPr>
              <a:spLocks noChangeShapeType="1"/>
            </p:cNvSpPr>
            <p:nvPr/>
          </p:nvSpPr>
          <p:spPr bwMode="auto">
            <a:xfrm flipV="1">
              <a:off x="99" y="864"/>
              <a:ext cx="1429"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1" name="Line 26"/>
            <p:cNvSpPr>
              <a:spLocks noChangeShapeType="1"/>
            </p:cNvSpPr>
            <p:nvPr/>
          </p:nvSpPr>
          <p:spPr bwMode="auto">
            <a:xfrm flipV="1">
              <a:off x="1528" y="576"/>
              <a:ext cx="0" cy="288"/>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2" name="Line 27"/>
            <p:cNvSpPr>
              <a:spLocks noChangeShapeType="1"/>
            </p:cNvSpPr>
            <p:nvPr/>
          </p:nvSpPr>
          <p:spPr bwMode="auto">
            <a:xfrm>
              <a:off x="2958" y="576"/>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3" name="Line 28"/>
            <p:cNvSpPr>
              <a:spLocks noChangeShapeType="1"/>
            </p:cNvSpPr>
            <p:nvPr/>
          </p:nvSpPr>
          <p:spPr bwMode="auto">
            <a:xfrm>
              <a:off x="2958" y="864"/>
              <a:ext cx="1133"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4" name="Line 29"/>
            <p:cNvSpPr>
              <a:spLocks noChangeShapeType="1"/>
            </p:cNvSpPr>
            <p:nvPr/>
          </p:nvSpPr>
          <p:spPr bwMode="auto">
            <a:xfrm flipV="1">
              <a:off x="4091" y="576"/>
              <a:ext cx="0" cy="288"/>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5" name="Line 30"/>
            <p:cNvSpPr>
              <a:spLocks noChangeShapeType="1"/>
            </p:cNvSpPr>
            <p:nvPr/>
          </p:nvSpPr>
          <p:spPr bwMode="auto">
            <a:xfrm flipV="1">
              <a:off x="4042" y="288"/>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6" name="Line 31"/>
            <p:cNvSpPr>
              <a:spLocks noChangeShapeType="1"/>
            </p:cNvSpPr>
            <p:nvPr/>
          </p:nvSpPr>
          <p:spPr bwMode="auto">
            <a:xfrm flipH="1">
              <a:off x="3697" y="288"/>
              <a:ext cx="345"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7" name="Line 32"/>
            <p:cNvSpPr>
              <a:spLocks noChangeShapeType="1"/>
            </p:cNvSpPr>
            <p:nvPr/>
          </p:nvSpPr>
          <p:spPr bwMode="auto">
            <a:xfrm flipH="1">
              <a:off x="3007" y="240"/>
              <a:ext cx="394"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8" name="Line 33"/>
            <p:cNvSpPr>
              <a:spLocks noChangeShapeType="1"/>
            </p:cNvSpPr>
            <p:nvPr/>
          </p:nvSpPr>
          <p:spPr bwMode="auto">
            <a:xfrm>
              <a:off x="3007" y="240"/>
              <a:ext cx="0" cy="336"/>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79" name="Line 34"/>
            <p:cNvSpPr>
              <a:spLocks noChangeShapeType="1"/>
            </p:cNvSpPr>
            <p:nvPr/>
          </p:nvSpPr>
          <p:spPr bwMode="auto">
            <a:xfrm>
              <a:off x="4141" y="576"/>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80" name="Line 35"/>
            <p:cNvSpPr>
              <a:spLocks noChangeShapeType="1"/>
            </p:cNvSpPr>
            <p:nvPr/>
          </p:nvSpPr>
          <p:spPr bwMode="auto">
            <a:xfrm>
              <a:off x="4141" y="864"/>
              <a:ext cx="1281"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81" name="Line 36"/>
            <p:cNvSpPr>
              <a:spLocks noChangeShapeType="1"/>
            </p:cNvSpPr>
            <p:nvPr/>
          </p:nvSpPr>
          <p:spPr bwMode="auto">
            <a:xfrm flipV="1">
              <a:off x="5422" y="576"/>
              <a:ext cx="0" cy="288"/>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6182" name="Line 37"/>
            <p:cNvSpPr>
              <a:spLocks noChangeShapeType="1"/>
            </p:cNvSpPr>
            <p:nvPr/>
          </p:nvSpPr>
          <p:spPr bwMode="auto">
            <a:xfrm>
              <a:off x="4535" y="576"/>
              <a:ext cx="197"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grpSp>
      <p:sp>
        <p:nvSpPr>
          <p:cNvPr id="39" name="Rectangle 4"/>
          <p:cNvSpPr>
            <a:spLocks noChangeArrowheads="1"/>
          </p:cNvSpPr>
          <p:nvPr/>
        </p:nvSpPr>
        <p:spPr bwMode="auto">
          <a:xfrm>
            <a:off x="146050" y="4964975"/>
            <a:ext cx="7954342" cy="1200329"/>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例：</a:t>
            </a:r>
            <a:r>
              <a:rPr lang="en-US" altLang="zh-CN" sz="2400" b="1" dirty="0">
                <a:solidFill>
                  <a:schemeClr val="bg2"/>
                </a:solidFill>
              </a:rPr>
              <a:t>LABEL1</a:t>
            </a:r>
            <a:r>
              <a:rPr lang="zh-CN" altLang="en-US" sz="2400" b="1" dirty="0">
                <a:solidFill>
                  <a:schemeClr val="bg2"/>
                </a:solidFill>
              </a:rPr>
              <a:t>：</a:t>
            </a:r>
            <a:r>
              <a:rPr lang="en-US" altLang="zh-CN" sz="2400" b="1" dirty="0">
                <a:solidFill>
                  <a:schemeClr val="bg2"/>
                </a:solidFill>
              </a:rPr>
              <a:t>ADD  AX</a:t>
            </a:r>
            <a:r>
              <a:rPr lang="zh-CN" altLang="en-US" sz="2400" b="1" dirty="0">
                <a:solidFill>
                  <a:schemeClr val="bg2"/>
                </a:solidFill>
              </a:rPr>
              <a:t>，</a:t>
            </a:r>
            <a:r>
              <a:rPr lang="en-US" altLang="zh-CN" sz="2400" b="1" dirty="0">
                <a:solidFill>
                  <a:schemeClr val="bg2"/>
                </a:solidFill>
              </a:rPr>
              <a:t>BX</a:t>
            </a:r>
            <a:r>
              <a:rPr lang="zh-CN" altLang="en-US" sz="2400" b="1" dirty="0">
                <a:solidFill>
                  <a:schemeClr val="hlink"/>
                </a:solidFill>
              </a:rPr>
              <a:t>；功能为</a:t>
            </a:r>
            <a:r>
              <a:rPr lang="en-US" altLang="zh-CN" sz="2400" b="1" dirty="0">
                <a:solidFill>
                  <a:schemeClr val="hlink"/>
                </a:solidFill>
              </a:rPr>
              <a:t>AX&lt;=(AX)+(BX)</a:t>
            </a:r>
          </a:p>
          <a:p>
            <a:pPr eaLnBrk="1" hangingPunct="1"/>
            <a:r>
              <a:rPr lang="en-US" altLang="zh-CN" sz="2400" b="1" dirty="0">
                <a:solidFill>
                  <a:schemeClr val="bg2"/>
                </a:solidFill>
              </a:rPr>
              <a:t>        ;</a:t>
            </a:r>
            <a:r>
              <a:rPr lang="zh-CN" altLang="en-US" sz="2400" b="1" dirty="0">
                <a:solidFill>
                  <a:schemeClr val="bg2"/>
                </a:solidFill>
              </a:rPr>
              <a:t>后面的程序段将完成一次对存储器的访问</a:t>
            </a:r>
            <a:endParaRPr lang="en-US" altLang="zh-CN" sz="2400" b="1" dirty="0">
              <a:solidFill>
                <a:schemeClr val="bg2"/>
              </a:solidFill>
            </a:endParaRPr>
          </a:p>
          <a:p>
            <a:pPr eaLnBrk="1" hangingPunct="1"/>
            <a:r>
              <a:rPr lang="en-US" altLang="zh-CN" sz="2400" b="1" dirty="0">
                <a:solidFill>
                  <a:schemeClr val="bg2"/>
                </a:solidFill>
              </a:rPr>
              <a:t>         ……</a:t>
            </a:r>
            <a:endParaRPr lang="zh-CN" altLang="en-US" sz="2400" b="1" dirty="0">
              <a:solidFill>
                <a:schemeClr val="bg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 calcmode="lin" valueType="num">
                                      <p:cBhvr>
                                        <p:cTn id="27" dur="1000" fill="hold"/>
                                        <p:tgtEl>
                                          <p:spTgt spid="39"/>
                                        </p:tgtEl>
                                        <p:attrNameLst>
                                          <p:attrName>ppt_w</p:attrName>
                                        </p:attrNameLst>
                                      </p:cBhvr>
                                      <p:tavLst>
                                        <p:tav tm="0">
                                          <p:val>
                                            <p:strVal val="#ppt_w*0.70"/>
                                          </p:val>
                                        </p:tav>
                                        <p:tav tm="100000">
                                          <p:val>
                                            <p:strVal val="#ppt_w"/>
                                          </p:val>
                                        </p:tav>
                                      </p:tavLst>
                                    </p:anim>
                                    <p:anim calcmode="lin" valueType="num">
                                      <p:cBhvr>
                                        <p:cTn id="28" dur="1000" fill="hold"/>
                                        <p:tgtEl>
                                          <p:spTgt spid="39"/>
                                        </p:tgtEl>
                                        <p:attrNameLst>
                                          <p:attrName>ppt_h</p:attrName>
                                        </p:attrNameLst>
                                      </p:cBhvr>
                                      <p:tavLst>
                                        <p:tav tm="0">
                                          <p:val>
                                            <p:strVal val="#ppt_h"/>
                                          </p:val>
                                        </p:tav>
                                        <p:tav tm="100000">
                                          <p:val>
                                            <p:strVal val="#ppt_h"/>
                                          </p:val>
                                        </p:tav>
                                      </p:tavLst>
                                    </p:anim>
                                    <p:animEffect transition="in" filter="fade">
                                      <p:cBhvr>
                                        <p:cTn id="29"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autoUpdateAnimBg="0"/>
      <p:bldP spid="39"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145EE0C5-602D-4DC0-AD74-782BB327388C}" type="slidenum">
              <a:rPr lang="en-US" altLang="zh-CN" sz="1400">
                <a:solidFill>
                  <a:schemeClr val="bg2"/>
                </a:solidFill>
              </a:rPr>
              <a:pPr algn="r" eaLnBrk="1" hangingPunct="1"/>
              <a:t>5</a:t>
            </a:fld>
            <a:endParaRPr lang="en-US" altLang="zh-CN" sz="1400" dirty="0">
              <a:solidFill>
                <a:schemeClr val="bg2"/>
              </a:solidFill>
            </a:endParaRPr>
          </a:p>
        </p:txBody>
      </p:sp>
      <p:sp>
        <p:nvSpPr>
          <p:cNvPr id="10244" name="Rectangle 3"/>
          <p:cNvSpPr>
            <a:spLocks noChangeArrowheads="1"/>
          </p:cNvSpPr>
          <p:nvPr/>
        </p:nvSpPr>
        <p:spPr bwMode="auto">
          <a:xfrm>
            <a:off x="2667000" y="328613"/>
            <a:ext cx="3344863" cy="579437"/>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3200" b="1" dirty="0">
                <a:solidFill>
                  <a:schemeClr val="hlink"/>
                </a:solidFill>
              </a:rPr>
              <a:t>二、伪指令语句</a:t>
            </a:r>
          </a:p>
        </p:txBody>
      </p:sp>
      <p:sp>
        <p:nvSpPr>
          <p:cNvPr id="10245" name="Rectangle 4"/>
          <p:cNvSpPr>
            <a:spLocks noChangeArrowheads="1"/>
          </p:cNvSpPr>
          <p:nvPr/>
        </p:nvSpPr>
        <p:spPr bwMode="auto">
          <a:xfrm>
            <a:off x="492394" y="1124744"/>
            <a:ext cx="8458200" cy="1723549"/>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457200" indent="-457200" eaLnBrk="1" hangingPunct="1">
              <a:spcAft>
                <a:spcPts val="1200"/>
              </a:spcAft>
              <a:buClr>
                <a:srgbClr val="C00000"/>
              </a:buClr>
              <a:buFont typeface="Wingdings" panose="05000000000000000000" pitchFamily="2" charset="2"/>
              <a:buChar char="u"/>
            </a:pPr>
            <a:r>
              <a:rPr lang="zh-CN" altLang="en-US" sz="2400" b="1" dirty="0">
                <a:solidFill>
                  <a:schemeClr val="bg2"/>
                </a:solidFill>
              </a:rPr>
              <a:t>伪指令语句又叫命令语句，是指示性语句。</a:t>
            </a:r>
            <a:endParaRPr lang="en-US" altLang="zh-CN" sz="2400" b="1" dirty="0">
              <a:solidFill>
                <a:schemeClr val="bg2"/>
              </a:solidFill>
            </a:endParaRPr>
          </a:p>
          <a:p>
            <a:pPr marL="457200" indent="-457200" eaLnBrk="1" hangingPunct="1">
              <a:buClr>
                <a:srgbClr val="C00000"/>
              </a:buClr>
              <a:buFont typeface="Wingdings" panose="05000000000000000000" pitchFamily="2" charset="2"/>
              <a:buChar char="u"/>
            </a:pPr>
            <a:r>
              <a:rPr lang="zh-CN" altLang="en-US" sz="2400" b="1" dirty="0">
                <a:solidFill>
                  <a:schemeClr val="bg2"/>
                </a:solidFill>
              </a:rPr>
              <a:t>伪指令本身不产生自己的机器目标代码。它指示</a:t>
            </a:r>
            <a:r>
              <a:rPr lang="zh-CN" altLang="en-US" sz="2400" b="1" dirty="0">
                <a:solidFill>
                  <a:srgbClr val="FF0000"/>
                </a:solidFill>
              </a:rPr>
              <a:t>汇编程序</a:t>
            </a:r>
            <a:r>
              <a:rPr lang="zh-CN" altLang="en-US" sz="2400" b="1" dirty="0">
                <a:solidFill>
                  <a:schemeClr val="bg2"/>
                </a:solidFill>
              </a:rPr>
              <a:t>对其后面的</a:t>
            </a:r>
            <a:r>
              <a:rPr lang="zh-CN" altLang="en-US" sz="2400" b="1" dirty="0">
                <a:solidFill>
                  <a:srgbClr val="FF0000"/>
                </a:solidFill>
              </a:rPr>
              <a:t>指令语句</a:t>
            </a:r>
            <a:r>
              <a:rPr lang="zh-CN" altLang="en-US" sz="2400" b="1" dirty="0">
                <a:solidFill>
                  <a:schemeClr val="bg2"/>
                </a:solidFill>
              </a:rPr>
              <a:t>和</a:t>
            </a:r>
            <a:r>
              <a:rPr lang="zh-CN" altLang="en-US" sz="2400" b="1" dirty="0">
                <a:solidFill>
                  <a:srgbClr val="FF0000"/>
                </a:solidFill>
              </a:rPr>
              <a:t>伪指令语句</a:t>
            </a:r>
            <a:r>
              <a:rPr lang="zh-CN" altLang="en-US" sz="2400" b="1" dirty="0">
                <a:solidFill>
                  <a:schemeClr val="bg2"/>
                </a:solidFill>
              </a:rPr>
              <a:t>如何处理。</a:t>
            </a:r>
          </a:p>
          <a:p>
            <a:pPr marL="457200" indent="-457200" eaLnBrk="1" hangingPunct="1">
              <a:buClr>
                <a:srgbClr val="C00000"/>
              </a:buClr>
              <a:buFont typeface="Wingdings" panose="05000000000000000000" pitchFamily="2" charset="2"/>
              <a:buChar char="u"/>
            </a:pPr>
            <a:endParaRPr lang="zh-CN" altLang="en-US" sz="2400" b="1" dirty="0">
              <a:solidFill>
                <a:schemeClr val="bg2"/>
              </a:solidFill>
            </a:endParaRPr>
          </a:p>
        </p:txBody>
      </p:sp>
      <p:sp>
        <p:nvSpPr>
          <p:cNvPr id="10246" name="Rectangle 5"/>
          <p:cNvSpPr>
            <a:spLocks noChangeArrowheads="1"/>
          </p:cNvSpPr>
          <p:nvPr/>
        </p:nvSpPr>
        <p:spPr bwMode="auto">
          <a:xfrm>
            <a:off x="509811" y="2492896"/>
            <a:ext cx="4961472" cy="46166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一条伪指令语句可以包含四个字段：</a:t>
            </a:r>
          </a:p>
        </p:txBody>
      </p:sp>
      <p:grpSp>
        <p:nvGrpSpPr>
          <p:cNvPr id="10247" name="Group 7"/>
          <p:cNvGrpSpPr>
            <a:grpSpLocks/>
          </p:cNvGrpSpPr>
          <p:nvPr/>
        </p:nvGrpSpPr>
        <p:grpSpPr bwMode="auto">
          <a:xfrm>
            <a:off x="575433" y="2994893"/>
            <a:ext cx="7951787" cy="1295400"/>
            <a:chOff x="0" y="0"/>
            <a:chExt cx="4896" cy="816"/>
          </a:xfrm>
        </p:grpSpPr>
        <p:sp>
          <p:nvSpPr>
            <p:cNvPr id="10248" name="Rectangle 6"/>
            <p:cNvSpPr>
              <a:spLocks noChangeArrowheads="1"/>
            </p:cNvSpPr>
            <p:nvPr/>
          </p:nvSpPr>
          <p:spPr bwMode="auto">
            <a:xfrm>
              <a:off x="240" y="384"/>
              <a:ext cx="672"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符号名</a:t>
              </a:r>
            </a:p>
          </p:txBody>
        </p:sp>
        <p:sp>
          <p:nvSpPr>
            <p:cNvPr id="10249" name="Rectangle 7"/>
            <p:cNvSpPr>
              <a:spLocks noChangeArrowheads="1"/>
            </p:cNvSpPr>
            <p:nvPr/>
          </p:nvSpPr>
          <p:spPr bwMode="auto">
            <a:xfrm>
              <a:off x="1152" y="384"/>
              <a:ext cx="1152"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伪指令符</a:t>
              </a:r>
            </a:p>
          </p:txBody>
        </p:sp>
        <p:sp>
          <p:nvSpPr>
            <p:cNvPr id="10250" name="Rectangle 8"/>
            <p:cNvSpPr>
              <a:spLocks noChangeArrowheads="1"/>
            </p:cNvSpPr>
            <p:nvPr/>
          </p:nvSpPr>
          <p:spPr bwMode="auto">
            <a:xfrm>
              <a:off x="2544" y="384"/>
              <a:ext cx="816"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操作数</a:t>
              </a:r>
            </a:p>
          </p:txBody>
        </p:sp>
        <p:sp>
          <p:nvSpPr>
            <p:cNvPr id="10251" name="Rectangle 9"/>
            <p:cNvSpPr>
              <a:spLocks noChangeArrowheads="1"/>
            </p:cNvSpPr>
            <p:nvPr/>
          </p:nvSpPr>
          <p:spPr bwMode="auto">
            <a:xfrm>
              <a:off x="4128" y="384"/>
              <a:ext cx="528" cy="28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注释</a:t>
              </a:r>
            </a:p>
          </p:txBody>
        </p:sp>
        <p:sp>
          <p:nvSpPr>
            <p:cNvPr id="10252" name="Oval 10"/>
            <p:cNvSpPr>
              <a:spLocks noChangeArrowheads="1"/>
            </p:cNvSpPr>
            <p:nvPr/>
          </p:nvSpPr>
          <p:spPr bwMode="auto">
            <a:xfrm>
              <a:off x="3648" y="384"/>
              <a:ext cx="288" cy="288"/>
            </a:xfrm>
            <a:prstGeom prst="ellipse">
              <a:avLst/>
            </a:prstGeom>
            <a:solidFill>
              <a:schemeClr val="accent2"/>
            </a:solidFill>
            <a:ln w="9525" cmpd="sng">
              <a:solidFill>
                <a:schemeClr val="tx1"/>
              </a:solidFill>
              <a:round/>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endParaRPr lang="zh-CN" altLang="en-US" sz="2400" b="1">
                <a:solidFill>
                  <a:schemeClr val="bg2"/>
                </a:solidFill>
              </a:endParaRPr>
            </a:p>
          </p:txBody>
        </p:sp>
        <p:sp>
          <p:nvSpPr>
            <p:cNvPr id="10253" name="Text Box 11"/>
            <p:cNvSpPr txBox="1">
              <a:spLocks noChangeArrowheads="1"/>
            </p:cNvSpPr>
            <p:nvPr/>
          </p:nvSpPr>
          <p:spPr bwMode="auto">
            <a:xfrm>
              <a:off x="3696" y="336"/>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a:t>
              </a:r>
            </a:p>
          </p:txBody>
        </p:sp>
        <p:sp>
          <p:nvSpPr>
            <p:cNvPr id="10254" name="Oval 14"/>
            <p:cNvSpPr>
              <a:spLocks noChangeArrowheads="1"/>
            </p:cNvSpPr>
            <p:nvPr/>
          </p:nvSpPr>
          <p:spPr bwMode="auto">
            <a:xfrm>
              <a:off x="2832" y="48"/>
              <a:ext cx="288" cy="288"/>
            </a:xfrm>
            <a:prstGeom prst="ellipse">
              <a:avLst/>
            </a:prstGeom>
            <a:solidFill>
              <a:schemeClr val="accent2"/>
            </a:solidFill>
            <a:ln w="9525" cmpd="sng">
              <a:solidFill>
                <a:schemeClr val="tx1"/>
              </a:solidFill>
              <a:round/>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endParaRPr lang="zh-CN" altLang="en-US" sz="2400" b="1">
                <a:solidFill>
                  <a:schemeClr val="bg2"/>
                </a:solidFill>
              </a:endParaRPr>
            </a:p>
          </p:txBody>
        </p:sp>
        <p:sp>
          <p:nvSpPr>
            <p:cNvPr id="10255" name="Line 15"/>
            <p:cNvSpPr>
              <a:spLocks noChangeShapeType="1"/>
            </p:cNvSpPr>
            <p:nvPr/>
          </p:nvSpPr>
          <p:spPr bwMode="auto">
            <a:xfrm>
              <a:off x="0" y="528"/>
              <a:ext cx="240"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56" name="Line 16"/>
            <p:cNvSpPr>
              <a:spLocks noChangeShapeType="1"/>
            </p:cNvSpPr>
            <p:nvPr/>
          </p:nvSpPr>
          <p:spPr bwMode="auto">
            <a:xfrm>
              <a:off x="912" y="528"/>
              <a:ext cx="240"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57" name="Line 18"/>
            <p:cNvSpPr>
              <a:spLocks noChangeShapeType="1"/>
            </p:cNvSpPr>
            <p:nvPr/>
          </p:nvSpPr>
          <p:spPr bwMode="auto">
            <a:xfrm>
              <a:off x="2304" y="528"/>
              <a:ext cx="240"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58" name="Line 19"/>
            <p:cNvSpPr>
              <a:spLocks noChangeShapeType="1"/>
            </p:cNvSpPr>
            <p:nvPr/>
          </p:nvSpPr>
          <p:spPr bwMode="auto">
            <a:xfrm>
              <a:off x="3360" y="528"/>
              <a:ext cx="288"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59" name="Line 20"/>
            <p:cNvSpPr>
              <a:spLocks noChangeShapeType="1"/>
            </p:cNvSpPr>
            <p:nvPr/>
          </p:nvSpPr>
          <p:spPr bwMode="auto">
            <a:xfrm>
              <a:off x="4656" y="528"/>
              <a:ext cx="240"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0" name="Line 21"/>
            <p:cNvSpPr>
              <a:spLocks noChangeShapeType="1"/>
            </p:cNvSpPr>
            <p:nvPr/>
          </p:nvSpPr>
          <p:spPr bwMode="auto">
            <a:xfrm>
              <a:off x="96" y="528"/>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1" name="Line 23"/>
            <p:cNvSpPr>
              <a:spLocks noChangeShapeType="1"/>
            </p:cNvSpPr>
            <p:nvPr/>
          </p:nvSpPr>
          <p:spPr bwMode="auto">
            <a:xfrm flipV="1">
              <a:off x="1008" y="528"/>
              <a:ext cx="0" cy="288"/>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2" name="Line 24"/>
            <p:cNvSpPr>
              <a:spLocks noChangeShapeType="1"/>
            </p:cNvSpPr>
            <p:nvPr/>
          </p:nvSpPr>
          <p:spPr bwMode="auto">
            <a:xfrm>
              <a:off x="2400" y="528"/>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3" name="Line 25"/>
            <p:cNvSpPr>
              <a:spLocks noChangeShapeType="1"/>
            </p:cNvSpPr>
            <p:nvPr/>
          </p:nvSpPr>
          <p:spPr bwMode="auto">
            <a:xfrm>
              <a:off x="2400" y="816"/>
              <a:ext cx="1104"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4" name="Line 26"/>
            <p:cNvSpPr>
              <a:spLocks noChangeShapeType="1"/>
            </p:cNvSpPr>
            <p:nvPr/>
          </p:nvSpPr>
          <p:spPr bwMode="auto">
            <a:xfrm flipV="1">
              <a:off x="3504" y="528"/>
              <a:ext cx="0" cy="288"/>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5" name="Line 27"/>
            <p:cNvSpPr>
              <a:spLocks noChangeShapeType="1"/>
            </p:cNvSpPr>
            <p:nvPr/>
          </p:nvSpPr>
          <p:spPr bwMode="auto">
            <a:xfrm flipV="1">
              <a:off x="3456" y="240"/>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6" name="Line 28"/>
            <p:cNvSpPr>
              <a:spLocks noChangeShapeType="1"/>
            </p:cNvSpPr>
            <p:nvPr/>
          </p:nvSpPr>
          <p:spPr bwMode="auto">
            <a:xfrm flipH="1">
              <a:off x="3120" y="240"/>
              <a:ext cx="336"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7" name="Line 29"/>
            <p:cNvSpPr>
              <a:spLocks noChangeShapeType="1"/>
            </p:cNvSpPr>
            <p:nvPr/>
          </p:nvSpPr>
          <p:spPr bwMode="auto">
            <a:xfrm flipH="1">
              <a:off x="2448" y="192"/>
              <a:ext cx="384"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8" name="Line 30"/>
            <p:cNvSpPr>
              <a:spLocks noChangeShapeType="1"/>
            </p:cNvSpPr>
            <p:nvPr/>
          </p:nvSpPr>
          <p:spPr bwMode="auto">
            <a:xfrm>
              <a:off x="2448" y="192"/>
              <a:ext cx="0" cy="336"/>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69" name="Line 31"/>
            <p:cNvSpPr>
              <a:spLocks noChangeShapeType="1"/>
            </p:cNvSpPr>
            <p:nvPr/>
          </p:nvSpPr>
          <p:spPr bwMode="auto">
            <a:xfrm>
              <a:off x="3552" y="528"/>
              <a:ext cx="0" cy="288"/>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70" name="Line 32"/>
            <p:cNvSpPr>
              <a:spLocks noChangeShapeType="1"/>
            </p:cNvSpPr>
            <p:nvPr/>
          </p:nvSpPr>
          <p:spPr bwMode="auto">
            <a:xfrm>
              <a:off x="3552" y="816"/>
              <a:ext cx="1248"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71" name="Line 33"/>
            <p:cNvSpPr>
              <a:spLocks noChangeShapeType="1"/>
            </p:cNvSpPr>
            <p:nvPr/>
          </p:nvSpPr>
          <p:spPr bwMode="auto">
            <a:xfrm flipV="1">
              <a:off x="4800" y="528"/>
              <a:ext cx="0" cy="288"/>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72" name="Line 34"/>
            <p:cNvSpPr>
              <a:spLocks noChangeShapeType="1"/>
            </p:cNvSpPr>
            <p:nvPr/>
          </p:nvSpPr>
          <p:spPr bwMode="auto">
            <a:xfrm>
              <a:off x="3936" y="528"/>
              <a:ext cx="192" cy="0"/>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0273" name="Text Box 35"/>
            <p:cNvSpPr txBox="1">
              <a:spLocks noChangeArrowheads="1"/>
            </p:cNvSpPr>
            <p:nvPr/>
          </p:nvSpPr>
          <p:spPr bwMode="auto">
            <a:xfrm>
              <a:off x="2880" y="0"/>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a:t>
              </a:r>
            </a:p>
          </p:txBody>
        </p:sp>
        <p:sp>
          <p:nvSpPr>
            <p:cNvPr id="10274" name="Line 36"/>
            <p:cNvSpPr>
              <a:spLocks noChangeShapeType="1"/>
            </p:cNvSpPr>
            <p:nvPr/>
          </p:nvSpPr>
          <p:spPr bwMode="auto">
            <a:xfrm>
              <a:off x="96" y="816"/>
              <a:ext cx="912"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grpSp>
      <p:sp>
        <p:nvSpPr>
          <p:cNvPr id="34" name="Rectangle 3"/>
          <p:cNvSpPr>
            <a:spLocks noChangeArrowheads="1"/>
          </p:cNvSpPr>
          <p:nvPr/>
        </p:nvSpPr>
        <p:spPr bwMode="auto">
          <a:xfrm>
            <a:off x="543854" y="4543546"/>
            <a:ext cx="8014945" cy="1354217"/>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457200" indent="-457200" eaLnBrk="1" hangingPunct="1">
              <a:spcAft>
                <a:spcPts val="1200"/>
              </a:spcAft>
              <a:buClr>
                <a:srgbClr val="C00000"/>
              </a:buClr>
              <a:buFont typeface="Wingdings" panose="05000000000000000000" pitchFamily="2" charset="2"/>
              <a:buChar char="u"/>
            </a:pPr>
            <a:r>
              <a:rPr lang="zh-CN" altLang="en-US" sz="2400" b="1" dirty="0">
                <a:solidFill>
                  <a:schemeClr val="hlink"/>
                </a:solidFill>
              </a:rPr>
              <a:t>符号名、伪指令符</a:t>
            </a:r>
            <a:r>
              <a:rPr lang="zh-CN" altLang="en-US" sz="2400" b="1" dirty="0">
                <a:solidFill>
                  <a:schemeClr val="bg2"/>
                </a:solidFill>
              </a:rPr>
              <a:t>和</a:t>
            </a:r>
            <a:r>
              <a:rPr lang="zh-CN" altLang="en-US" sz="2400" b="1" dirty="0">
                <a:solidFill>
                  <a:schemeClr val="hlink"/>
                </a:solidFill>
              </a:rPr>
              <a:t>操作数</a:t>
            </a:r>
            <a:r>
              <a:rPr lang="zh-CN" altLang="en-US" sz="2400" b="1" dirty="0">
                <a:solidFill>
                  <a:schemeClr val="bg2"/>
                </a:solidFill>
              </a:rPr>
              <a:t>这三个字段就构成了伪指令，这是本章后面介绍的主要内容之一。</a:t>
            </a:r>
            <a:endParaRPr lang="en-US" altLang="zh-CN" sz="2400" b="1" dirty="0">
              <a:solidFill>
                <a:schemeClr val="bg2"/>
              </a:solidFill>
            </a:endParaRPr>
          </a:p>
          <a:p>
            <a:pPr marL="457200" indent="-457200" eaLnBrk="1" hangingPunct="1">
              <a:spcAft>
                <a:spcPts val="1200"/>
              </a:spcAft>
              <a:buClr>
                <a:srgbClr val="C00000"/>
              </a:buClr>
              <a:buFont typeface="Wingdings" panose="05000000000000000000" pitchFamily="2" charset="2"/>
              <a:buChar char="u"/>
            </a:pPr>
            <a:r>
              <a:rPr lang="zh-CN" altLang="en-US" sz="2400" b="1" dirty="0">
                <a:solidFill>
                  <a:schemeClr val="hlink"/>
                </a:solidFill>
              </a:rPr>
              <a:t>注释字段</a:t>
            </a:r>
            <a:r>
              <a:rPr lang="zh-CN" altLang="en-US" sz="2400" b="1" dirty="0">
                <a:solidFill>
                  <a:schemeClr val="bg2"/>
                </a:solidFill>
              </a:rPr>
              <a:t>与指令语句相同。</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02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4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245">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24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02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nimBg="1" autoUpdateAnimBg="0"/>
      <p:bldP spid="10245" grpId="0" uiExpand="1" build="p" autoUpdateAnimBg="0"/>
      <p:bldP spid="10246" grpId="0" animBg="1" autoUpdateAnimBg="0"/>
      <p:bldP spid="34" grpId="0" uiExpand="1"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68816F36-11F3-49FF-AA74-5C2471C03B27}" type="slidenum">
              <a:rPr lang="en-US" altLang="zh-CN" sz="1400">
                <a:solidFill>
                  <a:schemeClr val="bg2"/>
                </a:solidFill>
              </a:rPr>
              <a:pPr algn="r" eaLnBrk="1" hangingPunct="1"/>
              <a:t>6</a:t>
            </a:fld>
            <a:endParaRPr lang="en-US" altLang="zh-CN" sz="1400" dirty="0">
              <a:solidFill>
                <a:schemeClr val="bg2"/>
              </a:solidFill>
            </a:endParaRPr>
          </a:p>
        </p:txBody>
      </p:sp>
      <p:sp>
        <p:nvSpPr>
          <p:cNvPr id="2" name="文本框 1"/>
          <p:cNvSpPr txBox="1"/>
          <p:nvPr/>
        </p:nvSpPr>
        <p:spPr>
          <a:xfrm>
            <a:off x="539552" y="332656"/>
            <a:ext cx="8280920" cy="1200329"/>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b="1" dirty="0">
                <a:solidFill>
                  <a:schemeClr val="bg2"/>
                </a:solidFill>
              </a:rPr>
              <a:t>除了前面介绍的指令语句和伪指令语句中的注释方式之外，还可以定义块注释。</a:t>
            </a:r>
            <a:endParaRPr lang="en-US" altLang="zh-CN" sz="2400" b="1" dirty="0">
              <a:solidFill>
                <a:schemeClr val="bg2"/>
              </a:solidFill>
            </a:endParaRPr>
          </a:p>
          <a:p>
            <a:pPr marL="342900" indent="-342900">
              <a:buClr>
                <a:srgbClr val="C00000"/>
              </a:buClr>
              <a:buFont typeface="Wingdings" panose="05000000000000000000" pitchFamily="2" charset="2"/>
              <a:buChar char="n"/>
            </a:pPr>
            <a:r>
              <a:rPr lang="zh-CN" altLang="en-US" sz="2400" b="1" dirty="0">
                <a:solidFill>
                  <a:schemeClr val="bg2"/>
                </a:solidFill>
              </a:rPr>
              <a:t>块注释用</a:t>
            </a:r>
            <a:r>
              <a:rPr lang="en-US" altLang="zh-CN" sz="2400" b="1" dirty="0">
                <a:solidFill>
                  <a:schemeClr val="bg2"/>
                </a:solidFill>
              </a:rPr>
              <a:t>COMMENT</a:t>
            </a:r>
            <a:r>
              <a:rPr lang="zh-CN" altLang="en-US" sz="2400" b="1" dirty="0">
                <a:solidFill>
                  <a:schemeClr val="bg2"/>
                </a:solidFill>
              </a:rPr>
              <a:t>伪指令定义</a:t>
            </a:r>
          </a:p>
        </p:txBody>
      </p:sp>
      <p:sp>
        <p:nvSpPr>
          <p:cNvPr id="3" name="文本框 2"/>
          <p:cNvSpPr txBox="1"/>
          <p:nvPr/>
        </p:nvSpPr>
        <p:spPr>
          <a:xfrm>
            <a:off x="827584" y="1474795"/>
            <a:ext cx="936104" cy="461665"/>
          </a:xfrm>
          <a:prstGeom prst="rect">
            <a:avLst/>
          </a:prstGeom>
          <a:noFill/>
        </p:spPr>
        <p:txBody>
          <a:bodyPr wrap="square" rtlCol="0">
            <a:spAutoFit/>
          </a:bodyPr>
          <a:lstStyle/>
          <a:p>
            <a:r>
              <a:rPr lang="zh-CN" altLang="en-US" sz="2400" b="1" dirty="0">
                <a:solidFill>
                  <a:srgbClr val="FF0000"/>
                </a:solidFill>
              </a:rPr>
              <a:t>格式：</a:t>
            </a:r>
          </a:p>
        </p:txBody>
      </p:sp>
      <p:sp>
        <p:nvSpPr>
          <p:cNvPr id="4" name="文本框 3"/>
          <p:cNvSpPr txBox="1"/>
          <p:nvPr/>
        </p:nvSpPr>
        <p:spPr>
          <a:xfrm>
            <a:off x="755576" y="1911930"/>
            <a:ext cx="6408712" cy="1200329"/>
          </a:xfrm>
          <a:prstGeom prst="rect">
            <a:avLst/>
          </a:prstGeom>
          <a:noFill/>
        </p:spPr>
        <p:txBody>
          <a:bodyPr wrap="square" rtlCol="0">
            <a:spAutoFit/>
          </a:bodyPr>
          <a:lstStyle/>
          <a:p>
            <a:r>
              <a:rPr lang="en-US" altLang="zh-CN" sz="2400" b="1" dirty="0">
                <a:solidFill>
                  <a:srgbClr val="0066FF"/>
                </a:solidFill>
              </a:rPr>
              <a:t>COMMENT   </a:t>
            </a:r>
            <a:r>
              <a:rPr lang="zh-CN" altLang="en-US" sz="2400" b="1" dirty="0">
                <a:solidFill>
                  <a:srgbClr val="0066FF"/>
                </a:solidFill>
              </a:rPr>
              <a:t>自定义符号</a:t>
            </a:r>
            <a:endParaRPr lang="en-US" altLang="zh-CN" sz="2400" b="1" dirty="0">
              <a:solidFill>
                <a:srgbClr val="0066FF"/>
              </a:solidFill>
            </a:endParaRPr>
          </a:p>
          <a:p>
            <a:r>
              <a:rPr lang="en-US" altLang="zh-CN" sz="2400" b="1" dirty="0">
                <a:solidFill>
                  <a:schemeClr val="bg2"/>
                </a:solidFill>
              </a:rPr>
              <a:t>      </a:t>
            </a:r>
            <a:r>
              <a:rPr lang="zh-CN" altLang="en-US" sz="2400" b="1" dirty="0">
                <a:solidFill>
                  <a:srgbClr val="C00000"/>
                </a:solidFill>
              </a:rPr>
              <a:t>被作为注释内容的多个文本行</a:t>
            </a:r>
            <a:endParaRPr lang="en-US" altLang="zh-CN" sz="2400" b="1" dirty="0">
              <a:solidFill>
                <a:srgbClr val="C00000"/>
              </a:solidFill>
            </a:endParaRPr>
          </a:p>
          <a:p>
            <a:r>
              <a:rPr lang="zh-CN" altLang="en-US" sz="2400" b="1" dirty="0">
                <a:solidFill>
                  <a:srgbClr val="0066FF"/>
                </a:solidFill>
              </a:rPr>
              <a:t>自定义符号</a:t>
            </a:r>
          </a:p>
        </p:txBody>
      </p:sp>
      <p:sp>
        <p:nvSpPr>
          <p:cNvPr id="5" name="文本框 4"/>
          <p:cNvSpPr txBox="1"/>
          <p:nvPr/>
        </p:nvSpPr>
        <p:spPr>
          <a:xfrm>
            <a:off x="539552" y="3143044"/>
            <a:ext cx="8424936" cy="1200329"/>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b="1" dirty="0" smtClean="0">
                <a:solidFill>
                  <a:schemeClr val="bg2"/>
                </a:solidFill>
              </a:rPr>
              <a:t>汇编器在汇编</a:t>
            </a:r>
            <a:r>
              <a:rPr lang="zh-CN" altLang="en-US" sz="2400" b="1" dirty="0">
                <a:solidFill>
                  <a:schemeClr val="bg2"/>
                </a:solidFill>
              </a:rPr>
              <a:t>源程序时，将忽略</a:t>
            </a:r>
            <a:r>
              <a:rPr lang="en-US" altLang="zh-CN" sz="2400" b="1" dirty="0">
                <a:solidFill>
                  <a:schemeClr val="bg2"/>
                </a:solidFill>
              </a:rPr>
              <a:t>COMMENT</a:t>
            </a:r>
            <a:r>
              <a:rPr lang="zh-CN" altLang="en-US" sz="2400" b="1" dirty="0">
                <a:solidFill>
                  <a:schemeClr val="bg2"/>
                </a:solidFill>
              </a:rPr>
              <a:t>后面的所有文本行，直到出现自定义符号。</a:t>
            </a:r>
            <a:endParaRPr lang="en-US" altLang="zh-CN" sz="2400" b="1" dirty="0">
              <a:solidFill>
                <a:schemeClr val="bg2"/>
              </a:solidFill>
            </a:endParaRPr>
          </a:p>
          <a:p>
            <a:pPr marL="342900" indent="-342900">
              <a:buClr>
                <a:srgbClr val="C00000"/>
              </a:buClr>
              <a:buFont typeface="Wingdings" panose="05000000000000000000" pitchFamily="2" charset="2"/>
              <a:buChar char="n"/>
            </a:pPr>
            <a:r>
              <a:rPr lang="zh-CN" altLang="en-US" sz="2400" b="1" dirty="0">
                <a:solidFill>
                  <a:schemeClr val="bg2"/>
                </a:solidFill>
              </a:rPr>
              <a:t>自定义符号可以任意选择，但它不能出现在注释文本行中。</a:t>
            </a:r>
          </a:p>
        </p:txBody>
      </p:sp>
      <p:sp>
        <p:nvSpPr>
          <p:cNvPr id="36" name="文本框 35"/>
          <p:cNvSpPr txBox="1"/>
          <p:nvPr/>
        </p:nvSpPr>
        <p:spPr>
          <a:xfrm>
            <a:off x="744926" y="4315727"/>
            <a:ext cx="936104" cy="461665"/>
          </a:xfrm>
          <a:prstGeom prst="rect">
            <a:avLst/>
          </a:prstGeom>
          <a:noFill/>
        </p:spPr>
        <p:txBody>
          <a:bodyPr wrap="square" rtlCol="0">
            <a:spAutoFit/>
          </a:bodyPr>
          <a:lstStyle/>
          <a:p>
            <a:r>
              <a:rPr lang="zh-CN" altLang="en-US" sz="2400" b="1" dirty="0">
                <a:solidFill>
                  <a:srgbClr val="0066FF"/>
                </a:solidFill>
              </a:rPr>
              <a:t>例如：</a:t>
            </a:r>
          </a:p>
        </p:txBody>
      </p:sp>
      <p:sp>
        <p:nvSpPr>
          <p:cNvPr id="6" name="文本框 5"/>
          <p:cNvSpPr txBox="1"/>
          <p:nvPr/>
        </p:nvSpPr>
        <p:spPr>
          <a:xfrm>
            <a:off x="899592" y="4731226"/>
            <a:ext cx="7560196" cy="1569660"/>
          </a:xfrm>
          <a:prstGeom prst="rect">
            <a:avLst/>
          </a:prstGeom>
          <a:noFill/>
        </p:spPr>
        <p:txBody>
          <a:bodyPr wrap="square" rtlCol="0">
            <a:spAutoFit/>
          </a:bodyPr>
          <a:lstStyle/>
          <a:p>
            <a:r>
              <a:rPr lang="en-US" altLang="zh-CN" sz="2400" b="1" dirty="0">
                <a:solidFill>
                  <a:srgbClr val="0066FF"/>
                </a:solidFill>
              </a:rPr>
              <a:t>COMMENT   @</a:t>
            </a:r>
          </a:p>
          <a:p>
            <a:r>
              <a:rPr lang="en-US" altLang="zh-CN" sz="2400" b="1" dirty="0">
                <a:solidFill>
                  <a:schemeClr val="bg2"/>
                </a:solidFill>
              </a:rPr>
              <a:t>      </a:t>
            </a:r>
            <a:r>
              <a:rPr lang="zh-CN" altLang="en-US" sz="2400" b="1" dirty="0">
                <a:solidFill>
                  <a:schemeClr val="bg2"/>
                </a:solidFill>
              </a:rPr>
              <a:t>这是注释块的示例</a:t>
            </a:r>
            <a:endParaRPr lang="en-US" altLang="zh-CN" sz="2400" b="1" dirty="0">
              <a:solidFill>
                <a:schemeClr val="bg2"/>
              </a:solidFill>
            </a:endParaRPr>
          </a:p>
          <a:p>
            <a:r>
              <a:rPr lang="en-US" altLang="zh-CN" sz="2400" b="1" dirty="0">
                <a:solidFill>
                  <a:schemeClr val="bg2"/>
                </a:solidFill>
              </a:rPr>
              <a:t>      </a:t>
            </a:r>
            <a:r>
              <a:rPr lang="zh-CN" altLang="en-US" sz="2400" b="1" dirty="0">
                <a:solidFill>
                  <a:schemeClr val="bg2"/>
                </a:solidFill>
              </a:rPr>
              <a:t>注释行中不能出现</a:t>
            </a:r>
            <a:r>
              <a:rPr lang="en-US" altLang="zh-CN" sz="2400" b="1" dirty="0">
                <a:solidFill>
                  <a:schemeClr val="bg2"/>
                </a:solidFill>
              </a:rPr>
              <a:t>@</a:t>
            </a:r>
            <a:r>
              <a:rPr lang="zh-CN" altLang="en-US" sz="2400" b="1" dirty="0">
                <a:solidFill>
                  <a:schemeClr val="bg2"/>
                </a:solidFill>
              </a:rPr>
              <a:t>，其他任何符号都可以出现。</a:t>
            </a:r>
            <a:endParaRPr lang="en-US" altLang="zh-CN" sz="2400" b="1" dirty="0">
              <a:solidFill>
                <a:schemeClr val="bg2"/>
              </a:solidFill>
            </a:endParaRPr>
          </a:p>
          <a:p>
            <a:r>
              <a:rPr lang="en-US" altLang="zh-CN" sz="2400" b="1" dirty="0">
                <a:solidFill>
                  <a:srgbClr val="0066FF"/>
                </a:solidFill>
              </a:rPr>
              <a:t>@</a:t>
            </a:r>
            <a:endParaRPr lang="zh-CN" altLang="en-US" sz="2400" b="1" dirty="0">
              <a:solidFill>
                <a:srgbClr val="0066FF"/>
              </a:solidFill>
            </a:endParaRPr>
          </a:p>
        </p:txBody>
      </p:sp>
      <p:sp>
        <p:nvSpPr>
          <p:cNvPr id="7" name="文本框 6"/>
          <p:cNvSpPr txBox="1"/>
          <p:nvPr/>
        </p:nvSpPr>
        <p:spPr>
          <a:xfrm>
            <a:off x="1547664" y="6265494"/>
            <a:ext cx="3897221" cy="461665"/>
          </a:xfrm>
          <a:prstGeom prst="rect">
            <a:avLst/>
          </a:prstGeom>
          <a:noFill/>
          <a:ln>
            <a:solidFill>
              <a:srgbClr val="C00000"/>
            </a:solidFill>
          </a:ln>
        </p:spPr>
        <p:txBody>
          <a:bodyPr wrap="none" rtlCol="0">
            <a:spAutoFit/>
          </a:bodyPr>
          <a:lstStyle/>
          <a:p>
            <a:r>
              <a:rPr lang="zh-CN" altLang="en-US" sz="2400" b="1" dirty="0" smtClean="0">
                <a:solidFill>
                  <a:srgbClr val="FF0000"/>
                </a:solidFill>
              </a:rPr>
              <a:t>汇编器处理结果是什么呢？</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wipe(down)">
                                      <p:cBhvr>
                                        <p:cTn id="25" dur="500"/>
                                        <p:tgtEl>
                                          <p:spTgt spid="5">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5">
                                            <p:txEl>
                                              <p:pRg st="1" end="1"/>
                                            </p:txEl>
                                          </p:spTgt>
                                        </p:tgtEl>
                                        <p:attrNameLst>
                                          <p:attrName>style.visibility</p:attrName>
                                        </p:attrNameLst>
                                      </p:cBhvr>
                                      <p:to>
                                        <p:strVal val="visible"/>
                                      </p:to>
                                    </p:set>
                                    <p:animEffect transition="in" filter="wipe(down)">
                                      <p:cBhvr>
                                        <p:cTn id="30" dur="500"/>
                                        <p:tgtEl>
                                          <p:spTgt spid="5">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wipe(down)">
                                      <p:cBhvr>
                                        <p:cTn id="35" dur="5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down)">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down)">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P spid="4" grpId="0"/>
      <p:bldP spid="5" grpId="0" build="p"/>
      <p:bldP spid="36" grpId="0"/>
      <p:bldP spid="6" grpId="0"/>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956399A4-69C0-4DBC-B514-B47C34236D67}" type="slidenum">
              <a:rPr lang="en-US" altLang="zh-CN" sz="1400">
                <a:solidFill>
                  <a:schemeClr val="bg2"/>
                </a:solidFill>
              </a:rPr>
              <a:pPr algn="r" eaLnBrk="1" hangingPunct="1"/>
              <a:t>7</a:t>
            </a:fld>
            <a:endParaRPr lang="en-US" altLang="zh-CN" sz="1400" dirty="0">
              <a:solidFill>
                <a:schemeClr val="bg2"/>
              </a:solidFill>
            </a:endParaRPr>
          </a:p>
        </p:txBody>
      </p:sp>
      <p:sp>
        <p:nvSpPr>
          <p:cNvPr id="14339" name="Rectangle 5"/>
          <p:cNvSpPr>
            <a:spLocks noChangeArrowheads="1"/>
          </p:cNvSpPr>
          <p:nvPr/>
        </p:nvSpPr>
        <p:spPr bwMode="auto">
          <a:xfrm>
            <a:off x="2979738" y="244475"/>
            <a:ext cx="2527300" cy="5794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3200" b="1">
                <a:solidFill>
                  <a:schemeClr val="hlink"/>
                </a:solidFill>
              </a:rPr>
              <a:t>三、标识符</a:t>
            </a:r>
          </a:p>
        </p:txBody>
      </p:sp>
      <p:sp>
        <p:nvSpPr>
          <p:cNvPr id="14340" name="Rectangle 6"/>
          <p:cNvSpPr>
            <a:spLocks noChangeArrowheads="1"/>
          </p:cNvSpPr>
          <p:nvPr/>
        </p:nvSpPr>
        <p:spPr bwMode="auto">
          <a:xfrm>
            <a:off x="671728" y="852825"/>
            <a:ext cx="8108701" cy="461665"/>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指令语句中的标号和伪指令语句中的符号名统称为</a:t>
            </a:r>
            <a:r>
              <a:rPr lang="zh-CN" altLang="en-US" sz="2400" b="1" dirty="0">
                <a:solidFill>
                  <a:srgbClr val="FF0000"/>
                </a:solidFill>
              </a:rPr>
              <a:t>标识符</a:t>
            </a:r>
            <a:r>
              <a:rPr lang="zh-CN" altLang="en-US" sz="2400" b="1" dirty="0">
                <a:solidFill>
                  <a:schemeClr val="bg2"/>
                </a:solidFill>
              </a:rPr>
              <a:t>。</a:t>
            </a:r>
          </a:p>
        </p:txBody>
      </p:sp>
      <p:sp>
        <p:nvSpPr>
          <p:cNvPr id="14341" name="Rectangle 7"/>
          <p:cNvSpPr>
            <a:spLocks noChangeArrowheads="1"/>
          </p:cNvSpPr>
          <p:nvPr/>
        </p:nvSpPr>
        <p:spPr bwMode="auto">
          <a:xfrm>
            <a:off x="666789" y="1333599"/>
            <a:ext cx="28917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0066FF"/>
                </a:solidFill>
              </a:rPr>
              <a:t>标识符构成规则：</a:t>
            </a:r>
          </a:p>
        </p:txBody>
      </p:sp>
      <p:sp>
        <p:nvSpPr>
          <p:cNvPr id="14342" name="Rectangle 9"/>
          <p:cNvSpPr>
            <a:spLocks noChangeArrowheads="1"/>
          </p:cNvSpPr>
          <p:nvPr/>
        </p:nvSpPr>
        <p:spPr bwMode="auto">
          <a:xfrm>
            <a:off x="683568" y="1772816"/>
            <a:ext cx="8208912" cy="1569660"/>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457200" indent="-457200" eaLnBrk="1" hangingPunct="1">
              <a:buClr>
                <a:srgbClr val="C00000"/>
              </a:buClr>
              <a:buFont typeface="Wingdings" panose="05000000000000000000" pitchFamily="2" charset="2"/>
              <a:buChar char="u"/>
            </a:pPr>
            <a:r>
              <a:rPr lang="en-US" altLang="zh-CN" sz="2400" b="1" dirty="0">
                <a:solidFill>
                  <a:schemeClr val="bg2"/>
                </a:solidFill>
              </a:rPr>
              <a:t>1.</a:t>
            </a:r>
            <a:r>
              <a:rPr lang="zh-CN" altLang="en-US" sz="2400" b="1" dirty="0">
                <a:solidFill>
                  <a:schemeClr val="bg2"/>
                </a:solidFill>
              </a:rPr>
              <a:t>字符的个数为</a:t>
            </a:r>
            <a:r>
              <a:rPr lang="en-US" altLang="zh-CN" sz="2400" b="1" dirty="0">
                <a:solidFill>
                  <a:schemeClr val="bg2"/>
                </a:solidFill>
              </a:rPr>
              <a:t>1~240</a:t>
            </a:r>
            <a:r>
              <a:rPr lang="zh-CN" altLang="en-US" sz="2400" b="1" dirty="0">
                <a:solidFill>
                  <a:schemeClr val="bg2"/>
                </a:solidFill>
              </a:rPr>
              <a:t>个；</a:t>
            </a:r>
            <a:endParaRPr lang="en-US" altLang="zh-CN" sz="2400" b="1" dirty="0">
              <a:solidFill>
                <a:schemeClr val="bg2"/>
              </a:solidFill>
            </a:endParaRPr>
          </a:p>
          <a:p>
            <a:pPr marL="457200" indent="-457200" eaLnBrk="1" hangingPunct="1">
              <a:buClr>
                <a:srgbClr val="C00000"/>
              </a:buClr>
              <a:buFont typeface="Wingdings" panose="05000000000000000000" pitchFamily="2" charset="2"/>
              <a:buChar char="u"/>
            </a:pPr>
            <a:r>
              <a:rPr lang="en-US" altLang="zh-CN" sz="2400" b="1" dirty="0">
                <a:solidFill>
                  <a:schemeClr val="bg2"/>
                </a:solidFill>
              </a:rPr>
              <a:t>2.</a:t>
            </a:r>
            <a:r>
              <a:rPr lang="zh-CN" altLang="en-US" sz="2400" b="1" dirty="0">
                <a:solidFill>
                  <a:schemeClr val="bg2"/>
                </a:solidFill>
                <a:latin typeface="宋体" panose="02010600030101010101" pitchFamily="2" charset="-122"/>
              </a:rPr>
              <a:t>可以用字母、数字、下划线及符号</a:t>
            </a:r>
            <a:r>
              <a:rPr lang="en-US" altLang="zh-CN" sz="2400" b="1" dirty="0">
                <a:solidFill>
                  <a:schemeClr val="bg2"/>
                </a:solidFill>
              </a:rPr>
              <a:t>@</a:t>
            </a:r>
            <a:r>
              <a:rPr lang="zh-CN" altLang="en-US" sz="2400" b="1" dirty="0">
                <a:solidFill>
                  <a:schemeClr val="bg2"/>
                </a:solidFill>
                <a:latin typeface="宋体" panose="02010600030101010101" pitchFamily="2" charset="-122"/>
              </a:rPr>
              <a:t>、</a:t>
            </a:r>
            <a:r>
              <a:rPr lang="en-US" altLang="zh-CN" sz="2400" b="1" dirty="0">
                <a:solidFill>
                  <a:schemeClr val="bg2"/>
                </a:solidFill>
              </a:rPr>
              <a:t>$</a:t>
            </a:r>
            <a:r>
              <a:rPr lang="zh-CN" altLang="en-US" sz="2400" b="1" dirty="0">
                <a:solidFill>
                  <a:schemeClr val="bg2"/>
                </a:solidFill>
                <a:latin typeface="宋体" panose="02010600030101010101" pitchFamily="2" charset="-122"/>
              </a:rPr>
              <a:t>和</a:t>
            </a:r>
            <a:r>
              <a:rPr lang="en-US" altLang="zh-CN" sz="2400" b="1" dirty="0">
                <a:solidFill>
                  <a:schemeClr val="bg2"/>
                </a:solidFill>
              </a:rPr>
              <a:t>? </a:t>
            </a:r>
            <a:r>
              <a:rPr lang="zh-CN" altLang="en-US" sz="2400" b="1" dirty="0">
                <a:solidFill>
                  <a:schemeClr val="bg2"/>
                </a:solidFill>
              </a:rPr>
              <a:t>；</a:t>
            </a:r>
          </a:p>
          <a:p>
            <a:pPr marL="457200" indent="-457200" eaLnBrk="1" hangingPunct="1">
              <a:buClr>
                <a:srgbClr val="C00000"/>
              </a:buClr>
              <a:buFont typeface="Wingdings" panose="05000000000000000000" pitchFamily="2" charset="2"/>
              <a:buChar char="u"/>
            </a:pPr>
            <a:r>
              <a:rPr lang="en-US" altLang="zh-CN" sz="2400" b="1" dirty="0">
                <a:solidFill>
                  <a:schemeClr val="bg2"/>
                </a:solidFill>
              </a:rPr>
              <a:t>3.</a:t>
            </a:r>
            <a:r>
              <a:rPr lang="zh-CN" altLang="en-US" sz="2400" b="1" dirty="0">
                <a:solidFill>
                  <a:schemeClr val="bg2"/>
                </a:solidFill>
                <a:latin typeface="宋体" panose="02010600030101010101" pitchFamily="2" charset="-122"/>
              </a:rPr>
              <a:t>第一个字符不能是数字</a:t>
            </a:r>
            <a:r>
              <a:rPr lang="zh-CN" altLang="en-US" sz="2400" b="1" dirty="0">
                <a:solidFill>
                  <a:schemeClr val="bg2"/>
                </a:solidFill>
              </a:rPr>
              <a:t>；</a:t>
            </a:r>
          </a:p>
          <a:p>
            <a:pPr marL="457200" indent="-457200" eaLnBrk="1" hangingPunct="1">
              <a:buClr>
                <a:srgbClr val="C00000"/>
              </a:buClr>
              <a:buFont typeface="Wingdings" panose="05000000000000000000" pitchFamily="2" charset="2"/>
              <a:buChar char="u"/>
            </a:pPr>
            <a:r>
              <a:rPr lang="en-US" altLang="zh-CN" sz="2400" b="1" dirty="0">
                <a:solidFill>
                  <a:schemeClr val="bg2"/>
                </a:solidFill>
              </a:rPr>
              <a:t>4.</a:t>
            </a:r>
            <a:r>
              <a:rPr lang="zh-CN" altLang="en-US" sz="2400" b="1" dirty="0">
                <a:solidFill>
                  <a:schemeClr val="bg2"/>
                </a:solidFill>
              </a:rPr>
              <a:t>不能使用系统专用的保留字</a:t>
            </a:r>
            <a:r>
              <a:rPr lang="en-US" altLang="zh-CN" sz="2400" b="1" dirty="0">
                <a:solidFill>
                  <a:schemeClr val="bg2"/>
                </a:solidFill>
              </a:rPr>
              <a:t>(</a:t>
            </a:r>
            <a:r>
              <a:rPr lang="zh-CN" altLang="en-US" sz="2400" b="1" dirty="0">
                <a:solidFill>
                  <a:schemeClr val="bg2"/>
                </a:solidFill>
              </a:rPr>
              <a:t>关键字</a:t>
            </a:r>
            <a:r>
              <a:rPr lang="en-US" altLang="zh-CN" sz="2400" b="1" dirty="0">
                <a:solidFill>
                  <a:schemeClr val="bg2"/>
                </a:solidFill>
              </a:rPr>
              <a:t>key words)</a:t>
            </a:r>
            <a:r>
              <a:rPr lang="zh-CN" altLang="en-US" sz="2400" b="1" dirty="0">
                <a:solidFill>
                  <a:schemeClr val="bg2"/>
                </a:solidFill>
              </a:rPr>
              <a:t>。</a:t>
            </a:r>
          </a:p>
        </p:txBody>
      </p:sp>
      <p:sp>
        <p:nvSpPr>
          <p:cNvPr id="7" name="Rectangle 2"/>
          <p:cNvSpPr>
            <a:spLocks noChangeArrowheads="1"/>
          </p:cNvSpPr>
          <p:nvPr/>
        </p:nvSpPr>
        <p:spPr bwMode="auto">
          <a:xfrm>
            <a:off x="683568" y="3380693"/>
            <a:ext cx="7924800" cy="3046988"/>
          </a:xfrm>
          <a:prstGeom prst="rect">
            <a:avLst/>
          </a:prstGeom>
          <a:solidFill>
            <a:schemeClr val="bg1"/>
          </a:solidFill>
          <a:ln>
            <a:noFill/>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buClr>
                <a:srgbClr val="C00000"/>
              </a:buClr>
            </a:pPr>
            <a:r>
              <a:rPr lang="zh-CN" altLang="en-US" sz="2400" b="1" dirty="0">
                <a:solidFill>
                  <a:schemeClr val="hlink"/>
                </a:solidFill>
              </a:rPr>
              <a:t>保留字</a:t>
            </a:r>
            <a:r>
              <a:rPr lang="en-US" altLang="zh-CN" sz="2400" b="1" dirty="0">
                <a:solidFill>
                  <a:schemeClr val="hlink"/>
                </a:solidFill>
              </a:rPr>
              <a:t>:</a:t>
            </a:r>
            <a:r>
              <a:rPr lang="en-US" altLang="zh-CN" sz="2400" b="1" dirty="0">
                <a:solidFill>
                  <a:schemeClr val="bg2"/>
                </a:solidFill>
              </a:rPr>
              <a:t> </a:t>
            </a:r>
          </a:p>
          <a:p>
            <a:pPr marL="457200" indent="-457200" eaLnBrk="1" hangingPunct="1">
              <a:buClr>
                <a:srgbClr val="C00000"/>
              </a:buClr>
              <a:buFont typeface="Wingdings" panose="05000000000000000000" pitchFamily="2" charset="2"/>
              <a:buChar char="Ø"/>
            </a:pPr>
            <a:r>
              <a:rPr lang="en-US" altLang="zh-CN" sz="2400" b="1" dirty="0">
                <a:solidFill>
                  <a:schemeClr val="bg2"/>
                </a:solidFill>
              </a:rPr>
              <a:t>CPU</a:t>
            </a:r>
            <a:r>
              <a:rPr lang="zh-CN" altLang="en-US" sz="2400" b="1" dirty="0">
                <a:solidFill>
                  <a:schemeClr val="bg2"/>
                </a:solidFill>
              </a:rPr>
              <a:t>中各寄存器名（如</a:t>
            </a:r>
            <a:r>
              <a:rPr lang="en-US" altLang="zh-CN" sz="2400" b="1" dirty="0">
                <a:solidFill>
                  <a:schemeClr val="bg2"/>
                </a:solidFill>
              </a:rPr>
              <a:t>AX</a:t>
            </a:r>
            <a:r>
              <a:rPr lang="zh-CN" altLang="en-US" sz="2400" b="1" dirty="0">
                <a:solidFill>
                  <a:schemeClr val="bg2"/>
                </a:solidFill>
              </a:rPr>
              <a:t>、</a:t>
            </a:r>
            <a:r>
              <a:rPr lang="en-US" altLang="zh-CN" sz="2400" b="1" dirty="0">
                <a:solidFill>
                  <a:schemeClr val="bg2"/>
                </a:solidFill>
              </a:rPr>
              <a:t>CS</a:t>
            </a:r>
            <a:r>
              <a:rPr lang="zh-CN" altLang="en-US" sz="2400" b="1" dirty="0">
                <a:solidFill>
                  <a:schemeClr val="bg2"/>
                </a:solidFill>
              </a:rPr>
              <a:t>等）</a:t>
            </a:r>
            <a:endParaRPr lang="en-US" altLang="zh-CN" sz="2400" b="1" dirty="0">
              <a:solidFill>
                <a:schemeClr val="bg2"/>
              </a:solidFill>
            </a:endParaRPr>
          </a:p>
          <a:p>
            <a:pPr marL="457200" indent="-457200" eaLnBrk="1" hangingPunct="1">
              <a:buClr>
                <a:srgbClr val="C00000"/>
              </a:buClr>
              <a:buFont typeface="Wingdings" panose="05000000000000000000" pitchFamily="2" charset="2"/>
              <a:buChar char="Ø"/>
            </a:pPr>
            <a:r>
              <a:rPr lang="zh-CN" altLang="en-US" sz="2400" b="1" dirty="0">
                <a:solidFill>
                  <a:schemeClr val="bg2"/>
                </a:solidFill>
              </a:rPr>
              <a:t>指令助记符（如</a:t>
            </a:r>
            <a:r>
              <a:rPr lang="en-US" altLang="zh-CN" sz="2400" b="1" dirty="0">
                <a:solidFill>
                  <a:schemeClr val="bg2"/>
                </a:solidFill>
              </a:rPr>
              <a:t>MOV</a:t>
            </a:r>
            <a:r>
              <a:rPr lang="zh-CN" altLang="en-US" sz="2400" b="1" dirty="0">
                <a:solidFill>
                  <a:schemeClr val="bg2"/>
                </a:solidFill>
              </a:rPr>
              <a:t>、</a:t>
            </a:r>
            <a:r>
              <a:rPr lang="en-US" altLang="zh-CN" sz="2400" b="1" dirty="0">
                <a:solidFill>
                  <a:schemeClr val="bg2"/>
                </a:solidFill>
              </a:rPr>
              <a:t>ADD</a:t>
            </a:r>
            <a:r>
              <a:rPr lang="zh-CN" altLang="en-US" sz="2400" b="1" dirty="0">
                <a:solidFill>
                  <a:schemeClr val="bg2"/>
                </a:solidFill>
              </a:rPr>
              <a:t>等）</a:t>
            </a:r>
            <a:endParaRPr lang="en-US" altLang="zh-CN" sz="2400" b="1" dirty="0">
              <a:solidFill>
                <a:schemeClr val="bg2"/>
              </a:solidFill>
            </a:endParaRPr>
          </a:p>
          <a:p>
            <a:pPr marL="457200" indent="-457200" eaLnBrk="1" hangingPunct="1">
              <a:buClr>
                <a:srgbClr val="C00000"/>
              </a:buClr>
              <a:buFont typeface="Wingdings" panose="05000000000000000000" pitchFamily="2" charset="2"/>
              <a:buChar char="Ø"/>
            </a:pPr>
            <a:r>
              <a:rPr lang="zh-CN" altLang="en-US" sz="2400" b="1" dirty="0">
                <a:solidFill>
                  <a:schemeClr val="bg2"/>
                </a:solidFill>
              </a:rPr>
              <a:t>伪指令符（如</a:t>
            </a:r>
            <a:r>
              <a:rPr lang="en-US" altLang="zh-CN" sz="2400" b="1" dirty="0">
                <a:solidFill>
                  <a:schemeClr val="bg2"/>
                </a:solidFill>
              </a:rPr>
              <a:t>SEGMENT</a:t>
            </a:r>
            <a:r>
              <a:rPr lang="zh-CN" altLang="en-US" sz="2400" b="1" dirty="0">
                <a:solidFill>
                  <a:schemeClr val="bg2"/>
                </a:solidFill>
              </a:rPr>
              <a:t>、</a:t>
            </a:r>
            <a:r>
              <a:rPr lang="en-US" altLang="zh-CN" sz="2400" b="1" dirty="0">
                <a:solidFill>
                  <a:schemeClr val="bg2"/>
                </a:solidFill>
              </a:rPr>
              <a:t>DB</a:t>
            </a:r>
            <a:r>
              <a:rPr lang="zh-CN" altLang="en-US" sz="2400" b="1" dirty="0">
                <a:solidFill>
                  <a:schemeClr val="bg2"/>
                </a:solidFill>
              </a:rPr>
              <a:t>、</a:t>
            </a:r>
            <a:r>
              <a:rPr lang="en-US" altLang="zh-CN" sz="2400" b="1" dirty="0">
                <a:solidFill>
                  <a:schemeClr val="bg2"/>
                </a:solidFill>
              </a:rPr>
              <a:t>BYTE</a:t>
            </a:r>
            <a:r>
              <a:rPr lang="zh-CN" altLang="en-US" sz="2400" b="1" dirty="0">
                <a:solidFill>
                  <a:schemeClr val="bg2"/>
                </a:solidFill>
              </a:rPr>
              <a:t>等）</a:t>
            </a:r>
            <a:endParaRPr lang="en-US" altLang="zh-CN" sz="2400" b="1" dirty="0">
              <a:solidFill>
                <a:schemeClr val="bg2"/>
              </a:solidFill>
            </a:endParaRPr>
          </a:p>
          <a:p>
            <a:pPr marL="457200" indent="-457200" eaLnBrk="1" hangingPunct="1">
              <a:buClr>
                <a:srgbClr val="C00000"/>
              </a:buClr>
              <a:buFont typeface="Wingdings" panose="05000000000000000000" pitchFamily="2" charset="2"/>
              <a:buChar char="Ø"/>
            </a:pPr>
            <a:r>
              <a:rPr lang="zh-CN" altLang="en-US" sz="2400" b="1" dirty="0">
                <a:solidFill>
                  <a:schemeClr val="bg2"/>
                </a:solidFill>
              </a:rPr>
              <a:t>表达式中的运算符（如</a:t>
            </a:r>
            <a:r>
              <a:rPr lang="en-US" altLang="zh-CN" sz="2400" b="1" dirty="0">
                <a:solidFill>
                  <a:schemeClr val="bg2"/>
                </a:solidFill>
              </a:rPr>
              <a:t>GE</a:t>
            </a:r>
            <a:r>
              <a:rPr lang="zh-CN" altLang="en-US" sz="2400" b="1" dirty="0">
                <a:solidFill>
                  <a:schemeClr val="bg2"/>
                </a:solidFill>
              </a:rPr>
              <a:t>、</a:t>
            </a:r>
            <a:r>
              <a:rPr lang="en-US" altLang="zh-CN" sz="2400" b="1" dirty="0">
                <a:solidFill>
                  <a:schemeClr val="bg2"/>
                </a:solidFill>
              </a:rPr>
              <a:t>EQ</a:t>
            </a:r>
            <a:r>
              <a:rPr lang="zh-CN" altLang="en-US" sz="2400" b="1" dirty="0">
                <a:solidFill>
                  <a:schemeClr val="bg2"/>
                </a:solidFill>
              </a:rPr>
              <a:t>等）以及属性操作符（如</a:t>
            </a:r>
            <a:r>
              <a:rPr lang="en-US" altLang="zh-CN" sz="2400" b="1" dirty="0">
                <a:solidFill>
                  <a:schemeClr val="bg2"/>
                </a:solidFill>
              </a:rPr>
              <a:t>PTR</a:t>
            </a:r>
            <a:r>
              <a:rPr lang="zh-CN" altLang="en-US" sz="2400" b="1" dirty="0">
                <a:solidFill>
                  <a:schemeClr val="bg2"/>
                </a:solidFill>
              </a:rPr>
              <a:t>、</a:t>
            </a:r>
            <a:r>
              <a:rPr lang="en-US" altLang="zh-CN" sz="2400" b="1" dirty="0">
                <a:solidFill>
                  <a:schemeClr val="bg2"/>
                </a:solidFill>
              </a:rPr>
              <a:t>OFFSET</a:t>
            </a:r>
            <a:r>
              <a:rPr lang="zh-CN" altLang="en-US" sz="2400" b="1" dirty="0">
                <a:solidFill>
                  <a:schemeClr val="bg2"/>
                </a:solidFill>
              </a:rPr>
              <a:t>等）</a:t>
            </a:r>
            <a:endParaRPr lang="en-US" altLang="zh-CN" sz="2400" b="1" dirty="0">
              <a:solidFill>
                <a:schemeClr val="bg2"/>
              </a:solidFill>
            </a:endParaRPr>
          </a:p>
          <a:p>
            <a:pPr marL="457200" indent="-457200" eaLnBrk="1" hangingPunct="1">
              <a:buClr>
                <a:srgbClr val="C00000"/>
              </a:buClr>
              <a:buFont typeface="Wingdings" panose="05000000000000000000" pitchFamily="2" charset="2"/>
              <a:buChar char="Ø"/>
            </a:pPr>
            <a:r>
              <a:rPr lang="zh-CN" altLang="en-US" sz="2400" b="1" dirty="0">
                <a:solidFill>
                  <a:schemeClr val="bg2"/>
                </a:solidFill>
              </a:rPr>
              <a:t>表示高级语言的</a:t>
            </a:r>
            <a:r>
              <a:rPr lang="en-US" altLang="zh-CN" sz="2400" b="1" dirty="0">
                <a:solidFill>
                  <a:schemeClr val="bg2"/>
                </a:solidFill>
              </a:rPr>
              <a:t>C</a:t>
            </a:r>
            <a:r>
              <a:rPr lang="zh-CN" altLang="en-US" sz="2400" b="1" dirty="0">
                <a:solidFill>
                  <a:schemeClr val="bg2"/>
                </a:solidFill>
              </a:rPr>
              <a:t>、</a:t>
            </a:r>
            <a:r>
              <a:rPr lang="en-US" altLang="zh-CN" sz="2400" b="1" dirty="0">
                <a:solidFill>
                  <a:schemeClr val="bg2"/>
                </a:solidFill>
              </a:rPr>
              <a:t>FORTRAN</a:t>
            </a:r>
            <a:r>
              <a:rPr lang="zh-CN" altLang="en-US" sz="2400" b="1" dirty="0">
                <a:solidFill>
                  <a:schemeClr val="bg2"/>
                </a:solidFill>
              </a:rPr>
              <a:t>、</a:t>
            </a:r>
            <a:r>
              <a:rPr lang="en-US" altLang="zh-CN" sz="2400" b="1" dirty="0">
                <a:solidFill>
                  <a:schemeClr val="bg2"/>
                </a:solidFill>
              </a:rPr>
              <a:t>BASIC</a:t>
            </a:r>
            <a:r>
              <a:rPr lang="zh-CN" altLang="en-US" sz="2400" b="1" dirty="0">
                <a:solidFill>
                  <a:schemeClr val="bg2"/>
                </a:solidFill>
              </a:rPr>
              <a:t>等</a:t>
            </a:r>
            <a:endParaRPr lang="en-US" altLang="zh-CN" sz="2400" b="1" dirty="0">
              <a:solidFill>
                <a:schemeClr val="bg2"/>
              </a:solidFill>
            </a:endParaRPr>
          </a:p>
          <a:p>
            <a:pPr eaLnBrk="1" hangingPunct="1">
              <a:buClr>
                <a:srgbClr val="C00000"/>
              </a:buClr>
            </a:pPr>
            <a:r>
              <a:rPr lang="zh-CN" altLang="en-US" sz="2400" b="1" dirty="0">
                <a:solidFill>
                  <a:srgbClr val="0066FF"/>
                </a:solidFill>
              </a:rPr>
              <a:t>汇编语言程序中的</a:t>
            </a:r>
            <a:r>
              <a:rPr lang="zh-CN" altLang="en-US" sz="2400" b="1" dirty="0">
                <a:solidFill>
                  <a:srgbClr val="FF0000"/>
                </a:solidFill>
              </a:rPr>
              <a:t>关键字不区分大小写</a:t>
            </a:r>
            <a:r>
              <a:rPr lang="zh-CN" altLang="en-US" sz="2400" b="1" dirty="0">
                <a:solidFill>
                  <a:srgbClr val="0066FF"/>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3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3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34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342">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4342">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4342">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nimBg="1" autoUpdateAnimBg="0"/>
      <p:bldP spid="14340" grpId="0" animBg="1" autoUpdateAnimBg="0"/>
      <p:bldP spid="14341" grpId="0" autoUpdateAnimBg="0"/>
      <p:bldP spid="14342" grpId="0" uiExpand="1" build="p" autoUpdateAnimBg="0"/>
      <p:bldP spid="7" grpId="0" uiExpand="1"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9DD16DFD-E9B6-4D93-BBF8-6793F8C4BDB4}" type="slidenum">
              <a:rPr lang="en-US" altLang="zh-CN" sz="1400">
                <a:solidFill>
                  <a:schemeClr val="bg2"/>
                </a:solidFill>
              </a:rPr>
              <a:pPr algn="r" eaLnBrk="1" hangingPunct="1"/>
              <a:t>8</a:t>
            </a:fld>
            <a:endParaRPr lang="en-US" altLang="zh-CN" sz="1400" dirty="0">
              <a:solidFill>
                <a:schemeClr val="bg2"/>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4293044546"/>
              </p:ext>
            </p:extLst>
          </p:nvPr>
        </p:nvGraphicFramePr>
        <p:xfrm>
          <a:off x="687388" y="1124744"/>
          <a:ext cx="7772400" cy="3040380"/>
        </p:xfrm>
        <a:graphic>
          <a:graphicData uri="http://schemas.openxmlformats.org/drawingml/2006/table">
            <a:tbl>
              <a:tblPr/>
              <a:tblGrid>
                <a:gridCol w="1868388">
                  <a:extLst>
                    <a:ext uri="{9D8B030D-6E8A-4147-A177-3AD203B41FA5}">
                      <a16:colId xmlns:a16="http://schemas.microsoft.com/office/drawing/2014/main" val="990674350"/>
                    </a:ext>
                  </a:extLst>
                </a:gridCol>
                <a:gridCol w="2088232">
                  <a:extLst>
                    <a:ext uri="{9D8B030D-6E8A-4147-A177-3AD203B41FA5}">
                      <a16:colId xmlns:a16="http://schemas.microsoft.com/office/drawing/2014/main" val="3999433328"/>
                    </a:ext>
                  </a:extLst>
                </a:gridCol>
                <a:gridCol w="1872680">
                  <a:extLst>
                    <a:ext uri="{9D8B030D-6E8A-4147-A177-3AD203B41FA5}">
                      <a16:colId xmlns:a16="http://schemas.microsoft.com/office/drawing/2014/main" val="3103282224"/>
                    </a:ext>
                  </a:extLst>
                </a:gridCol>
                <a:gridCol w="1943100">
                  <a:extLst>
                    <a:ext uri="{9D8B030D-6E8A-4147-A177-3AD203B41FA5}">
                      <a16:colId xmlns:a16="http://schemas.microsoft.com/office/drawing/2014/main" val="1775697626"/>
                    </a:ext>
                  </a:extLst>
                </a:gridCol>
              </a:tblGrid>
              <a:tr h="0">
                <a:tc>
                  <a:txBody>
                    <a:bodyPr/>
                    <a:lstStyle/>
                    <a:p>
                      <a:r>
                        <a:rPr lang="en-US" altLang="zh-CN" dirty="0">
                          <a:solidFill>
                            <a:schemeClr val="bg2"/>
                          </a:solidFill>
                          <a:effectLst/>
                        </a:rPr>
                        <a:t>$</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PARITY?</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DWORD</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STDCALL</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83236954"/>
                  </a:ext>
                </a:extLst>
              </a:tr>
              <a:tr h="0">
                <a:tc>
                  <a:txBody>
                    <a:bodyPr/>
                    <a:lstStyle/>
                    <a:p>
                      <a:r>
                        <a:rPr lang="en-US" altLang="zh-CN" dirty="0">
                          <a:solidFill>
                            <a:schemeClr val="bg2"/>
                          </a:solidFill>
                          <a:effectLst/>
                        </a:rPr>
                        <a:t>?</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PASCAL</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FAR</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SWORD</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56722023"/>
                  </a:ext>
                </a:extLst>
              </a:tr>
              <a:tr h="0">
                <a:tc>
                  <a:txBody>
                    <a:bodyPr/>
                    <a:lstStyle/>
                    <a:p>
                      <a:r>
                        <a:rPr lang="en-US" dirty="0">
                          <a:solidFill>
                            <a:schemeClr val="bg2"/>
                          </a:solidFill>
                          <a:effectLst/>
                        </a:rPr>
                        <a:t>@B</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QWORD</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FAR16</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SYSCALL</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191284305"/>
                  </a:ext>
                </a:extLst>
              </a:tr>
              <a:tr h="0">
                <a:tc>
                  <a:txBody>
                    <a:bodyPr/>
                    <a:lstStyle/>
                    <a:p>
                      <a:r>
                        <a:rPr lang="en-US" dirty="0">
                          <a:solidFill>
                            <a:schemeClr val="bg2"/>
                          </a:solidFill>
                          <a:effectLst/>
                        </a:rPr>
                        <a:t>@F</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REAL4</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FORTRAN</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TBYTE</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112031878"/>
                  </a:ext>
                </a:extLst>
              </a:tr>
              <a:tr h="0">
                <a:tc>
                  <a:txBody>
                    <a:bodyPr/>
                    <a:lstStyle/>
                    <a:p>
                      <a:r>
                        <a:rPr lang="en-US" dirty="0">
                          <a:solidFill>
                            <a:schemeClr val="bg2"/>
                          </a:solidFill>
                          <a:effectLst/>
                        </a:rPr>
                        <a:t>ADDR</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REAL8</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FWORD</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VARARG</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123313163"/>
                  </a:ext>
                </a:extLst>
              </a:tr>
              <a:tr h="0">
                <a:tc>
                  <a:txBody>
                    <a:bodyPr/>
                    <a:lstStyle/>
                    <a:p>
                      <a:r>
                        <a:rPr lang="en-US" dirty="0">
                          <a:solidFill>
                            <a:schemeClr val="bg2"/>
                          </a:solidFill>
                          <a:effectLst/>
                        </a:rPr>
                        <a:t>BASIC</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REAL10</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NEAR</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WORD</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160579725"/>
                  </a:ext>
                </a:extLst>
              </a:tr>
              <a:tr h="0">
                <a:tc>
                  <a:txBody>
                    <a:bodyPr/>
                    <a:lstStyle/>
                    <a:p>
                      <a:r>
                        <a:rPr lang="en-US" dirty="0">
                          <a:solidFill>
                            <a:schemeClr val="bg2"/>
                          </a:solidFill>
                          <a:effectLst/>
                        </a:rPr>
                        <a:t>BYTE</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SBYTE</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NEAR16</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ZERO?</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036651615"/>
                  </a:ext>
                </a:extLst>
              </a:tr>
              <a:tr h="0">
                <a:tc>
                  <a:txBody>
                    <a:bodyPr/>
                    <a:lstStyle/>
                    <a:p>
                      <a:r>
                        <a:rPr lang="en-US" dirty="0">
                          <a:solidFill>
                            <a:schemeClr val="bg2"/>
                          </a:solidFill>
                          <a:effectLst/>
                        </a:rPr>
                        <a:t>C</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SDORD</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OVERFLOW?</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zh-CN" altLang="en-US">
                          <a:solidFill>
                            <a:schemeClr val="bg2"/>
                          </a:solidFill>
                          <a:effectLst/>
                        </a:rPr>
                        <a:t> </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812659791"/>
                  </a:ext>
                </a:extLst>
              </a:tr>
              <a:tr h="0">
                <a:tc>
                  <a:txBody>
                    <a:bodyPr/>
                    <a:lstStyle/>
                    <a:p>
                      <a:r>
                        <a:rPr lang="en-US" dirty="0">
                          <a:solidFill>
                            <a:schemeClr val="bg2"/>
                          </a:solidFill>
                          <a:effectLst/>
                        </a:rPr>
                        <a:t>CARRY?</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dirty="0">
                          <a:solidFill>
                            <a:schemeClr val="bg2"/>
                          </a:solidFill>
                          <a:effectLst/>
                        </a:rPr>
                        <a:t>SIGN?</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zh-CN" altLang="en-US" dirty="0">
                          <a:solidFill>
                            <a:schemeClr val="bg2"/>
                          </a:solidFill>
                          <a:effectLst/>
                        </a:rPr>
                        <a:t> </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zh-CN" altLang="en-US" dirty="0">
                          <a:solidFill>
                            <a:schemeClr val="bg2"/>
                          </a:solidFill>
                          <a:effectLst/>
                        </a:rPr>
                        <a:t> </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957987734"/>
                  </a:ext>
                </a:extLst>
              </a:tr>
            </a:tbl>
          </a:graphicData>
        </a:graphic>
      </p:graphicFrame>
      <p:sp>
        <p:nvSpPr>
          <p:cNvPr id="3" name="矩形 2"/>
          <p:cNvSpPr/>
          <p:nvPr/>
        </p:nvSpPr>
        <p:spPr>
          <a:xfrm>
            <a:off x="687388" y="332656"/>
            <a:ext cx="2339102" cy="523220"/>
          </a:xfrm>
          <a:prstGeom prst="rect">
            <a:avLst/>
          </a:prstGeom>
        </p:spPr>
        <p:txBody>
          <a:bodyPr wrap="none">
            <a:spAutoFit/>
          </a:bodyPr>
          <a:lstStyle/>
          <a:p>
            <a:r>
              <a:rPr lang="zh-CN" altLang="en-US" b="1" dirty="0">
                <a:solidFill>
                  <a:srgbClr val="0066FF"/>
                </a:solidFill>
                <a:latin typeface="Helvetica Neue"/>
              </a:rPr>
              <a:t>常用的保留字</a:t>
            </a:r>
            <a:endParaRPr lang="zh-CN" altLang="en-US" b="1" dirty="0">
              <a:solidFill>
                <a:srgbClr val="0066FF"/>
              </a:solidFill>
            </a:endParaRPr>
          </a:p>
        </p:txBody>
      </p:sp>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33A96830-798E-45FB-8955-78392CE8772C}" type="slidenum">
              <a:rPr lang="en-US" altLang="zh-CN" sz="1400">
                <a:solidFill>
                  <a:schemeClr val="bg2"/>
                </a:solidFill>
              </a:rPr>
              <a:pPr algn="r" eaLnBrk="1" hangingPunct="1"/>
              <a:t>9</a:t>
            </a:fld>
            <a:endParaRPr lang="en-US" altLang="zh-CN" sz="1400" dirty="0">
              <a:solidFill>
                <a:schemeClr val="bg2"/>
              </a:solidFill>
            </a:endParaRPr>
          </a:p>
        </p:txBody>
      </p:sp>
      <p:sp>
        <p:nvSpPr>
          <p:cNvPr id="16388" name="Rectangle 3"/>
          <p:cNvSpPr>
            <a:spLocks noChangeArrowheads="1"/>
          </p:cNvSpPr>
          <p:nvPr/>
        </p:nvSpPr>
        <p:spPr bwMode="auto">
          <a:xfrm>
            <a:off x="2895600" y="358775"/>
            <a:ext cx="3763963" cy="5794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3200" b="1" dirty="0">
                <a:solidFill>
                  <a:schemeClr val="hlink"/>
                </a:solidFill>
              </a:rPr>
              <a:t>4.2  </a:t>
            </a:r>
            <a:r>
              <a:rPr lang="zh-CN" altLang="en-US" sz="3200" b="1" dirty="0">
                <a:solidFill>
                  <a:schemeClr val="hlink"/>
                </a:solidFill>
              </a:rPr>
              <a:t>汇编语言数据</a:t>
            </a:r>
          </a:p>
        </p:txBody>
      </p:sp>
      <p:sp>
        <p:nvSpPr>
          <p:cNvPr id="16389" name="Rectangle 4"/>
          <p:cNvSpPr>
            <a:spLocks noChangeArrowheads="1"/>
          </p:cNvSpPr>
          <p:nvPr/>
        </p:nvSpPr>
        <p:spPr bwMode="auto">
          <a:xfrm>
            <a:off x="762000" y="1484784"/>
            <a:ext cx="7620000" cy="2677656"/>
          </a:xfrm>
          <a:prstGeom prst="rect">
            <a:avLst/>
          </a:prstGeom>
          <a:solidFill>
            <a:schemeClr val="bg1"/>
          </a:solidFill>
          <a:ln>
            <a:noFill/>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457200" indent="-457200" eaLnBrk="1" hangingPunct="1">
              <a:lnSpc>
                <a:spcPct val="150000"/>
              </a:lnSpc>
              <a:buClr>
                <a:srgbClr val="C00000"/>
              </a:buClr>
              <a:buFont typeface="Wingdings" panose="05000000000000000000" pitchFamily="2" charset="2"/>
              <a:buChar char="n"/>
            </a:pPr>
            <a:r>
              <a:rPr lang="zh-CN" altLang="en-US" b="1" dirty="0">
                <a:solidFill>
                  <a:schemeClr val="bg2"/>
                </a:solidFill>
              </a:rPr>
              <a:t>数据：作为指令和伪指令语句中的操作数</a:t>
            </a:r>
            <a:endParaRPr lang="en-US" altLang="zh-CN" b="1" dirty="0">
              <a:solidFill>
                <a:schemeClr val="bg2"/>
              </a:solidFill>
            </a:endParaRPr>
          </a:p>
          <a:p>
            <a:pPr marL="457200" indent="-457200" eaLnBrk="1" hangingPunct="1">
              <a:lnSpc>
                <a:spcPct val="150000"/>
              </a:lnSpc>
              <a:buClr>
                <a:srgbClr val="C00000"/>
              </a:buClr>
              <a:buFont typeface="Wingdings" panose="05000000000000000000" pitchFamily="2" charset="2"/>
              <a:buChar char="n"/>
            </a:pPr>
            <a:r>
              <a:rPr lang="zh-CN" altLang="en-US" b="1" dirty="0">
                <a:solidFill>
                  <a:schemeClr val="bg2"/>
                </a:solidFill>
              </a:rPr>
              <a:t>常用的数据形式有：常数、变量和标号。</a:t>
            </a:r>
            <a:endParaRPr lang="en-US" altLang="zh-CN" b="1" dirty="0">
              <a:solidFill>
                <a:schemeClr val="bg2"/>
              </a:solidFill>
            </a:endParaRPr>
          </a:p>
          <a:p>
            <a:pPr marL="457200" indent="-457200" eaLnBrk="1" hangingPunct="1">
              <a:lnSpc>
                <a:spcPct val="150000"/>
              </a:lnSpc>
              <a:buClr>
                <a:srgbClr val="C00000"/>
              </a:buClr>
              <a:buFont typeface="Wingdings" panose="05000000000000000000" pitchFamily="2" charset="2"/>
              <a:buChar char="n"/>
            </a:pPr>
            <a:r>
              <a:rPr lang="zh-CN" altLang="en-US" b="1" dirty="0">
                <a:solidFill>
                  <a:schemeClr val="bg2"/>
                </a:solidFill>
              </a:rPr>
              <a:t>一个数据由数值和属性（比如是字节数据还是字数据）两部分构成。</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63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8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38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38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animBg="1" autoUpdateAnimBg="0"/>
      <p:bldP spid="16389" grpId="0" uiExpand="1"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45BA9634-A915-49A7-B988-F9F43ECD64FE}" type="slidenum">
              <a:rPr lang="en-US" altLang="zh-CN" sz="1400">
                <a:solidFill>
                  <a:schemeClr val="bg2"/>
                </a:solidFill>
              </a:rPr>
              <a:pPr algn="r" eaLnBrk="1" hangingPunct="1"/>
              <a:t>10</a:t>
            </a:fld>
            <a:endParaRPr lang="en-US" altLang="zh-CN" sz="1400" dirty="0">
              <a:solidFill>
                <a:schemeClr val="bg2"/>
              </a:solidFill>
            </a:endParaRPr>
          </a:p>
        </p:txBody>
      </p:sp>
      <p:sp>
        <p:nvSpPr>
          <p:cNvPr id="7" name="Rectangle 2"/>
          <p:cNvSpPr>
            <a:spLocks noChangeArrowheads="1"/>
          </p:cNvSpPr>
          <p:nvPr/>
        </p:nvSpPr>
        <p:spPr bwMode="auto">
          <a:xfrm>
            <a:off x="535856" y="836511"/>
            <a:ext cx="7696200" cy="83099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0066FF"/>
                </a:solidFill>
              </a:rPr>
              <a:t>常数：</a:t>
            </a:r>
            <a:r>
              <a:rPr lang="zh-CN" altLang="en-US" sz="2400" b="1" dirty="0">
                <a:solidFill>
                  <a:schemeClr val="bg2"/>
                </a:solidFill>
              </a:rPr>
              <a:t>经过</a:t>
            </a:r>
            <a:r>
              <a:rPr lang="zh-CN" altLang="en-US" sz="2400" b="1" dirty="0">
                <a:solidFill>
                  <a:srgbClr val="FF0000"/>
                </a:solidFill>
              </a:rPr>
              <a:t>汇编</a:t>
            </a:r>
            <a:r>
              <a:rPr lang="zh-CN" altLang="en-US" sz="2400" b="1" dirty="0">
                <a:solidFill>
                  <a:schemeClr val="bg2"/>
                </a:solidFill>
              </a:rPr>
              <a:t>后其值已完全确定，并且在程序运行过程中，其值不会发生变化。</a:t>
            </a:r>
          </a:p>
        </p:txBody>
      </p:sp>
      <p:sp>
        <p:nvSpPr>
          <p:cNvPr id="8" name="Rectangle 3"/>
          <p:cNvSpPr>
            <a:spLocks noChangeArrowheads="1"/>
          </p:cNvSpPr>
          <p:nvPr/>
        </p:nvSpPr>
        <p:spPr bwMode="auto">
          <a:xfrm>
            <a:off x="3048000" y="46277"/>
            <a:ext cx="2028825" cy="5794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3200" b="1" dirty="0">
                <a:solidFill>
                  <a:schemeClr val="hlink"/>
                </a:solidFill>
              </a:rPr>
              <a:t>一、常数</a:t>
            </a:r>
          </a:p>
        </p:txBody>
      </p:sp>
      <p:sp>
        <p:nvSpPr>
          <p:cNvPr id="9" name="Rectangle 5"/>
          <p:cNvSpPr>
            <a:spLocks noChangeArrowheads="1"/>
          </p:cNvSpPr>
          <p:nvPr/>
        </p:nvSpPr>
        <p:spPr bwMode="auto">
          <a:xfrm>
            <a:off x="477769" y="2141797"/>
            <a:ext cx="7696200" cy="830997"/>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n"/>
            </a:pPr>
            <a:r>
              <a:rPr lang="zh-CN" altLang="en-US" sz="2400" b="1" dirty="0">
                <a:solidFill>
                  <a:srgbClr val="0066FF"/>
                </a:solidFill>
              </a:rPr>
              <a:t>整数</a:t>
            </a:r>
            <a:r>
              <a:rPr lang="zh-CN" altLang="en-US" sz="2400" b="1" dirty="0" smtClean="0">
                <a:solidFill>
                  <a:srgbClr val="0066FF"/>
                </a:solidFill>
              </a:rPr>
              <a:t>常数</a:t>
            </a:r>
            <a:r>
              <a:rPr lang="zh-CN" altLang="en-US" sz="2400" b="1" dirty="0" smtClean="0">
                <a:solidFill>
                  <a:schemeClr val="bg2"/>
                </a:solidFill>
              </a:rPr>
              <a:t>：表示</a:t>
            </a:r>
            <a:r>
              <a:rPr lang="zh-CN" altLang="en-US" sz="2400" b="1" dirty="0">
                <a:solidFill>
                  <a:schemeClr val="bg2"/>
                </a:solidFill>
              </a:rPr>
              <a:t>形式可以是：二进制数、八进制数、十进制数和十六进制数</a:t>
            </a:r>
            <a:r>
              <a:rPr lang="zh-CN" altLang="en-US" sz="2400" b="1" dirty="0" smtClean="0">
                <a:solidFill>
                  <a:schemeClr val="bg2"/>
                </a:solidFill>
              </a:rPr>
              <a:t>等。</a:t>
            </a:r>
            <a:endParaRPr lang="zh-CN" altLang="en-US" sz="2400" b="1" dirty="0">
              <a:solidFill>
                <a:schemeClr val="bg2"/>
              </a:solidFill>
            </a:endParaRPr>
          </a:p>
        </p:txBody>
      </p:sp>
      <p:sp>
        <p:nvSpPr>
          <p:cNvPr id="10" name="文本框 9"/>
          <p:cNvSpPr txBox="1"/>
          <p:nvPr/>
        </p:nvSpPr>
        <p:spPr>
          <a:xfrm>
            <a:off x="643875" y="3003686"/>
            <a:ext cx="5472608" cy="461665"/>
          </a:xfrm>
          <a:prstGeom prst="rect">
            <a:avLst/>
          </a:prstGeom>
          <a:noFill/>
        </p:spPr>
        <p:txBody>
          <a:bodyPr wrap="square" rtlCol="0">
            <a:spAutoFit/>
          </a:bodyPr>
          <a:lstStyle/>
          <a:p>
            <a:r>
              <a:rPr lang="zh-CN" altLang="en-US" sz="2400" b="1" dirty="0">
                <a:solidFill>
                  <a:srgbClr val="FF0000"/>
                </a:solidFill>
              </a:rPr>
              <a:t>常数还可以有以下两种表示形式</a:t>
            </a:r>
          </a:p>
        </p:txBody>
      </p:sp>
      <p:sp>
        <p:nvSpPr>
          <p:cNvPr id="11" name="Rectangle 8"/>
          <p:cNvSpPr>
            <a:spLocks noChangeArrowheads="1"/>
          </p:cNvSpPr>
          <p:nvPr/>
        </p:nvSpPr>
        <p:spPr bwMode="auto">
          <a:xfrm>
            <a:off x="555578" y="5733256"/>
            <a:ext cx="7994650" cy="830997"/>
          </a:xfrm>
          <a:prstGeom prst="rect">
            <a:avLst/>
          </a:prstGeom>
          <a:solidFill>
            <a:schemeClr val="bg1"/>
          </a:solidFill>
          <a:ln>
            <a:solidFill>
              <a:srgbClr val="C00000"/>
            </a:solidFill>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汇编器在汇编源程序时，可以把实数转换为</a:t>
            </a:r>
            <a:r>
              <a:rPr lang="en-US" altLang="zh-CN" sz="2400" b="1" dirty="0">
                <a:solidFill>
                  <a:schemeClr val="bg2"/>
                </a:solidFill>
              </a:rPr>
              <a:t>4</a:t>
            </a:r>
            <a:r>
              <a:rPr lang="zh-CN" altLang="en-US" sz="2400" b="1" dirty="0">
                <a:solidFill>
                  <a:schemeClr val="bg2"/>
                </a:solidFill>
              </a:rPr>
              <a:t>字节、</a:t>
            </a:r>
            <a:r>
              <a:rPr lang="en-US" altLang="zh-CN" sz="2400" b="1" dirty="0">
                <a:solidFill>
                  <a:schemeClr val="bg2"/>
                </a:solidFill>
              </a:rPr>
              <a:t>8</a:t>
            </a:r>
            <a:r>
              <a:rPr lang="zh-CN" altLang="en-US" sz="2400" b="1" dirty="0">
                <a:solidFill>
                  <a:schemeClr val="bg2"/>
                </a:solidFill>
              </a:rPr>
              <a:t>字节或</a:t>
            </a:r>
            <a:r>
              <a:rPr lang="en-US" altLang="zh-CN" sz="2400" b="1" dirty="0">
                <a:solidFill>
                  <a:schemeClr val="bg2"/>
                </a:solidFill>
              </a:rPr>
              <a:t>10</a:t>
            </a:r>
            <a:r>
              <a:rPr lang="zh-CN" altLang="en-US" sz="2400" b="1" dirty="0">
                <a:solidFill>
                  <a:schemeClr val="bg2"/>
                </a:solidFill>
              </a:rPr>
              <a:t>字节的二进制数形式存放。</a:t>
            </a:r>
          </a:p>
        </p:txBody>
      </p:sp>
      <p:sp>
        <p:nvSpPr>
          <p:cNvPr id="12" name="Rectangle 4"/>
          <p:cNvSpPr>
            <a:spLocks noChangeArrowheads="1"/>
          </p:cNvSpPr>
          <p:nvPr/>
        </p:nvSpPr>
        <p:spPr bwMode="auto">
          <a:xfrm>
            <a:off x="2502200" y="3573016"/>
            <a:ext cx="5025224" cy="46166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a:t>
            </a:r>
            <a:r>
              <a:rPr lang="zh-CN" altLang="en-US" sz="2400" b="1" dirty="0">
                <a:solidFill>
                  <a:schemeClr val="bg2"/>
                </a:solidFill>
              </a:rPr>
              <a:t>整数部分</a:t>
            </a:r>
            <a:r>
              <a:rPr lang="en-US" altLang="zh-CN" sz="2400" b="1" dirty="0">
                <a:solidFill>
                  <a:schemeClr val="bg2"/>
                </a:solidFill>
              </a:rPr>
              <a:t>• </a:t>
            </a:r>
            <a:r>
              <a:rPr lang="zh-CN" altLang="en-US" sz="2400" b="1" dirty="0">
                <a:solidFill>
                  <a:schemeClr val="bg2"/>
                </a:solidFill>
              </a:rPr>
              <a:t>小数部分</a:t>
            </a:r>
            <a:r>
              <a:rPr lang="en-US" altLang="zh-CN" sz="2400" b="1" dirty="0">
                <a:solidFill>
                  <a:schemeClr val="bg2"/>
                </a:solidFill>
              </a:rPr>
              <a:t>E ±</a:t>
            </a:r>
            <a:r>
              <a:rPr lang="zh-CN" altLang="en-US" sz="2400" b="1" dirty="0">
                <a:solidFill>
                  <a:schemeClr val="bg2"/>
                </a:solidFill>
              </a:rPr>
              <a:t>指数部分</a:t>
            </a:r>
          </a:p>
        </p:txBody>
      </p:sp>
      <p:grpSp>
        <p:nvGrpSpPr>
          <p:cNvPr id="13" name="Group 5"/>
          <p:cNvGrpSpPr>
            <a:grpSpLocks/>
          </p:cNvGrpSpPr>
          <p:nvPr/>
        </p:nvGrpSpPr>
        <p:grpSpPr bwMode="auto">
          <a:xfrm>
            <a:off x="2934247" y="4147499"/>
            <a:ext cx="2434389" cy="512554"/>
            <a:chOff x="0" y="0"/>
            <a:chExt cx="2064" cy="435"/>
          </a:xfrm>
        </p:grpSpPr>
        <p:sp>
          <p:nvSpPr>
            <p:cNvPr id="14" name="AutoShape 6"/>
            <p:cNvSpPr>
              <a:spLocks/>
            </p:cNvSpPr>
            <p:nvPr/>
          </p:nvSpPr>
          <p:spPr bwMode="auto">
            <a:xfrm rot="16200000">
              <a:off x="960" y="-960"/>
              <a:ext cx="144" cy="2064"/>
            </a:xfrm>
            <a:prstGeom prst="leftBrace">
              <a:avLst>
                <a:gd name="adj1" fmla="val 119444"/>
                <a:gd name="adj2" fmla="val 50000"/>
              </a:avLst>
            </a:prstGeom>
            <a:noFill/>
            <a:ln w="9525"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sz="2400"/>
            </a:p>
          </p:txBody>
        </p:sp>
        <p:sp>
          <p:nvSpPr>
            <p:cNvPr id="15" name="Text Box 7"/>
            <p:cNvSpPr txBox="1">
              <a:spLocks noChangeArrowheads="1"/>
            </p:cNvSpPr>
            <p:nvPr/>
          </p:nvSpPr>
          <p:spPr bwMode="auto">
            <a:xfrm>
              <a:off x="768" y="144"/>
              <a:ext cx="6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尾数</a:t>
              </a:r>
            </a:p>
          </p:txBody>
        </p:sp>
      </p:grpSp>
      <p:sp>
        <p:nvSpPr>
          <p:cNvPr id="16" name="Text Box 9"/>
          <p:cNvSpPr txBox="1">
            <a:spLocks noChangeArrowheads="1"/>
          </p:cNvSpPr>
          <p:nvPr/>
        </p:nvSpPr>
        <p:spPr bwMode="auto">
          <a:xfrm>
            <a:off x="788861" y="4410527"/>
            <a:ext cx="2349579" cy="1231106"/>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lnSpc>
                <a:spcPts val="2000"/>
              </a:lnSpc>
              <a:spcBef>
                <a:spcPct val="50000"/>
              </a:spcBef>
            </a:pPr>
            <a:r>
              <a:rPr lang="zh-CN" altLang="en-US" sz="2400" b="1" dirty="0">
                <a:solidFill>
                  <a:srgbClr val="0066FF"/>
                </a:solidFill>
              </a:rPr>
              <a:t>例   </a:t>
            </a:r>
            <a:r>
              <a:rPr lang="en-US" altLang="zh-CN" sz="2400" b="1" dirty="0">
                <a:solidFill>
                  <a:srgbClr val="0066FF"/>
                </a:solidFill>
              </a:rPr>
              <a:t>2.134 E +10</a:t>
            </a:r>
          </a:p>
          <a:p>
            <a:pPr eaLnBrk="1" hangingPunct="1">
              <a:lnSpc>
                <a:spcPts val="2000"/>
              </a:lnSpc>
              <a:spcBef>
                <a:spcPct val="50000"/>
              </a:spcBef>
            </a:pPr>
            <a:r>
              <a:rPr lang="en-US" altLang="zh-CN" sz="2400" b="1" dirty="0">
                <a:solidFill>
                  <a:srgbClr val="0066FF"/>
                </a:solidFill>
              </a:rPr>
              <a:t>        3.14</a:t>
            </a:r>
          </a:p>
          <a:p>
            <a:pPr eaLnBrk="1" hangingPunct="1">
              <a:lnSpc>
                <a:spcPts val="2000"/>
              </a:lnSpc>
              <a:spcBef>
                <a:spcPct val="50000"/>
              </a:spcBef>
            </a:pPr>
            <a:r>
              <a:rPr lang="en-US" altLang="zh-CN" sz="2400" b="1" dirty="0">
                <a:solidFill>
                  <a:srgbClr val="0066FF"/>
                </a:solidFill>
              </a:rPr>
              <a:t>        0.75</a:t>
            </a:r>
          </a:p>
        </p:txBody>
      </p:sp>
      <p:sp>
        <p:nvSpPr>
          <p:cNvPr id="17" name="TextBox 1"/>
          <p:cNvSpPr txBox="1"/>
          <p:nvPr/>
        </p:nvSpPr>
        <p:spPr>
          <a:xfrm>
            <a:off x="482280" y="3600603"/>
            <a:ext cx="2880320" cy="461665"/>
          </a:xfrm>
          <a:prstGeom prst="rect">
            <a:avLst/>
          </a:prstGeom>
          <a:noFill/>
        </p:spPr>
        <p:txBody>
          <a:bodyPr wrap="square" rtlCol="0">
            <a:spAutoFit/>
          </a:bodyPr>
          <a:lstStyle/>
          <a:p>
            <a:pPr marL="457200" indent="-457200">
              <a:buClr>
                <a:srgbClr val="C00000"/>
              </a:buClr>
              <a:buFont typeface="Wingdings" panose="05000000000000000000" pitchFamily="2" charset="2"/>
              <a:buChar char="n"/>
            </a:pPr>
            <a:r>
              <a:rPr lang="zh-CN" altLang="en-US" sz="2400" b="1" dirty="0">
                <a:solidFill>
                  <a:srgbClr val="0066FF"/>
                </a:solidFill>
              </a:rPr>
              <a:t>实数</a:t>
            </a:r>
            <a:r>
              <a:rPr lang="zh-CN" altLang="en-US" sz="2400" b="1" dirty="0">
                <a:solidFill>
                  <a:schemeClr val="bg2"/>
                </a:solidFill>
              </a:rPr>
              <a:t>：</a:t>
            </a:r>
            <a:endParaRPr lang="zh-CN" altLang="en-US" sz="2400" dirty="0"/>
          </a:p>
        </p:txBody>
      </p:sp>
      <p:sp>
        <p:nvSpPr>
          <p:cNvPr id="2" name="文本框 1"/>
          <p:cNvSpPr txBox="1"/>
          <p:nvPr/>
        </p:nvSpPr>
        <p:spPr>
          <a:xfrm>
            <a:off x="586076" y="1741567"/>
            <a:ext cx="4782560" cy="461665"/>
          </a:xfrm>
          <a:prstGeom prst="rect">
            <a:avLst/>
          </a:prstGeom>
          <a:noFill/>
        </p:spPr>
        <p:txBody>
          <a:bodyPr wrap="square" rtlCol="0">
            <a:spAutoFit/>
          </a:bodyPr>
          <a:lstStyle/>
          <a:p>
            <a:r>
              <a:rPr lang="zh-CN" altLang="en-US" sz="2400" b="1" dirty="0" smtClean="0">
                <a:solidFill>
                  <a:srgbClr val="0066FF"/>
                </a:solidFill>
              </a:rPr>
              <a:t>常数类型：整数、实数和字符串</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1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500" fill="hold"/>
                                        <p:tgtEl>
                                          <p:spTgt spid="13"/>
                                        </p:tgtEl>
                                        <p:attrNameLst>
                                          <p:attrName>ppt_w</p:attrName>
                                        </p:attrNameLst>
                                      </p:cBhvr>
                                      <p:tavLst>
                                        <p:tav tm="0">
                                          <p:val>
                                            <p:fltVal val="0"/>
                                          </p:val>
                                        </p:tav>
                                        <p:tav tm="100000">
                                          <p:val>
                                            <p:strVal val="#ppt_w"/>
                                          </p:val>
                                        </p:tav>
                                      </p:tavLst>
                                    </p:anim>
                                    <p:anim calcmode="lin" valueType="num">
                                      <p:cBhvr>
                                        <p:cTn id="42"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nimBg="1" autoUpdateAnimBg="0"/>
      <p:bldP spid="9" grpId="0" animBg="1" autoUpdateAnimBg="0"/>
      <p:bldP spid="10" grpId="0"/>
      <p:bldP spid="11" grpId="0" animBg="1" autoUpdateAnimBg="0"/>
      <p:bldP spid="12" grpId="0" animBg="1" autoUpdateAnimBg="0"/>
      <p:bldP spid="16" grpId="0" animBg="1" autoUpdateAnimBg="0"/>
      <p:bldP spid="17"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330697" y="874028"/>
            <a:ext cx="57606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例如，字符串</a:t>
            </a:r>
            <a:r>
              <a:rPr lang="en-US" altLang="zh-CN" sz="2400" b="1" dirty="0">
                <a:solidFill>
                  <a:schemeClr val="bg2"/>
                </a:solidFill>
              </a:rPr>
              <a:t>`ABC`</a:t>
            </a:r>
            <a:r>
              <a:rPr lang="zh-CN" altLang="en-US" sz="2400" b="1" dirty="0">
                <a:solidFill>
                  <a:schemeClr val="bg2"/>
                </a:solidFill>
              </a:rPr>
              <a:t>的值为</a:t>
            </a:r>
            <a:r>
              <a:rPr lang="en-US" altLang="zh-CN" sz="2400" b="1" dirty="0">
                <a:solidFill>
                  <a:schemeClr val="bg2"/>
                </a:solidFill>
              </a:rPr>
              <a:t>41H 42H  43H</a:t>
            </a:r>
            <a:r>
              <a:rPr lang="zh-CN" altLang="en-US" sz="2400" b="1" dirty="0">
                <a:solidFill>
                  <a:schemeClr val="bg2"/>
                </a:solidFill>
              </a:rPr>
              <a:t>。在内存中的存储如图所示。</a:t>
            </a:r>
          </a:p>
        </p:txBody>
      </p:sp>
      <p:grpSp>
        <p:nvGrpSpPr>
          <p:cNvPr id="3" name="Group 5"/>
          <p:cNvGrpSpPr>
            <a:grpSpLocks/>
          </p:cNvGrpSpPr>
          <p:nvPr/>
        </p:nvGrpSpPr>
        <p:grpSpPr bwMode="auto">
          <a:xfrm>
            <a:off x="6732240" y="1016540"/>
            <a:ext cx="2251075" cy="2268538"/>
            <a:chOff x="0" y="186"/>
            <a:chExt cx="1418" cy="1429"/>
          </a:xfrm>
        </p:grpSpPr>
        <p:sp>
          <p:nvSpPr>
            <p:cNvPr id="4" name="Rectangle 4"/>
            <p:cNvSpPr>
              <a:spLocks noChangeArrowheads="1"/>
            </p:cNvSpPr>
            <p:nvPr/>
          </p:nvSpPr>
          <p:spPr bwMode="auto">
            <a:xfrm>
              <a:off x="0" y="186"/>
              <a:ext cx="720" cy="1350"/>
            </a:xfrm>
            <a:prstGeom prst="rect">
              <a:avLst/>
            </a:prstGeom>
            <a:solidFill>
              <a:schemeClr val="accent1"/>
            </a:solidFill>
            <a:ln w="9525" cmpd="sng">
              <a:solidFill>
                <a:schemeClr val="bg2"/>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a:p>
          </p:txBody>
        </p:sp>
        <p:sp>
          <p:nvSpPr>
            <p:cNvPr id="5" name="Line 5"/>
            <p:cNvSpPr>
              <a:spLocks noChangeShapeType="1"/>
            </p:cNvSpPr>
            <p:nvPr/>
          </p:nvSpPr>
          <p:spPr bwMode="auto">
            <a:xfrm>
              <a:off x="0" y="480"/>
              <a:ext cx="72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6"/>
            <p:cNvSpPr>
              <a:spLocks noChangeShapeType="1"/>
            </p:cNvSpPr>
            <p:nvPr/>
          </p:nvSpPr>
          <p:spPr bwMode="auto">
            <a:xfrm>
              <a:off x="0" y="720"/>
              <a:ext cx="72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7"/>
            <p:cNvSpPr>
              <a:spLocks noChangeShapeType="1"/>
            </p:cNvSpPr>
            <p:nvPr/>
          </p:nvSpPr>
          <p:spPr bwMode="auto">
            <a:xfrm>
              <a:off x="0" y="960"/>
              <a:ext cx="72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8"/>
            <p:cNvSpPr>
              <a:spLocks noChangeShapeType="1"/>
            </p:cNvSpPr>
            <p:nvPr/>
          </p:nvSpPr>
          <p:spPr bwMode="auto">
            <a:xfrm>
              <a:off x="0" y="1200"/>
              <a:ext cx="72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Rectangle 10"/>
            <p:cNvSpPr>
              <a:spLocks noChangeArrowheads="1"/>
            </p:cNvSpPr>
            <p:nvPr/>
          </p:nvSpPr>
          <p:spPr bwMode="auto">
            <a:xfrm>
              <a:off x="192" y="912"/>
              <a:ext cx="5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b="1" dirty="0">
                  <a:solidFill>
                    <a:schemeClr val="bg2"/>
                  </a:solidFill>
                </a:rPr>
                <a:t>43H</a:t>
              </a:r>
            </a:p>
          </p:txBody>
        </p:sp>
        <p:sp>
          <p:nvSpPr>
            <p:cNvPr id="10" name="Rectangle 11"/>
            <p:cNvSpPr>
              <a:spLocks noChangeArrowheads="1"/>
            </p:cNvSpPr>
            <p:nvPr/>
          </p:nvSpPr>
          <p:spPr bwMode="auto">
            <a:xfrm>
              <a:off x="192" y="672"/>
              <a:ext cx="5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b="1" dirty="0">
                  <a:solidFill>
                    <a:schemeClr val="bg2"/>
                  </a:solidFill>
                </a:rPr>
                <a:t>42H</a:t>
              </a:r>
            </a:p>
          </p:txBody>
        </p:sp>
        <p:sp>
          <p:nvSpPr>
            <p:cNvPr id="11" name="Rectangle 12"/>
            <p:cNvSpPr>
              <a:spLocks noChangeArrowheads="1"/>
            </p:cNvSpPr>
            <p:nvPr/>
          </p:nvSpPr>
          <p:spPr bwMode="auto">
            <a:xfrm>
              <a:off x="192" y="432"/>
              <a:ext cx="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b="1" dirty="0">
                  <a:solidFill>
                    <a:schemeClr val="bg2"/>
                  </a:solidFill>
                </a:rPr>
                <a:t>41H</a:t>
              </a:r>
            </a:p>
          </p:txBody>
        </p:sp>
        <p:sp>
          <p:nvSpPr>
            <p:cNvPr id="12" name="Text Box 13"/>
            <p:cNvSpPr txBox="1">
              <a:spLocks noChangeArrowheads="1"/>
            </p:cNvSpPr>
            <p:nvPr/>
          </p:nvSpPr>
          <p:spPr bwMode="auto">
            <a:xfrm>
              <a:off x="203" y="228"/>
              <a:ext cx="388"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b="1" dirty="0">
                  <a:solidFill>
                    <a:schemeClr val="bg2"/>
                  </a:solidFill>
                </a:rPr>
                <a:t>...</a:t>
              </a:r>
            </a:p>
          </p:txBody>
        </p:sp>
        <p:sp>
          <p:nvSpPr>
            <p:cNvPr id="13" name="Text Box 14"/>
            <p:cNvSpPr txBox="1">
              <a:spLocks noChangeArrowheads="1"/>
            </p:cNvSpPr>
            <p:nvPr/>
          </p:nvSpPr>
          <p:spPr bwMode="auto">
            <a:xfrm>
              <a:off x="237" y="1257"/>
              <a:ext cx="388"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b="1" dirty="0">
                  <a:solidFill>
                    <a:schemeClr val="bg2"/>
                  </a:solidFill>
                </a:rPr>
                <a:t>…</a:t>
              </a:r>
            </a:p>
          </p:txBody>
        </p:sp>
        <p:sp>
          <p:nvSpPr>
            <p:cNvPr id="14" name="Rectangle 16"/>
            <p:cNvSpPr>
              <a:spLocks noChangeArrowheads="1"/>
            </p:cNvSpPr>
            <p:nvPr/>
          </p:nvSpPr>
          <p:spPr bwMode="auto">
            <a:xfrm>
              <a:off x="656" y="213"/>
              <a:ext cx="6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低地址</a:t>
              </a:r>
            </a:p>
          </p:txBody>
        </p:sp>
        <p:sp>
          <p:nvSpPr>
            <p:cNvPr id="15" name="Rectangle 17"/>
            <p:cNvSpPr>
              <a:spLocks noChangeArrowheads="1"/>
            </p:cNvSpPr>
            <p:nvPr/>
          </p:nvSpPr>
          <p:spPr bwMode="auto">
            <a:xfrm>
              <a:off x="720" y="1281"/>
              <a:ext cx="6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高地址</a:t>
              </a:r>
            </a:p>
          </p:txBody>
        </p:sp>
        <p:sp>
          <p:nvSpPr>
            <p:cNvPr id="16" name="Line 18"/>
            <p:cNvSpPr>
              <a:spLocks noChangeShapeType="1"/>
            </p:cNvSpPr>
            <p:nvPr/>
          </p:nvSpPr>
          <p:spPr bwMode="auto">
            <a:xfrm>
              <a:off x="1008" y="582"/>
              <a:ext cx="0" cy="666"/>
            </a:xfrm>
            <a:prstGeom prst="line">
              <a:avLst/>
            </a:prstGeom>
            <a:noFill/>
            <a:ln w="9525" cmpd="sng">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 name="Rectangle 2"/>
          <p:cNvSpPr>
            <a:spLocks noChangeArrowheads="1"/>
          </p:cNvSpPr>
          <p:nvPr/>
        </p:nvSpPr>
        <p:spPr bwMode="auto">
          <a:xfrm>
            <a:off x="330697" y="5478124"/>
            <a:ext cx="4360489"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3</a:t>
            </a:r>
            <a:r>
              <a:rPr lang="zh-CN" altLang="en-US" sz="2400" b="1" dirty="0">
                <a:solidFill>
                  <a:schemeClr val="bg2"/>
                </a:solidFill>
              </a:rPr>
              <a:t>）在数据定义伪指令中使用</a:t>
            </a:r>
          </a:p>
        </p:txBody>
      </p:sp>
      <p:sp>
        <p:nvSpPr>
          <p:cNvPr id="18" name="Rectangle 3"/>
          <p:cNvSpPr>
            <a:spLocks noChangeArrowheads="1"/>
          </p:cNvSpPr>
          <p:nvPr/>
        </p:nvSpPr>
        <p:spPr bwMode="auto">
          <a:xfrm>
            <a:off x="178297" y="1657014"/>
            <a:ext cx="48253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C00000"/>
                </a:solidFill>
              </a:rPr>
              <a:t>常数在程序中的使用有以下三种：</a:t>
            </a:r>
          </a:p>
        </p:txBody>
      </p:sp>
      <p:sp>
        <p:nvSpPr>
          <p:cNvPr id="19" name="Rectangle 4"/>
          <p:cNvSpPr>
            <a:spLocks noChangeArrowheads="1"/>
          </p:cNvSpPr>
          <p:nvPr/>
        </p:nvSpPr>
        <p:spPr bwMode="auto">
          <a:xfrm>
            <a:off x="293684" y="2118679"/>
            <a:ext cx="4051109"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1</a:t>
            </a:r>
            <a:r>
              <a:rPr lang="zh-CN" altLang="en-US" sz="2400" b="1" dirty="0">
                <a:solidFill>
                  <a:schemeClr val="bg2"/>
                </a:solidFill>
              </a:rPr>
              <a:t>）作指令语句的源操作数</a:t>
            </a:r>
          </a:p>
        </p:txBody>
      </p:sp>
      <p:sp>
        <p:nvSpPr>
          <p:cNvPr id="20" name="Rectangle 5"/>
          <p:cNvSpPr>
            <a:spLocks noChangeArrowheads="1"/>
          </p:cNvSpPr>
          <p:nvPr/>
        </p:nvSpPr>
        <p:spPr bwMode="auto">
          <a:xfrm>
            <a:off x="293684" y="3416146"/>
            <a:ext cx="8385175" cy="830997"/>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2</a:t>
            </a:r>
            <a:r>
              <a:rPr lang="zh-CN" altLang="en-US" sz="2400" b="1" dirty="0">
                <a:solidFill>
                  <a:schemeClr val="bg2"/>
                </a:solidFill>
              </a:rPr>
              <a:t>）在指令语句的</a:t>
            </a:r>
            <a:r>
              <a:rPr lang="zh-CN" altLang="en-US" sz="2400" b="1" dirty="0">
                <a:solidFill>
                  <a:srgbClr val="FF0000"/>
                </a:solidFill>
              </a:rPr>
              <a:t>直接寻址</a:t>
            </a:r>
            <a:r>
              <a:rPr lang="zh-CN" altLang="en-US" sz="2400" b="1" dirty="0">
                <a:solidFill>
                  <a:schemeClr val="bg2"/>
                </a:solidFill>
              </a:rPr>
              <a:t>、</a:t>
            </a:r>
            <a:r>
              <a:rPr lang="zh-CN" altLang="en-US" sz="2400" b="1" dirty="0">
                <a:solidFill>
                  <a:srgbClr val="FF0000"/>
                </a:solidFill>
              </a:rPr>
              <a:t>寄存器相对寻址</a:t>
            </a:r>
            <a:r>
              <a:rPr lang="zh-CN" altLang="en-US" sz="2400" b="1" dirty="0">
                <a:solidFill>
                  <a:schemeClr val="bg2"/>
                </a:solidFill>
              </a:rPr>
              <a:t>或</a:t>
            </a:r>
            <a:r>
              <a:rPr lang="zh-CN" altLang="en-US" sz="2400" b="1" dirty="0">
                <a:solidFill>
                  <a:srgbClr val="FF0000"/>
                </a:solidFill>
              </a:rPr>
              <a:t>基址变址寻址</a:t>
            </a:r>
            <a:r>
              <a:rPr lang="zh-CN" altLang="en-US" sz="2400" b="1" dirty="0">
                <a:solidFill>
                  <a:schemeClr val="bg2"/>
                </a:solidFill>
              </a:rPr>
              <a:t>方式中作位移量。</a:t>
            </a:r>
          </a:p>
        </p:txBody>
      </p:sp>
      <p:sp>
        <p:nvSpPr>
          <p:cNvPr id="21" name="Text Box 6"/>
          <p:cNvSpPr txBox="1">
            <a:spLocks noChangeArrowheads="1"/>
          </p:cNvSpPr>
          <p:nvPr/>
        </p:nvSpPr>
        <p:spPr bwMode="auto">
          <a:xfrm>
            <a:off x="721278" y="2549716"/>
            <a:ext cx="3886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MOV   AX,  0B2F0H</a:t>
            </a:r>
          </a:p>
          <a:p>
            <a:pPr eaLnBrk="1" hangingPunct="1"/>
            <a:r>
              <a:rPr lang="en-US" altLang="zh-CN" sz="2400" b="1" dirty="0">
                <a:solidFill>
                  <a:schemeClr val="bg2"/>
                </a:solidFill>
              </a:rPr>
              <a:t>ADD    AH,  64H</a:t>
            </a:r>
          </a:p>
        </p:txBody>
      </p:sp>
      <p:sp>
        <p:nvSpPr>
          <p:cNvPr id="22" name="Text Box 7"/>
          <p:cNvSpPr txBox="1">
            <a:spLocks noChangeArrowheads="1"/>
          </p:cNvSpPr>
          <p:nvPr/>
        </p:nvSpPr>
        <p:spPr bwMode="auto">
          <a:xfrm>
            <a:off x="712373" y="4277795"/>
            <a:ext cx="821285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MOV   BX</a:t>
            </a:r>
            <a:r>
              <a:rPr lang="zh-CN" altLang="en-US" sz="2400" b="1" dirty="0">
                <a:solidFill>
                  <a:schemeClr val="bg2"/>
                </a:solidFill>
              </a:rPr>
              <a:t>，</a:t>
            </a:r>
            <a:r>
              <a:rPr lang="en-US" altLang="zh-CN" sz="2400" b="1" dirty="0">
                <a:solidFill>
                  <a:schemeClr val="bg2"/>
                </a:solidFill>
              </a:rPr>
              <a:t>[32H] ;</a:t>
            </a:r>
            <a:r>
              <a:rPr lang="zh-CN" altLang="en-US" sz="2400" b="1" dirty="0">
                <a:solidFill>
                  <a:schemeClr val="bg2"/>
                </a:solidFill>
              </a:rPr>
              <a:t>此用法只能在实模式下使用</a:t>
            </a:r>
            <a:endParaRPr lang="en-US" altLang="zh-CN" sz="2400" b="1" dirty="0">
              <a:solidFill>
                <a:schemeClr val="bg2"/>
              </a:solidFill>
            </a:endParaRPr>
          </a:p>
          <a:p>
            <a:pPr eaLnBrk="1" hangingPunct="1"/>
            <a:r>
              <a:rPr lang="en-US" altLang="zh-CN" sz="2400" b="1" dirty="0">
                <a:solidFill>
                  <a:schemeClr val="bg2"/>
                </a:solidFill>
              </a:rPr>
              <a:t>MOV   0ABH [EBX]</a:t>
            </a:r>
            <a:r>
              <a:rPr lang="zh-CN" altLang="en-US" sz="2400" b="1" dirty="0">
                <a:solidFill>
                  <a:schemeClr val="bg2"/>
                </a:solidFill>
              </a:rPr>
              <a:t>，</a:t>
            </a:r>
            <a:r>
              <a:rPr lang="en-US" altLang="zh-CN" sz="2400" b="1" dirty="0">
                <a:solidFill>
                  <a:schemeClr val="bg2"/>
                </a:solidFill>
              </a:rPr>
              <a:t>CX</a:t>
            </a:r>
          </a:p>
          <a:p>
            <a:pPr eaLnBrk="1" hangingPunct="1"/>
            <a:r>
              <a:rPr lang="en-US" altLang="zh-CN" sz="2400" b="1" dirty="0">
                <a:solidFill>
                  <a:schemeClr val="bg2"/>
                </a:solidFill>
              </a:rPr>
              <a:t>ADC    DX</a:t>
            </a:r>
            <a:r>
              <a:rPr lang="zh-CN" altLang="en-US" sz="2400" b="1" dirty="0">
                <a:solidFill>
                  <a:schemeClr val="bg2"/>
                </a:solidFill>
              </a:rPr>
              <a:t>，</a:t>
            </a:r>
            <a:r>
              <a:rPr lang="en-US" altLang="zh-CN" sz="2400" b="1" dirty="0">
                <a:solidFill>
                  <a:schemeClr val="bg2"/>
                </a:solidFill>
              </a:rPr>
              <a:t>1234H [EBP][EDI*2]</a:t>
            </a:r>
          </a:p>
        </p:txBody>
      </p:sp>
      <p:sp>
        <p:nvSpPr>
          <p:cNvPr id="23" name="Text Box 8"/>
          <p:cNvSpPr txBox="1">
            <a:spLocks noChangeArrowheads="1"/>
          </p:cNvSpPr>
          <p:nvPr/>
        </p:nvSpPr>
        <p:spPr bwMode="auto">
          <a:xfrm>
            <a:off x="904267" y="5939789"/>
            <a:ext cx="282994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DB   10H</a:t>
            </a:r>
          </a:p>
          <a:p>
            <a:pPr eaLnBrk="1" hangingPunct="1"/>
            <a:r>
              <a:rPr lang="en-US" altLang="zh-CN" sz="2400" b="1" dirty="0">
                <a:solidFill>
                  <a:schemeClr val="bg2"/>
                </a:solidFill>
              </a:rPr>
              <a:t>DW   3210H </a:t>
            </a:r>
          </a:p>
        </p:txBody>
      </p:sp>
      <p:sp>
        <p:nvSpPr>
          <p:cNvPr id="2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6103A15D-05C6-4258-B74A-D97ED98D85D3}" type="slidenum">
              <a:rPr lang="en-US" altLang="zh-CN" sz="1400">
                <a:solidFill>
                  <a:schemeClr val="bg2"/>
                </a:solidFill>
              </a:rPr>
              <a:pPr algn="r" eaLnBrk="1" hangingPunct="1"/>
              <a:t>11</a:t>
            </a:fld>
            <a:endParaRPr lang="en-US" altLang="zh-CN" sz="1400" dirty="0">
              <a:solidFill>
                <a:schemeClr val="bg2"/>
              </a:solidFill>
            </a:endParaRPr>
          </a:p>
        </p:txBody>
      </p:sp>
      <p:sp>
        <p:nvSpPr>
          <p:cNvPr id="25" name="Rectangle 2"/>
          <p:cNvSpPr>
            <a:spLocks noChangeArrowheads="1"/>
          </p:cNvSpPr>
          <p:nvPr/>
        </p:nvSpPr>
        <p:spPr bwMode="auto">
          <a:xfrm>
            <a:off x="216424" y="77723"/>
            <a:ext cx="8136904" cy="830997"/>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457200" indent="-457200" eaLnBrk="1" hangingPunct="1">
              <a:buClr>
                <a:srgbClr val="C00000"/>
              </a:buClr>
              <a:buFont typeface="Wingdings" panose="05000000000000000000" pitchFamily="2" charset="2"/>
              <a:buChar char="n"/>
            </a:pPr>
            <a:r>
              <a:rPr lang="zh-CN" altLang="en-US" sz="2400" b="1" dirty="0">
                <a:solidFill>
                  <a:schemeClr val="bg2"/>
                </a:solidFill>
              </a:rPr>
              <a:t>字符串：用引号（单引号或双引号）括起来的一个或多个字符，其值为这些字符的</a:t>
            </a:r>
            <a:r>
              <a:rPr lang="en-US" altLang="zh-CN" sz="2400" b="1" dirty="0">
                <a:solidFill>
                  <a:schemeClr val="bg2"/>
                </a:solidFill>
              </a:rPr>
              <a:t>ASCII</a:t>
            </a:r>
            <a:r>
              <a:rPr lang="zh-CN" altLang="en-US" sz="2400" b="1" dirty="0">
                <a:solidFill>
                  <a:schemeClr val="bg2"/>
                </a:solidFill>
              </a:rPr>
              <a:t>码值。</a:t>
            </a:r>
          </a:p>
        </p:txBody>
      </p:sp>
    </p:spTree>
    <p:extLst>
      <p:ext uri="{BB962C8B-B14F-4D97-AF65-F5344CB8AC3E}">
        <p14:creationId xmlns:p14="http://schemas.microsoft.com/office/powerpoint/2010/main" val="180763701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1">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2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22">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23">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17" grpId="0" animBg="1" autoUpdateAnimBg="0"/>
      <p:bldP spid="18" grpId="0" autoUpdateAnimBg="0"/>
      <p:bldP spid="19" grpId="0" animBg="1" autoUpdateAnimBg="0"/>
      <p:bldP spid="20" grpId="0" animBg="1" autoUpdateAnimBg="0"/>
      <p:bldP spid="21" grpId="0" build="p" autoUpdateAnimBg="0"/>
      <p:bldP spid="22" grpId="0" build="p" autoUpdateAnimBg="0"/>
      <p:bldP spid="23" grpId="0" build="p" autoUpdateAnimBg="0"/>
      <p:bldP spid="25"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76CAEB6F-BD53-4588-BD56-373F92E29B9A}" type="slidenum">
              <a:rPr lang="en-US" altLang="zh-CN" sz="1400">
                <a:solidFill>
                  <a:schemeClr val="bg2"/>
                </a:solidFill>
              </a:rPr>
              <a:pPr algn="r" eaLnBrk="1" hangingPunct="1"/>
              <a:t>12</a:t>
            </a:fld>
            <a:endParaRPr lang="en-US" altLang="zh-CN" sz="1400" dirty="0">
              <a:solidFill>
                <a:schemeClr val="bg2"/>
              </a:solidFill>
            </a:endParaRPr>
          </a:p>
        </p:txBody>
      </p:sp>
      <p:sp>
        <p:nvSpPr>
          <p:cNvPr id="21507" name="Rectangle 2"/>
          <p:cNvSpPr>
            <a:spLocks noChangeArrowheads="1"/>
          </p:cNvSpPr>
          <p:nvPr/>
        </p:nvSpPr>
        <p:spPr bwMode="auto">
          <a:xfrm>
            <a:off x="395288" y="1007928"/>
            <a:ext cx="8458200" cy="830997"/>
          </a:xfrm>
          <a:prstGeom prst="rect">
            <a:avLst/>
          </a:prstGeom>
          <a:solidFill>
            <a:schemeClr val="bg1"/>
          </a:solidFill>
          <a:ln w="9525">
            <a:solidFill>
              <a:srgbClr val="000000"/>
            </a:solidFill>
            <a:miter lim="800000"/>
            <a:headEnd/>
            <a:tailEnd/>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FF0000"/>
                </a:solidFill>
              </a:rPr>
              <a:t>变量</a:t>
            </a:r>
            <a:r>
              <a:rPr lang="zh-CN" altLang="en-US" sz="2400" b="1" dirty="0">
                <a:solidFill>
                  <a:schemeClr val="bg2"/>
                </a:solidFill>
              </a:rPr>
              <a:t>：用来表示存放数据的存储单元，这些数据在程序运行期间可以被改变 。</a:t>
            </a:r>
          </a:p>
        </p:txBody>
      </p:sp>
      <p:sp>
        <p:nvSpPr>
          <p:cNvPr id="21508" name="Rectangle 3"/>
          <p:cNvSpPr>
            <a:spLocks noChangeArrowheads="1"/>
          </p:cNvSpPr>
          <p:nvPr/>
        </p:nvSpPr>
        <p:spPr bwMode="auto">
          <a:xfrm>
            <a:off x="2843213" y="188913"/>
            <a:ext cx="2133600" cy="579437"/>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3200" b="1" dirty="0">
                <a:solidFill>
                  <a:schemeClr val="hlink"/>
                </a:solidFill>
              </a:rPr>
              <a:t>二、变量</a:t>
            </a:r>
          </a:p>
        </p:txBody>
      </p:sp>
      <p:sp>
        <p:nvSpPr>
          <p:cNvPr id="21509" name="Rectangle 5"/>
          <p:cNvSpPr>
            <a:spLocks noChangeArrowheads="1"/>
          </p:cNvSpPr>
          <p:nvPr/>
        </p:nvSpPr>
        <p:spPr bwMode="auto">
          <a:xfrm>
            <a:off x="395288" y="3231028"/>
            <a:ext cx="8458200" cy="1684244"/>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457200" indent="-457200" eaLnBrk="1" hangingPunct="1">
              <a:lnSpc>
                <a:spcPct val="150000"/>
              </a:lnSpc>
              <a:buClr>
                <a:srgbClr val="C00000"/>
              </a:buClr>
              <a:buFont typeface="Wingdings" panose="05000000000000000000" pitchFamily="2" charset="2"/>
              <a:buChar char="u"/>
            </a:pPr>
            <a:r>
              <a:rPr lang="en-US" altLang="zh-CN" sz="2400" b="1" dirty="0">
                <a:solidFill>
                  <a:schemeClr val="bg2"/>
                </a:solidFill>
              </a:rPr>
              <a:t> </a:t>
            </a:r>
            <a:r>
              <a:rPr lang="zh-CN" altLang="en-US" sz="2400" b="1" dirty="0">
                <a:solidFill>
                  <a:schemeClr val="bg2"/>
                </a:solidFill>
              </a:rPr>
              <a:t>定义变量：给变量在内存中分配一定的存储单元。也就是给这个存储单元赋与一个符号名</a:t>
            </a:r>
            <a:r>
              <a:rPr lang="en-US" altLang="zh-CN" sz="2400" b="1" dirty="0">
                <a:solidFill>
                  <a:schemeClr val="bg2"/>
                </a:solidFill>
              </a:rPr>
              <a:t>--</a:t>
            </a:r>
            <a:r>
              <a:rPr lang="zh-CN" altLang="en-US" sz="2400" b="1" dirty="0">
                <a:solidFill>
                  <a:schemeClr val="bg2"/>
                </a:solidFill>
              </a:rPr>
              <a:t>变量名</a:t>
            </a:r>
            <a:r>
              <a:rPr lang="en-US" altLang="zh-CN" sz="2400" b="1" dirty="0">
                <a:solidFill>
                  <a:schemeClr val="bg2"/>
                </a:solidFill>
              </a:rPr>
              <a:t>.</a:t>
            </a:r>
          </a:p>
          <a:p>
            <a:pPr marL="457200" indent="-457200" eaLnBrk="1" hangingPunct="1">
              <a:lnSpc>
                <a:spcPct val="150000"/>
              </a:lnSpc>
              <a:buClr>
                <a:srgbClr val="C00000"/>
              </a:buClr>
              <a:buFont typeface="Wingdings" panose="05000000000000000000" pitchFamily="2" charset="2"/>
              <a:buChar char="u"/>
            </a:pPr>
            <a:r>
              <a:rPr lang="zh-CN" altLang="en-US" sz="2400" b="1" dirty="0">
                <a:solidFill>
                  <a:schemeClr val="bg2"/>
                </a:solidFill>
              </a:rPr>
              <a:t>定义变量的同时一般还要给分配的存储单元预置初置。</a:t>
            </a:r>
          </a:p>
        </p:txBody>
      </p:sp>
      <p:sp>
        <p:nvSpPr>
          <p:cNvPr id="21512" name="Rectangle 9"/>
          <p:cNvSpPr>
            <a:spLocks noChangeArrowheads="1"/>
          </p:cNvSpPr>
          <p:nvPr/>
        </p:nvSpPr>
        <p:spPr bwMode="auto">
          <a:xfrm>
            <a:off x="395288" y="2160453"/>
            <a:ext cx="8458200" cy="830997"/>
          </a:xfrm>
          <a:prstGeom prst="rect">
            <a:avLst/>
          </a:prstGeom>
          <a:solidFill>
            <a:schemeClr val="bg1"/>
          </a:solidFill>
          <a:ln w="9525">
            <a:solidFill>
              <a:schemeClr val="accent2">
                <a:lumMod val="50000"/>
              </a:schemeClr>
            </a:solidFill>
            <a:miter lim="800000"/>
            <a:headEnd/>
            <a:tailEnd/>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程序中以</a:t>
            </a:r>
            <a:r>
              <a:rPr lang="zh-CN" altLang="en-US" sz="2400" b="1" dirty="0">
                <a:solidFill>
                  <a:srgbClr val="FF0000"/>
                </a:solidFill>
              </a:rPr>
              <a:t>变量名</a:t>
            </a:r>
            <a:r>
              <a:rPr lang="zh-CN" altLang="en-US" sz="2400" b="1" dirty="0">
                <a:solidFill>
                  <a:schemeClr val="bg2"/>
                </a:solidFill>
              </a:rPr>
              <a:t>的形式来访问变量。变量名就是存放数据的存储单元</a:t>
            </a:r>
            <a:r>
              <a:rPr lang="zh-CN" altLang="en-US" sz="2400" b="1" dirty="0" smtClean="0">
                <a:solidFill>
                  <a:schemeClr val="bg2"/>
                </a:solidFill>
              </a:rPr>
              <a:t>地址的符号表示。</a:t>
            </a:r>
            <a:endParaRPr lang="zh-CN" altLang="en-US" sz="2400" b="1" dirty="0">
              <a:solidFill>
                <a:schemeClr val="bg2"/>
              </a:solidFill>
            </a:endParaRPr>
          </a:p>
        </p:txBody>
      </p:sp>
      <p:sp>
        <p:nvSpPr>
          <p:cNvPr id="8" name="Text Box 45"/>
          <p:cNvSpPr txBox="1">
            <a:spLocks noChangeArrowheads="1"/>
          </p:cNvSpPr>
          <p:nvPr/>
        </p:nvSpPr>
        <p:spPr bwMode="auto">
          <a:xfrm>
            <a:off x="2045921" y="5462933"/>
            <a:ext cx="1625029" cy="461665"/>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 </a:t>
            </a:r>
            <a:r>
              <a:rPr lang="zh-CN" altLang="en-US" sz="2400" b="1" dirty="0">
                <a:solidFill>
                  <a:schemeClr val="bg2"/>
                </a:solidFill>
              </a:rPr>
              <a:t>变量分为</a:t>
            </a:r>
            <a:endParaRPr lang="zh-CN" altLang="en-US" sz="2400" b="1" dirty="0">
              <a:solidFill>
                <a:srgbClr val="FF0000"/>
              </a:solidFill>
            </a:endParaRPr>
          </a:p>
        </p:txBody>
      </p:sp>
      <p:sp>
        <p:nvSpPr>
          <p:cNvPr id="9" name="Text Box 45"/>
          <p:cNvSpPr txBox="1">
            <a:spLocks noChangeArrowheads="1"/>
          </p:cNvSpPr>
          <p:nvPr/>
        </p:nvSpPr>
        <p:spPr bwMode="auto">
          <a:xfrm>
            <a:off x="3732765" y="5183393"/>
            <a:ext cx="1744315" cy="461665"/>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rgbClr val="FF0000"/>
                </a:solidFill>
              </a:rPr>
              <a:t>全局变量</a:t>
            </a:r>
          </a:p>
        </p:txBody>
      </p:sp>
      <p:sp>
        <p:nvSpPr>
          <p:cNvPr id="10" name="Text Box 45"/>
          <p:cNvSpPr txBox="1">
            <a:spLocks noChangeArrowheads="1"/>
          </p:cNvSpPr>
          <p:nvPr/>
        </p:nvSpPr>
        <p:spPr bwMode="auto">
          <a:xfrm>
            <a:off x="3707904" y="5655022"/>
            <a:ext cx="2096838" cy="461665"/>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rgbClr val="FF0000"/>
                </a:solidFill>
              </a:rPr>
              <a:t>局部变量</a:t>
            </a:r>
          </a:p>
        </p:txBody>
      </p:sp>
      <p:sp>
        <p:nvSpPr>
          <p:cNvPr id="11" name="左大括号 10"/>
          <p:cNvSpPr/>
          <p:nvPr/>
        </p:nvSpPr>
        <p:spPr bwMode="auto">
          <a:xfrm>
            <a:off x="3573485" y="5320341"/>
            <a:ext cx="232743" cy="679166"/>
          </a:xfrm>
          <a:prstGeom prst="leftBrace">
            <a:avLst/>
          </a:prstGeom>
          <a:solidFill>
            <a:schemeClr val="bg1"/>
          </a:solidFill>
          <a:ln w="28575"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15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50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5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1509">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21509">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21509">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par>
                          <p:cTn id="29" fill="hold">
                            <p:stCondLst>
                              <p:cond delay="0"/>
                            </p:stCondLst>
                            <p:childTnLst>
                              <p:par>
                                <p:cTn id="30" presetID="22" presetClass="entr" presetSubtype="4" fill="hold" grpId="0" nodeType="afterEffect">
                                  <p:stCondLst>
                                    <p:cond delay="25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par>
                          <p:cTn id="33" fill="hold">
                            <p:stCondLst>
                              <p:cond delay="750"/>
                            </p:stCondLst>
                            <p:childTnLst>
                              <p:par>
                                <p:cTn id="34" presetID="1" presetClass="entr" presetSubtype="0" fill="hold" grpId="0" nodeType="afterEffect">
                                  <p:stCondLst>
                                    <p:cond delay="250"/>
                                  </p:stCondLst>
                                  <p:childTnLst>
                                    <p:set>
                                      <p:cBhvr>
                                        <p:cTn id="35" dur="1" fill="hold">
                                          <p:stCondLst>
                                            <p:cond delay="0"/>
                                          </p:stCondLst>
                                        </p:cTn>
                                        <p:tgtEl>
                                          <p:spTgt spid="9"/>
                                        </p:tgtEl>
                                        <p:attrNameLst>
                                          <p:attrName>style.visibility</p:attrName>
                                        </p:attrNameLst>
                                      </p:cBhvr>
                                      <p:to>
                                        <p:strVal val="visible"/>
                                      </p:to>
                                    </p:set>
                                  </p:childTnLst>
                                </p:cTn>
                              </p:par>
                            </p:childTnLst>
                          </p:cTn>
                        </p:par>
                        <p:par>
                          <p:cTn id="36" fill="hold">
                            <p:stCondLst>
                              <p:cond delay="1000"/>
                            </p:stCondLst>
                            <p:childTnLst>
                              <p:par>
                                <p:cTn id="37" presetID="1" presetClass="entr" presetSubtype="0" fill="hold" grpId="0" nodeType="afterEffect">
                                  <p:stCondLst>
                                    <p:cond delay="50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nimBg="1" autoUpdateAnimBg="0"/>
      <p:bldP spid="21508" grpId="0" animBg="1" autoUpdateAnimBg="0"/>
      <p:bldP spid="21509" grpId="0" uiExpand="1" build="p" animBg="1" autoUpdateAnimBg="0"/>
      <p:bldP spid="21512" grpId="0" animBg="1" autoUpdateAnimBg="0"/>
      <p:bldP spid="8" grpId="0" animBg="1" autoUpdateAnimBg="0"/>
      <p:bldP spid="9" grpId="0" animBg="1" autoUpdateAnimBg="0"/>
      <p:bldP spid="10" grpId="0" animBg="1" autoUpdateAnimBg="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251520" y="260648"/>
            <a:ext cx="3068469" cy="52322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b="1" dirty="0">
                <a:solidFill>
                  <a:schemeClr val="hlink"/>
                </a:solidFill>
              </a:rPr>
              <a:t>1. </a:t>
            </a:r>
            <a:r>
              <a:rPr lang="zh-CN" altLang="en-US" b="1" dirty="0">
                <a:solidFill>
                  <a:schemeClr val="hlink"/>
                </a:solidFill>
              </a:rPr>
              <a:t>全局变量的定义</a:t>
            </a:r>
          </a:p>
        </p:txBody>
      </p:sp>
      <p:sp>
        <p:nvSpPr>
          <p:cNvPr id="3" name="矩形 2"/>
          <p:cNvSpPr/>
          <p:nvPr/>
        </p:nvSpPr>
        <p:spPr>
          <a:xfrm>
            <a:off x="539552" y="757299"/>
            <a:ext cx="7920880" cy="430887"/>
          </a:xfrm>
          <a:prstGeom prst="rect">
            <a:avLst/>
          </a:prstGeom>
        </p:spPr>
        <p:txBody>
          <a:bodyPr wrap="square">
            <a:spAutoFit/>
          </a:bodyPr>
          <a:lstStyle/>
          <a:p>
            <a:r>
              <a:rPr lang="zh-CN" altLang="zh-CN" sz="2200" b="1" dirty="0">
                <a:solidFill>
                  <a:schemeClr val="bg2"/>
                </a:solidFill>
                <a:latin typeface="宋体" panose="02010600030101010101" pitchFamily="2" charset="-122"/>
              </a:rPr>
              <a:t>全局变量的作用域是整个程序，</a:t>
            </a:r>
            <a:r>
              <a:rPr lang="zh-CN" altLang="en-US" sz="2200" b="1" dirty="0">
                <a:solidFill>
                  <a:schemeClr val="bg2"/>
                </a:solidFill>
                <a:latin typeface="宋体" panose="02010600030101010101" pitchFamily="2" charset="-122"/>
              </a:rPr>
              <a:t>全局变量定义</a:t>
            </a:r>
            <a:r>
              <a:rPr lang="zh-CN" altLang="en-US" sz="2200" b="1" dirty="0" smtClean="0">
                <a:solidFill>
                  <a:schemeClr val="bg2"/>
                </a:solidFill>
                <a:latin typeface="宋体" panose="02010600030101010101" pitchFamily="2" charset="-122"/>
              </a:rPr>
              <a:t>在</a:t>
            </a:r>
            <a:r>
              <a:rPr lang="zh-CN" altLang="en-US" sz="2200" b="1" dirty="0" smtClean="0">
                <a:solidFill>
                  <a:schemeClr val="bg2"/>
                </a:solidFill>
              </a:rPr>
              <a:t>数据</a:t>
            </a:r>
            <a:r>
              <a:rPr lang="zh-CN" altLang="en-US" sz="2200" b="1" dirty="0" smtClean="0">
                <a:solidFill>
                  <a:schemeClr val="bg2"/>
                </a:solidFill>
                <a:latin typeface="宋体" panose="02010600030101010101" pitchFamily="2" charset="-122"/>
              </a:rPr>
              <a:t>段</a:t>
            </a:r>
            <a:r>
              <a:rPr lang="zh-CN" altLang="en-US" sz="2200" b="1" dirty="0">
                <a:solidFill>
                  <a:schemeClr val="bg2"/>
                </a:solidFill>
                <a:latin typeface="宋体" panose="02010600030101010101" pitchFamily="2" charset="-122"/>
              </a:rPr>
              <a:t>内。</a:t>
            </a:r>
            <a:endParaRPr lang="zh-CN" altLang="en-US" sz="2200" b="1" dirty="0"/>
          </a:p>
        </p:txBody>
      </p:sp>
      <p:sp>
        <p:nvSpPr>
          <p:cNvPr id="4" name="矩形 3"/>
          <p:cNvSpPr/>
          <p:nvPr/>
        </p:nvSpPr>
        <p:spPr>
          <a:xfrm>
            <a:off x="251520" y="1597050"/>
            <a:ext cx="6480720" cy="430887"/>
          </a:xfrm>
          <a:prstGeom prst="rect">
            <a:avLst/>
          </a:prstGeom>
        </p:spPr>
        <p:txBody>
          <a:bodyPr wrap="square">
            <a:spAutoFit/>
          </a:bodyPr>
          <a:lstStyle/>
          <a:p>
            <a:pPr lvl="0" indent="266700" eaLnBrk="0" hangingPunct="0">
              <a:tabLst>
                <a:tab pos="800100" algn="l"/>
                <a:tab pos="2238375" algn="l"/>
                <a:tab pos="3154363" algn="l"/>
                <a:tab pos="4070350" algn="l"/>
              </a:tabLst>
            </a:pPr>
            <a:r>
              <a:rPr lang="zh-CN" altLang="en-US" sz="2200" b="1" dirty="0">
                <a:solidFill>
                  <a:srgbClr val="FF0000"/>
                </a:solidFill>
                <a:latin typeface="宋体" panose="02010600030101010101" pitchFamily="2" charset="-122"/>
              </a:rPr>
              <a:t>变量名</a:t>
            </a:r>
            <a:r>
              <a:rPr lang="zh-CN" altLang="en-US" sz="2200" b="1" dirty="0">
                <a:solidFill>
                  <a:srgbClr val="FF0000"/>
                </a:solidFill>
                <a:ea typeface="Courier"/>
              </a:rPr>
              <a:t>     </a:t>
            </a:r>
            <a:r>
              <a:rPr lang="zh-CN" altLang="en-US" sz="2200" b="1" dirty="0">
                <a:solidFill>
                  <a:srgbClr val="FF0000"/>
                </a:solidFill>
                <a:latin typeface="宋体" panose="02010600030101010101" pitchFamily="2" charset="-122"/>
              </a:rPr>
              <a:t>类型</a:t>
            </a:r>
            <a:r>
              <a:rPr lang="zh-CN" altLang="en-US" sz="2200" b="1" dirty="0">
                <a:solidFill>
                  <a:srgbClr val="FF0000"/>
                </a:solidFill>
                <a:ea typeface="Courier"/>
              </a:rPr>
              <a:t>    </a:t>
            </a:r>
            <a:r>
              <a:rPr lang="zh-CN" altLang="en-US" sz="2200" b="1" dirty="0">
                <a:solidFill>
                  <a:srgbClr val="FF0000"/>
                </a:solidFill>
                <a:latin typeface="宋体" panose="02010600030101010101" pitchFamily="2" charset="-122"/>
              </a:rPr>
              <a:t>表达式</a:t>
            </a:r>
            <a:r>
              <a:rPr lang="en-US" altLang="zh-CN" sz="2200" b="1" dirty="0">
                <a:solidFill>
                  <a:srgbClr val="FF0000"/>
                </a:solidFill>
                <a:ea typeface="Courier"/>
              </a:rPr>
              <a:t>1,</a:t>
            </a:r>
            <a:r>
              <a:rPr lang="zh-CN" altLang="en-US" sz="2200" b="1" dirty="0">
                <a:solidFill>
                  <a:srgbClr val="FF0000"/>
                </a:solidFill>
                <a:latin typeface="宋体" panose="02010600030101010101" pitchFamily="2" charset="-122"/>
              </a:rPr>
              <a:t>表达式</a:t>
            </a:r>
            <a:r>
              <a:rPr lang="en-US" altLang="zh-CN" sz="2200" b="1" dirty="0">
                <a:solidFill>
                  <a:srgbClr val="FF0000"/>
                </a:solidFill>
                <a:ea typeface="Courier"/>
              </a:rPr>
              <a:t>2</a:t>
            </a:r>
            <a:r>
              <a:rPr lang="zh-CN" altLang="en-US" sz="2200" b="1" dirty="0">
                <a:solidFill>
                  <a:srgbClr val="FF0000"/>
                </a:solidFill>
                <a:latin typeface="宋体" panose="02010600030101010101" pitchFamily="2" charset="-122"/>
              </a:rPr>
              <a:t>，</a:t>
            </a:r>
            <a:r>
              <a:rPr lang="en-US" altLang="zh-CN" sz="2200" b="1" dirty="0">
                <a:solidFill>
                  <a:srgbClr val="FF0000"/>
                </a:solidFill>
                <a:ea typeface="Courier"/>
              </a:rPr>
              <a:t>……</a:t>
            </a:r>
            <a:endParaRPr lang="en-US" altLang="zh-CN" sz="2200" b="1" dirty="0">
              <a:solidFill>
                <a:srgbClr val="FF0000"/>
              </a:solidFill>
            </a:endParaRPr>
          </a:p>
        </p:txBody>
      </p:sp>
      <p:sp>
        <p:nvSpPr>
          <p:cNvPr id="6" name="矩形 5"/>
          <p:cNvSpPr/>
          <p:nvPr/>
        </p:nvSpPr>
        <p:spPr>
          <a:xfrm>
            <a:off x="405948" y="2019930"/>
            <a:ext cx="8386207" cy="430887"/>
          </a:xfrm>
          <a:prstGeom prst="rect">
            <a:avLst/>
          </a:prstGeom>
        </p:spPr>
        <p:txBody>
          <a:bodyPr wrap="square">
            <a:spAutoFit/>
          </a:bodyPr>
          <a:lstStyle/>
          <a:p>
            <a:pPr lvl="0" indent="266700" eaLnBrk="0" hangingPunct="0">
              <a:tabLst>
                <a:tab pos="800100" algn="l"/>
                <a:tab pos="2238375" algn="l"/>
                <a:tab pos="3154363" algn="l"/>
                <a:tab pos="4070350" algn="l"/>
              </a:tabLst>
            </a:pPr>
            <a:r>
              <a:rPr lang="en-US" altLang="zh-CN" sz="2200" b="1" dirty="0">
                <a:solidFill>
                  <a:schemeClr val="bg2"/>
                </a:solidFill>
              </a:rPr>
              <a:t>MASM</a:t>
            </a:r>
            <a:r>
              <a:rPr lang="zh-CN" altLang="en-US" sz="2200" b="1" dirty="0">
                <a:solidFill>
                  <a:schemeClr val="bg2"/>
                </a:solidFill>
                <a:latin typeface="宋体" panose="02010600030101010101" pitchFamily="2" charset="-122"/>
              </a:rPr>
              <a:t>中可以使用的</a:t>
            </a:r>
            <a:r>
              <a:rPr lang="zh-CN" altLang="en-US" sz="2200" b="1" dirty="0">
                <a:solidFill>
                  <a:srgbClr val="FF0000"/>
                </a:solidFill>
                <a:latin typeface="宋体" panose="02010600030101010101" pitchFamily="2" charset="-122"/>
              </a:rPr>
              <a:t>类型</a:t>
            </a:r>
            <a:r>
              <a:rPr lang="zh-CN" altLang="en-US" sz="2200" b="1" dirty="0">
                <a:solidFill>
                  <a:schemeClr val="bg2"/>
                </a:solidFill>
                <a:latin typeface="宋体" panose="02010600030101010101" pitchFamily="2" charset="-122"/>
              </a:rPr>
              <a:t>很多，具体如下表所示。</a:t>
            </a:r>
            <a:endParaRPr lang="zh-CN" altLang="en-US" sz="2200" b="1" dirty="0">
              <a:solidFill>
                <a:schemeClr val="bg2"/>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348509954"/>
              </p:ext>
            </p:extLst>
          </p:nvPr>
        </p:nvGraphicFramePr>
        <p:xfrm>
          <a:off x="737672" y="2533819"/>
          <a:ext cx="7722760" cy="3847509"/>
        </p:xfrm>
        <a:graphic>
          <a:graphicData uri="http://schemas.openxmlformats.org/drawingml/2006/table">
            <a:tbl>
              <a:tblPr/>
              <a:tblGrid>
                <a:gridCol w="960739">
                  <a:extLst>
                    <a:ext uri="{9D8B030D-6E8A-4147-A177-3AD203B41FA5}">
                      <a16:colId xmlns:a16="http://schemas.microsoft.com/office/drawing/2014/main" val="3105869506"/>
                    </a:ext>
                  </a:extLst>
                </a:gridCol>
                <a:gridCol w="942709">
                  <a:extLst>
                    <a:ext uri="{9D8B030D-6E8A-4147-A177-3AD203B41FA5}">
                      <a16:colId xmlns:a16="http://schemas.microsoft.com/office/drawing/2014/main" val="3680036044"/>
                    </a:ext>
                  </a:extLst>
                </a:gridCol>
                <a:gridCol w="2030449">
                  <a:extLst>
                    <a:ext uri="{9D8B030D-6E8A-4147-A177-3AD203B41FA5}">
                      <a16:colId xmlns:a16="http://schemas.microsoft.com/office/drawing/2014/main" val="1627627311"/>
                    </a:ext>
                  </a:extLst>
                </a:gridCol>
                <a:gridCol w="3788863">
                  <a:extLst>
                    <a:ext uri="{9D8B030D-6E8A-4147-A177-3AD203B41FA5}">
                      <a16:colId xmlns:a16="http://schemas.microsoft.com/office/drawing/2014/main" val="4206161764"/>
                    </a:ext>
                  </a:extLst>
                </a:gridCol>
              </a:tblGrid>
              <a:tr h="385762">
                <a:tc gridSpan="4">
                  <a:txBody>
                    <a:bodyPr/>
                    <a:lstStyle/>
                    <a:p>
                      <a:pPr indent="62865">
                        <a:spcAft>
                          <a:spcPts val="0"/>
                        </a:spcAft>
                        <a:tabLst>
                          <a:tab pos="799465" algn="l"/>
                          <a:tab pos="2238375" algn="l"/>
                          <a:tab pos="3154045" algn="l"/>
                          <a:tab pos="4069715" algn="l"/>
                        </a:tabLst>
                      </a:pPr>
                      <a:r>
                        <a:rPr lang="zh-CN" altLang="en-US" sz="1800" b="1" dirty="0">
                          <a:solidFill>
                            <a:schemeClr val="bg2"/>
                          </a:solidFill>
                          <a:effectLst/>
                          <a:latin typeface="宋体" panose="02010600030101010101" pitchFamily="2" charset="-122"/>
                          <a:ea typeface="宋体" panose="02010600030101010101" pitchFamily="2" charset="-122"/>
                        </a:rPr>
                        <a:t>类型</a:t>
                      </a:r>
                      <a:r>
                        <a:rPr lang="zh-CN" altLang="en-US" sz="1800" b="1" dirty="0">
                          <a:solidFill>
                            <a:schemeClr val="bg2"/>
                          </a:solidFill>
                          <a:effectLst/>
                        </a:rPr>
                        <a:t>        </a:t>
                      </a:r>
                      <a:r>
                        <a:rPr lang="zh-CN" altLang="en-US" sz="1800" b="1" dirty="0">
                          <a:solidFill>
                            <a:schemeClr val="bg2"/>
                          </a:solidFill>
                          <a:effectLst/>
                          <a:latin typeface="宋体" panose="02010600030101010101" pitchFamily="2" charset="-122"/>
                          <a:ea typeface="宋体" panose="02010600030101010101" pitchFamily="2" charset="-122"/>
                        </a:rPr>
                        <a:t>缩写</a:t>
                      </a:r>
                      <a:r>
                        <a:rPr lang="zh-CN" altLang="en-US" sz="1800" b="1" dirty="0">
                          <a:solidFill>
                            <a:schemeClr val="bg2"/>
                          </a:solidFill>
                          <a:effectLst/>
                        </a:rPr>
                        <a:t>         </a:t>
                      </a:r>
                      <a:r>
                        <a:rPr lang="zh-CN" altLang="en-US" sz="1800" b="1" dirty="0">
                          <a:solidFill>
                            <a:schemeClr val="bg2"/>
                          </a:solidFill>
                          <a:effectLst/>
                          <a:latin typeface="宋体" panose="02010600030101010101" pitchFamily="2" charset="-122"/>
                          <a:ea typeface="宋体" panose="02010600030101010101" pitchFamily="2" charset="-122"/>
                        </a:rPr>
                        <a:t>长度（字节）     说明</a:t>
                      </a:r>
                      <a:endParaRPr lang="zh-CN" altLang="en-US" sz="1800" b="1" dirty="0">
                        <a:solidFill>
                          <a:schemeClr val="bg2"/>
                        </a:solidFill>
                        <a:effectLst/>
                      </a:endParaRPr>
                    </a:p>
                  </a:txBody>
                  <a:tcPr marL="0" marR="0" marT="0" marB="0">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56397009"/>
                  </a:ext>
                </a:extLst>
              </a:tr>
              <a:tr h="192881">
                <a:tc>
                  <a:txBody>
                    <a:bodyPr/>
                    <a:lstStyle/>
                    <a:p>
                      <a:pPr>
                        <a:spcAft>
                          <a:spcPts val="0"/>
                        </a:spcAft>
                      </a:pPr>
                      <a:r>
                        <a:rPr lang="en-US" sz="1800" b="1" dirty="0">
                          <a:solidFill>
                            <a:schemeClr val="bg2"/>
                          </a:solidFill>
                          <a:effectLst/>
                        </a:rPr>
                        <a:t>byte</a:t>
                      </a:r>
                    </a:p>
                  </a:txBody>
                  <a:tcPr marL="4822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spcAft>
                          <a:spcPts val="0"/>
                        </a:spcAft>
                      </a:pPr>
                      <a:r>
                        <a:rPr lang="en-US" sz="1800" b="1" dirty="0" err="1">
                          <a:solidFill>
                            <a:schemeClr val="bg2"/>
                          </a:solidFill>
                          <a:effectLst/>
                        </a:rPr>
                        <a:t>db</a:t>
                      </a:r>
                      <a:endParaRPr lang="en-US" sz="1800" b="1" dirty="0">
                        <a:solidFill>
                          <a:schemeClr val="bg2"/>
                        </a:solidFill>
                        <a:effectLst/>
                      </a:endParaRPr>
                    </a:p>
                  </a:txBody>
                  <a:tcPr marL="4822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spcAft>
                          <a:spcPts val="0"/>
                        </a:spcAft>
                      </a:pPr>
                      <a:r>
                        <a:rPr lang="en-US" sz="1800" b="1" dirty="0">
                          <a:solidFill>
                            <a:schemeClr val="bg2"/>
                          </a:solidFill>
                          <a:effectLst/>
                        </a:rPr>
                        <a:t>1</a:t>
                      </a:r>
                    </a:p>
                  </a:txBody>
                  <a:tcPr marL="4822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字节变量</a:t>
                      </a:r>
                      <a:endParaRPr lang="zh-CN" altLang="en-US" sz="1800" b="1" dirty="0">
                        <a:solidFill>
                          <a:schemeClr val="bg2"/>
                        </a:solidFill>
                        <a:effectLst/>
                      </a:endParaRPr>
                    </a:p>
                  </a:txBody>
                  <a:tcPr marL="48220" marR="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2832778"/>
                  </a:ext>
                </a:extLst>
              </a:tr>
              <a:tr h="317371">
                <a:tc>
                  <a:txBody>
                    <a:bodyPr/>
                    <a:lstStyle/>
                    <a:p>
                      <a:pPr>
                        <a:spcAft>
                          <a:spcPts val="0"/>
                        </a:spcAft>
                      </a:pPr>
                      <a:r>
                        <a:rPr lang="en-US" sz="1800" b="1" dirty="0">
                          <a:solidFill>
                            <a:schemeClr val="bg2"/>
                          </a:solidFill>
                          <a:effectLst/>
                        </a:rPr>
                        <a:t>word</a:t>
                      </a:r>
                    </a:p>
                  </a:txBody>
                  <a:tcPr marL="48220" marR="0" marT="0" marB="0">
                    <a:lnL>
                      <a:noFill/>
                    </a:lnL>
                    <a:lnR>
                      <a:noFill/>
                    </a:lnR>
                    <a:lnT>
                      <a:noFill/>
                    </a:lnT>
                    <a:lnB>
                      <a:noFill/>
                    </a:lnB>
                  </a:tcPr>
                </a:tc>
                <a:tc>
                  <a:txBody>
                    <a:bodyPr/>
                    <a:lstStyle/>
                    <a:p>
                      <a:pPr>
                        <a:spcAft>
                          <a:spcPts val="0"/>
                        </a:spcAft>
                      </a:pPr>
                      <a:r>
                        <a:rPr lang="en-US" sz="1800" b="1" dirty="0" err="1">
                          <a:solidFill>
                            <a:schemeClr val="bg2"/>
                          </a:solidFill>
                          <a:effectLst/>
                        </a:rPr>
                        <a:t>dw</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2</a:t>
                      </a: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字变量</a:t>
                      </a:r>
                      <a:endParaRPr lang="zh-CN" alt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1753016815"/>
                  </a:ext>
                </a:extLst>
              </a:tr>
              <a:tr h="288032">
                <a:tc>
                  <a:txBody>
                    <a:bodyPr/>
                    <a:lstStyle/>
                    <a:p>
                      <a:pPr>
                        <a:spcAft>
                          <a:spcPts val="0"/>
                        </a:spcAft>
                      </a:pPr>
                      <a:r>
                        <a:rPr lang="en-US" sz="1800" b="1" dirty="0" err="1">
                          <a:solidFill>
                            <a:schemeClr val="bg2"/>
                          </a:solidFill>
                          <a:effectLst/>
                        </a:rPr>
                        <a:t>dword</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err="1">
                          <a:solidFill>
                            <a:schemeClr val="bg2"/>
                          </a:solidFill>
                          <a:effectLst/>
                        </a:rPr>
                        <a:t>dd</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4</a:t>
                      </a: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双字（</a:t>
                      </a:r>
                      <a:r>
                        <a:rPr lang="en-US" sz="1800" b="1" dirty="0" err="1">
                          <a:solidFill>
                            <a:schemeClr val="bg2"/>
                          </a:solidFill>
                          <a:effectLst/>
                        </a:rPr>
                        <a:t>doubleword</a:t>
                      </a:r>
                      <a:r>
                        <a:rPr lang="en-US" sz="1800" b="1" dirty="0">
                          <a:solidFill>
                            <a:schemeClr val="bg2"/>
                          </a:solidFill>
                          <a:effectLst/>
                          <a:latin typeface="宋体" panose="02010600030101010101" pitchFamily="2" charset="-122"/>
                          <a:ea typeface="宋体" panose="02010600030101010101" pitchFamily="2" charset="-122"/>
                        </a:rPr>
                        <a:t>）</a:t>
                      </a:r>
                      <a:r>
                        <a:rPr lang="zh-CN" altLang="en-US" sz="1800" b="1" dirty="0">
                          <a:solidFill>
                            <a:schemeClr val="bg2"/>
                          </a:solidFill>
                          <a:effectLst/>
                          <a:latin typeface="宋体" panose="02010600030101010101" pitchFamily="2" charset="-122"/>
                          <a:ea typeface="宋体" panose="02010600030101010101" pitchFamily="2" charset="-122"/>
                        </a:rPr>
                        <a:t>变量</a:t>
                      </a:r>
                      <a:endParaRPr 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545359713"/>
                  </a:ext>
                </a:extLst>
              </a:tr>
              <a:tr h="216024">
                <a:tc>
                  <a:txBody>
                    <a:bodyPr/>
                    <a:lstStyle/>
                    <a:p>
                      <a:pPr>
                        <a:spcAft>
                          <a:spcPts val="0"/>
                        </a:spcAft>
                      </a:pPr>
                      <a:r>
                        <a:rPr lang="en-US" sz="1800" b="1" dirty="0" err="1">
                          <a:solidFill>
                            <a:schemeClr val="bg2"/>
                          </a:solidFill>
                          <a:effectLst/>
                        </a:rPr>
                        <a:t>fword</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err="1">
                          <a:solidFill>
                            <a:schemeClr val="bg2"/>
                          </a:solidFill>
                          <a:effectLst/>
                        </a:rPr>
                        <a:t>df</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6</a:t>
                      </a: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三字（</a:t>
                      </a:r>
                      <a:r>
                        <a:rPr lang="en-US" sz="1800" b="1" dirty="0" err="1">
                          <a:solidFill>
                            <a:schemeClr val="bg2"/>
                          </a:solidFill>
                          <a:effectLst/>
                        </a:rPr>
                        <a:t>farword</a:t>
                      </a:r>
                      <a:r>
                        <a:rPr lang="en-US" sz="1800" b="1" dirty="0">
                          <a:solidFill>
                            <a:schemeClr val="bg2"/>
                          </a:solidFill>
                          <a:effectLst/>
                          <a:latin typeface="宋体" panose="02010600030101010101" pitchFamily="2" charset="-122"/>
                          <a:ea typeface="宋体" panose="02010600030101010101" pitchFamily="2" charset="-122"/>
                        </a:rPr>
                        <a:t>）</a:t>
                      </a:r>
                      <a:r>
                        <a:rPr lang="zh-CN" altLang="en-US" sz="1800" b="1" dirty="0">
                          <a:solidFill>
                            <a:schemeClr val="bg2"/>
                          </a:solidFill>
                          <a:effectLst/>
                          <a:latin typeface="宋体" panose="02010600030101010101" pitchFamily="2" charset="-122"/>
                          <a:ea typeface="宋体" panose="02010600030101010101" pitchFamily="2" charset="-122"/>
                        </a:rPr>
                        <a:t>变量</a:t>
                      </a:r>
                      <a:endParaRPr 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1006302439"/>
                  </a:ext>
                </a:extLst>
              </a:tr>
              <a:tr h="301744">
                <a:tc>
                  <a:txBody>
                    <a:bodyPr/>
                    <a:lstStyle/>
                    <a:p>
                      <a:pPr>
                        <a:spcAft>
                          <a:spcPts val="0"/>
                        </a:spcAft>
                      </a:pPr>
                      <a:r>
                        <a:rPr lang="en-US" sz="1800" b="1" dirty="0">
                          <a:solidFill>
                            <a:schemeClr val="bg2"/>
                          </a:solidFill>
                          <a:effectLst/>
                        </a:rPr>
                        <a:t>qword</a:t>
                      </a:r>
                    </a:p>
                  </a:txBody>
                  <a:tcPr marL="48220" marR="0" marT="0" marB="0">
                    <a:lnL>
                      <a:noFill/>
                    </a:lnL>
                    <a:lnR>
                      <a:noFill/>
                    </a:lnR>
                    <a:lnT>
                      <a:noFill/>
                    </a:lnT>
                    <a:lnB>
                      <a:noFill/>
                    </a:lnB>
                  </a:tcPr>
                </a:tc>
                <a:tc>
                  <a:txBody>
                    <a:bodyPr/>
                    <a:lstStyle/>
                    <a:p>
                      <a:pPr>
                        <a:spcAft>
                          <a:spcPts val="0"/>
                        </a:spcAft>
                      </a:pPr>
                      <a:r>
                        <a:rPr lang="en-US" sz="1800" b="1" dirty="0" err="1">
                          <a:solidFill>
                            <a:schemeClr val="bg2"/>
                          </a:solidFill>
                          <a:effectLst/>
                        </a:rPr>
                        <a:t>dq</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8</a:t>
                      </a: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四字（</a:t>
                      </a:r>
                      <a:r>
                        <a:rPr lang="en-US" sz="1800" b="1" dirty="0" err="1">
                          <a:solidFill>
                            <a:schemeClr val="bg2"/>
                          </a:solidFill>
                          <a:effectLst/>
                        </a:rPr>
                        <a:t>quadword</a:t>
                      </a:r>
                      <a:r>
                        <a:rPr lang="en-US" sz="1800" b="1" dirty="0">
                          <a:solidFill>
                            <a:schemeClr val="bg2"/>
                          </a:solidFill>
                          <a:effectLst/>
                          <a:latin typeface="宋体" panose="02010600030101010101" pitchFamily="2" charset="-122"/>
                          <a:ea typeface="宋体" panose="02010600030101010101" pitchFamily="2" charset="-122"/>
                        </a:rPr>
                        <a:t>）</a:t>
                      </a:r>
                      <a:r>
                        <a:rPr lang="zh-CN" altLang="en-US" sz="1800" b="1" dirty="0">
                          <a:solidFill>
                            <a:schemeClr val="bg2"/>
                          </a:solidFill>
                          <a:effectLst/>
                          <a:latin typeface="宋体" panose="02010600030101010101" pitchFamily="2" charset="-122"/>
                          <a:ea typeface="宋体" panose="02010600030101010101" pitchFamily="2" charset="-122"/>
                        </a:rPr>
                        <a:t>变量</a:t>
                      </a:r>
                      <a:endParaRPr 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2183114131"/>
                  </a:ext>
                </a:extLst>
              </a:tr>
              <a:tr h="360040">
                <a:tc>
                  <a:txBody>
                    <a:bodyPr/>
                    <a:lstStyle/>
                    <a:p>
                      <a:pPr>
                        <a:spcAft>
                          <a:spcPts val="0"/>
                        </a:spcAft>
                      </a:pPr>
                      <a:r>
                        <a:rPr lang="en-US" sz="1800" b="1" dirty="0" err="1">
                          <a:solidFill>
                            <a:schemeClr val="bg2"/>
                          </a:solidFill>
                          <a:effectLst/>
                        </a:rPr>
                        <a:t>tbyte</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err="1">
                          <a:solidFill>
                            <a:schemeClr val="bg2"/>
                          </a:solidFill>
                          <a:effectLst/>
                        </a:rPr>
                        <a:t>dt</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10</a:t>
                      </a: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十字节</a:t>
                      </a:r>
                      <a:r>
                        <a:rPr lang="en-US" altLang="zh-CN" sz="1800" b="1" dirty="0">
                          <a:solidFill>
                            <a:schemeClr val="bg2"/>
                          </a:solidFill>
                          <a:effectLst/>
                        </a:rPr>
                        <a:t>BCD</a:t>
                      </a:r>
                      <a:r>
                        <a:rPr lang="zh-CN" altLang="en-US" sz="1800" b="1" dirty="0">
                          <a:solidFill>
                            <a:schemeClr val="bg2"/>
                          </a:solidFill>
                          <a:effectLst/>
                          <a:latin typeface="宋体" panose="02010600030101010101" pitchFamily="2" charset="-122"/>
                          <a:ea typeface="宋体" panose="02010600030101010101" pitchFamily="2" charset="-122"/>
                        </a:rPr>
                        <a:t>码（</a:t>
                      </a:r>
                      <a:r>
                        <a:rPr lang="en-US" altLang="zh-CN" sz="1800" b="1" dirty="0" err="1">
                          <a:solidFill>
                            <a:schemeClr val="bg2"/>
                          </a:solidFill>
                          <a:effectLst/>
                        </a:rPr>
                        <a:t>tenbyte</a:t>
                      </a:r>
                      <a:r>
                        <a:rPr lang="zh-CN" altLang="en-US" sz="1800" b="1" dirty="0">
                          <a:solidFill>
                            <a:schemeClr val="bg2"/>
                          </a:solidFill>
                          <a:effectLst/>
                          <a:latin typeface="宋体" panose="02010600030101010101" pitchFamily="2" charset="-122"/>
                          <a:ea typeface="宋体" panose="02010600030101010101" pitchFamily="2" charset="-122"/>
                        </a:rPr>
                        <a:t>）变量</a:t>
                      </a:r>
                      <a:endParaRPr lang="zh-CN" alt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4066150323"/>
                  </a:ext>
                </a:extLst>
              </a:tr>
              <a:tr h="262310">
                <a:tc>
                  <a:txBody>
                    <a:bodyPr/>
                    <a:lstStyle/>
                    <a:p>
                      <a:pPr>
                        <a:spcAft>
                          <a:spcPts val="0"/>
                        </a:spcAft>
                      </a:pPr>
                      <a:r>
                        <a:rPr lang="en-US" sz="1800" b="1" dirty="0" err="1">
                          <a:solidFill>
                            <a:schemeClr val="bg2"/>
                          </a:solidFill>
                          <a:effectLst/>
                        </a:rPr>
                        <a:t>sbyte</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 </a:t>
                      </a: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1</a:t>
                      </a: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有符号字节（</a:t>
                      </a:r>
                      <a:r>
                        <a:rPr lang="en-US" altLang="zh-CN" sz="1800" b="1" dirty="0" err="1">
                          <a:solidFill>
                            <a:schemeClr val="bg2"/>
                          </a:solidFill>
                          <a:effectLst/>
                        </a:rPr>
                        <a:t>signbyte</a:t>
                      </a:r>
                      <a:r>
                        <a:rPr lang="zh-CN" altLang="en-US" sz="1800" b="1" dirty="0">
                          <a:solidFill>
                            <a:schemeClr val="bg2"/>
                          </a:solidFill>
                          <a:effectLst/>
                          <a:latin typeface="宋体" panose="02010600030101010101" pitchFamily="2" charset="-122"/>
                          <a:ea typeface="宋体" panose="02010600030101010101" pitchFamily="2" charset="-122"/>
                        </a:rPr>
                        <a:t>）变量</a:t>
                      </a:r>
                      <a:endParaRPr lang="zh-CN" alt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237277470"/>
                  </a:ext>
                </a:extLst>
              </a:tr>
              <a:tr h="229736">
                <a:tc>
                  <a:txBody>
                    <a:bodyPr/>
                    <a:lstStyle/>
                    <a:p>
                      <a:pPr>
                        <a:spcAft>
                          <a:spcPts val="0"/>
                        </a:spcAft>
                      </a:pPr>
                      <a:r>
                        <a:rPr lang="en-US" sz="1800" b="1" dirty="0">
                          <a:solidFill>
                            <a:schemeClr val="bg2"/>
                          </a:solidFill>
                          <a:effectLst/>
                        </a:rPr>
                        <a:t>sword</a:t>
                      </a: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 </a:t>
                      </a: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2</a:t>
                      </a: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有符号字（</a:t>
                      </a:r>
                      <a:r>
                        <a:rPr lang="en-US" sz="1800" b="1" dirty="0" err="1">
                          <a:solidFill>
                            <a:schemeClr val="bg2"/>
                          </a:solidFill>
                          <a:effectLst/>
                        </a:rPr>
                        <a:t>signword</a:t>
                      </a:r>
                      <a:r>
                        <a:rPr lang="en-US" sz="1800" b="1" dirty="0">
                          <a:solidFill>
                            <a:schemeClr val="bg2"/>
                          </a:solidFill>
                          <a:effectLst/>
                          <a:latin typeface="宋体" panose="02010600030101010101" pitchFamily="2" charset="-122"/>
                          <a:ea typeface="宋体" panose="02010600030101010101" pitchFamily="2" charset="-122"/>
                        </a:rPr>
                        <a:t>）</a:t>
                      </a:r>
                      <a:r>
                        <a:rPr lang="zh-CN" altLang="en-US" sz="1800" b="1" dirty="0">
                          <a:solidFill>
                            <a:schemeClr val="bg2"/>
                          </a:solidFill>
                          <a:effectLst/>
                          <a:latin typeface="宋体" panose="02010600030101010101" pitchFamily="2" charset="-122"/>
                          <a:ea typeface="宋体" panose="02010600030101010101" pitchFamily="2" charset="-122"/>
                        </a:rPr>
                        <a:t>变量</a:t>
                      </a:r>
                      <a:endParaRPr 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2340576008"/>
                  </a:ext>
                </a:extLst>
              </a:tr>
              <a:tr h="243448">
                <a:tc>
                  <a:txBody>
                    <a:bodyPr/>
                    <a:lstStyle/>
                    <a:p>
                      <a:pPr>
                        <a:spcAft>
                          <a:spcPts val="0"/>
                        </a:spcAft>
                      </a:pPr>
                      <a:r>
                        <a:rPr lang="en-US" sz="1800" b="1" dirty="0" err="1">
                          <a:solidFill>
                            <a:schemeClr val="bg2"/>
                          </a:solidFill>
                          <a:effectLst/>
                        </a:rPr>
                        <a:t>sdword</a:t>
                      </a:r>
                      <a:endParaRPr lang="en-US" sz="18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 </a:t>
                      </a: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4</a:t>
                      </a: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有符号双字（</a:t>
                      </a:r>
                      <a:r>
                        <a:rPr lang="en-US" altLang="zh-CN" sz="1800" b="1" dirty="0" err="1">
                          <a:solidFill>
                            <a:schemeClr val="bg2"/>
                          </a:solidFill>
                          <a:effectLst/>
                        </a:rPr>
                        <a:t>signdword</a:t>
                      </a:r>
                      <a:r>
                        <a:rPr lang="zh-CN" altLang="en-US" sz="1800" b="1" dirty="0">
                          <a:solidFill>
                            <a:schemeClr val="bg2"/>
                          </a:solidFill>
                          <a:effectLst/>
                          <a:latin typeface="宋体" panose="02010600030101010101" pitchFamily="2" charset="-122"/>
                          <a:ea typeface="宋体" panose="02010600030101010101" pitchFamily="2" charset="-122"/>
                        </a:rPr>
                        <a:t>）变量</a:t>
                      </a:r>
                      <a:endParaRPr lang="zh-CN" alt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176221003"/>
                  </a:ext>
                </a:extLst>
              </a:tr>
              <a:tr h="192881">
                <a:tc>
                  <a:txBody>
                    <a:bodyPr/>
                    <a:lstStyle/>
                    <a:p>
                      <a:pPr>
                        <a:spcAft>
                          <a:spcPts val="0"/>
                        </a:spcAft>
                      </a:pPr>
                      <a:r>
                        <a:rPr lang="en-US" sz="1800" b="1" dirty="0">
                          <a:solidFill>
                            <a:schemeClr val="bg2"/>
                          </a:solidFill>
                          <a:effectLst/>
                        </a:rPr>
                        <a:t>real4</a:t>
                      </a: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 </a:t>
                      </a: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4</a:t>
                      </a:r>
                      <a:endParaRPr lang="en-US" sz="1600" b="1" dirty="0">
                        <a:solidFill>
                          <a:schemeClr val="bg2"/>
                        </a:solidFill>
                        <a:effectLst/>
                      </a:endParaRP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单精度浮点数变量，初始化要用实数 </a:t>
                      </a:r>
                      <a:endParaRPr lang="zh-CN" alt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2549852196"/>
                  </a:ext>
                </a:extLst>
              </a:tr>
              <a:tr h="192881">
                <a:tc>
                  <a:txBody>
                    <a:bodyPr/>
                    <a:lstStyle/>
                    <a:p>
                      <a:pPr>
                        <a:spcAft>
                          <a:spcPts val="0"/>
                        </a:spcAft>
                      </a:pPr>
                      <a:r>
                        <a:rPr lang="en-US" sz="1800" b="1" dirty="0">
                          <a:solidFill>
                            <a:schemeClr val="bg2"/>
                          </a:solidFill>
                          <a:effectLst/>
                        </a:rPr>
                        <a:t>real8</a:t>
                      </a: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 </a:t>
                      </a:r>
                    </a:p>
                  </a:txBody>
                  <a:tcPr marL="48220" marR="0" marT="0" marB="0">
                    <a:lnL>
                      <a:noFill/>
                    </a:lnL>
                    <a:lnR>
                      <a:noFill/>
                    </a:lnR>
                    <a:lnT>
                      <a:noFill/>
                    </a:lnT>
                    <a:lnB>
                      <a:noFill/>
                    </a:lnB>
                  </a:tcPr>
                </a:tc>
                <a:tc>
                  <a:txBody>
                    <a:bodyPr/>
                    <a:lstStyle/>
                    <a:p>
                      <a:pPr>
                        <a:spcAft>
                          <a:spcPts val="0"/>
                        </a:spcAft>
                      </a:pPr>
                      <a:r>
                        <a:rPr lang="en-US" sz="1800" b="1" dirty="0">
                          <a:solidFill>
                            <a:schemeClr val="bg2"/>
                          </a:solidFill>
                          <a:effectLst/>
                        </a:rPr>
                        <a:t>8</a:t>
                      </a:r>
                    </a:p>
                  </a:txBody>
                  <a:tcPr marL="48220" marR="0" marT="0" marB="0">
                    <a:lnL>
                      <a:noFill/>
                    </a:lnL>
                    <a:lnR>
                      <a:noFill/>
                    </a:lnR>
                    <a:lnT>
                      <a:noFill/>
                    </a:lnT>
                    <a:lnB>
                      <a:noFill/>
                    </a:lnB>
                  </a:tcPr>
                </a:tc>
                <a:tc>
                  <a:txBody>
                    <a:bodyPr/>
                    <a:lstStyle/>
                    <a:p>
                      <a:pPr>
                        <a:spcAft>
                          <a:spcPts val="0"/>
                        </a:spcAft>
                      </a:pPr>
                      <a:r>
                        <a:rPr lang="zh-CN" altLang="en-US" sz="1800" b="1" dirty="0">
                          <a:solidFill>
                            <a:schemeClr val="bg2"/>
                          </a:solidFill>
                          <a:effectLst/>
                          <a:latin typeface="宋体" panose="02010600030101010101" pitchFamily="2" charset="-122"/>
                          <a:ea typeface="宋体" panose="02010600030101010101" pitchFamily="2" charset="-122"/>
                        </a:rPr>
                        <a:t>双精度浮点数变量，同上</a:t>
                      </a:r>
                      <a:endParaRPr lang="zh-CN" altLang="en-US" sz="1800" b="1" dirty="0">
                        <a:solidFill>
                          <a:schemeClr val="bg2"/>
                        </a:solidFill>
                        <a:effectLst/>
                      </a:endParaRPr>
                    </a:p>
                  </a:txBody>
                  <a:tcPr marL="48220" marR="0" marT="0" marB="0">
                    <a:lnL>
                      <a:noFill/>
                    </a:lnL>
                    <a:lnR>
                      <a:noFill/>
                    </a:lnR>
                    <a:lnT>
                      <a:noFill/>
                    </a:lnT>
                    <a:lnB>
                      <a:noFill/>
                    </a:lnB>
                  </a:tcPr>
                </a:tc>
                <a:extLst>
                  <a:ext uri="{0D108BD9-81ED-4DB2-BD59-A6C34878D82A}">
                    <a16:rowId xmlns:a16="http://schemas.microsoft.com/office/drawing/2014/main" val="900347608"/>
                  </a:ext>
                </a:extLst>
              </a:tr>
              <a:tr h="192881">
                <a:tc>
                  <a:txBody>
                    <a:bodyPr/>
                    <a:lstStyle/>
                    <a:p>
                      <a:pPr>
                        <a:spcAft>
                          <a:spcPts val="0"/>
                        </a:spcAft>
                      </a:pPr>
                      <a:r>
                        <a:rPr lang="en-US" sz="1800" b="1" dirty="0">
                          <a:solidFill>
                            <a:schemeClr val="bg2"/>
                          </a:solidFill>
                          <a:effectLst/>
                        </a:rPr>
                        <a:t>real10</a:t>
                      </a:r>
                    </a:p>
                  </a:txBody>
                  <a:tcPr marL="4822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b="1" dirty="0">
                          <a:solidFill>
                            <a:schemeClr val="bg2"/>
                          </a:solidFill>
                          <a:effectLst/>
                        </a:rPr>
                        <a:t> </a:t>
                      </a:r>
                    </a:p>
                  </a:txBody>
                  <a:tcPr marL="4822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b="1" dirty="0">
                          <a:solidFill>
                            <a:schemeClr val="bg2"/>
                          </a:solidFill>
                          <a:effectLst/>
                        </a:rPr>
                        <a:t>10</a:t>
                      </a:r>
                    </a:p>
                  </a:txBody>
                  <a:tcPr marL="4822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spcAft>
                          <a:spcPts val="0"/>
                        </a:spcAft>
                      </a:pPr>
                      <a:r>
                        <a:rPr lang="en-US" altLang="zh-CN" sz="1800" b="1" dirty="0">
                          <a:solidFill>
                            <a:schemeClr val="bg2"/>
                          </a:solidFill>
                          <a:effectLst/>
                        </a:rPr>
                        <a:t>10</a:t>
                      </a:r>
                      <a:r>
                        <a:rPr lang="zh-CN" altLang="en-US" sz="1800" b="1" dirty="0">
                          <a:solidFill>
                            <a:schemeClr val="bg2"/>
                          </a:solidFill>
                          <a:effectLst/>
                          <a:latin typeface="宋体" panose="02010600030101010101" pitchFamily="2" charset="-122"/>
                          <a:ea typeface="宋体" panose="02010600030101010101" pitchFamily="2" charset="-122"/>
                        </a:rPr>
                        <a:t>字节浮点数变量，同上</a:t>
                      </a:r>
                      <a:endParaRPr lang="zh-CN" altLang="en-US" sz="1800" b="1" dirty="0">
                        <a:solidFill>
                          <a:schemeClr val="bg2"/>
                        </a:solidFill>
                        <a:effectLst/>
                      </a:endParaRPr>
                    </a:p>
                  </a:txBody>
                  <a:tcPr marL="48220" marR="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8569643"/>
                  </a:ext>
                </a:extLst>
              </a:tr>
            </a:tbl>
          </a:graphicData>
        </a:graphic>
      </p:graphicFrame>
      <p:sp>
        <p:nvSpPr>
          <p:cNvPr id="8" name="文本框 7"/>
          <p:cNvSpPr txBox="1"/>
          <p:nvPr/>
        </p:nvSpPr>
        <p:spPr>
          <a:xfrm>
            <a:off x="539552" y="1157409"/>
            <a:ext cx="4248472" cy="430887"/>
          </a:xfrm>
          <a:prstGeom prst="rect">
            <a:avLst/>
          </a:prstGeom>
          <a:noFill/>
        </p:spPr>
        <p:txBody>
          <a:bodyPr wrap="square" rtlCol="0">
            <a:spAutoFit/>
          </a:bodyPr>
          <a:lstStyle/>
          <a:p>
            <a:r>
              <a:rPr lang="zh-CN" altLang="en-US" sz="2200" b="1" dirty="0">
                <a:solidFill>
                  <a:srgbClr val="0066FF"/>
                </a:solidFill>
              </a:rPr>
              <a:t>全局变量定义伪指令格式：</a:t>
            </a:r>
          </a:p>
        </p:txBody>
      </p:sp>
    </p:spTree>
    <p:extLst>
      <p:ext uri="{BB962C8B-B14F-4D97-AF65-F5344CB8AC3E}">
        <p14:creationId xmlns:p14="http://schemas.microsoft.com/office/powerpoint/2010/main" val="257488266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par>
                          <p:cTn id="26" fill="hold">
                            <p:stCondLst>
                              <p:cond delay="500"/>
                            </p:stCondLst>
                            <p:childTnLst>
                              <p:par>
                                <p:cTn id="27" presetID="22" presetClass="entr" presetSubtype="4"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p:bldP spid="4" grpId="0"/>
      <p:bldP spid="6"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6EA88DE2-1972-4554-B51B-C1E526CBACCA}" type="slidenum">
              <a:rPr lang="en-US" altLang="zh-CN" sz="1400">
                <a:solidFill>
                  <a:schemeClr val="bg2"/>
                </a:solidFill>
              </a:rPr>
              <a:pPr algn="r" eaLnBrk="1" hangingPunct="1"/>
              <a:t>14</a:t>
            </a:fld>
            <a:endParaRPr lang="en-US" altLang="zh-CN" sz="1400">
              <a:solidFill>
                <a:schemeClr val="bg2"/>
              </a:solidFill>
            </a:endParaRPr>
          </a:p>
        </p:txBody>
      </p:sp>
      <p:sp>
        <p:nvSpPr>
          <p:cNvPr id="22532" name="Rectangle 5"/>
          <p:cNvSpPr>
            <a:spLocks noChangeArrowheads="1"/>
          </p:cNvSpPr>
          <p:nvPr/>
        </p:nvSpPr>
        <p:spPr bwMode="auto">
          <a:xfrm>
            <a:off x="415810" y="212685"/>
            <a:ext cx="8066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t>其中表达式</a:t>
            </a:r>
            <a:r>
              <a:rPr lang="en-US" altLang="zh-CN" sz="2400" b="1" dirty="0"/>
              <a:t>1</a:t>
            </a:r>
            <a:r>
              <a:rPr lang="zh-CN" altLang="en-US" sz="2400" b="1" dirty="0"/>
              <a:t>、表达式</a:t>
            </a:r>
            <a:r>
              <a:rPr lang="en-US" altLang="zh-CN" sz="2400" b="1" dirty="0"/>
              <a:t>2……</a:t>
            </a:r>
            <a:r>
              <a:rPr lang="zh-CN" altLang="en-US" sz="2400" b="1" dirty="0"/>
              <a:t>是给存储单元赋的初值。</a:t>
            </a:r>
          </a:p>
        </p:txBody>
      </p:sp>
      <p:grpSp>
        <p:nvGrpSpPr>
          <p:cNvPr id="22537" name="Group 9"/>
          <p:cNvGrpSpPr>
            <a:grpSpLocks/>
          </p:cNvGrpSpPr>
          <p:nvPr/>
        </p:nvGrpSpPr>
        <p:grpSpPr bwMode="auto">
          <a:xfrm>
            <a:off x="723106" y="594760"/>
            <a:ext cx="6096000" cy="2014537"/>
            <a:chOff x="0" y="0"/>
            <a:chExt cx="3840" cy="1269"/>
          </a:xfrm>
        </p:grpSpPr>
        <p:sp>
          <p:nvSpPr>
            <p:cNvPr id="22538" name="Rectangle 4"/>
            <p:cNvSpPr>
              <a:spLocks noChangeArrowheads="1"/>
            </p:cNvSpPr>
            <p:nvPr/>
          </p:nvSpPr>
          <p:spPr bwMode="auto">
            <a:xfrm>
              <a:off x="0" y="0"/>
              <a:ext cx="7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t>例如：</a:t>
              </a:r>
            </a:p>
          </p:txBody>
        </p:sp>
        <p:sp>
          <p:nvSpPr>
            <p:cNvPr id="22539" name="Text Box 8"/>
            <p:cNvSpPr txBox="1">
              <a:spLocks noChangeArrowheads="1"/>
            </p:cNvSpPr>
            <p:nvPr/>
          </p:nvSpPr>
          <p:spPr bwMode="auto">
            <a:xfrm>
              <a:off x="672" y="48"/>
              <a:ext cx="3168" cy="1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.DATA</a:t>
              </a:r>
              <a:br>
                <a:rPr lang="en-US" altLang="zh-CN" sz="2400" b="1" dirty="0">
                  <a:solidFill>
                    <a:schemeClr val="bg2"/>
                  </a:solidFill>
                </a:rPr>
              </a:br>
              <a:r>
                <a:rPr lang="en-US" altLang="zh-CN" sz="2400" b="1" dirty="0">
                  <a:solidFill>
                    <a:srgbClr val="FF0000"/>
                  </a:solidFill>
                </a:rPr>
                <a:t>DATA1    BYTE   12H</a:t>
              </a:r>
              <a:br>
                <a:rPr lang="en-US" altLang="zh-CN" sz="2400" b="1" dirty="0">
                  <a:solidFill>
                    <a:srgbClr val="FF0000"/>
                  </a:solidFill>
                </a:rPr>
              </a:br>
              <a:r>
                <a:rPr lang="en-US" altLang="zh-CN" sz="2400" b="1" dirty="0">
                  <a:solidFill>
                    <a:srgbClr val="FF0000"/>
                  </a:solidFill>
                </a:rPr>
                <a:t>DATA2    DB      20H,30H</a:t>
              </a:r>
              <a:br>
                <a:rPr lang="en-US" altLang="zh-CN" sz="2400" b="1" dirty="0">
                  <a:solidFill>
                    <a:srgbClr val="FF0000"/>
                  </a:solidFill>
                </a:rPr>
              </a:br>
              <a:r>
                <a:rPr lang="en-US" altLang="zh-CN" sz="2400" b="1" dirty="0">
                  <a:solidFill>
                    <a:srgbClr val="FF0000"/>
                  </a:solidFill>
                </a:rPr>
                <a:t>DATA3    WORD    5678H</a:t>
              </a:r>
              <a:br>
                <a:rPr lang="en-US" altLang="zh-CN" sz="2400" b="1" dirty="0">
                  <a:solidFill>
                    <a:srgbClr val="FF0000"/>
                  </a:solidFill>
                </a:rPr>
              </a:br>
              <a:endParaRPr lang="en-US" altLang="zh-CN" sz="2400" b="1" dirty="0">
                <a:solidFill>
                  <a:schemeClr val="bg2"/>
                </a:solidFill>
              </a:endParaRPr>
            </a:p>
          </p:txBody>
        </p:sp>
      </p:grpSp>
      <p:sp>
        <p:nvSpPr>
          <p:cNvPr id="12" name="Rectangle 3"/>
          <p:cNvSpPr>
            <a:spLocks noChangeArrowheads="1"/>
          </p:cNvSpPr>
          <p:nvPr/>
        </p:nvSpPr>
        <p:spPr bwMode="auto">
          <a:xfrm>
            <a:off x="611522" y="2191599"/>
            <a:ext cx="6062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t>当变量被定义后，就具有了以下三个属性：</a:t>
            </a:r>
          </a:p>
        </p:txBody>
      </p:sp>
      <p:sp>
        <p:nvSpPr>
          <p:cNvPr id="13" name="Rectangle 4"/>
          <p:cNvSpPr>
            <a:spLocks noChangeArrowheads="1"/>
          </p:cNvSpPr>
          <p:nvPr/>
        </p:nvSpPr>
        <p:spPr bwMode="auto">
          <a:xfrm>
            <a:off x="874458" y="2690699"/>
            <a:ext cx="3858455"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1</a:t>
            </a:r>
            <a:r>
              <a:rPr lang="zh-CN" altLang="en-US" sz="2400" b="1" dirty="0">
                <a:solidFill>
                  <a:schemeClr val="bg2"/>
                </a:solidFill>
              </a:rPr>
              <a:t>）段属性</a:t>
            </a:r>
            <a:r>
              <a:rPr lang="en-US" altLang="zh-CN" sz="2400" b="1" dirty="0">
                <a:solidFill>
                  <a:schemeClr val="bg2"/>
                </a:solidFill>
              </a:rPr>
              <a:t>(SEGMENT)</a:t>
            </a:r>
            <a:endParaRPr lang="zh-CN" altLang="en-US" sz="2400" b="1" dirty="0">
              <a:solidFill>
                <a:schemeClr val="bg2"/>
              </a:solidFill>
            </a:endParaRPr>
          </a:p>
        </p:txBody>
      </p:sp>
      <p:sp>
        <p:nvSpPr>
          <p:cNvPr id="14" name="Rectangle 5"/>
          <p:cNvSpPr>
            <a:spLocks noChangeArrowheads="1"/>
          </p:cNvSpPr>
          <p:nvPr/>
        </p:nvSpPr>
        <p:spPr bwMode="auto">
          <a:xfrm>
            <a:off x="874458" y="3189799"/>
            <a:ext cx="4895899" cy="4572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t>它表示变量存放在哪一个逻辑段中</a:t>
            </a:r>
          </a:p>
        </p:txBody>
      </p:sp>
      <p:sp>
        <p:nvSpPr>
          <p:cNvPr id="15" name="Rectangle 8"/>
          <p:cNvSpPr>
            <a:spLocks noChangeArrowheads="1"/>
          </p:cNvSpPr>
          <p:nvPr/>
        </p:nvSpPr>
        <p:spPr bwMode="auto">
          <a:xfrm>
            <a:off x="723106" y="3711047"/>
            <a:ext cx="8001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000" b="1" dirty="0"/>
              <a:t>例如上面例子中的变量</a:t>
            </a:r>
            <a:r>
              <a:rPr lang="en-US" altLang="zh-CN" sz="2000" b="1" dirty="0"/>
              <a:t>DATA1</a:t>
            </a:r>
            <a:r>
              <a:rPr lang="zh-CN" altLang="en-US" sz="2000" b="1" dirty="0"/>
              <a:t>、</a:t>
            </a:r>
            <a:r>
              <a:rPr lang="en-US" altLang="zh-CN" sz="2000" b="1" dirty="0"/>
              <a:t>DATA2</a:t>
            </a:r>
            <a:r>
              <a:rPr lang="zh-CN" altLang="en-US" sz="2000" b="1" dirty="0"/>
              <a:t>和</a:t>
            </a:r>
            <a:r>
              <a:rPr lang="en-US" altLang="zh-CN" sz="2000" b="1" dirty="0"/>
              <a:t>DATA3</a:t>
            </a:r>
            <a:r>
              <a:rPr lang="zh-CN" altLang="en-US" sz="2000" b="1" dirty="0"/>
              <a:t>三个变量都存放在数据段中。</a:t>
            </a:r>
          </a:p>
        </p:txBody>
      </p:sp>
      <p:sp>
        <p:nvSpPr>
          <p:cNvPr id="11" name="Rectangle 2"/>
          <p:cNvSpPr>
            <a:spLocks noChangeArrowheads="1"/>
          </p:cNvSpPr>
          <p:nvPr/>
        </p:nvSpPr>
        <p:spPr bwMode="auto">
          <a:xfrm>
            <a:off x="874458" y="4914322"/>
            <a:ext cx="6153629" cy="430887"/>
          </a:xfrm>
          <a:prstGeom prst="rect">
            <a:avLst/>
          </a:prstGeom>
          <a:solidFill>
            <a:schemeClr val="accent2"/>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200" b="1" dirty="0"/>
              <a:t>表示变量所在位置与段起始点之间的字节数</a:t>
            </a:r>
          </a:p>
        </p:txBody>
      </p:sp>
      <p:sp>
        <p:nvSpPr>
          <p:cNvPr id="16" name="Rectangle 6"/>
          <p:cNvSpPr>
            <a:spLocks noChangeArrowheads="1"/>
          </p:cNvSpPr>
          <p:nvPr/>
        </p:nvSpPr>
        <p:spPr bwMode="auto">
          <a:xfrm>
            <a:off x="874458" y="4366228"/>
            <a:ext cx="4318811"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2</a:t>
            </a:r>
            <a:r>
              <a:rPr lang="zh-CN" altLang="en-US" sz="2400" b="1" dirty="0">
                <a:solidFill>
                  <a:schemeClr val="bg2"/>
                </a:solidFill>
              </a:rPr>
              <a:t>）偏移量属性（</a:t>
            </a:r>
            <a:r>
              <a:rPr lang="en-US" altLang="zh-CN" sz="2400" b="1" dirty="0">
                <a:solidFill>
                  <a:schemeClr val="bg2"/>
                </a:solidFill>
              </a:rPr>
              <a:t>OFFSET</a:t>
            </a:r>
            <a:r>
              <a:rPr lang="zh-CN" altLang="en-US" sz="2400" b="1" dirty="0">
                <a:solidFill>
                  <a:schemeClr val="bg2"/>
                </a:solidFill>
              </a:rPr>
              <a:t>）</a:t>
            </a:r>
          </a:p>
        </p:txBody>
      </p:sp>
      <p:sp>
        <p:nvSpPr>
          <p:cNvPr id="17" name="Rectangle 7"/>
          <p:cNvSpPr>
            <a:spLocks noChangeArrowheads="1"/>
          </p:cNvSpPr>
          <p:nvPr/>
        </p:nvSpPr>
        <p:spPr bwMode="auto">
          <a:xfrm>
            <a:off x="726069" y="6338417"/>
            <a:ext cx="6366212" cy="461665"/>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latin typeface="宋体" pitchFamily="2" charset="-122"/>
              </a:rPr>
              <a:t>段属性</a:t>
            </a:r>
            <a:r>
              <a:rPr lang="zh-CN" altLang="en-US" sz="2400" b="1" dirty="0">
                <a:latin typeface="宋体" pitchFamily="2" charset="-122"/>
              </a:rPr>
              <a:t>和</a:t>
            </a:r>
            <a:r>
              <a:rPr lang="zh-CN" altLang="en-US" sz="2400" b="1" dirty="0">
                <a:solidFill>
                  <a:schemeClr val="hlink"/>
                </a:solidFill>
                <a:latin typeface="宋体" pitchFamily="2" charset="-122"/>
              </a:rPr>
              <a:t>偏移量属性</a:t>
            </a:r>
            <a:r>
              <a:rPr lang="zh-CN" altLang="en-US" sz="2400" b="1" dirty="0">
                <a:latin typeface="宋体" pitchFamily="2" charset="-122"/>
              </a:rPr>
              <a:t>就构造了变量的逻辑地址</a:t>
            </a:r>
          </a:p>
        </p:txBody>
      </p:sp>
      <p:sp>
        <p:nvSpPr>
          <p:cNvPr id="18" name="Rectangle 9"/>
          <p:cNvSpPr>
            <a:spLocks noChangeArrowheads="1"/>
          </p:cNvSpPr>
          <p:nvPr/>
        </p:nvSpPr>
        <p:spPr bwMode="auto">
          <a:xfrm>
            <a:off x="758615" y="5403263"/>
            <a:ext cx="8001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000" b="1" dirty="0"/>
              <a:t>上例中，变量</a:t>
            </a:r>
            <a:r>
              <a:rPr lang="en-US" altLang="zh-CN" sz="2000" b="1" dirty="0"/>
              <a:t>DATA1</a:t>
            </a:r>
            <a:r>
              <a:rPr lang="zh-CN" altLang="en-US" sz="2000" b="1" dirty="0"/>
              <a:t>的偏移量为</a:t>
            </a:r>
            <a:r>
              <a:rPr lang="en-US" altLang="zh-CN" sz="2000" b="1" dirty="0"/>
              <a:t>0</a:t>
            </a:r>
            <a:r>
              <a:rPr lang="zh-CN" altLang="en-US" sz="2000" b="1" dirty="0"/>
              <a:t>，</a:t>
            </a:r>
            <a:r>
              <a:rPr lang="en-US" altLang="zh-CN" sz="2000" b="1" dirty="0"/>
              <a:t>DATA2</a:t>
            </a:r>
            <a:r>
              <a:rPr lang="zh-CN" altLang="en-US" sz="2000" b="1" dirty="0"/>
              <a:t>为</a:t>
            </a:r>
            <a:r>
              <a:rPr lang="en-US" altLang="zh-CN" sz="2000" b="1" dirty="0"/>
              <a:t>1</a:t>
            </a:r>
            <a:r>
              <a:rPr lang="zh-CN" altLang="en-US" sz="2000" b="1" dirty="0"/>
              <a:t>，</a:t>
            </a:r>
            <a:r>
              <a:rPr lang="en-US" altLang="zh-CN" sz="2000" b="1" dirty="0"/>
              <a:t>DATA3</a:t>
            </a:r>
            <a:r>
              <a:rPr lang="zh-CN" altLang="en-US" sz="2000" b="1" dirty="0"/>
              <a:t>为</a:t>
            </a:r>
            <a:r>
              <a:rPr lang="en-US" altLang="zh-CN" sz="2000" b="1" dirty="0"/>
              <a:t>3</a:t>
            </a:r>
            <a:r>
              <a:rPr lang="zh-CN" altLang="en-US" sz="2000" b="1" dirty="0"/>
              <a:t>。</a:t>
            </a:r>
            <a:endParaRPr lang="en-US" altLang="zh-CN" sz="2000" b="1" dirty="0"/>
          </a:p>
          <a:p>
            <a:pPr eaLnBrk="1" hangingPunct="1"/>
            <a:r>
              <a:rPr lang="zh-CN" altLang="en-US" sz="2000" b="1" dirty="0"/>
              <a:t>在平坦模式，由于各个逻辑段的起始地址重合，各逻辑段的数据起始地址由系统指定，因此不能用这样的方法确定。</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25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25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8">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8">
                                            <p:txEl>
                                              <p:pRg st="1" end="1"/>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utoUpdateAnimBg="0"/>
      <p:bldP spid="12" grpId="0" autoUpdateAnimBg="0"/>
      <p:bldP spid="13" grpId="0" animBg="1" autoUpdateAnimBg="0"/>
      <p:bldP spid="14" grpId="0" animBg="1" autoUpdateAnimBg="0"/>
      <p:bldP spid="15" grpId="0" autoUpdateAnimBg="0"/>
      <p:bldP spid="11" grpId="0" animBg="1" autoUpdateAnimBg="0"/>
      <p:bldP spid="16" grpId="0" animBg="1" autoUpdateAnimBg="0"/>
      <p:bldP spid="17" grpId="0" animBg="1" autoUpdateAnimBg="0"/>
      <p:bldP spid="18"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CE73F761-F78A-4509-9825-9FD96ACFD2DB}" type="slidenum">
              <a:rPr lang="en-US" altLang="zh-CN" sz="1400">
                <a:solidFill>
                  <a:schemeClr val="bg2"/>
                </a:solidFill>
              </a:rPr>
              <a:pPr algn="r" eaLnBrk="1" hangingPunct="1"/>
              <a:t>15</a:t>
            </a:fld>
            <a:endParaRPr lang="en-US" altLang="zh-CN" sz="1400">
              <a:solidFill>
                <a:schemeClr val="bg2"/>
              </a:solidFill>
            </a:endParaRPr>
          </a:p>
        </p:txBody>
      </p:sp>
      <p:sp>
        <p:nvSpPr>
          <p:cNvPr id="11" name="Rectangle 2"/>
          <p:cNvSpPr>
            <a:spLocks noChangeArrowheads="1"/>
          </p:cNvSpPr>
          <p:nvPr/>
        </p:nvSpPr>
        <p:spPr bwMode="auto">
          <a:xfrm>
            <a:off x="509252" y="753835"/>
            <a:ext cx="4680520" cy="46166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Aft>
                <a:spcPts val="600"/>
              </a:spcAft>
              <a:buClr>
                <a:srgbClr val="C00000"/>
              </a:buClr>
            </a:pPr>
            <a:r>
              <a:rPr lang="zh-CN" altLang="en-US" sz="2400" b="1" dirty="0">
                <a:solidFill>
                  <a:schemeClr val="bg2"/>
                </a:solidFill>
              </a:rPr>
              <a:t>表示变量占用存储单元的字节数</a:t>
            </a:r>
            <a:endParaRPr lang="en-US" altLang="zh-CN" sz="2400" b="1" dirty="0">
              <a:solidFill>
                <a:schemeClr val="bg2"/>
              </a:solidFill>
            </a:endParaRPr>
          </a:p>
        </p:txBody>
      </p:sp>
      <p:sp>
        <p:nvSpPr>
          <p:cNvPr id="12" name="Rectangle 3"/>
          <p:cNvSpPr>
            <a:spLocks noChangeArrowheads="1"/>
          </p:cNvSpPr>
          <p:nvPr/>
        </p:nvSpPr>
        <p:spPr bwMode="auto">
          <a:xfrm>
            <a:off x="467544" y="260648"/>
            <a:ext cx="2194832"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3</a:t>
            </a:r>
            <a:r>
              <a:rPr lang="zh-CN" altLang="en-US" sz="2400" b="1" dirty="0">
                <a:solidFill>
                  <a:schemeClr val="bg2"/>
                </a:solidFill>
              </a:rPr>
              <a:t>）类型属性</a:t>
            </a:r>
          </a:p>
        </p:txBody>
      </p:sp>
      <p:sp>
        <p:nvSpPr>
          <p:cNvPr id="13" name="Rectangle 2"/>
          <p:cNvSpPr>
            <a:spLocks noChangeArrowheads="1"/>
          </p:cNvSpPr>
          <p:nvPr/>
        </p:nvSpPr>
        <p:spPr bwMode="auto">
          <a:xfrm>
            <a:off x="551218" y="1247022"/>
            <a:ext cx="5433842" cy="2769989"/>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Aft>
                <a:spcPts val="600"/>
              </a:spcAft>
              <a:buClr>
                <a:srgbClr val="C00000"/>
              </a:buClr>
            </a:pPr>
            <a:r>
              <a:rPr lang="zh-CN" altLang="en-US" sz="2400" b="1" dirty="0">
                <a:solidFill>
                  <a:schemeClr val="bg2"/>
                </a:solidFill>
              </a:rPr>
              <a:t>例如</a:t>
            </a:r>
            <a:endParaRPr lang="en-US" altLang="zh-CN" sz="2400" b="1" dirty="0">
              <a:solidFill>
                <a:schemeClr val="bg2"/>
              </a:solidFill>
            </a:endParaRPr>
          </a:p>
          <a:p>
            <a:pPr marL="342900" indent="-342900" eaLnBrk="1" hangingPunct="1">
              <a:spcAft>
                <a:spcPts val="600"/>
              </a:spcAft>
              <a:buClr>
                <a:srgbClr val="C00000"/>
              </a:buClr>
              <a:buFont typeface="Wingdings" panose="05000000000000000000" pitchFamily="2" charset="2"/>
              <a:buChar char="u"/>
            </a:pPr>
            <a:r>
              <a:rPr lang="en-US" altLang="zh-CN" sz="2400" b="1" dirty="0">
                <a:solidFill>
                  <a:schemeClr val="bg2"/>
                </a:solidFill>
              </a:rPr>
              <a:t>BYTE</a:t>
            </a:r>
            <a:r>
              <a:rPr lang="zh-CN" altLang="en-US" sz="2400" b="1" dirty="0">
                <a:solidFill>
                  <a:schemeClr val="bg2"/>
                </a:solidFill>
              </a:rPr>
              <a:t>指令定义的变量为</a:t>
            </a:r>
            <a:r>
              <a:rPr lang="en-US" altLang="zh-CN" sz="2400" b="1" dirty="0">
                <a:solidFill>
                  <a:schemeClr val="bg2"/>
                </a:solidFill>
              </a:rPr>
              <a:t>1</a:t>
            </a:r>
            <a:r>
              <a:rPr lang="zh-CN" altLang="en-US" sz="2400" b="1" dirty="0">
                <a:solidFill>
                  <a:schemeClr val="bg2"/>
                </a:solidFill>
              </a:rPr>
              <a:t>字节</a:t>
            </a:r>
            <a:endParaRPr lang="en-US" altLang="zh-CN" sz="2400" b="1" dirty="0">
              <a:solidFill>
                <a:schemeClr val="bg2"/>
              </a:solidFill>
            </a:endParaRPr>
          </a:p>
          <a:p>
            <a:pPr marL="342900" indent="-342900" eaLnBrk="1" hangingPunct="1">
              <a:spcAft>
                <a:spcPts val="1200"/>
              </a:spcAft>
              <a:buClr>
                <a:srgbClr val="C00000"/>
              </a:buClr>
              <a:buFont typeface="Wingdings" panose="05000000000000000000" pitchFamily="2" charset="2"/>
              <a:buChar char="u"/>
            </a:pPr>
            <a:r>
              <a:rPr lang="en-US" altLang="zh-CN" sz="2400" b="1" dirty="0">
                <a:solidFill>
                  <a:schemeClr val="bg2"/>
                </a:solidFill>
              </a:rPr>
              <a:t>WORD</a:t>
            </a:r>
            <a:r>
              <a:rPr lang="zh-CN" altLang="en-US" sz="2400" b="1" dirty="0">
                <a:solidFill>
                  <a:schemeClr val="bg2"/>
                </a:solidFill>
              </a:rPr>
              <a:t>定义的变量为字（</a:t>
            </a:r>
            <a:r>
              <a:rPr lang="en-US" altLang="zh-CN" sz="2400" b="1" dirty="0">
                <a:solidFill>
                  <a:schemeClr val="bg2"/>
                </a:solidFill>
              </a:rPr>
              <a:t>2</a:t>
            </a:r>
            <a:r>
              <a:rPr lang="zh-CN" altLang="en-US" sz="2400" b="1" dirty="0">
                <a:solidFill>
                  <a:schemeClr val="bg2"/>
                </a:solidFill>
              </a:rPr>
              <a:t>字节）</a:t>
            </a:r>
            <a:endParaRPr lang="en-US" altLang="zh-CN" sz="2400" b="1" dirty="0">
              <a:solidFill>
                <a:schemeClr val="bg2"/>
              </a:solidFill>
            </a:endParaRPr>
          </a:p>
          <a:p>
            <a:pPr marL="342900" indent="-342900" eaLnBrk="1" hangingPunct="1">
              <a:spcAft>
                <a:spcPts val="600"/>
              </a:spcAft>
              <a:buClr>
                <a:srgbClr val="C00000"/>
              </a:buClr>
              <a:buFont typeface="Wingdings" panose="05000000000000000000" pitchFamily="2" charset="2"/>
              <a:buChar char="u"/>
            </a:pPr>
            <a:r>
              <a:rPr lang="en-US" altLang="zh-CN" sz="2400" b="1" dirty="0">
                <a:solidFill>
                  <a:schemeClr val="bg2"/>
                </a:solidFill>
              </a:rPr>
              <a:t>DWORD</a:t>
            </a:r>
            <a:r>
              <a:rPr lang="zh-CN" altLang="en-US" sz="2400" b="1" dirty="0">
                <a:solidFill>
                  <a:schemeClr val="bg2"/>
                </a:solidFill>
              </a:rPr>
              <a:t>定义的为双字（</a:t>
            </a:r>
            <a:r>
              <a:rPr lang="en-US" altLang="zh-CN" sz="2400" b="1" dirty="0">
                <a:solidFill>
                  <a:schemeClr val="bg2"/>
                </a:solidFill>
              </a:rPr>
              <a:t>4</a:t>
            </a:r>
            <a:r>
              <a:rPr lang="zh-CN" altLang="en-US" sz="2400" b="1" dirty="0">
                <a:solidFill>
                  <a:schemeClr val="bg2"/>
                </a:solidFill>
              </a:rPr>
              <a:t>字节）</a:t>
            </a:r>
            <a:endParaRPr lang="en-US" altLang="zh-CN" sz="2400" b="1" dirty="0">
              <a:solidFill>
                <a:schemeClr val="bg2"/>
              </a:solidFill>
            </a:endParaRPr>
          </a:p>
          <a:p>
            <a:pPr marL="342900" indent="-342900" eaLnBrk="1" hangingPunct="1">
              <a:spcAft>
                <a:spcPts val="600"/>
              </a:spcAft>
              <a:buClr>
                <a:srgbClr val="C00000"/>
              </a:buClr>
              <a:buFont typeface="Wingdings" panose="05000000000000000000" pitchFamily="2" charset="2"/>
              <a:buChar char="u"/>
            </a:pPr>
            <a:r>
              <a:rPr lang="en-US" altLang="zh-CN" sz="2400" b="1" dirty="0">
                <a:solidFill>
                  <a:schemeClr val="bg2"/>
                </a:solidFill>
              </a:rPr>
              <a:t>DQ</a:t>
            </a:r>
            <a:r>
              <a:rPr lang="zh-CN" altLang="en-US" sz="2400" b="1" dirty="0">
                <a:solidFill>
                  <a:schemeClr val="bg2"/>
                </a:solidFill>
              </a:rPr>
              <a:t>定义的为</a:t>
            </a:r>
            <a:r>
              <a:rPr lang="en-US" altLang="zh-CN" sz="2400" b="1" dirty="0">
                <a:solidFill>
                  <a:schemeClr val="bg2"/>
                </a:solidFill>
              </a:rPr>
              <a:t>4</a:t>
            </a:r>
            <a:r>
              <a:rPr lang="zh-CN" altLang="en-US" sz="2400" b="1" dirty="0">
                <a:solidFill>
                  <a:schemeClr val="bg2"/>
                </a:solidFill>
              </a:rPr>
              <a:t>字（</a:t>
            </a:r>
            <a:r>
              <a:rPr lang="en-US" altLang="zh-CN" sz="2400" b="1" dirty="0">
                <a:solidFill>
                  <a:schemeClr val="bg2"/>
                </a:solidFill>
              </a:rPr>
              <a:t>8</a:t>
            </a:r>
            <a:r>
              <a:rPr lang="zh-CN" altLang="en-US" sz="2400" b="1" dirty="0">
                <a:solidFill>
                  <a:schemeClr val="bg2"/>
                </a:solidFill>
              </a:rPr>
              <a:t>字节）</a:t>
            </a:r>
            <a:endParaRPr lang="en-US" altLang="zh-CN" sz="2400" b="1" dirty="0">
              <a:solidFill>
                <a:schemeClr val="bg2"/>
              </a:solidFill>
            </a:endParaRPr>
          </a:p>
          <a:p>
            <a:pPr marL="342900" indent="-342900" eaLnBrk="1" hangingPunct="1">
              <a:spcAft>
                <a:spcPts val="600"/>
              </a:spcAft>
              <a:buClr>
                <a:srgbClr val="C00000"/>
              </a:buClr>
              <a:buFont typeface="Wingdings" panose="05000000000000000000" pitchFamily="2" charset="2"/>
              <a:buChar char="u"/>
            </a:pPr>
            <a:r>
              <a:rPr lang="en-US" altLang="zh-CN" sz="2400" b="1" dirty="0">
                <a:solidFill>
                  <a:schemeClr val="bg2"/>
                </a:solidFill>
              </a:rPr>
              <a:t>DT</a:t>
            </a:r>
            <a:r>
              <a:rPr lang="zh-CN" altLang="en-US" sz="2400" b="1" dirty="0">
                <a:solidFill>
                  <a:schemeClr val="bg2"/>
                </a:solidFill>
              </a:rPr>
              <a:t>定义的为</a:t>
            </a:r>
            <a:r>
              <a:rPr lang="en-US" altLang="zh-CN" sz="2400" b="1" dirty="0">
                <a:solidFill>
                  <a:schemeClr val="bg2"/>
                </a:solidFill>
              </a:rPr>
              <a:t>5</a:t>
            </a:r>
            <a:r>
              <a:rPr lang="zh-CN" altLang="en-US" sz="2400" b="1" dirty="0">
                <a:solidFill>
                  <a:schemeClr val="bg2"/>
                </a:solidFill>
              </a:rPr>
              <a:t>字（</a:t>
            </a:r>
            <a:r>
              <a:rPr lang="en-US" altLang="zh-CN" sz="2400" b="1" dirty="0">
                <a:solidFill>
                  <a:schemeClr val="bg2"/>
                </a:solidFill>
              </a:rPr>
              <a:t>10</a:t>
            </a:r>
            <a:r>
              <a:rPr lang="zh-CN" altLang="en-US" sz="2400" b="1" dirty="0">
                <a:solidFill>
                  <a:schemeClr val="bg2"/>
                </a:solidFill>
              </a:rPr>
              <a:t>字节）</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autoUpdateAnimBg="0"/>
      <p:bldP spid="12" grpId="0" animBg="1" autoUpdateAnimBg="0"/>
      <p:bldP spid="13"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9A27EAE0-3196-434F-B826-A7F63B95E3BB}" type="slidenum">
              <a:rPr lang="en-US" altLang="zh-CN" sz="1400">
                <a:solidFill>
                  <a:schemeClr val="bg2"/>
                </a:solidFill>
              </a:rPr>
              <a:pPr algn="r" eaLnBrk="1" hangingPunct="1"/>
              <a:t>16</a:t>
            </a:fld>
            <a:endParaRPr lang="en-US" altLang="zh-CN" sz="1400">
              <a:solidFill>
                <a:schemeClr val="bg2"/>
              </a:solidFill>
            </a:endParaRPr>
          </a:p>
        </p:txBody>
      </p:sp>
      <p:sp>
        <p:nvSpPr>
          <p:cNvPr id="26627" name="Rectangle 2"/>
          <p:cNvSpPr>
            <a:spLocks noChangeArrowheads="1"/>
          </p:cNvSpPr>
          <p:nvPr/>
        </p:nvSpPr>
        <p:spPr bwMode="auto">
          <a:xfrm>
            <a:off x="695109" y="3293734"/>
            <a:ext cx="8077200" cy="1200329"/>
          </a:xfrm>
          <a:prstGeom prst="rect">
            <a:avLst/>
          </a:prstGeom>
          <a:solidFill>
            <a:schemeClr val="bg1"/>
          </a:solidFill>
          <a:ln>
            <a:noFill/>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例如：</a:t>
            </a:r>
            <a:r>
              <a:rPr lang="en-US" altLang="zh-CN" sz="2400" b="1" dirty="0">
                <a:solidFill>
                  <a:schemeClr val="bg2"/>
                </a:solidFill>
              </a:rPr>
              <a:t>DA-BYTE  DB  </a:t>
            </a:r>
            <a:r>
              <a:rPr lang="zh-CN" altLang="en-US" sz="2400" b="1" dirty="0">
                <a:solidFill>
                  <a:schemeClr val="bg2"/>
                </a:solidFill>
              </a:rPr>
              <a:t>？，？，？</a:t>
            </a:r>
          </a:p>
          <a:p>
            <a:pPr eaLnBrk="1" hangingPunct="1"/>
            <a:r>
              <a:rPr lang="zh-CN" altLang="en-US" sz="2400" b="1" dirty="0">
                <a:solidFill>
                  <a:schemeClr val="bg2"/>
                </a:solidFill>
              </a:rPr>
              <a:t>表示让汇编程序分配三个字节存储单元。这些存储单元在使用之前没有赋值，则</a:t>
            </a:r>
            <a:r>
              <a:rPr lang="zh-CN" altLang="en-US" sz="2400" b="1" dirty="0">
                <a:solidFill>
                  <a:srgbClr val="FF0000"/>
                </a:solidFill>
              </a:rPr>
              <a:t>它们的值为</a:t>
            </a:r>
            <a:r>
              <a:rPr lang="en-US" altLang="zh-CN" sz="2400" b="1" dirty="0" smtClean="0">
                <a:solidFill>
                  <a:srgbClr val="FF0000"/>
                </a:solidFill>
              </a:rPr>
              <a:t>0</a:t>
            </a:r>
            <a:r>
              <a:rPr lang="zh-CN" altLang="en-US" sz="2400" b="1" dirty="0" smtClean="0">
                <a:solidFill>
                  <a:srgbClr val="FF0000"/>
                </a:solidFill>
              </a:rPr>
              <a:t>，若</a:t>
            </a:r>
            <a:r>
              <a:rPr lang="zh-CN" altLang="en-US" sz="2400" b="1" dirty="0">
                <a:solidFill>
                  <a:srgbClr val="FF0000"/>
                </a:solidFill>
              </a:rPr>
              <a:t>初值为</a:t>
            </a:r>
            <a:r>
              <a:rPr lang="en-US" altLang="zh-CN" sz="2400" b="1" dirty="0">
                <a:solidFill>
                  <a:srgbClr val="FF0000"/>
                </a:solidFill>
              </a:rPr>
              <a:t>0</a:t>
            </a:r>
            <a:r>
              <a:rPr lang="zh-CN" altLang="en-US" sz="2400" b="1" dirty="0">
                <a:solidFill>
                  <a:srgbClr val="FF0000"/>
                </a:solidFill>
              </a:rPr>
              <a:t>都可用？</a:t>
            </a:r>
            <a:r>
              <a:rPr lang="zh-CN" altLang="en-US" sz="2400" b="1" dirty="0">
                <a:solidFill>
                  <a:schemeClr val="bg2"/>
                </a:solidFill>
              </a:rPr>
              <a:t>。</a:t>
            </a:r>
          </a:p>
        </p:txBody>
      </p:sp>
      <p:sp>
        <p:nvSpPr>
          <p:cNvPr id="26629" name="Rectangle 4"/>
          <p:cNvSpPr>
            <a:spLocks noChangeArrowheads="1"/>
          </p:cNvSpPr>
          <p:nvPr/>
        </p:nvSpPr>
        <p:spPr bwMode="auto">
          <a:xfrm>
            <a:off x="550461" y="2783807"/>
            <a:ext cx="5288627"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2</a:t>
            </a:r>
            <a:r>
              <a:rPr lang="zh-CN" altLang="en-US" sz="2400" b="1" dirty="0">
                <a:solidFill>
                  <a:schemeClr val="bg2"/>
                </a:solidFill>
              </a:rPr>
              <a:t>）？表达式：</a:t>
            </a:r>
            <a:r>
              <a:rPr lang="zh-CN" altLang="en-US" sz="2400" b="1" dirty="0"/>
              <a:t>表示不特意预置初值</a:t>
            </a:r>
            <a:endParaRPr lang="zh-CN" altLang="en-US" sz="2400" b="1" dirty="0">
              <a:solidFill>
                <a:schemeClr val="bg2"/>
              </a:solidFill>
            </a:endParaRPr>
          </a:p>
        </p:txBody>
      </p:sp>
      <p:sp>
        <p:nvSpPr>
          <p:cNvPr id="26630" name="Rectangle 5"/>
          <p:cNvSpPr>
            <a:spLocks noChangeArrowheads="1"/>
          </p:cNvSpPr>
          <p:nvPr/>
        </p:nvSpPr>
        <p:spPr bwMode="auto">
          <a:xfrm>
            <a:off x="545526" y="5013176"/>
            <a:ext cx="7848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n"/>
            </a:pPr>
            <a:r>
              <a:rPr lang="zh-CN" altLang="en-US" sz="2400" b="1" dirty="0">
                <a:solidFill>
                  <a:schemeClr val="bg2"/>
                </a:solidFill>
              </a:rPr>
              <a:t>对于</a:t>
            </a:r>
            <a:r>
              <a:rPr lang="en-US" altLang="zh-CN" sz="2400" b="1" dirty="0"/>
              <a:t>DB</a:t>
            </a:r>
            <a:r>
              <a:rPr lang="zh-CN" altLang="en-US" sz="2400" b="1" dirty="0"/>
              <a:t>伪指令：</a:t>
            </a:r>
            <a:endParaRPr lang="zh-CN" altLang="en-US" sz="2400" b="1" dirty="0">
              <a:solidFill>
                <a:schemeClr val="bg2"/>
              </a:solidFill>
            </a:endParaRPr>
          </a:p>
          <a:p>
            <a:pPr marL="720000" lvl="1" indent="-342900" eaLnBrk="1" hangingPunct="1">
              <a:buClr>
                <a:srgbClr val="C00000"/>
              </a:buClr>
              <a:buFont typeface="Wingdings" panose="05000000000000000000" pitchFamily="2" charset="2"/>
              <a:buChar char="Ø"/>
            </a:pPr>
            <a:r>
              <a:rPr lang="zh-CN" altLang="en-US" sz="2400" b="1" dirty="0"/>
              <a:t>字符串用引号括起来，长度不超过</a:t>
            </a:r>
            <a:r>
              <a:rPr lang="en-US" altLang="zh-CN" sz="2400" b="1" dirty="0"/>
              <a:t>255</a:t>
            </a:r>
            <a:r>
              <a:rPr lang="zh-CN" altLang="en-US" sz="2400" b="1" dirty="0"/>
              <a:t>个字符。</a:t>
            </a:r>
            <a:endParaRPr lang="en-US" altLang="zh-CN" sz="2400" b="1" dirty="0"/>
          </a:p>
          <a:p>
            <a:pPr marL="720000" lvl="1" indent="-342900" eaLnBrk="1" hangingPunct="1">
              <a:buClr>
                <a:srgbClr val="C00000"/>
              </a:buClr>
              <a:buFont typeface="Wingdings" panose="05000000000000000000" pitchFamily="2" charset="2"/>
              <a:buChar char="Ø"/>
            </a:pPr>
            <a:r>
              <a:rPr lang="zh-CN" altLang="en-US" sz="2400" b="1" dirty="0"/>
              <a:t>字符串的每个字符分配一个字节单元，从左到右将各字符的</a:t>
            </a:r>
            <a:r>
              <a:rPr lang="en-US" altLang="zh-CN" sz="2400" b="1" dirty="0"/>
              <a:t>ASCII</a:t>
            </a:r>
            <a:r>
              <a:rPr lang="zh-CN" altLang="en-US" sz="2400" b="1" dirty="0"/>
              <a:t>码以地址递增的顺序依次存放。</a:t>
            </a:r>
          </a:p>
        </p:txBody>
      </p:sp>
      <p:sp>
        <p:nvSpPr>
          <p:cNvPr id="26631" name="Rectangle 6"/>
          <p:cNvSpPr>
            <a:spLocks noChangeArrowheads="1"/>
          </p:cNvSpPr>
          <p:nvPr/>
        </p:nvSpPr>
        <p:spPr bwMode="auto">
          <a:xfrm>
            <a:off x="548772" y="4494063"/>
            <a:ext cx="2813591"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3</a:t>
            </a:r>
            <a:r>
              <a:rPr lang="zh-CN" altLang="en-US" sz="2400" b="1" dirty="0">
                <a:solidFill>
                  <a:schemeClr val="bg2"/>
                </a:solidFill>
              </a:rPr>
              <a:t>）字符串表达式</a:t>
            </a:r>
          </a:p>
        </p:txBody>
      </p:sp>
      <p:sp>
        <p:nvSpPr>
          <p:cNvPr id="8" name="Rectangle 4"/>
          <p:cNvSpPr>
            <a:spLocks noChangeArrowheads="1"/>
          </p:cNvSpPr>
          <p:nvPr/>
        </p:nvSpPr>
        <p:spPr bwMode="auto">
          <a:xfrm>
            <a:off x="686523" y="0"/>
            <a:ext cx="71782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C00000"/>
                </a:solidFill>
              </a:rPr>
              <a:t>在变量定义语句中给变量赋初值的方式</a:t>
            </a:r>
          </a:p>
        </p:txBody>
      </p:sp>
      <p:sp>
        <p:nvSpPr>
          <p:cNvPr id="9" name="Rectangle 5"/>
          <p:cNvSpPr>
            <a:spLocks noChangeArrowheads="1"/>
          </p:cNvSpPr>
          <p:nvPr/>
        </p:nvSpPr>
        <p:spPr bwMode="auto">
          <a:xfrm>
            <a:off x="653882" y="909777"/>
            <a:ext cx="849011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t>例如：</a:t>
            </a:r>
            <a:endParaRPr lang="en-US" altLang="zh-CN" sz="2400" b="1" dirty="0"/>
          </a:p>
          <a:p>
            <a:pPr eaLnBrk="1" hangingPunct="1"/>
            <a:r>
              <a:rPr lang="en-US" altLang="zh-CN" sz="2400" b="1" dirty="0"/>
              <a:t>DAT1  DB  32</a:t>
            </a:r>
            <a:r>
              <a:rPr lang="zh-CN" altLang="en-US" sz="2400" b="1" dirty="0"/>
              <a:t>，</a:t>
            </a:r>
            <a:r>
              <a:rPr lang="en-US" altLang="zh-CN" sz="2400" b="1" dirty="0"/>
              <a:t>30H</a:t>
            </a:r>
          </a:p>
          <a:p>
            <a:pPr eaLnBrk="1" hangingPunct="1"/>
            <a:r>
              <a:rPr lang="en-US" altLang="zh-CN" sz="2400" b="1" dirty="0">
                <a:solidFill>
                  <a:srgbClr val="0066FF"/>
                </a:solidFill>
              </a:rPr>
              <a:t>; </a:t>
            </a:r>
            <a:r>
              <a:rPr lang="zh-CN" altLang="en-US" sz="2400" b="1" dirty="0" smtClean="0">
                <a:solidFill>
                  <a:srgbClr val="0066FF"/>
                </a:solidFill>
              </a:rPr>
              <a:t>变量</a:t>
            </a:r>
            <a:r>
              <a:rPr lang="en-US" altLang="zh-CN" sz="2400" b="1" dirty="0" smtClean="0">
                <a:solidFill>
                  <a:srgbClr val="0066FF"/>
                </a:solidFill>
              </a:rPr>
              <a:t>DAT1</a:t>
            </a:r>
            <a:r>
              <a:rPr lang="zh-CN" altLang="en-US" sz="2400" b="1" dirty="0">
                <a:solidFill>
                  <a:srgbClr val="0066FF"/>
                </a:solidFill>
              </a:rPr>
              <a:t>的内容为</a:t>
            </a:r>
            <a:r>
              <a:rPr lang="en-US" altLang="zh-CN" sz="2400" b="1" dirty="0">
                <a:solidFill>
                  <a:srgbClr val="0066FF"/>
                </a:solidFill>
              </a:rPr>
              <a:t>32</a:t>
            </a:r>
            <a:r>
              <a:rPr lang="zh-CN" altLang="en-US" sz="2400" b="1" dirty="0">
                <a:solidFill>
                  <a:srgbClr val="0066FF"/>
                </a:solidFill>
              </a:rPr>
              <a:t>（</a:t>
            </a:r>
            <a:r>
              <a:rPr lang="en-US" altLang="zh-CN" sz="2400" b="1" dirty="0">
                <a:solidFill>
                  <a:srgbClr val="0066FF"/>
                </a:solidFill>
              </a:rPr>
              <a:t>20H</a:t>
            </a:r>
            <a:r>
              <a:rPr lang="zh-CN" altLang="en-US" sz="2400" b="1" dirty="0" smtClean="0">
                <a:solidFill>
                  <a:srgbClr val="0066FF"/>
                </a:solidFill>
              </a:rPr>
              <a:t>），</a:t>
            </a:r>
            <a:r>
              <a:rPr lang="en-US" altLang="zh-CN" sz="2400" b="1" dirty="0" smtClean="0">
                <a:solidFill>
                  <a:srgbClr val="0066FF"/>
                </a:solidFill>
              </a:rPr>
              <a:t>30H</a:t>
            </a:r>
            <a:r>
              <a:rPr lang="zh-CN" altLang="en-US" sz="2400" b="1" dirty="0" smtClean="0">
                <a:solidFill>
                  <a:srgbClr val="0066FF"/>
                </a:solidFill>
              </a:rPr>
              <a:t>赋值给变量</a:t>
            </a:r>
            <a:r>
              <a:rPr lang="en-US" altLang="zh-CN" sz="2400" b="1" dirty="0" smtClean="0">
                <a:solidFill>
                  <a:srgbClr val="0066FF"/>
                </a:solidFill>
              </a:rPr>
              <a:t>DAT1+1</a:t>
            </a:r>
            <a:r>
              <a:rPr lang="zh-CN" altLang="en-US" sz="2400" b="1" dirty="0" smtClean="0">
                <a:solidFill>
                  <a:srgbClr val="0066FF"/>
                </a:solidFill>
              </a:rPr>
              <a:t>。</a:t>
            </a:r>
            <a:endParaRPr lang="en-US" altLang="zh-CN" sz="2400" b="1" dirty="0">
              <a:solidFill>
                <a:srgbClr val="0066FF"/>
              </a:solidFill>
            </a:endParaRPr>
          </a:p>
          <a:p>
            <a:pPr eaLnBrk="1" hangingPunct="1"/>
            <a:r>
              <a:rPr lang="zh-CN" altLang="en-US" sz="2400" b="1" dirty="0" smtClean="0"/>
              <a:t>又例如：</a:t>
            </a:r>
            <a:endParaRPr lang="en-US" altLang="zh-CN" sz="2400" b="1" dirty="0" smtClean="0"/>
          </a:p>
          <a:p>
            <a:pPr eaLnBrk="1" hangingPunct="1"/>
            <a:r>
              <a:rPr lang="en-US" altLang="zh-CN" sz="2400" b="1" dirty="0" smtClean="0"/>
              <a:t>DAT2 </a:t>
            </a:r>
            <a:r>
              <a:rPr lang="en-US" altLang="zh-CN" sz="2400" b="1" dirty="0"/>
              <a:t>SBYTE -20 </a:t>
            </a:r>
            <a:r>
              <a:rPr lang="en-US" altLang="zh-CN" sz="2400" b="1" dirty="0">
                <a:solidFill>
                  <a:srgbClr val="0066FF"/>
                </a:solidFill>
              </a:rPr>
              <a:t>;DAT2</a:t>
            </a:r>
            <a:r>
              <a:rPr lang="zh-CN" altLang="en-US" sz="2400" b="1" dirty="0">
                <a:solidFill>
                  <a:srgbClr val="0066FF"/>
                </a:solidFill>
              </a:rPr>
              <a:t>的内容为</a:t>
            </a:r>
            <a:r>
              <a:rPr lang="en-US" altLang="zh-CN" sz="2400" b="1" dirty="0">
                <a:solidFill>
                  <a:srgbClr val="0066FF"/>
                </a:solidFill>
              </a:rPr>
              <a:t>-20</a:t>
            </a:r>
          </a:p>
        </p:txBody>
      </p:sp>
      <p:sp>
        <p:nvSpPr>
          <p:cNvPr id="10" name="Rectangle 6"/>
          <p:cNvSpPr>
            <a:spLocks noChangeArrowheads="1"/>
          </p:cNvSpPr>
          <p:nvPr/>
        </p:nvSpPr>
        <p:spPr bwMode="auto">
          <a:xfrm>
            <a:off x="529789" y="454010"/>
            <a:ext cx="2504212"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1</a:t>
            </a:r>
            <a:r>
              <a:rPr lang="zh-CN" altLang="en-US" sz="2400" b="1" dirty="0">
                <a:solidFill>
                  <a:schemeClr val="bg2"/>
                </a:solidFill>
              </a:rPr>
              <a:t>）数值表达式</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wipe(down)">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wipe(down)">
                                      <p:cBhvr>
                                        <p:cTn id="20" dur="500"/>
                                        <p:tgtEl>
                                          <p:spTgt spid="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Effect transition="in" filter="wipe(down)">
                                      <p:cBhvr>
                                        <p:cTn id="25" dur="500"/>
                                        <p:tgtEl>
                                          <p:spTgt spid="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9">
                                            <p:txEl>
                                              <p:pRg st="3" end="3"/>
                                            </p:txEl>
                                          </p:spTgt>
                                        </p:tgtEl>
                                        <p:attrNameLst>
                                          <p:attrName>style.visibility</p:attrName>
                                        </p:attrNameLst>
                                      </p:cBhvr>
                                      <p:to>
                                        <p:strVal val="visible"/>
                                      </p:to>
                                    </p:set>
                                    <p:animEffect transition="in" filter="wipe(down)">
                                      <p:cBhvr>
                                        <p:cTn id="30" dur="500"/>
                                        <p:tgtEl>
                                          <p:spTgt spid="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animEffect transition="in" filter="wipe(down)">
                                      <p:cBhvr>
                                        <p:cTn id="35" dur="500"/>
                                        <p:tgtEl>
                                          <p:spTgt spid="9">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2662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26627">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26627">
                                            <p:txEl>
                                              <p:pRg st="1" end="1"/>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2663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26630">
                                            <p:txEl>
                                              <p:pRg st="0" end="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26630">
                                            <p:txEl>
                                              <p:pRg st="1" end="1"/>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2663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autoUpdateAnimBg="0"/>
      <p:bldP spid="26629" grpId="0" animBg="1" autoUpdateAnimBg="0"/>
      <p:bldP spid="26630" grpId="0" uiExpand="1" build="p" autoUpdateAnimBg="0"/>
      <p:bldP spid="26631" grpId="0" animBg="1" autoUpdateAnimBg="0"/>
      <p:bldP spid="8" grpId="0" autoUpdateAnimBg="0"/>
      <p:bldP spid="9" grpId="0" build="p"/>
      <p:bldP spid="10"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990631F9-B0D5-45CD-820C-F2CD01201FFB}" type="slidenum">
              <a:rPr lang="en-US" altLang="zh-CN" sz="1400">
                <a:solidFill>
                  <a:schemeClr val="bg2"/>
                </a:solidFill>
              </a:rPr>
              <a:pPr algn="r" eaLnBrk="1" hangingPunct="1"/>
              <a:t>17</a:t>
            </a:fld>
            <a:endParaRPr lang="en-US" altLang="zh-CN" sz="1400">
              <a:solidFill>
                <a:schemeClr val="bg2"/>
              </a:solidFill>
            </a:endParaRPr>
          </a:p>
        </p:txBody>
      </p:sp>
      <p:sp>
        <p:nvSpPr>
          <p:cNvPr id="27651" name="Rectangle 3"/>
          <p:cNvSpPr>
            <a:spLocks noChangeArrowheads="1"/>
          </p:cNvSpPr>
          <p:nvPr/>
        </p:nvSpPr>
        <p:spPr bwMode="auto">
          <a:xfrm>
            <a:off x="76720" y="2356730"/>
            <a:ext cx="5791200" cy="830997"/>
          </a:xfrm>
          <a:prstGeom prst="rect">
            <a:avLst/>
          </a:prstGeom>
          <a:solidFill>
            <a:schemeClr val="bg1"/>
          </a:solidFill>
          <a:ln>
            <a:noFill/>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n"/>
            </a:pPr>
            <a:r>
              <a:rPr lang="zh-CN" altLang="en-US" sz="2400" b="1" dirty="0"/>
              <a:t>对于</a:t>
            </a:r>
            <a:r>
              <a:rPr lang="en-US" altLang="zh-CN" sz="2400" b="1" dirty="0"/>
              <a:t>DW</a:t>
            </a:r>
            <a:r>
              <a:rPr lang="zh-CN" altLang="en-US" sz="2400" b="1" dirty="0"/>
              <a:t>伪指令：给不超过两个字符组成的字符串分配两个字节存储单元。</a:t>
            </a:r>
          </a:p>
        </p:txBody>
      </p:sp>
      <p:sp>
        <p:nvSpPr>
          <p:cNvPr id="27652" name="Rectangle 4"/>
          <p:cNvSpPr>
            <a:spLocks noChangeArrowheads="1"/>
          </p:cNvSpPr>
          <p:nvPr/>
        </p:nvSpPr>
        <p:spPr bwMode="auto">
          <a:xfrm>
            <a:off x="522827" y="4823164"/>
            <a:ext cx="5761038" cy="4572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例如：</a:t>
            </a:r>
            <a:r>
              <a:rPr lang="en-US" altLang="zh-CN" sz="2400" b="1" dirty="0">
                <a:solidFill>
                  <a:schemeClr val="bg2"/>
                </a:solidFill>
              </a:rPr>
              <a:t>STRING2     DW   ‘AB’, ‘CD’, ’EF’</a:t>
            </a:r>
          </a:p>
        </p:txBody>
      </p:sp>
      <p:sp>
        <p:nvSpPr>
          <p:cNvPr id="27653" name="Rectangle 9"/>
          <p:cNvSpPr>
            <a:spLocks noChangeArrowheads="1"/>
          </p:cNvSpPr>
          <p:nvPr/>
        </p:nvSpPr>
        <p:spPr bwMode="auto">
          <a:xfrm>
            <a:off x="395536" y="696686"/>
            <a:ext cx="4606925" cy="457200"/>
          </a:xfrm>
          <a:prstGeom prst="rect">
            <a:avLst/>
          </a:prstGeom>
          <a:solidFill>
            <a:schemeClr val="bg1"/>
          </a:solidFill>
          <a:ln>
            <a:noFill/>
          </a:ln>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t>例如：</a:t>
            </a:r>
            <a:r>
              <a:rPr lang="en-US" altLang="zh-CN" sz="2400" b="1"/>
              <a:t>STRING1  DB  ‘ABCDEF’</a:t>
            </a:r>
          </a:p>
        </p:txBody>
      </p:sp>
      <p:grpSp>
        <p:nvGrpSpPr>
          <p:cNvPr id="27654" name="Group 6"/>
          <p:cNvGrpSpPr>
            <a:grpSpLocks/>
          </p:cNvGrpSpPr>
          <p:nvPr/>
        </p:nvGrpSpPr>
        <p:grpSpPr bwMode="auto">
          <a:xfrm>
            <a:off x="5867920" y="3619500"/>
            <a:ext cx="3428481" cy="3124200"/>
            <a:chOff x="145" y="0"/>
            <a:chExt cx="1727" cy="1968"/>
          </a:xfrm>
        </p:grpSpPr>
        <p:sp>
          <p:nvSpPr>
            <p:cNvPr id="27655" name="Rectangle 25"/>
            <p:cNvSpPr>
              <a:spLocks noChangeArrowheads="1"/>
            </p:cNvSpPr>
            <p:nvPr/>
          </p:nvSpPr>
          <p:spPr bwMode="auto">
            <a:xfrm>
              <a:off x="912" y="0"/>
              <a:ext cx="576" cy="196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a:p>
          </p:txBody>
        </p:sp>
        <p:sp>
          <p:nvSpPr>
            <p:cNvPr id="27656" name="Line 26"/>
            <p:cNvSpPr>
              <a:spLocks noChangeShapeType="1"/>
            </p:cNvSpPr>
            <p:nvPr/>
          </p:nvSpPr>
          <p:spPr bwMode="auto">
            <a:xfrm>
              <a:off x="912" y="24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7" name="Line 27"/>
            <p:cNvSpPr>
              <a:spLocks noChangeShapeType="1"/>
            </p:cNvSpPr>
            <p:nvPr/>
          </p:nvSpPr>
          <p:spPr bwMode="auto">
            <a:xfrm>
              <a:off x="912" y="48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8" name="Line 28"/>
            <p:cNvSpPr>
              <a:spLocks noChangeShapeType="1"/>
            </p:cNvSpPr>
            <p:nvPr/>
          </p:nvSpPr>
          <p:spPr bwMode="auto">
            <a:xfrm>
              <a:off x="912" y="72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9" name="Line 29"/>
            <p:cNvSpPr>
              <a:spLocks noChangeShapeType="1"/>
            </p:cNvSpPr>
            <p:nvPr/>
          </p:nvSpPr>
          <p:spPr bwMode="auto">
            <a:xfrm>
              <a:off x="912" y="96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0" name="Line 30"/>
            <p:cNvSpPr>
              <a:spLocks noChangeShapeType="1"/>
            </p:cNvSpPr>
            <p:nvPr/>
          </p:nvSpPr>
          <p:spPr bwMode="auto">
            <a:xfrm>
              <a:off x="912" y="1152"/>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Line 31"/>
            <p:cNvSpPr>
              <a:spLocks noChangeShapeType="1"/>
            </p:cNvSpPr>
            <p:nvPr/>
          </p:nvSpPr>
          <p:spPr bwMode="auto">
            <a:xfrm>
              <a:off x="912" y="1392"/>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2" name="Line 32"/>
            <p:cNvSpPr>
              <a:spLocks noChangeShapeType="1"/>
            </p:cNvSpPr>
            <p:nvPr/>
          </p:nvSpPr>
          <p:spPr bwMode="auto">
            <a:xfrm>
              <a:off x="912" y="1632"/>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3" name="Text Box 33"/>
            <p:cNvSpPr txBox="1">
              <a:spLocks noChangeArrowheads="1"/>
            </p:cNvSpPr>
            <p:nvPr/>
          </p:nvSpPr>
          <p:spPr bwMode="auto">
            <a:xfrm>
              <a:off x="145" y="240"/>
              <a:ext cx="7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t>STRING2</a:t>
              </a:r>
            </a:p>
          </p:txBody>
        </p:sp>
        <p:sp>
          <p:nvSpPr>
            <p:cNvPr id="27664" name="Rectangle 34"/>
            <p:cNvSpPr>
              <a:spLocks noChangeArrowheads="1"/>
            </p:cNvSpPr>
            <p:nvPr/>
          </p:nvSpPr>
          <p:spPr bwMode="auto">
            <a:xfrm>
              <a:off x="1008" y="432"/>
              <a:ext cx="3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41H</a:t>
              </a:r>
            </a:p>
          </p:txBody>
        </p:sp>
        <p:sp>
          <p:nvSpPr>
            <p:cNvPr id="27665" name="Rectangle 35"/>
            <p:cNvSpPr>
              <a:spLocks noChangeArrowheads="1"/>
            </p:cNvSpPr>
            <p:nvPr/>
          </p:nvSpPr>
          <p:spPr bwMode="auto">
            <a:xfrm>
              <a:off x="1008" y="240"/>
              <a:ext cx="3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42H</a:t>
              </a:r>
            </a:p>
          </p:txBody>
        </p:sp>
        <p:sp>
          <p:nvSpPr>
            <p:cNvPr id="27666" name="Rectangle 36"/>
            <p:cNvSpPr>
              <a:spLocks noChangeArrowheads="1"/>
            </p:cNvSpPr>
            <p:nvPr/>
          </p:nvSpPr>
          <p:spPr bwMode="auto">
            <a:xfrm>
              <a:off x="1008" y="912"/>
              <a:ext cx="3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43H</a:t>
              </a:r>
            </a:p>
          </p:txBody>
        </p:sp>
        <p:sp>
          <p:nvSpPr>
            <p:cNvPr id="27667" name="Rectangle 37"/>
            <p:cNvSpPr>
              <a:spLocks noChangeArrowheads="1"/>
            </p:cNvSpPr>
            <p:nvPr/>
          </p:nvSpPr>
          <p:spPr bwMode="auto">
            <a:xfrm>
              <a:off x="1008" y="672"/>
              <a:ext cx="3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44H</a:t>
              </a:r>
            </a:p>
          </p:txBody>
        </p:sp>
        <p:sp>
          <p:nvSpPr>
            <p:cNvPr id="27668" name="Rectangle 38"/>
            <p:cNvSpPr>
              <a:spLocks noChangeArrowheads="1"/>
            </p:cNvSpPr>
            <p:nvPr/>
          </p:nvSpPr>
          <p:spPr bwMode="auto">
            <a:xfrm>
              <a:off x="1008" y="1344"/>
              <a:ext cx="3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45H</a:t>
              </a:r>
            </a:p>
          </p:txBody>
        </p:sp>
        <p:sp>
          <p:nvSpPr>
            <p:cNvPr id="27669" name="Rectangle 39"/>
            <p:cNvSpPr>
              <a:spLocks noChangeArrowheads="1"/>
            </p:cNvSpPr>
            <p:nvPr/>
          </p:nvSpPr>
          <p:spPr bwMode="auto">
            <a:xfrm>
              <a:off x="1008" y="1152"/>
              <a:ext cx="3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46H</a:t>
              </a:r>
            </a:p>
          </p:txBody>
        </p:sp>
        <p:sp>
          <p:nvSpPr>
            <p:cNvPr id="27670" name="Text Box 40"/>
            <p:cNvSpPr txBox="1">
              <a:spLocks noChangeArrowheads="1"/>
            </p:cNvSpPr>
            <p:nvPr/>
          </p:nvSpPr>
          <p:spPr bwMode="auto">
            <a:xfrm>
              <a:off x="1440" y="240"/>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a:t>‘B’</a:t>
              </a:r>
            </a:p>
          </p:txBody>
        </p:sp>
        <p:sp>
          <p:nvSpPr>
            <p:cNvPr id="27671" name="Text Box 41"/>
            <p:cNvSpPr txBox="1">
              <a:spLocks noChangeArrowheads="1"/>
            </p:cNvSpPr>
            <p:nvPr/>
          </p:nvSpPr>
          <p:spPr bwMode="auto">
            <a:xfrm>
              <a:off x="1451" y="44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‘A’</a:t>
              </a:r>
            </a:p>
          </p:txBody>
        </p:sp>
        <p:sp>
          <p:nvSpPr>
            <p:cNvPr id="27672" name="Text Box 42"/>
            <p:cNvSpPr txBox="1">
              <a:spLocks noChangeArrowheads="1"/>
            </p:cNvSpPr>
            <p:nvPr/>
          </p:nvSpPr>
          <p:spPr bwMode="auto">
            <a:xfrm>
              <a:off x="1440" y="67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a:t>‘D’</a:t>
              </a:r>
            </a:p>
          </p:txBody>
        </p:sp>
        <p:sp>
          <p:nvSpPr>
            <p:cNvPr id="27673" name="Text Box 43"/>
            <p:cNvSpPr txBox="1">
              <a:spLocks noChangeArrowheads="1"/>
            </p:cNvSpPr>
            <p:nvPr/>
          </p:nvSpPr>
          <p:spPr bwMode="auto">
            <a:xfrm>
              <a:off x="1440" y="9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a:t>‘C’</a:t>
              </a:r>
            </a:p>
          </p:txBody>
        </p:sp>
        <p:sp>
          <p:nvSpPr>
            <p:cNvPr id="27674" name="Text Box 44"/>
            <p:cNvSpPr txBox="1">
              <a:spLocks noChangeArrowheads="1"/>
            </p:cNvSpPr>
            <p:nvPr/>
          </p:nvSpPr>
          <p:spPr bwMode="auto">
            <a:xfrm>
              <a:off x="1440" y="140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‘E’</a:t>
              </a:r>
            </a:p>
          </p:txBody>
        </p:sp>
        <p:sp>
          <p:nvSpPr>
            <p:cNvPr id="27675" name="Text Box 45"/>
            <p:cNvSpPr txBox="1">
              <a:spLocks noChangeArrowheads="1"/>
            </p:cNvSpPr>
            <p:nvPr/>
          </p:nvSpPr>
          <p:spPr bwMode="auto">
            <a:xfrm>
              <a:off x="1451" y="11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‘F’</a:t>
              </a:r>
            </a:p>
          </p:txBody>
        </p:sp>
      </p:grpSp>
      <p:grpSp>
        <p:nvGrpSpPr>
          <p:cNvPr id="27676" name="Group 28"/>
          <p:cNvGrpSpPr>
            <a:grpSpLocks/>
          </p:cNvGrpSpPr>
          <p:nvPr/>
        </p:nvGrpSpPr>
        <p:grpSpPr bwMode="auto">
          <a:xfrm>
            <a:off x="5435600" y="0"/>
            <a:ext cx="3708400" cy="3124200"/>
            <a:chOff x="0" y="0"/>
            <a:chExt cx="1824" cy="1968"/>
          </a:xfrm>
        </p:grpSpPr>
        <p:sp>
          <p:nvSpPr>
            <p:cNvPr id="27677" name="Rectangle 10"/>
            <p:cNvSpPr>
              <a:spLocks noChangeArrowheads="1"/>
            </p:cNvSpPr>
            <p:nvPr/>
          </p:nvSpPr>
          <p:spPr bwMode="auto">
            <a:xfrm>
              <a:off x="912" y="0"/>
              <a:ext cx="576" cy="1968"/>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a:p>
          </p:txBody>
        </p:sp>
        <p:sp>
          <p:nvSpPr>
            <p:cNvPr id="27678" name="Line 11"/>
            <p:cNvSpPr>
              <a:spLocks noChangeShapeType="1"/>
            </p:cNvSpPr>
            <p:nvPr/>
          </p:nvSpPr>
          <p:spPr bwMode="auto">
            <a:xfrm>
              <a:off x="912" y="24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9" name="Line 12"/>
            <p:cNvSpPr>
              <a:spLocks noChangeShapeType="1"/>
            </p:cNvSpPr>
            <p:nvPr/>
          </p:nvSpPr>
          <p:spPr bwMode="auto">
            <a:xfrm>
              <a:off x="912" y="48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0" name="Line 13"/>
            <p:cNvSpPr>
              <a:spLocks noChangeShapeType="1"/>
            </p:cNvSpPr>
            <p:nvPr/>
          </p:nvSpPr>
          <p:spPr bwMode="auto">
            <a:xfrm>
              <a:off x="912" y="72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1" name="Line 14"/>
            <p:cNvSpPr>
              <a:spLocks noChangeShapeType="1"/>
            </p:cNvSpPr>
            <p:nvPr/>
          </p:nvSpPr>
          <p:spPr bwMode="auto">
            <a:xfrm>
              <a:off x="912" y="96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2" name="Line 15"/>
            <p:cNvSpPr>
              <a:spLocks noChangeShapeType="1"/>
            </p:cNvSpPr>
            <p:nvPr/>
          </p:nvSpPr>
          <p:spPr bwMode="auto">
            <a:xfrm>
              <a:off x="912" y="1152"/>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3" name="Line 16"/>
            <p:cNvSpPr>
              <a:spLocks noChangeShapeType="1"/>
            </p:cNvSpPr>
            <p:nvPr/>
          </p:nvSpPr>
          <p:spPr bwMode="auto">
            <a:xfrm>
              <a:off x="912" y="1392"/>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4" name="Line 17"/>
            <p:cNvSpPr>
              <a:spLocks noChangeShapeType="1"/>
            </p:cNvSpPr>
            <p:nvPr/>
          </p:nvSpPr>
          <p:spPr bwMode="auto">
            <a:xfrm>
              <a:off x="912" y="1632"/>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5" name="Text Box 18"/>
            <p:cNvSpPr txBox="1">
              <a:spLocks noChangeArrowheads="1"/>
            </p:cNvSpPr>
            <p:nvPr/>
          </p:nvSpPr>
          <p:spPr bwMode="auto">
            <a:xfrm>
              <a:off x="1008" y="134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a:solidFill>
                    <a:schemeClr val="bg2"/>
                  </a:solidFill>
                </a:rPr>
                <a:t>46H </a:t>
              </a:r>
            </a:p>
          </p:txBody>
        </p:sp>
        <p:sp>
          <p:nvSpPr>
            <p:cNvPr id="27686" name="Rectangle 19"/>
            <p:cNvSpPr>
              <a:spLocks noChangeArrowheads="1"/>
            </p:cNvSpPr>
            <p:nvPr/>
          </p:nvSpPr>
          <p:spPr bwMode="auto">
            <a:xfrm>
              <a:off x="1008" y="192"/>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41H</a:t>
              </a:r>
            </a:p>
          </p:txBody>
        </p:sp>
        <p:sp>
          <p:nvSpPr>
            <p:cNvPr id="27687" name="Rectangle 20"/>
            <p:cNvSpPr>
              <a:spLocks noChangeArrowheads="1"/>
            </p:cNvSpPr>
            <p:nvPr/>
          </p:nvSpPr>
          <p:spPr bwMode="auto">
            <a:xfrm>
              <a:off x="1008" y="432"/>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42H</a:t>
              </a:r>
            </a:p>
          </p:txBody>
        </p:sp>
        <p:sp>
          <p:nvSpPr>
            <p:cNvPr id="27688" name="Rectangle 21"/>
            <p:cNvSpPr>
              <a:spLocks noChangeArrowheads="1"/>
            </p:cNvSpPr>
            <p:nvPr/>
          </p:nvSpPr>
          <p:spPr bwMode="auto">
            <a:xfrm>
              <a:off x="1008" y="672"/>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43H</a:t>
              </a:r>
            </a:p>
          </p:txBody>
        </p:sp>
        <p:sp>
          <p:nvSpPr>
            <p:cNvPr id="27689" name="Rectangle 22"/>
            <p:cNvSpPr>
              <a:spLocks noChangeArrowheads="1"/>
            </p:cNvSpPr>
            <p:nvPr/>
          </p:nvSpPr>
          <p:spPr bwMode="auto">
            <a:xfrm>
              <a:off x="1008" y="912"/>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44H</a:t>
              </a:r>
            </a:p>
          </p:txBody>
        </p:sp>
        <p:sp>
          <p:nvSpPr>
            <p:cNvPr id="27690" name="Rectangle 23"/>
            <p:cNvSpPr>
              <a:spLocks noChangeArrowheads="1"/>
            </p:cNvSpPr>
            <p:nvPr/>
          </p:nvSpPr>
          <p:spPr bwMode="auto">
            <a:xfrm>
              <a:off x="1008" y="1104"/>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45H</a:t>
              </a:r>
            </a:p>
          </p:txBody>
        </p:sp>
        <p:sp>
          <p:nvSpPr>
            <p:cNvPr id="27691" name="Text Box 24"/>
            <p:cNvSpPr txBox="1">
              <a:spLocks noChangeArrowheads="1"/>
            </p:cNvSpPr>
            <p:nvPr/>
          </p:nvSpPr>
          <p:spPr bwMode="auto">
            <a:xfrm>
              <a:off x="0" y="192"/>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a:t>STRING1</a:t>
              </a:r>
            </a:p>
          </p:txBody>
        </p:sp>
        <p:sp>
          <p:nvSpPr>
            <p:cNvPr id="27692" name="Text Box 46"/>
            <p:cNvSpPr txBox="1">
              <a:spLocks noChangeArrowheads="1"/>
            </p:cNvSpPr>
            <p:nvPr/>
          </p:nvSpPr>
          <p:spPr bwMode="auto">
            <a:xfrm>
              <a:off x="1440" y="21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 ‘A’</a:t>
              </a:r>
            </a:p>
          </p:txBody>
        </p:sp>
        <p:sp>
          <p:nvSpPr>
            <p:cNvPr id="27693" name="Text Box 47"/>
            <p:cNvSpPr txBox="1">
              <a:spLocks noChangeArrowheads="1"/>
            </p:cNvSpPr>
            <p:nvPr/>
          </p:nvSpPr>
          <p:spPr bwMode="auto">
            <a:xfrm>
              <a:off x="1488" y="43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a:t>‘B’</a:t>
              </a:r>
            </a:p>
          </p:txBody>
        </p:sp>
        <p:sp>
          <p:nvSpPr>
            <p:cNvPr id="27694" name="Text Box 48"/>
            <p:cNvSpPr txBox="1">
              <a:spLocks noChangeArrowheads="1"/>
            </p:cNvSpPr>
            <p:nvPr/>
          </p:nvSpPr>
          <p:spPr bwMode="auto">
            <a:xfrm>
              <a:off x="1488" y="67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a:t>‘C’</a:t>
              </a:r>
            </a:p>
          </p:txBody>
        </p:sp>
        <p:sp>
          <p:nvSpPr>
            <p:cNvPr id="27695" name="Text Box 49"/>
            <p:cNvSpPr txBox="1">
              <a:spLocks noChangeArrowheads="1"/>
            </p:cNvSpPr>
            <p:nvPr/>
          </p:nvSpPr>
          <p:spPr bwMode="auto">
            <a:xfrm>
              <a:off x="1488" y="9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a:t>‘D’</a:t>
              </a:r>
            </a:p>
          </p:txBody>
        </p:sp>
        <p:sp>
          <p:nvSpPr>
            <p:cNvPr id="27696" name="Text Box 50"/>
            <p:cNvSpPr txBox="1">
              <a:spLocks noChangeArrowheads="1"/>
            </p:cNvSpPr>
            <p:nvPr/>
          </p:nvSpPr>
          <p:spPr bwMode="auto">
            <a:xfrm>
              <a:off x="1488" y="114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‘E’</a:t>
              </a:r>
            </a:p>
          </p:txBody>
        </p:sp>
        <p:sp>
          <p:nvSpPr>
            <p:cNvPr id="27697" name="Text Box 51"/>
            <p:cNvSpPr txBox="1">
              <a:spLocks noChangeArrowheads="1"/>
            </p:cNvSpPr>
            <p:nvPr/>
          </p:nvSpPr>
          <p:spPr bwMode="auto">
            <a:xfrm>
              <a:off x="1488" y="13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‘F’</a:t>
              </a:r>
            </a:p>
          </p:txBody>
        </p:sp>
      </p:grpSp>
      <p:sp>
        <p:nvSpPr>
          <p:cNvPr id="27698" name="Rectangle 54"/>
          <p:cNvSpPr>
            <a:spLocks noChangeArrowheads="1"/>
          </p:cNvSpPr>
          <p:nvPr/>
        </p:nvSpPr>
        <p:spPr bwMode="auto">
          <a:xfrm>
            <a:off x="156053" y="3208337"/>
            <a:ext cx="5791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rPr>
              <a:t>注意：</a:t>
            </a:r>
            <a:endParaRPr lang="en-US" altLang="zh-CN" sz="2400" b="1" dirty="0">
              <a:solidFill>
                <a:schemeClr val="hlink"/>
              </a:solidFill>
            </a:endParaRPr>
          </a:p>
          <a:p>
            <a:pPr marL="342900" indent="-342900" eaLnBrk="1" hangingPunct="1">
              <a:buClr>
                <a:srgbClr val="FF0000"/>
              </a:buClr>
              <a:buFont typeface="Wingdings" panose="05000000000000000000" pitchFamily="2" charset="2"/>
              <a:buChar char="u"/>
            </a:pPr>
            <a:r>
              <a:rPr lang="zh-CN" altLang="en-US" sz="2400" b="1" dirty="0"/>
              <a:t>两个字符的存放顺序是前一个字符放在高地址，后一字符放低地址单元。</a:t>
            </a:r>
            <a:endParaRPr lang="en-US" altLang="zh-CN" sz="2400" b="1" dirty="0"/>
          </a:p>
          <a:p>
            <a:pPr marL="342900" indent="-342900" eaLnBrk="1" hangingPunct="1">
              <a:buClr>
                <a:srgbClr val="FF0000"/>
              </a:buClr>
              <a:buFont typeface="Wingdings" panose="05000000000000000000" pitchFamily="2" charset="2"/>
              <a:buChar char="u"/>
            </a:pPr>
            <a:r>
              <a:rPr lang="en-US" altLang="zh-CN" sz="2400" b="1" dirty="0"/>
              <a:t> </a:t>
            </a:r>
            <a:r>
              <a:rPr lang="zh-CN" altLang="en-US" sz="2400" b="1" dirty="0">
                <a:solidFill>
                  <a:srgbClr val="FF0000"/>
                </a:solidFill>
              </a:rPr>
              <a:t>超过两个字符就会出错！</a:t>
            </a:r>
            <a:endParaRPr lang="zh-CN" altLang="en-US" sz="2400" b="1" dirty="0"/>
          </a:p>
        </p:txBody>
      </p:sp>
      <p:sp>
        <p:nvSpPr>
          <p:cNvPr id="2" name="文本框 1">
            <a:extLst>
              <a:ext uri="{FF2B5EF4-FFF2-40B4-BE49-F238E27FC236}">
                <a16:creationId xmlns:a16="http://schemas.microsoft.com/office/drawing/2014/main" id="{7C94CB9B-E501-4334-8C4A-7B8B137AE493}"/>
              </a:ext>
            </a:extLst>
          </p:cNvPr>
          <p:cNvSpPr txBox="1"/>
          <p:nvPr/>
        </p:nvSpPr>
        <p:spPr>
          <a:xfrm>
            <a:off x="6397148" y="32613"/>
            <a:ext cx="1087831" cy="369332"/>
          </a:xfrm>
          <a:prstGeom prst="rect">
            <a:avLst/>
          </a:prstGeom>
          <a:noFill/>
        </p:spPr>
        <p:txBody>
          <a:bodyPr wrap="square" rtlCol="0">
            <a:spAutoFit/>
          </a:bodyPr>
          <a:lstStyle/>
          <a:p>
            <a:r>
              <a:rPr lang="zh-CN" altLang="en-US" sz="1800" b="1" dirty="0">
                <a:solidFill>
                  <a:schemeClr val="bg2"/>
                </a:solidFill>
              </a:rPr>
              <a:t>低地址</a:t>
            </a:r>
          </a:p>
        </p:txBody>
      </p:sp>
      <p:sp>
        <p:nvSpPr>
          <p:cNvPr id="52" name="文本框 51">
            <a:extLst>
              <a:ext uri="{FF2B5EF4-FFF2-40B4-BE49-F238E27FC236}">
                <a16:creationId xmlns:a16="http://schemas.microsoft.com/office/drawing/2014/main" id="{F03C354F-A4CD-4CC5-A357-C0EDA260CD24}"/>
              </a:ext>
            </a:extLst>
          </p:cNvPr>
          <p:cNvSpPr txBox="1"/>
          <p:nvPr/>
        </p:nvSpPr>
        <p:spPr>
          <a:xfrm>
            <a:off x="6412704" y="2729984"/>
            <a:ext cx="1087831" cy="369332"/>
          </a:xfrm>
          <a:prstGeom prst="rect">
            <a:avLst/>
          </a:prstGeom>
          <a:noFill/>
        </p:spPr>
        <p:txBody>
          <a:bodyPr wrap="square" rtlCol="0">
            <a:spAutoFit/>
          </a:bodyPr>
          <a:lstStyle/>
          <a:p>
            <a:r>
              <a:rPr lang="zh-CN" altLang="en-US" sz="1800" b="1" dirty="0">
                <a:solidFill>
                  <a:schemeClr val="bg2"/>
                </a:solidFill>
              </a:rPr>
              <a:t>高地址</a:t>
            </a:r>
          </a:p>
        </p:txBody>
      </p:sp>
      <p:sp>
        <p:nvSpPr>
          <p:cNvPr id="3" name="文本框 2">
            <a:extLst>
              <a:ext uri="{FF2B5EF4-FFF2-40B4-BE49-F238E27FC236}">
                <a16:creationId xmlns:a16="http://schemas.microsoft.com/office/drawing/2014/main" id="{54EA4C27-5590-4269-A42F-3B6577A1D72B}"/>
              </a:ext>
            </a:extLst>
          </p:cNvPr>
          <p:cNvSpPr txBox="1"/>
          <p:nvPr/>
        </p:nvSpPr>
        <p:spPr>
          <a:xfrm>
            <a:off x="123543" y="5524500"/>
            <a:ext cx="6768752" cy="461665"/>
          </a:xfrm>
          <a:prstGeom prst="rect">
            <a:avLst/>
          </a:prstGeom>
          <a:noFill/>
        </p:spPr>
        <p:txBody>
          <a:bodyPr wrap="square" rtlCol="0">
            <a:spAutoFit/>
          </a:bodyPr>
          <a:lstStyle/>
          <a:p>
            <a:pPr marL="342900" indent="-342900">
              <a:buClr>
                <a:srgbClr val="FF0000"/>
              </a:buClr>
              <a:buFont typeface="Wingdings" panose="05000000000000000000" pitchFamily="2" charset="2"/>
              <a:buChar char="u"/>
            </a:pPr>
            <a:r>
              <a:rPr lang="zh-CN" altLang="en-US" sz="2400" b="1" dirty="0">
                <a:solidFill>
                  <a:schemeClr val="bg2"/>
                </a:solidFill>
              </a:rPr>
              <a:t>若字符串只有一个字符则高字节地址单元为</a:t>
            </a:r>
            <a:r>
              <a:rPr lang="en-US" altLang="zh-CN" sz="2400" b="1" dirty="0">
                <a:solidFill>
                  <a:schemeClr val="bg2"/>
                </a:solidFill>
              </a:rPr>
              <a:t>0</a:t>
            </a:r>
            <a:endParaRPr lang="zh-CN" altLang="en-US" sz="2400" b="1" dirty="0">
              <a:solidFill>
                <a:schemeClr val="bg2"/>
              </a:solidFill>
            </a:endParaRP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76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767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76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769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769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7698">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765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276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down)">
                                      <p:cBhvr>
                                        <p:cTn id="4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nimBg="1" autoUpdateAnimBg="0"/>
      <p:bldP spid="27652" grpId="0" animBg="1" autoUpdateAnimBg="0"/>
      <p:bldP spid="27653" grpId="0" animBg="1" autoUpdateAnimBg="0"/>
      <p:bldP spid="27698" grpId="0" build="p" autoUpdateAnimBg="0"/>
      <p:bldP spid="2" grpId="0"/>
      <p:bldP spid="5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B393D91D-1C56-41E0-93DF-15939867538E}" type="slidenum">
              <a:rPr lang="en-US" altLang="zh-CN" sz="1400">
                <a:solidFill>
                  <a:schemeClr val="bg2"/>
                </a:solidFill>
              </a:rPr>
              <a:pPr algn="r" eaLnBrk="1" hangingPunct="1"/>
              <a:t>18</a:t>
            </a:fld>
            <a:endParaRPr lang="en-US" altLang="zh-CN" sz="1400">
              <a:solidFill>
                <a:schemeClr val="bg2"/>
              </a:solidFill>
            </a:endParaRPr>
          </a:p>
        </p:txBody>
      </p:sp>
      <p:sp>
        <p:nvSpPr>
          <p:cNvPr id="28675" name="Text Box 53"/>
          <p:cNvSpPr txBox="1">
            <a:spLocks noChangeArrowheads="1"/>
          </p:cNvSpPr>
          <p:nvPr/>
        </p:nvSpPr>
        <p:spPr bwMode="auto">
          <a:xfrm>
            <a:off x="323528" y="3196212"/>
            <a:ext cx="4464496" cy="4572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例如：</a:t>
            </a:r>
            <a:r>
              <a:rPr lang="en-US" altLang="zh-CN" sz="2400" b="1" dirty="0">
                <a:solidFill>
                  <a:schemeClr val="bg2"/>
                </a:solidFill>
              </a:rPr>
              <a:t>STRING3  DD    ‘ABCD’</a:t>
            </a:r>
          </a:p>
        </p:txBody>
      </p:sp>
      <p:sp>
        <p:nvSpPr>
          <p:cNvPr id="28676" name="Text Box 54"/>
          <p:cNvSpPr txBox="1">
            <a:spLocks noChangeArrowheads="1"/>
          </p:cNvSpPr>
          <p:nvPr/>
        </p:nvSpPr>
        <p:spPr bwMode="auto">
          <a:xfrm>
            <a:off x="164738" y="4817921"/>
            <a:ext cx="8809488" cy="1754326"/>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hlink"/>
                </a:solidFill>
              </a:rPr>
              <a:t>注意</a:t>
            </a:r>
            <a:r>
              <a:rPr lang="zh-CN" altLang="en-US" sz="2400" b="1" dirty="0">
                <a:solidFill>
                  <a:schemeClr val="bg2"/>
                </a:solidFill>
              </a:rPr>
              <a:t>：</a:t>
            </a:r>
            <a:r>
              <a:rPr lang="en-US" altLang="zh-CN" sz="2400" b="1" dirty="0">
                <a:solidFill>
                  <a:schemeClr val="bg2"/>
                </a:solidFill>
              </a:rPr>
              <a:t>1.</a:t>
            </a:r>
            <a:r>
              <a:rPr lang="zh-CN" altLang="en-US" sz="2400" b="1" dirty="0">
                <a:solidFill>
                  <a:schemeClr val="bg2"/>
                </a:solidFill>
              </a:rPr>
              <a:t>对于有符号定义伪指令</a:t>
            </a:r>
            <a:r>
              <a:rPr lang="en-US" altLang="zh-CN" sz="2400" b="1" dirty="0" err="1">
                <a:solidFill>
                  <a:schemeClr val="bg2"/>
                </a:solidFill>
              </a:rPr>
              <a:t>sbyte</a:t>
            </a:r>
            <a:r>
              <a:rPr lang="zh-CN" altLang="en-US" sz="2400" b="1" dirty="0">
                <a:solidFill>
                  <a:schemeClr val="bg2"/>
                </a:solidFill>
              </a:rPr>
              <a:t>、</a:t>
            </a:r>
            <a:r>
              <a:rPr lang="en-US" altLang="zh-CN" sz="2400" b="1" dirty="0">
                <a:solidFill>
                  <a:schemeClr val="bg2"/>
                </a:solidFill>
              </a:rPr>
              <a:t>sword</a:t>
            </a:r>
            <a:r>
              <a:rPr lang="zh-CN" altLang="en-US" sz="2400" b="1" dirty="0">
                <a:solidFill>
                  <a:schemeClr val="bg2"/>
                </a:solidFill>
              </a:rPr>
              <a:t>和</a:t>
            </a:r>
            <a:r>
              <a:rPr lang="en-US" altLang="zh-CN" sz="2400" b="1" dirty="0" err="1">
                <a:solidFill>
                  <a:schemeClr val="bg2"/>
                </a:solidFill>
              </a:rPr>
              <a:t>sdword</a:t>
            </a:r>
            <a:r>
              <a:rPr lang="zh-CN" altLang="en-US" sz="2400" b="1" dirty="0">
                <a:solidFill>
                  <a:schemeClr val="bg2"/>
                </a:solidFill>
              </a:rPr>
              <a:t>也可以使用字符串初始化，方法同上。</a:t>
            </a:r>
            <a:endParaRPr lang="en-US" altLang="zh-CN" sz="2400" b="1" dirty="0">
              <a:solidFill>
                <a:schemeClr val="bg2"/>
              </a:solidFill>
            </a:endParaRPr>
          </a:p>
          <a:p>
            <a:pPr eaLnBrk="1" hangingPunct="1">
              <a:spcBef>
                <a:spcPct val="50000"/>
              </a:spcBef>
            </a:pPr>
            <a:r>
              <a:rPr lang="en-US" altLang="zh-CN" sz="2400" b="1" dirty="0">
                <a:solidFill>
                  <a:schemeClr val="bg2"/>
                </a:solidFill>
              </a:rPr>
              <a:t>            2.</a:t>
            </a:r>
            <a:r>
              <a:rPr lang="zh-CN" altLang="en-US" sz="2400" b="1" dirty="0">
                <a:solidFill>
                  <a:schemeClr val="bg2"/>
                </a:solidFill>
              </a:rPr>
              <a:t>在实模式下只有</a:t>
            </a:r>
            <a:r>
              <a:rPr lang="en-US" altLang="zh-CN" sz="2400" b="1" dirty="0" err="1">
                <a:solidFill>
                  <a:schemeClr val="bg2"/>
                </a:solidFill>
              </a:rPr>
              <a:t>db</a:t>
            </a:r>
            <a:r>
              <a:rPr lang="zh-CN" altLang="en-US" sz="2400" b="1" dirty="0">
                <a:solidFill>
                  <a:schemeClr val="bg2"/>
                </a:solidFill>
              </a:rPr>
              <a:t>、</a:t>
            </a:r>
            <a:r>
              <a:rPr lang="en-US" altLang="zh-CN" sz="2400" b="1" dirty="0" err="1">
                <a:solidFill>
                  <a:schemeClr val="bg2"/>
                </a:solidFill>
              </a:rPr>
              <a:t>dw</a:t>
            </a:r>
            <a:r>
              <a:rPr lang="zh-CN" altLang="en-US" sz="2400" b="1" dirty="0">
                <a:solidFill>
                  <a:schemeClr val="bg2"/>
                </a:solidFill>
              </a:rPr>
              <a:t>和</a:t>
            </a:r>
            <a:r>
              <a:rPr lang="en-US" altLang="zh-CN" sz="2400" b="1" dirty="0" err="1">
                <a:solidFill>
                  <a:schemeClr val="bg2"/>
                </a:solidFill>
              </a:rPr>
              <a:t>dd</a:t>
            </a:r>
            <a:r>
              <a:rPr lang="zh-CN" altLang="en-US" sz="2400" b="1" dirty="0">
                <a:solidFill>
                  <a:schemeClr val="bg2"/>
                </a:solidFill>
              </a:rPr>
              <a:t>这三个伪指令，且</a:t>
            </a:r>
            <a:r>
              <a:rPr lang="en-US" altLang="zh-CN" sz="2400" b="1" dirty="0" err="1">
                <a:solidFill>
                  <a:schemeClr val="bg2"/>
                </a:solidFill>
              </a:rPr>
              <a:t>dw</a:t>
            </a:r>
            <a:r>
              <a:rPr lang="zh-CN" altLang="en-US" sz="2400" b="1" dirty="0">
                <a:solidFill>
                  <a:schemeClr val="bg2"/>
                </a:solidFill>
              </a:rPr>
              <a:t>和</a:t>
            </a:r>
            <a:r>
              <a:rPr lang="en-US" altLang="zh-CN" sz="2400" b="1" dirty="0" err="1">
                <a:solidFill>
                  <a:schemeClr val="bg2"/>
                </a:solidFill>
              </a:rPr>
              <a:t>dd</a:t>
            </a:r>
            <a:r>
              <a:rPr lang="zh-CN" altLang="en-US" sz="2400" b="1" dirty="0">
                <a:solidFill>
                  <a:schemeClr val="bg2"/>
                </a:solidFill>
              </a:rPr>
              <a:t>伪指令不能用超过两个字符的字符串赋初值，</a:t>
            </a:r>
            <a:r>
              <a:rPr lang="zh-CN" altLang="en-US" sz="2400" b="1" dirty="0">
                <a:solidFill>
                  <a:srgbClr val="FF0000"/>
                </a:solidFill>
              </a:rPr>
              <a:t>否则将出错</a:t>
            </a:r>
            <a:r>
              <a:rPr lang="zh-CN" altLang="en-US" sz="2400" b="1" dirty="0">
                <a:solidFill>
                  <a:schemeClr val="bg2"/>
                </a:solidFill>
              </a:rPr>
              <a:t>。</a:t>
            </a:r>
          </a:p>
        </p:txBody>
      </p:sp>
      <p:sp>
        <p:nvSpPr>
          <p:cNvPr id="28677" name="Text Box 55"/>
          <p:cNvSpPr txBox="1">
            <a:spLocks noChangeArrowheads="1"/>
          </p:cNvSpPr>
          <p:nvPr/>
        </p:nvSpPr>
        <p:spPr bwMode="auto">
          <a:xfrm>
            <a:off x="164738" y="346668"/>
            <a:ext cx="5867916" cy="2862322"/>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spcBef>
                <a:spcPct val="50000"/>
              </a:spcBef>
              <a:buClr>
                <a:srgbClr val="C00000"/>
              </a:buClr>
              <a:buFont typeface="Wingdings" panose="05000000000000000000" pitchFamily="2" charset="2"/>
              <a:buChar char="n"/>
            </a:pPr>
            <a:r>
              <a:rPr lang="zh-CN" altLang="en-US" sz="2400" b="1" dirty="0"/>
              <a:t>对于</a:t>
            </a:r>
            <a:r>
              <a:rPr lang="en-US" altLang="zh-CN" sz="2400" b="1" dirty="0"/>
              <a:t>DD</a:t>
            </a:r>
            <a:r>
              <a:rPr lang="zh-CN" altLang="en-US" sz="2400" b="1" dirty="0"/>
              <a:t>伪指令</a:t>
            </a:r>
            <a:endParaRPr lang="en-US" altLang="zh-CN" sz="2400" b="1" dirty="0"/>
          </a:p>
          <a:p>
            <a:pPr marL="720000" lvl="1" indent="-342900" eaLnBrk="1" hangingPunct="1">
              <a:spcBef>
                <a:spcPct val="50000"/>
              </a:spcBef>
              <a:buClr>
                <a:srgbClr val="C00000"/>
              </a:buClr>
              <a:buFont typeface="Wingdings" panose="05000000000000000000" pitchFamily="2" charset="2"/>
              <a:buChar char="Ø"/>
            </a:pPr>
            <a:r>
              <a:rPr lang="zh-CN" altLang="en-US" sz="2400" b="1" dirty="0"/>
              <a:t>给不超过四个字符组成的字符串分配4个字节单元。</a:t>
            </a:r>
            <a:endParaRPr lang="en-US" altLang="zh-CN" sz="2400" b="1" dirty="0"/>
          </a:p>
          <a:p>
            <a:pPr marL="720000" lvl="1" indent="-342900" eaLnBrk="1" hangingPunct="1">
              <a:spcBef>
                <a:spcPct val="50000"/>
              </a:spcBef>
              <a:buClr>
                <a:srgbClr val="C00000"/>
              </a:buClr>
              <a:buFont typeface="Wingdings" panose="05000000000000000000" pitchFamily="2" charset="2"/>
              <a:buChar char="Ø"/>
            </a:pPr>
            <a:r>
              <a:rPr lang="zh-CN" altLang="en-US" sz="2400" b="1" dirty="0"/>
              <a:t>存放顺序与</a:t>
            </a:r>
            <a:r>
              <a:rPr lang="en-US" altLang="zh-CN" sz="2400" b="1" dirty="0"/>
              <a:t>DW</a:t>
            </a:r>
            <a:r>
              <a:rPr lang="zh-CN" altLang="en-US" sz="2400" b="1" dirty="0"/>
              <a:t>伪指令相同。</a:t>
            </a:r>
            <a:endParaRPr lang="en-US" altLang="zh-CN" sz="2400" b="1" dirty="0"/>
          </a:p>
          <a:p>
            <a:pPr marL="720000" lvl="1" indent="-342900" eaLnBrk="1" hangingPunct="1">
              <a:spcBef>
                <a:spcPct val="50000"/>
              </a:spcBef>
              <a:buClr>
                <a:srgbClr val="C00000"/>
              </a:buClr>
              <a:buFont typeface="Wingdings" panose="05000000000000000000" pitchFamily="2" charset="2"/>
              <a:buChar char="Ø"/>
            </a:pPr>
            <a:r>
              <a:rPr lang="zh-CN" altLang="en-US" sz="2400" b="1" dirty="0"/>
              <a:t>如果字符数少于</a:t>
            </a:r>
            <a:r>
              <a:rPr lang="en-US" altLang="zh-CN" sz="2400" b="1" dirty="0"/>
              <a:t>4</a:t>
            </a:r>
            <a:r>
              <a:rPr lang="zh-CN" altLang="en-US" sz="2400" b="1" dirty="0"/>
              <a:t>，则较高地址的字节单元存0。</a:t>
            </a:r>
          </a:p>
        </p:txBody>
      </p:sp>
      <p:grpSp>
        <p:nvGrpSpPr>
          <p:cNvPr id="28678" name="Group 6"/>
          <p:cNvGrpSpPr>
            <a:grpSpLocks/>
          </p:cNvGrpSpPr>
          <p:nvPr/>
        </p:nvGrpSpPr>
        <p:grpSpPr bwMode="auto">
          <a:xfrm>
            <a:off x="5845528" y="928688"/>
            <a:ext cx="3167877" cy="2157413"/>
            <a:chOff x="104" y="33"/>
            <a:chExt cx="1698" cy="1359"/>
          </a:xfrm>
        </p:grpSpPr>
        <p:sp>
          <p:nvSpPr>
            <p:cNvPr id="28679" name="Rectangle 18"/>
            <p:cNvSpPr>
              <a:spLocks noChangeArrowheads="1"/>
            </p:cNvSpPr>
            <p:nvPr/>
          </p:nvSpPr>
          <p:spPr bwMode="auto">
            <a:xfrm>
              <a:off x="910" y="33"/>
              <a:ext cx="576" cy="1359"/>
            </a:xfrm>
            <a:prstGeom prst="rect">
              <a:avLst/>
            </a:prstGeom>
            <a:solidFill>
              <a:schemeClr val="accent1"/>
            </a:solidFill>
            <a:ln w="9525" cmpd="sng">
              <a:solidFill>
                <a:schemeClr val="tx1"/>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a:p>
          </p:txBody>
        </p:sp>
        <p:sp>
          <p:nvSpPr>
            <p:cNvPr id="28680" name="Line 19"/>
            <p:cNvSpPr>
              <a:spLocks noChangeShapeType="1"/>
            </p:cNvSpPr>
            <p:nvPr/>
          </p:nvSpPr>
          <p:spPr bwMode="auto">
            <a:xfrm>
              <a:off x="912" y="24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1" name="Line 20"/>
            <p:cNvSpPr>
              <a:spLocks noChangeShapeType="1"/>
            </p:cNvSpPr>
            <p:nvPr/>
          </p:nvSpPr>
          <p:spPr bwMode="auto">
            <a:xfrm>
              <a:off x="912" y="48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2" name="Line 21"/>
            <p:cNvSpPr>
              <a:spLocks noChangeShapeType="1"/>
            </p:cNvSpPr>
            <p:nvPr/>
          </p:nvSpPr>
          <p:spPr bwMode="auto">
            <a:xfrm>
              <a:off x="912" y="72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3" name="Line 22"/>
            <p:cNvSpPr>
              <a:spLocks noChangeShapeType="1"/>
            </p:cNvSpPr>
            <p:nvPr/>
          </p:nvSpPr>
          <p:spPr bwMode="auto">
            <a:xfrm>
              <a:off x="912" y="960"/>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4" name="Line 23"/>
            <p:cNvSpPr>
              <a:spLocks noChangeShapeType="1"/>
            </p:cNvSpPr>
            <p:nvPr/>
          </p:nvSpPr>
          <p:spPr bwMode="auto">
            <a:xfrm>
              <a:off x="912" y="1152"/>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5" name="Line 24"/>
            <p:cNvSpPr>
              <a:spLocks noChangeShapeType="1"/>
            </p:cNvSpPr>
            <p:nvPr/>
          </p:nvSpPr>
          <p:spPr bwMode="auto">
            <a:xfrm>
              <a:off x="912" y="1392"/>
              <a:ext cx="576"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7" name="Rectangle 42"/>
            <p:cNvSpPr>
              <a:spLocks noChangeArrowheads="1"/>
            </p:cNvSpPr>
            <p:nvPr/>
          </p:nvSpPr>
          <p:spPr bwMode="auto">
            <a:xfrm>
              <a:off x="1008" y="912"/>
              <a:ext cx="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41H</a:t>
              </a:r>
            </a:p>
          </p:txBody>
        </p:sp>
        <p:sp>
          <p:nvSpPr>
            <p:cNvPr id="28688" name="Rectangle 43"/>
            <p:cNvSpPr>
              <a:spLocks noChangeArrowheads="1"/>
            </p:cNvSpPr>
            <p:nvPr/>
          </p:nvSpPr>
          <p:spPr bwMode="auto">
            <a:xfrm>
              <a:off x="1015" y="690"/>
              <a:ext cx="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42H</a:t>
              </a:r>
            </a:p>
          </p:txBody>
        </p:sp>
        <p:sp>
          <p:nvSpPr>
            <p:cNvPr id="28689" name="Rectangle 44"/>
            <p:cNvSpPr>
              <a:spLocks noChangeArrowheads="1"/>
            </p:cNvSpPr>
            <p:nvPr/>
          </p:nvSpPr>
          <p:spPr bwMode="auto">
            <a:xfrm>
              <a:off x="1010" y="467"/>
              <a:ext cx="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43H</a:t>
              </a:r>
            </a:p>
          </p:txBody>
        </p:sp>
        <p:sp>
          <p:nvSpPr>
            <p:cNvPr id="28690" name="Rectangle 45"/>
            <p:cNvSpPr>
              <a:spLocks noChangeArrowheads="1"/>
            </p:cNvSpPr>
            <p:nvPr/>
          </p:nvSpPr>
          <p:spPr bwMode="auto">
            <a:xfrm>
              <a:off x="1008" y="215"/>
              <a:ext cx="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44H</a:t>
              </a:r>
            </a:p>
          </p:txBody>
        </p:sp>
        <p:sp>
          <p:nvSpPr>
            <p:cNvPr id="28697" name="Text Box 52"/>
            <p:cNvSpPr txBox="1">
              <a:spLocks noChangeArrowheads="1"/>
            </p:cNvSpPr>
            <p:nvPr/>
          </p:nvSpPr>
          <p:spPr bwMode="auto">
            <a:xfrm>
              <a:off x="116" y="240"/>
              <a:ext cx="8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t>STRING3</a:t>
              </a:r>
            </a:p>
          </p:txBody>
        </p:sp>
        <p:sp>
          <p:nvSpPr>
            <p:cNvPr id="28698" name="Text Box 56"/>
            <p:cNvSpPr txBox="1">
              <a:spLocks noChangeArrowheads="1"/>
            </p:cNvSpPr>
            <p:nvPr/>
          </p:nvSpPr>
          <p:spPr bwMode="auto">
            <a:xfrm>
              <a:off x="1457" y="93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‘A’</a:t>
              </a:r>
            </a:p>
          </p:txBody>
        </p:sp>
        <p:sp>
          <p:nvSpPr>
            <p:cNvPr id="28699" name="Text Box 57"/>
            <p:cNvSpPr txBox="1">
              <a:spLocks noChangeArrowheads="1"/>
            </p:cNvSpPr>
            <p:nvPr/>
          </p:nvSpPr>
          <p:spPr bwMode="auto">
            <a:xfrm>
              <a:off x="1455" y="729"/>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‘B’</a:t>
              </a:r>
            </a:p>
          </p:txBody>
        </p:sp>
        <p:sp>
          <p:nvSpPr>
            <p:cNvPr id="28700" name="Text Box 58"/>
            <p:cNvSpPr txBox="1">
              <a:spLocks noChangeArrowheads="1"/>
            </p:cNvSpPr>
            <p:nvPr/>
          </p:nvSpPr>
          <p:spPr bwMode="auto">
            <a:xfrm>
              <a:off x="1466" y="229"/>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‘D’</a:t>
              </a:r>
            </a:p>
          </p:txBody>
        </p:sp>
        <p:sp>
          <p:nvSpPr>
            <p:cNvPr id="28701" name="Text Box 59"/>
            <p:cNvSpPr txBox="1">
              <a:spLocks noChangeArrowheads="1"/>
            </p:cNvSpPr>
            <p:nvPr/>
          </p:nvSpPr>
          <p:spPr bwMode="auto">
            <a:xfrm>
              <a:off x="1445" y="493"/>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t>‘C’</a:t>
              </a:r>
            </a:p>
          </p:txBody>
        </p:sp>
        <p:sp>
          <p:nvSpPr>
            <p:cNvPr id="30" name="Text Box 52"/>
            <p:cNvSpPr txBox="1">
              <a:spLocks noChangeArrowheads="1"/>
            </p:cNvSpPr>
            <p:nvPr/>
          </p:nvSpPr>
          <p:spPr bwMode="auto">
            <a:xfrm>
              <a:off x="104" y="465"/>
              <a:ext cx="7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spcBef>
                  <a:spcPct val="50000"/>
                </a:spcBef>
              </a:pPr>
              <a:r>
                <a:rPr lang="en-US" altLang="zh-CN" sz="2400" b="1" dirty="0"/>
                <a:t>+1</a:t>
              </a:r>
            </a:p>
          </p:txBody>
        </p:sp>
        <p:sp>
          <p:nvSpPr>
            <p:cNvPr id="31" name="Text Box 52"/>
            <p:cNvSpPr txBox="1">
              <a:spLocks noChangeArrowheads="1"/>
            </p:cNvSpPr>
            <p:nvPr/>
          </p:nvSpPr>
          <p:spPr bwMode="auto">
            <a:xfrm>
              <a:off x="116" y="700"/>
              <a:ext cx="7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spcBef>
                  <a:spcPct val="50000"/>
                </a:spcBef>
              </a:pPr>
              <a:r>
                <a:rPr lang="en-US" altLang="zh-CN" sz="2400" b="1" dirty="0"/>
                <a:t>+2</a:t>
              </a:r>
            </a:p>
          </p:txBody>
        </p:sp>
        <p:sp>
          <p:nvSpPr>
            <p:cNvPr id="32" name="Text Box 52"/>
            <p:cNvSpPr txBox="1">
              <a:spLocks noChangeArrowheads="1"/>
            </p:cNvSpPr>
            <p:nvPr/>
          </p:nvSpPr>
          <p:spPr bwMode="auto">
            <a:xfrm>
              <a:off x="131" y="925"/>
              <a:ext cx="7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spcBef>
                  <a:spcPct val="50000"/>
                </a:spcBef>
              </a:pPr>
              <a:r>
                <a:rPr lang="en-US" altLang="zh-CN" sz="2400" b="1" dirty="0"/>
                <a:t>+3</a:t>
              </a:r>
            </a:p>
          </p:txBody>
        </p:sp>
      </p:grpSp>
      <p:sp>
        <p:nvSpPr>
          <p:cNvPr id="2" name="文本框 1"/>
          <p:cNvSpPr txBox="1"/>
          <p:nvPr/>
        </p:nvSpPr>
        <p:spPr>
          <a:xfrm>
            <a:off x="187020" y="3789040"/>
            <a:ext cx="8705460" cy="830997"/>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b="1" dirty="0">
                <a:solidFill>
                  <a:schemeClr val="bg2"/>
                </a:solidFill>
              </a:rPr>
              <a:t>对于类型更长的</a:t>
            </a:r>
            <a:r>
              <a:rPr lang="en-US" altLang="zh-CN" sz="2400" b="1" dirty="0" err="1">
                <a:solidFill>
                  <a:schemeClr val="bg2"/>
                </a:solidFill>
              </a:rPr>
              <a:t>df</a:t>
            </a:r>
            <a:r>
              <a:rPr lang="zh-CN" altLang="en-US" sz="2400" b="1" dirty="0">
                <a:solidFill>
                  <a:schemeClr val="bg2"/>
                </a:solidFill>
              </a:rPr>
              <a:t>、</a:t>
            </a:r>
            <a:r>
              <a:rPr lang="en-US" altLang="zh-CN" sz="2400" b="1" dirty="0" err="1">
                <a:solidFill>
                  <a:schemeClr val="bg2"/>
                </a:solidFill>
              </a:rPr>
              <a:t>dq</a:t>
            </a:r>
            <a:r>
              <a:rPr lang="zh-CN" altLang="en-US" sz="2400" b="1" dirty="0">
                <a:solidFill>
                  <a:schemeClr val="bg2"/>
                </a:solidFill>
              </a:rPr>
              <a:t>伪指令也只能使用不超过</a:t>
            </a:r>
            <a:r>
              <a:rPr lang="en-US" altLang="zh-CN" sz="2400" b="1" dirty="0">
                <a:solidFill>
                  <a:schemeClr val="bg2"/>
                </a:solidFill>
              </a:rPr>
              <a:t>4</a:t>
            </a:r>
            <a:r>
              <a:rPr lang="zh-CN" altLang="en-US" sz="2400" b="1" dirty="0">
                <a:solidFill>
                  <a:schemeClr val="bg2"/>
                </a:solidFill>
              </a:rPr>
              <a:t>个字符的字符串进行初始化，</a:t>
            </a:r>
            <a:r>
              <a:rPr lang="zh-CN" altLang="en-US" sz="2400" b="1" dirty="0">
                <a:solidFill>
                  <a:srgbClr val="FF0000"/>
                </a:solidFill>
              </a:rPr>
              <a:t>超过</a:t>
            </a:r>
            <a:r>
              <a:rPr lang="en-US" altLang="zh-CN" sz="2400" b="1" dirty="0">
                <a:solidFill>
                  <a:srgbClr val="FF0000"/>
                </a:solidFill>
              </a:rPr>
              <a:t>4</a:t>
            </a:r>
            <a:r>
              <a:rPr lang="zh-CN" altLang="en-US" sz="2400" b="1" dirty="0">
                <a:solidFill>
                  <a:srgbClr val="FF0000"/>
                </a:solidFill>
              </a:rPr>
              <a:t>个字符则出错</a:t>
            </a:r>
            <a:r>
              <a:rPr lang="zh-CN" altLang="en-US" sz="2400" b="1" dirty="0">
                <a:solidFill>
                  <a:schemeClr val="bg2"/>
                </a:solidFill>
              </a:rPr>
              <a:t>。</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6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86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86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867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867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286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28676">
                                            <p:bg/>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499"/>
                                          </p:stCondLst>
                                        </p:cTn>
                                        <p:tgtEl>
                                          <p:spTgt spid="28676">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2867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nimBg="1" autoUpdateAnimBg="0"/>
      <p:bldP spid="28676" grpId="0" uiExpand="1" build="p" animBg="1" autoUpdateAnimBg="0"/>
      <p:bldP spid="28677" grpId="0" uiExpand="1" build="p" autoUpdateAnimBg="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704F3487-13A2-468F-B846-E31ED63C2F34}" type="slidenum">
              <a:rPr lang="en-US" altLang="zh-CN" sz="1400">
                <a:solidFill>
                  <a:schemeClr val="bg2"/>
                </a:solidFill>
              </a:rPr>
              <a:pPr algn="r" eaLnBrk="1" hangingPunct="1"/>
              <a:t>19</a:t>
            </a:fld>
            <a:endParaRPr lang="en-US" altLang="zh-CN" sz="1400" dirty="0">
              <a:solidFill>
                <a:schemeClr val="bg2"/>
              </a:solidFill>
            </a:endParaRPr>
          </a:p>
        </p:txBody>
      </p:sp>
      <p:sp>
        <p:nvSpPr>
          <p:cNvPr id="29699" name="Rectangle 3"/>
          <p:cNvSpPr>
            <a:spLocks noChangeArrowheads="1"/>
          </p:cNvSpPr>
          <p:nvPr/>
        </p:nvSpPr>
        <p:spPr bwMode="auto">
          <a:xfrm>
            <a:off x="990600" y="406400"/>
            <a:ext cx="2871788" cy="5191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b="1" dirty="0">
                <a:solidFill>
                  <a:schemeClr val="hlink"/>
                </a:solidFill>
              </a:rPr>
              <a:t>（</a:t>
            </a:r>
            <a:r>
              <a:rPr lang="en-US" altLang="zh-CN" b="1" dirty="0">
                <a:solidFill>
                  <a:schemeClr val="hlink"/>
                </a:solidFill>
              </a:rPr>
              <a:t>4</a:t>
            </a:r>
            <a:r>
              <a:rPr lang="zh-CN" altLang="en-US" b="1" dirty="0">
                <a:solidFill>
                  <a:schemeClr val="hlink"/>
                </a:solidFill>
              </a:rPr>
              <a:t>）</a:t>
            </a:r>
            <a:r>
              <a:rPr lang="en-US" altLang="zh-CN" b="1" dirty="0">
                <a:solidFill>
                  <a:schemeClr val="hlink"/>
                </a:solidFill>
              </a:rPr>
              <a:t>DUP</a:t>
            </a:r>
            <a:r>
              <a:rPr lang="zh-CN" altLang="en-US" b="1" dirty="0">
                <a:solidFill>
                  <a:schemeClr val="hlink"/>
                </a:solidFill>
              </a:rPr>
              <a:t>表达式</a:t>
            </a:r>
          </a:p>
        </p:txBody>
      </p:sp>
      <p:sp>
        <p:nvSpPr>
          <p:cNvPr id="29700" name="Rectangle 4"/>
          <p:cNvSpPr>
            <a:spLocks noChangeArrowheads="1"/>
          </p:cNvSpPr>
          <p:nvPr/>
        </p:nvSpPr>
        <p:spPr bwMode="auto">
          <a:xfrm>
            <a:off x="914400" y="1066800"/>
            <a:ext cx="3871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t>DUP</a:t>
            </a:r>
            <a:r>
              <a:rPr lang="zh-CN" altLang="en-US" sz="2400" b="1"/>
              <a:t>称为重复数据操作符。</a:t>
            </a:r>
          </a:p>
        </p:txBody>
      </p:sp>
      <p:sp>
        <p:nvSpPr>
          <p:cNvPr id="29701" name="Rectangle 5"/>
          <p:cNvSpPr>
            <a:spLocks noChangeArrowheads="1"/>
          </p:cNvSpPr>
          <p:nvPr/>
        </p:nvSpPr>
        <p:spPr bwMode="auto">
          <a:xfrm>
            <a:off x="914400" y="1676400"/>
            <a:ext cx="42210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t>使用</a:t>
            </a:r>
            <a:r>
              <a:rPr lang="en-US" altLang="zh-CN" sz="2400" b="1" dirty="0"/>
              <a:t>DUP</a:t>
            </a:r>
            <a:r>
              <a:rPr lang="zh-CN" altLang="en-US" sz="2400" b="1" dirty="0"/>
              <a:t>表达式的一般格式：</a:t>
            </a:r>
          </a:p>
        </p:txBody>
      </p:sp>
      <p:grpSp>
        <p:nvGrpSpPr>
          <p:cNvPr id="29702" name="Group 6"/>
          <p:cNvGrpSpPr>
            <a:grpSpLocks/>
          </p:cNvGrpSpPr>
          <p:nvPr/>
        </p:nvGrpSpPr>
        <p:grpSpPr bwMode="auto">
          <a:xfrm>
            <a:off x="990600" y="2170112"/>
            <a:ext cx="6172200" cy="1570038"/>
            <a:chOff x="0" y="-121"/>
            <a:chExt cx="3888" cy="989"/>
          </a:xfrm>
        </p:grpSpPr>
        <p:sp>
          <p:nvSpPr>
            <p:cNvPr id="29703" name="Text Box 6"/>
            <p:cNvSpPr txBox="1">
              <a:spLocks noChangeArrowheads="1"/>
            </p:cNvSpPr>
            <p:nvPr/>
          </p:nvSpPr>
          <p:spPr bwMode="auto">
            <a:xfrm>
              <a:off x="0" y="-121"/>
              <a:ext cx="3888" cy="98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                 DB   </a:t>
              </a:r>
              <a:br>
                <a:rPr lang="en-US" altLang="zh-CN" sz="2400" b="1" dirty="0">
                  <a:solidFill>
                    <a:schemeClr val="bg2"/>
                  </a:solidFill>
                </a:rPr>
              </a:br>
              <a:r>
                <a:rPr lang="zh-CN" altLang="en-US" sz="2400" b="1" dirty="0">
                  <a:solidFill>
                    <a:schemeClr val="bg2"/>
                  </a:solidFill>
                </a:rPr>
                <a:t>变量名     </a:t>
              </a:r>
              <a:r>
                <a:rPr lang="en-US" altLang="zh-CN" sz="2400" b="1" dirty="0">
                  <a:solidFill>
                    <a:schemeClr val="bg2"/>
                  </a:solidFill>
                </a:rPr>
                <a:t>DW      </a:t>
              </a:r>
              <a:r>
                <a:rPr lang="zh-CN" altLang="en-US" sz="2400" b="1" dirty="0">
                  <a:solidFill>
                    <a:schemeClr val="bg2"/>
                  </a:solidFill>
                </a:rPr>
                <a:t>表达式</a:t>
              </a:r>
              <a:r>
                <a:rPr lang="en-US" altLang="zh-CN" sz="2400" b="1" dirty="0">
                  <a:solidFill>
                    <a:schemeClr val="bg2"/>
                  </a:solidFill>
                </a:rPr>
                <a:t>1   DUP (</a:t>
              </a:r>
              <a:r>
                <a:rPr lang="zh-CN" altLang="en-US" sz="2400" b="1" dirty="0">
                  <a:solidFill>
                    <a:schemeClr val="bg2"/>
                  </a:solidFill>
                </a:rPr>
                <a:t>表达式</a:t>
              </a:r>
              <a:r>
                <a:rPr lang="en-US" altLang="zh-CN" sz="2400" b="1" dirty="0">
                  <a:solidFill>
                    <a:schemeClr val="bg2"/>
                  </a:solidFill>
                </a:rPr>
                <a:t>2)</a:t>
              </a:r>
              <a:br>
                <a:rPr lang="en-US" altLang="zh-CN" sz="2400" b="1" dirty="0">
                  <a:solidFill>
                    <a:schemeClr val="bg2"/>
                  </a:solidFill>
                </a:rPr>
              </a:br>
              <a:r>
                <a:rPr lang="en-US" altLang="zh-CN" sz="2400" b="1" dirty="0">
                  <a:solidFill>
                    <a:schemeClr val="bg2"/>
                  </a:solidFill>
                </a:rPr>
                <a:t>                 DD</a:t>
              </a:r>
              <a:br>
                <a:rPr lang="en-US" altLang="zh-CN" sz="2400" b="1" dirty="0">
                  <a:solidFill>
                    <a:schemeClr val="bg2"/>
                  </a:solidFill>
                </a:rPr>
              </a:br>
              <a:r>
                <a:rPr lang="en-US" altLang="zh-CN" sz="2400" b="1" dirty="0">
                  <a:solidFill>
                    <a:schemeClr val="bg2"/>
                  </a:solidFill>
                </a:rPr>
                <a:t>                  … </a:t>
              </a:r>
            </a:p>
          </p:txBody>
        </p:sp>
        <p:sp>
          <p:nvSpPr>
            <p:cNvPr id="29704" name="AutoShape 7"/>
            <p:cNvSpPr>
              <a:spLocks/>
            </p:cNvSpPr>
            <p:nvPr/>
          </p:nvSpPr>
          <p:spPr bwMode="auto">
            <a:xfrm>
              <a:off x="720" y="-45"/>
              <a:ext cx="39" cy="820"/>
            </a:xfrm>
            <a:prstGeom prst="leftBrace">
              <a:avLst>
                <a:gd name="adj1" fmla="val 91667"/>
                <a:gd name="adj2" fmla="val 50000"/>
              </a:avLst>
            </a:pr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a:p>
          </p:txBody>
        </p:sp>
        <p:sp>
          <p:nvSpPr>
            <p:cNvPr id="29705" name="AutoShape 8"/>
            <p:cNvSpPr>
              <a:spLocks/>
            </p:cNvSpPr>
            <p:nvPr/>
          </p:nvSpPr>
          <p:spPr bwMode="auto">
            <a:xfrm>
              <a:off x="1248" y="-45"/>
              <a:ext cx="55" cy="820"/>
            </a:xfrm>
            <a:prstGeom prst="rightBrace">
              <a:avLst>
                <a:gd name="adj1" fmla="val 45833"/>
                <a:gd name="adj2" fmla="val 50000"/>
              </a:avLst>
            </a:pr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a:p>
          </p:txBody>
        </p:sp>
      </p:grpSp>
      <p:sp>
        <p:nvSpPr>
          <p:cNvPr id="29706" name="Text Box 9"/>
          <p:cNvSpPr txBox="1">
            <a:spLocks noChangeArrowheads="1"/>
          </p:cNvSpPr>
          <p:nvPr/>
        </p:nvSpPr>
        <p:spPr bwMode="auto">
          <a:xfrm>
            <a:off x="609600" y="37338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t>其中：表达式</a:t>
            </a:r>
            <a:r>
              <a:rPr lang="en-US" altLang="zh-CN" sz="2400" b="1"/>
              <a:t>1</a:t>
            </a:r>
            <a:r>
              <a:rPr lang="zh-CN" altLang="en-US" sz="2400" b="1"/>
              <a:t>是重复的次数，表达式</a:t>
            </a:r>
            <a:r>
              <a:rPr lang="en-US" altLang="zh-CN" sz="2400" b="1"/>
              <a:t>2</a:t>
            </a:r>
            <a:r>
              <a:rPr lang="zh-CN" altLang="en-US" sz="2400" b="1"/>
              <a:t>是重复的内容。</a:t>
            </a:r>
          </a:p>
        </p:txBody>
      </p:sp>
      <p:sp>
        <p:nvSpPr>
          <p:cNvPr id="29707" name="Text Box 10"/>
          <p:cNvSpPr txBox="1">
            <a:spLocks noChangeArrowheads="1"/>
          </p:cNvSpPr>
          <p:nvPr/>
        </p:nvSpPr>
        <p:spPr bwMode="auto">
          <a:xfrm>
            <a:off x="468313" y="4292600"/>
            <a:ext cx="5327650" cy="46166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例如：</a:t>
            </a:r>
            <a:r>
              <a:rPr lang="en-US" altLang="zh-CN" sz="2400" b="1" dirty="0">
                <a:solidFill>
                  <a:schemeClr val="bg2"/>
                </a:solidFill>
              </a:rPr>
              <a:t>DATA_A  DB   10H  DUP(?)</a:t>
            </a:r>
          </a:p>
        </p:txBody>
      </p:sp>
      <p:sp>
        <p:nvSpPr>
          <p:cNvPr id="29708" name="AutoShape 13"/>
          <p:cNvSpPr>
            <a:spLocks noChangeArrowheads="1"/>
          </p:cNvSpPr>
          <p:nvPr/>
        </p:nvSpPr>
        <p:spPr bwMode="auto">
          <a:xfrm>
            <a:off x="5940425" y="4652963"/>
            <a:ext cx="2952750" cy="504825"/>
          </a:xfrm>
          <a:prstGeom prst="wedgeRoundRectCallout">
            <a:avLst>
              <a:gd name="adj1" fmla="val -120324"/>
              <a:gd name="adj2" fmla="val -46542"/>
              <a:gd name="adj3" fmla="val 16667"/>
            </a:avLst>
          </a:prstGeom>
          <a:solidFill>
            <a:schemeClr val="accent1"/>
          </a:solidFill>
          <a:ln w="9525" cmpd="sng">
            <a:solidFill>
              <a:schemeClr val="tx1"/>
            </a:solidFill>
            <a:miter lim="800000"/>
            <a:headEnd/>
            <a:tailEnd/>
          </a:ln>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分配</a:t>
            </a:r>
            <a:r>
              <a:rPr lang="en-US" altLang="zh-CN" sz="2400" b="1">
                <a:solidFill>
                  <a:schemeClr val="bg2"/>
                </a:solidFill>
              </a:rPr>
              <a:t>16</a:t>
            </a:r>
            <a:r>
              <a:rPr lang="zh-CN" altLang="en-US" sz="2400" b="1">
                <a:solidFill>
                  <a:schemeClr val="bg2"/>
                </a:solidFill>
              </a:rPr>
              <a:t>个字节单元</a:t>
            </a:r>
          </a:p>
        </p:txBody>
      </p:sp>
      <p:sp>
        <p:nvSpPr>
          <p:cNvPr id="14" name="Text Box 10"/>
          <p:cNvSpPr txBox="1">
            <a:spLocks noChangeArrowheads="1"/>
          </p:cNvSpPr>
          <p:nvPr/>
        </p:nvSpPr>
        <p:spPr bwMode="auto">
          <a:xfrm>
            <a:off x="468313" y="4896148"/>
            <a:ext cx="5327650" cy="46166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            DATA_B  DB   20H  DUP(‘AB’)</a:t>
            </a:r>
          </a:p>
        </p:txBody>
      </p:sp>
      <p:sp>
        <p:nvSpPr>
          <p:cNvPr id="29709" name="AutoShape 14"/>
          <p:cNvSpPr>
            <a:spLocks noChangeArrowheads="1"/>
          </p:cNvSpPr>
          <p:nvPr/>
        </p:nvSpPr>
        <p:spPr bwMode="auto">
          <a:xfrm>
            <a:off x="3744119" y="5556597"/>
            <a:ext cx="4392612" cy="863600"/>
          </a:xfrm>
          <a:prstGeom prst="wedgeRoundRectCallout">
            <a:avLst>
              <a:gd name="adj1" fmla="val -50541"/>
              <a:gd name="adj2" fmla="val -83640"/>
              <a:gd name="adj3" fmla="val 16667"/>
            </a:avLst>
          </a:prstGeom>
          <a:solidFill>
            <a:schemeClr val="accent1"/>
          </a:solidFill>
          <a:ln w="9525" cmpd="sng">
            <a:solidFill>
              <a:schemeClr val="tx1"/>
            </a:solidFill>
            <a:miter lim="800000"/>
            <a:headEnd/>
            <a:tailEnd/>
          </a:ln>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r>
              <a:rPr lang="zh-CN" altLang="en-US" sz="2400" b="1">
                <a:solidFill>
                  <a:schemeClr val="bg2"/>
                </a:solidFill>
              </a:rPr>
              <a:t>分配</a:t>
            </a:r>
            <a:r>
              <a:rPr lang="en-US" altLang="zh-CN" sz="2400" b="1">
                <a:solidFill>
                  <a:schemeClr val="bg2"/>
                </a:solidFill>
              </a:rPr>
              <a:t>20H*2=40H</a:t>
            </a:r>
            <a:r>
              <a:rPr lang="zh-CN" altLang="en-US" sz="2400" b="1">
                <a:solidFill>
                  <a:schemeClr val="bg2"/>
                </a:solidFill>
              </a:rPr>
              <a:t>个 字节，其内容为重复字符串‘</a:t>
            </a:r>
            <a:r>
              <a:rPr lang="en-US" altLang="zh-CN" sz="2400" b="1">
                <a:solidFill>
                  <a:schemeClr val="bg2"/>
                </a:solidFill>
              </a:rPr>
              <a:t>AB’</a:t>
            </a:r>
            <a:r>
              <a:rPr lang="zh-CN" altLang="en-US" sz="2400" b="1">
                <a:solidFill>
                  <a:schemeClr val="bg2"/>
                </a:solidFill>
              </a:rPr>
              <a:t>。</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96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70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70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970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970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9707"/>
                                        </p:tgtEl>
                                        <p:attrNameLst>
                                          <p:attrName>style.visibility</p:attrName>
                                        </p:attrNameLst>
                                      </p:cBhvr>
                                      <p:to>
                                        <p:strVal val="visible"/>
                                      </p:to>
                                    </p:set>
                                    <p:animEffect transition="in" filter="wipe(down)">
                                      <p:cBhvr>
                                        <p:cTn id="27" dur="500"/>
                                        <p:tgtEl>
                                          <p:spTgt spid="2970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9708"/>
                                        </p:tgtEl>
                                        <p:attrNameLst>
                                          <p:attrName>style.visibility</p:attrName>
                                        </p:attrNameLst>
                                      </p:cBhvr>
                                      <p:to>
                                        <p:strVal val="visible"/>
                                      </p:to>
                                    </p:set>
                                    <p:animEffect transition="in" filter="box(out)">
                                      <p:cBhvr>
                                        <p:cTn id="32" dur="500"/>
                                        <p:tgtEl>
                                          <p:spTgt spid="297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down)">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9709"/>
                                        </p:tgtEl>
                                        <p:attrNameLst>
                                          <p:attrName>style.visibility</p:attrName>
                                        </p:attrNameLst>
                                      </p:cBhvr>
                                      <p:to>
                                        <p:strVal val="visible"/>
                                      </p:to>
                                    </p:set>
                                    <p:animEffect transition="in" filter="box(out)">
                                      <p:cBhvr>
                                        <p:cTn id="42" dur="500"/>
                                        <p:tgtEl>
                                          <p:spTgt spid="29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nimBg="1" autoUpdateAnimBg="0"/>
      <p:bldP spid="29700" grpId="0" autoUpdateAnimBg="0"/>
      <p:bldP spid="29701" grpId="0" autoUpdateAnimBg="0"/>
      <p:bldP spid="29706" grpId="0" autoUpdateAnimBg="0"/>
      <p:bldP spid="29707" grpId="0" animBg="1"/>
      <p:bldP spid="29708" grpId="0" animBg="1" autoUpdateAnimBg="0"/>
      <p:bldP spid="14" grpId="0" animBg="1"/>
      <p:bldP spid="29709"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74625" y="304800"/>
            <a:ext cx="8905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rgbClr val="0066FF"/>
                </a:solidFill>
              </a:rPr>
              <a:t>DUP</a:t>
            </a:r>
            <a:r>
              <a:rPr lang="zh-CN" altLang="en-US" sz="2400" b="1" dirty="0">
                <a:solidFill>
                  <a:srgbClr val="0066FF"/>
                </a:solidFill>
              </a:rPr>
              <a:t>还可以嵌套使用</a:t>
            </a:r>
            <a:r>
              <a:rPr lang="zh-CN" altLang="en-US" sz="2400" b="1" dirty="0">
                <a:solidFill>
                  <a:schemeClr val="bg2"/>
                </a:solidFill>
              </a:rPr>
              <a:t>：表达式</a:t>
            </a:r>
            <a:r>
              <a:rPr lang="en-US" altLang="zh-CN" sz="2400" b="1" dirty="0">
                <a:solidFill>
                  <a:schemeClr val="bg2"/>
                </a:solidFill>
              </a:rPr>
              <a:t>2</a:t>
            </a:r>
            <a:r>
              <a:rPr lang="zh-CN" altLang="en-US" sz="2400" b="1" dirty="0">
                <a:solidFill>
                  <a:schemeClr val="bg2"/>
                </a:solidFill>
              </a:rPr>
              <a:t>又可以是一个带</a:t>
            </a:r>
            <a:r>
              <a:rPr lang="en-US" altLang="zh-CN" sz="2400" b="1" dirty="0">
                <a:solidFill>
                  <a:schemeClr val="bg2"/>
                </a:solidFill>
              </a:rPr>
              <a:t>DUP</a:t>
            </a:r>
            <a:r>
              <a:rPr lang="zh-CN" altLang="en-US" sz="2400" b="1" dirty="0">
                <a:solidFill>
                  <a:schemeClr val="bg2"/>
                </a:solidFill>
              </a:rPr>
              <a:t>的表达式。</a:t>
            </a:r>
          </a:p>
        </p:txBody>
      </p:sp>
      <p:sp>
        <p:nvSpPr>
          <p:cNvPr id="3" name="Text Box 3"/>
          <p:cNvSpPr txBox="1">
            <a:spLocks noChangeArrowheads="1"/>
          </p:cNvSpPr>
          <p:nvPr/>
        </p:nvSpPr>
        <p:spPr bwMode="auto">
          <a:xfrm>
            <a:off x="762000" y="990600"/>
            <a:ext cx="6474296" cy="461665"/>
          </a:xfrm>
          <a:prstGeom prst="rect">
            <a:avLst/>
          </a:prstGeom>
          <a:solidFill>
            <a:schemeClr val="accent2"/>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例如：</a:t>
            </a:r>
            <a:r>
              <a:rPr lang="en-US" altLang="zh-CN" sz="2400" b="1" dirty="0">
                <a:solidFill>
                  <a:schemeClr val="bg2"/>
                </a:solidFill>
              </a:rPr>
              <a:t>DATA_C   DB   10H  DUP(4  DUP(2),7)</a:t>
            </a:r>
            <a:endParaRPr lang="zh-CN" altLang="en-US" sz="2400" b="1" dirty="0">
              <a:solidFill>
                <a:schemeClr val="bg2"/>
              </a:solidFill>
            </a:endParaRPr>
          </a:p>
        </p:txBody>
      </p:sp>
      <p:sp>
        <p:nvSpPr>
          <p:cNvPr id="4" name="Text Box 3"/>
          <p:cNvSpPr txBox="1">
            <a:spLocks noChangeArrowheads="1"/>
          </p:cNvSpPr>
          <p:nvPr/>
        </p:nvSpPr>
        <p:spPr bwMode="auto">
          <a:xfrm>
            <a:off x="763488" y="1844824"/>
            <a:ext cx="6618312" cy="830997"/>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重复</a:t>
            </a:r>
            <a:r>
              <a:rPr lang="en-US" altLang="zh-CN" sz="2400" b="1" dirty="0">
                <a:solidFill>
                  <a:schemeClr val="bg2"/>
                </a:solidFill>
              </a:rPr>
              <a:t>10H</a:t>
            </a:r>
            <a:r>
              <a:rPr lang="zh-CN" altLang="en-US" sz="2400" b="1" dirty="0">
                <a:solidFill>
                  <a:schemeClr val="bg2"/>
                </a:solidFill>
              </a:rPr>
              <a:t>个数字序列“</a:t>
            </a:r>
            <a:r>
              <a:rPr lang="en-US" altLang="zh-CN" sz="2400" b="1" dirty="0">
                <a:solidFill>
                  <a:schemeClr val="bg2"/>
                </a:solidFill>
              </a:rPr>
              <a:t>2</a:t>
            </a:r>
            <a:r>
              <a:rPr lang="zh-CN" altLang="en-US" sz="2400" b="1" dirty="0">
                <a:solidFill>
                  <a:schemeClr val="bg2"/>
                </a:solidFill>
              </a:rPr>
              <a:t>，</a:t>
            </a:r>
            <a:r>
              <a:rPr lang="en-US" altLang="zh-CN" sz="2400" b="1" dirty="0">
                <a:solidFill>
                  <a:schemeClr val="bg2"/>
                </a:solidFill>
              </a:rPr>
              <a:t>2</a:t>
            </a:r>
            <a:r>
              <a:rPr lang="zh-CN" altLang="en-US" sz="2400" b="1" dirty="0">
                <a:solidFill>
                  <a:schemeClr val="bg2"/>
                </a:solidFill>
              </a:rPr>
              <a:t>，</a:t>
            </a:r>
            <a:r>
              <a:rPr lang="en-US" altLang="zh-CN" sz="2400" b="1" dirty="0">
                <a:solidFill>
                  <a:schemeClr val="bg2"/>
                </a:solidFill>
              </a:rPr>
              <a:t>2</a:t>
            </a:r>
            <a:r>
              <a:rPr lang="zh-CN" altLang="en-US" sz="2400" b="1" dirty="0">
                <a:solidFill>
                  <a:schemeClr val="bg2"/>
                </a:solidFill>
              </a:rPr>
              <a:t>，</a:t>
            </a:r>
            <a:r>
              <a:rPr lang="en-US" altLang="zh-CN" sz="2400" b="1" dirty="0">
                <a:solidFill>
                  <a:schemeClr val="bg2"/>
                </a:solidFill>
              </a:rPr>
              <a:t>2</a:t>
            </a:r>
            <a:r>
              <a:rPr lang="zh-CN" altLang="en-US" sz="2400" b="1" dirty="0">
                <a:solidFill>
                  <a:schemeClr val="bg2"/>
                </a:solidFill>
              </a:rPr>
              <a:t>，</a:t>
            </a:r>
            <a:r>
              <a:rPr lang="en-US" altLang="zh-CN" sz="2400" b="1" dirty="0">
                <a:solidFill>
                  <a:schemeClr val="bg2"/>
                </a:solidFill>
              </a:rPr>
              <a:t>7”</a:t>
            </a:r>
            <a:r>
              <a:rPr lang="zh-CN" altLang="en-US" sz="2400" b="1" dirty="0">
                <a:solidFill>
                  <a:schemeClr val="bg2"/>
                </a:solidFill>
              </a:rPr>
              <a:t>，共占用</a:t>
            </a:r>
            <a:r>
              <a:rPr lang="en-US" altLang="zh-CN" sz="2400" b="1" dirty="0">
                <a:solidFill>
                  <a:schemeClr val="bg2"/>
                </a:solidFill>
              </a:rPr>
              <a:t>10H*5=50H</a:t>
            </a:r>
            <a:r>
              <a:rPr lang="zh-CN" altLang="en-US" sz="2400" b="1" dirty="0">
                <a:solidFill>
                  <a:schemeClr val="bg2"/>
                </a:solidFill>
              </a:rPr>
              <a:t>个字节。</a:t>
            </a:r>
          </a:p>
        </p:txBody>
      </p:sp>
      <p:sp>
        <p:nvSpPr>
          <p:cNvPr id="5"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704F3487-13A2-468F-B846-E31ED63C2F34}" type="slidenum">
              <a:rPr lang="en-US" altLang="zh-CN" sz="1400">
                <a:solidFill>
                  <a:schemeClr val="bg2"/>
                </a:solidFill>
              </a:rPr>
              <a:pPr algn="r" eaLnBrk="1" hangingPunct="1"/>
              <a:t>20</a:t>
            </a:fld>
            <a:endParaRPr lang="en-US" altLang="zh-CN" sz="1400" dirty="0">
              <a:solidFill>
                <a:schemeClr val="bg2"/>
              </a:solidFill>
            </a:endParaRPr>
          </a:p>
        </p:txBody>
      </p:sp>
    </p:spTree>
    <p:extLst>
      <p:ext uri="{BB962C8B-B14F-4D97-AF65-F5344CB8AC3E}">
        <p14:creationId xmlns:p14="http://schemas.microsoft.com/office/powerpoint/2010/main" val="425715832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nimBg="1" autoUpdateAnimBg="0"/>
      <p:bldP spid="4"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D445CC72-20CC-4860-8E33-7A2491172E83}" type="slidenum">
              <a:rPr lang="en-US" altLang="zh-CN" sz="1400">
                <a:solidFill>
                  <a:schemeClr val="bg2"/>
                </a:solidFill>
              </a:rPr>
              <a:pPr algn="r" eaLnBrk="1" hangingPunct="1"/>
              <a:t>21</a:t>
            </a:fld>
            <a:endParaRPr lang="en-US" altLang="zh-CN" sz="1400">
              <a:solidFill>
                <a:schemeClr val="bg2"/>
              </a:solidFill>
            </a:endParaRPr>
          </a:p>
        </p:txBody>
      </p:sp>
      <p:sp>
        <p:nvSpPr>
          <p:cNvPr id="30725" name="Rectangle 4"/>
          <p:cNvSpPr>
            <a:spLocks noChangeArrowheads="1"/>
          </p:cNvSpPr>
          <p:nvPr/>
        </p:nvSpPr>
        <p:spPr bwMode="auto">
          <a:xfrm>
            <a:off x="1403648" y="260648"/>
            <a:ext cx="2228850" cy="51911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b="1" dirty="0">
                <a:solidFill>
                  <a:schemeClr val="hlink"/>
                </a:solidFill>
              </a:rPr>
              <a:t>2.</a:t>
            </a:r>
            <a:r>
              <a:rPr lang="zh-CN" altLang="en-US" b="1" dirty="0">
                <a:solidFill>
                  <a:schemeClr val="hlink"/>
                </a:solidFill>
              </a:rPr>
              <a:t>变量的使用</a:t>
            </a:r>
          </a:p>
        </p:txBody>
      </p:sp>
      <p:sp>
        <p:nvSpPr>
          <p:cNvPr id="30726" name="Rectangle 5"/>
          <p:cNvSpPr>
            <a:spLocks noChangeArrowheads="1"/>
          </p:cNvSpPr>
          <p:nvPr/>
        </p:nvSpPr>
        <p:spPr bwMode="auto">
          <a:xfrm>
            <a:off x="323528" y="1206351"/>
            <a:ext cx="3743325"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1</a:t>
            </a:r>
            <a:r>
              <a:rPr lang="zh-CN" altLang="en-US" sz="2400" b="1" dirty="0">
                <a:solidFill>
                  <a:schemeClr val="bg2"/>
                </a:solidFill>
              </a:rPr>
              <a:t>）在指令语句中引用</a:t>
            </a:r>
          </a:p>
        </p:txBody>
      </p:sp>
      <p:sp>
        <p:nvSpPr>
          <p:cNvPr id="30727" name="Text Box 6"/>
          <p:cNvSpPr txBox="1">
            <a:spLocks noChangeArrowheads="1"/>
          </p:cNvSpPr>
          <p:nvPr/>
        </p:nvSpPr>
        <p:spPr bwMode="auto">
          <a:xfrm>
            <a:off x="899592" y="2852936"/>
            <a:ext cx="7010400" cy="2862322"/>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例如：</a:t>
            </a:r>
            <a:r>
              <a:rPr lang="en-US" altLang="zh-CN" sz="2400" b="1" dirty="0">
                <a:solidFill>
                  <a:schemeClr val="bg2"/>
                </a:solidFill>
              </a:rPr>
              <a:t>DA1   DB   0FEH</a:t>
            </a:r>
            <a:br>
              <a:rPr lang="en-US" altLang="zh-CN" sz="2400" b="1" dirty="0">
                <a:solidFill>
                  <a:schemeClr val="bg2"/>
                </a:solidFill>
              </a:rPr>
            </a:br>
            <a:r>
              <a:rPr lang="en-US" altLang="zh-CN" sz="2400" b="1" dirty="0">
                <a:solidFill>
                  <a:schemeClr val="bg2"/>
                </a:solidFill>
              </a:rPr>
              <a:t>            DA2   DW   52ACH</a:t>
            </a:r>
          </a:p>
          <a:p>
            <a:pPr eaLnBrk="1" hangingPunct="1">
              <a:spcBef>
                <a:spcPct val="50000"/>
              </a:spcBef>
            </a:pPr>
            <a:r>
              <a:rPr lang="en-US" altLang="zh-CN" sz="2400" b="1" dirty="0">
                <a:solidFill>
                  <a:schemeClr val="bg2"/>
                </a:solidFill>
              </a:rPr>
              <a:t>             DA3  DW   0</a:t>
            </a:r>
            <a:br>
              <a:rPr lang="en-US" altLang="zh-CN" sz="2400" b="1" dirty="0">
                <a:solidFill>
                  <a:schemeClr val="bg2"/>
                </a:solidFill>
              </a:rPr>
            </a:br>
            <a:r>
              <a:rPr lang="en-US" altLang="zh-CN" sz="2400" b="1" dirty="0">
                <a:solidFill>
                  <a:schemeClr val="bg2"/>
                </a:solidFill>
              </a:rPr>
              <a:t>            ……</a:t>
            </a:r>
            <a:br>
              <a:rPr lang="en-US" altLang="zh-CN" sz="2400" b="1" dirty="0">
                <a:solidFill>
                  <a:schemeClr val="bg2"/>
                </a:solidFill>
              </a:rPr>
            </a:br>
            <a:r>
              <a:rPr lang="en-US" altLang="zh-CN" sz="2400" b="1" dirty="0">
                <a:solidFill>
                  <a:schemeClr val="bg2"/>
                </a:solidFill>
              </a:rPr>
              <a:t>            MOV  AL,DA1   ;</a:t>
            </a:r>
            <a:r>
              <a:rPr lang="zh-CN" altLang="en-US" sz="2400" b="1" dirty="0">
                <a:solidFill>
                  <a:schemeClr val="bg2"/>
                </a:solidFill>
              </a:rPr>
              <a:t>将0</a:t>
            </a:r>
            <a:r>
              <a:rPr lang="en-US" altLang="zh-CN" sz="2400" b="1" dirty="0">
                <a:solidFill>
                  <a:schemeClr val="bg2"/>
                </a:solidFill>
              </a:rPr>
              <a:t>FEH</a:t>
            </a:r>
            <a:r>
              <a:rPr lang="zh-CN" altLang="en-US" sz="2400" b="1" dirty="0">
                <a:solidFill>
                  <a:schemeClr val="bg2"/>
                </a:solidFill>
              </a:rPr>
              <a:t>传送到</a:t>
            </a:r>
            <a:r>
              <a:rPr lang="en-US" altLang="zh-CN" sz="2400" b="1" dirty="0">
                <a:solidFill>
                  <a:schemeClr val="bg2"/>
                </a:solidFill>
              </a:rPr>
              <a:t>AL</a:t>
            </a:r>
            <a:r>
              <a:rPr lang="zh-CN" altLang="en-US" sz="2400" b="1" dirty="0">
                <a:solidFill>
                  <a:schemeClr val="bg2"/>
                </a:solidFill>
              </a:rPr>
              <a:t>中</a:t>
            </a:r>
            <a:br>
              <a:rPr lang="zh-CN" altLang="en-US" sz="2400" b="1" dirty="0">
                <a:solidFill>
                  <a:schemeClr val="bg2"/>
                </a:solidFill>
              </a:rPr>
            </a:br>
            <a:r>
              <a:rPr lang="zh-CN" altLang="en-US" sz="2400" b="1" dirty="0">
                <a:solidFill>
                  <a:schemeClr val="bg2"/>
                </a:solidFill>
              </a:rPr>
              <a:t>            </a:t>
            </a:r>
            <a:r>
              <a:rPr lang="en-US" altLang="zh-CN" sz="2400" b="1" dirty="0">
                <a:solidFill>
                  <a:schemeClr val="bg2"/>
                </a:solidFill>
              </a:rPr>
              <a:t>MOV  BX,[DA2]   ;</a:t>
            </a:r>
            <a:r>
              <a:rPr lang="zh-CN" altLang="en-US" sz="2400" b="1" dirty="0">
                <a:solidFill>
                  <a:schemeClr val="bg2"/>
                </a:solidFill>
              </a:rPr>
              <a:t>将</a:t>
            </a:r>
            <a:r>
              <a:rPr lang="en-US" altLang="zh-CN" sz="2400" b="1" dirty="0">
                <a:solidFill>
                  <a:schemeClr val="bg2"/>
                </a:solidFill>
              </a:rPr>
              <a:t>52ACH</a:t>
            </a:r>
            <a:r>
              <a:rPr lang="zh-CN" altLang="en-US" sz="2400" b="1" dirty="0">
                <a:solidFill>
                  <a:schemeClr val="bg2"/>
                </a:solidFill>
              </a:rPr>
              <a:t>传送到</a:t>
            </a:r>
            <a:r>
              <a:rPr lang="en-US" altLang="zh-CN" sz="2400" b="1" dirty="0">
                <a:solidFill>
                  <a:schemeClr val="bg2"/>
                </a:solidFill>
              </a:rPr>
              <a:t>BX</a:t>
            </a:r>
            <a:r>
              <a:rPr lang="zh-CN" altLang="en-US" sz="2400" b="1" dirty="0">
                <a:solidFill>
                  <a:schemeClr val="bg2"/>
                </a:solidFill>
              </a:rPr>
              <a:t>中</a:t>
            </a:r>
            <a:r>
              <a:rPr lang="en-US" altLang="zh-CN" sz="2400" b="1" dirty="0">
                <a:solidFill>
                  <a:schemeClr val="bg2"/>
                </a:solidFill>
              </a:rPr>
              <a:t/>
            </a:r>
            <a:br>
              <a:rPr lang="en-US" altLang="zh-CN" sz="2400" b="1" dirty="0">
                <a:solidFill>
                  <a:schemeClr val="bg2"/>
                </a:solidFill>
              </a:rPr>
            </a:br>
            <a:r>
              <a:rPr lang="en-US" altLang="zh-CN" sz="2400" b="1" dirty="0">
                <a:solidFill>
                  <a:schemeClr val="bg2"/>
                </a:solidFill>
              </a:rPr>
              <a:t>            MOV  DA3,BX   ;</a:t>
            </a:r>
            <a:r>
              <a:rPr lang="zh-CN" altLang="en-US" sz="2400" b="1" dirty="0">
                <a:solidFill>
                  <a:schemeClr val="bg2"/>
                </a:solidFill>
              </a:rPr>
              <a:t>将</a:t>
            </a:r>
            <a:r>
              <a:rPr lang="en-US" altLang="zh-CN" sz="2400" b="1" dirty="0">
                <a:solidFill>
                  <a:schemeClr val="bg2"/>
                </a:solidFill>
              </a:rPr>
              <a:t>DA3</a:t>
            </a:r>
            <a:r>
              <a:rPr lang="zh-CN" altLang="en-US" sz="2400" b="1" dirty="0">
                <a:solidFill>
                  <a:schemeClr val="bg2"/>
                </a:solidFill>
              </a:rPr>
              <a:t>单元赋值</a:t>
            </a:r>
            <a:r>
              <a:rPr lang="en-US" altLang="zh-CN" sz="2400" b="1" dirty="0">
                <a:solidFill>
                  <a:schemeClr val="bg2"/>
                </a:solidFill>
              </a:rPr>
              <a:t>52ACH</a:t>
            </a:r>
          </a:p>
        </p:txBody>
      </p:sp>
      <p:sp>
        <p:nvSpPr>
          <p:cNvPr id="30728" name="Rectangle 7"/>
          <p:cNvSpPr>
            <a:spLocks noChangeArrowheads="1"/>
          </p:cNvSpPr>
          <p:nvPr/>
        </p:nvSpPr>
        <p:spPr bwMode="auto">
          <a:xfrm>
            <a:off x="179512" y="1810320"/>
            <a:ext cx="8820471" cy="83099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在指令语句中直接引用变量名就是对其存储单元的内容进行存取，也可以在变量外加中括号。</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72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7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nimBg="1" autoUpdateAnimBg="0"/>
      <p:bldP spid="30726" grpId="0" animBg="1" autoUpdateAnimBg="0"/>
      <p:bldP spid="30727" grpId="0" animBg="1" autoUpdateAnimBg="0"/>
      <p:bldP spid="30728"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0CDD838B-5CDF-4E76-B279-C7677CC27CC1}" type="slidenum">
              <a:rPr lang="en-US" altLang="zh-CN" sz="1400">
                <a:solidFill>
                  <a:schemeClr val="bg2"/>
                </a:solidFill>
              </a:rPr>
              <a:pPr algn="r" eaLnBrk="1" hangingPunct="1"/>
              <a:t>22</a:t>
            </a:fld>
            <a:endParaRPr lang="en-US" altLang="zh-CN" sz="1400">
              <a:solidFill>
                <a:schemeClr val="bg2"/>
              </a:solidFill>
            </a:endParaRPr>
          </a:p>
        </p:txBody>
      </p:sp>
      <p:sp>
        <p:nvSpPr>
          <p:cNvPr id="31747" name="Rectangle 2"/>
          <p:cNvSpPr>
            <a:spLocks noChangeArrowheads="1"/>
          </p:cNvSpPr>
          <p:nvPr/>
        </p:nvSpPr>
        <p:spPr bwMode="auto">
          <a:xfrm>
            <a:off x="468313" y="333375"/>
            <a:ext cx="7848600" cy="83099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当变量出现在寄存器相对寻址或基址变址相对寻址的操作数中时，表示取用该变量的偏移量。</a:t>
            </a:r>
          </a:p>
        </p:txBody>
      </p:sp>
      <p:sp>
        <p:nvSpPr>
          <p:cNvPr id="31748" name="Rectangle 3"/>
          <p:cNvSpPr>
            <a:spLocks noChangeArrowheads="1"/>
          </p:cNvSpPr>
          <p:nvPr/>
        </p:nvSpPr>
        <p:spPr bwMode="auto">
          <a:xfrm>
            <a:off x="250825" y="1341438"/>
            <a:ext cx="3924300" cy="1938992"/>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例如：</a:t>
            </a:r>
          </a:p>
          <a:p>
            <a:pPr eaLnBrk="1" hangingPunct="1"/>
            <a:r>
              <a:rPr lang="en-US" altLang="zh-CN" sz="2400" b="1" dirty="0">
                <a:solidFill>
                  <a:schemeClr val="bg2"/>
                </a:solidFill>
              </a:rPr>
              <a:t>DA3  DB  10H  DUP(?)</a:t>
            </a:r>
          </a:p>
          <a:p>
            <a:pPr eaLnBrk="1" hangingPunct="1"/>
            <a:r>
              <a:rPr lang="en-US" altLang="zh-CN" sz="2400" b="1" dirty="0">
                <a:solidFill>
                  <a:schemeClr val="bg2"/>
                </a:solidFill>
              </a:rPr>
              <a:t>DA4  DW  10H  DUP</a:t>
            </a:r>
            <a:r>
              <a:rPr lang="zh-CN" altLang="en-US" sz="2400" b="1" dirty="0">
                <a:solidFill>
                  <a:schemeClr val="bg2"/>
                </a:solidFill>
              </a:rPr>
              <a:t>（</a:t>
            </a:r>
            <a:r>
              <a:rPr lang="en-US" altLang="zh-CN" sz="2400" b="1" dirty="0">
                <a:solidFill>
                  <a:schemeClr val="bg2"/>
                </a:solidFill>
              </a:rPr>
              <a:t>1</a:t>
            </a:r>
            <a:r>
              <a:rPr lang="zh-CN" altLang="en-US" sz="2400" b="1" dirty="0">
                <a:solidFill>
                  <a:schemeClr val="bg2"/>
                </a:solidFill>
              </a:rPr>
              <a:t>）</a:t>
            </a:r>
          </a:p>
          <a:p>
            <a:pPr eaLnBrk="1" hangingPunct="1"/>
            <a:r>
              <a:rPr lang="en-US" altLang="zh-CN" sz="2400" b="1" dirty="0">
                <a:solidFill>
                  <a:schemeClr val="bg2"/>
                </a:solidFill>
              </a:rPr>
              <a:t>MOV  DA3[ESI]</a:t>
            </a:r>
            <a:r>
              <a:rPr lang="zh-CN" altLang="en-US" sz="2400" b="1" dirty="0">
                <a:solidFill>
                  <a:schemeClr val="bg2"/>
                </a:solidFill>
              </a:rPr>
              <a:t>，</a:t>
            </a:r>
            <a:r>
              <a:rPr lang="en-US" altLang="zh-CN" sz="2400" b="1" dirty="0">
                <a:solidFill>
                  <a:schemeClr val="bg2"/>
                </a:solidFill>
              </a:rPr>
              <a:t>AL</a:t>
            </a:r>
          </a:p>
          <a:p>
            <a:pPr eaLnBrk="1" hangingPunct="1"/>
            <a:r>
              <a:rPr lang="en-US" altLang="zh-CN" sz="2400" b="1" dirty="0">
                <a:solidFill>
                  <a:schemeClr val="bg2"/>
                </a:solidFill>
              </a:rPr>
              <a:t>ADD  DX</a:t>
            </a:r>
            <a:r>
              <a:rPr lang="zh-CN" altLang="en-US" sz="2400" b="1" dirty="0">
                <a:solidFill>
                  <a:schemeClr val="bg2"/>
                </a:solidFill>
              </a:rPr>
              <a:t>，</a:t>
            </a:r>
            <a:r>
              <a:rPr lang="en-US" altLang="zh-CN" sz="2400" b="1" dirty="0">
                <a:solidFill>
                  <a:schemeClr val="bg2"/>
                </a:solidFill>
              </a:rPr>
              <a:t>DA4[EBX][EDI]</a:t>
            </a:r>
          </a:p>
        </p:txBody>
      </p:sp>
      <p:grpSp>
        <p:nvGrpSpPr>
          <p:cNvPr id="4" name="组合 3"/>
          <p:cNvGrpSpPr/>
          <p:nvPr/>
        </p:nvGrpSpPr>
        <p:grpSpPr>
          <a:xfrm>
            <a:off x="6228184" y="2209801"/>
            <a:ext cx="1476400" cy="1295400"/>
            <a:chOff x="6372200" y="2209801"/>
            <a:chExt cx="1476400" cy="1295400"/>
          </a:xfrm>
        </p:grpSpPr>
        <p:sp>
          <p:nvSpPr>
            <p:cNvPr id="31770" name="Line 45"/>
            <p:cNvSpPr>
              <a:spLocks noChangeShapeType="1"/>
            </p:cNvSpPr>
            <p:nvPr/>
          </p:nvSpPr>
          <p:spPr bwMode="auto">
            <a:xfrm>
              <a:off x="6781800" y="3505201"/>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1" name="Line 46"/>
            <p:cNvSpPr>
              <a:spLocks noChangeShapeType="1"/>
            </p:cNvSpPr>
            <p:nvPr/>
          </p:nvSpPr>
          <p:spPr bwMode="auto">
            <a:xfrm>
              <a:off x="7162800" y="2209801"/>
              <a:ext cx="0" cy="1295400"/>
            </a:xfrm>
            <a:prstGeom prst="line">
              <a:avLst/>
            </a:prstGeom>
            <a:noFill/>
            <a:ln w="9525" cmpd="sng">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2" name="Text Box 47"/>
            <p:cNvSpPr txBox="1">
              <a:spLocks noChangeArrowheads="1"/>
            </p:cNvSpPr>
            <p:nvPr/>
          </p:nvSpPr>
          <p:spPr bwMode="auto">
            <a:xfrm>
              <a:off x="6372200" y="2590801"/>
              <a:ext cx="9361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solidFill>
                    <a:schemeClr val="bg2"/>
                  </a:solidFill>
                </a:rPr>
                <a:t>(ESI)</a:t>
              </a:r>
            </a:p>
          </p:txBody>
        </p:sp>
      </p:grpSp>
      <p:grpSp>
        <p:nvGrpSpPr>
          <p:cNvPr id="2" name="组合 1"/>
          <p:cNvGrpSpPr/>
          <p:nvPr/>
        </p:nvGrpSpPr>
        <p:grpSpPr>
          <a:xfrm>
            <a:off x="5220072" y="4495801"/>
            <a:ext cx="2628528" cy="1447800"/>
            <a:chOff x="5220072" y="4495801"/>
            <a:chExt cx="2628528" cy="1447800"/>
          </a:xfrm>
        </p:grpSpPr>
        <p:sp>
          <p:nvSpPr>
            <p:cNvPr id="31774" name="Line 49"/>
            <p:cNvSpPr>
              <a:spLocks noChangeShapeType="1"/>
            </p:cNvSpPr>
            <p:nvPr/>
          </p:nvSpPr>
          <p:spPr bwMode="auto">
            <a:xfrm>
              <a:off x="6858000" y="5943601"/>
              <a:ext cx="9906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5" name="Line 50"/>
            <p:cNvSpPr>
              <a:spLocks noChangeShapeType="1"/>
            </p:cNvSpPr>
            <p:nvPr/>
          </p:nvSpPr>
          <p:spPr bwMode="auto">
            <a:xfrm>
              <a:off x="7020272" y="4495801"/>
              <a:ext cx="0" cy="1447800"/>
            </a:xfrm>
            <a:prstGeom prst="line">
              <a:avLst/>
            </a:prstGeom>
            <a:noFill/>
            <a:ln w="9525" cmpd="sng">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6" name="Text Box 51"/>
            <p:cNvSpPr txBox="1">
              <a:spLocks noChangeArrowheads="1"/>
            </p:cNvSpPr>
            <p:nvPr/>
          </p:nvSpPr>
          <p:spPr bwMode="auto">
            <a:xfrm>
              <a:off x="5220072" y="4969817"/>
              <a:ext cx="1837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dirty="0">
                  <a:solidFill>
                    <a:schemeClr val="bg2"/>
                  </a:solidFill>
                </a:rPr>
                <a:t>(EBX)+(EDI)</a:t>
              </a:r>
            </a:p>
          </p:txBody>
        </p:sp>
      </p:grpSp>
      <p:grpSp>
        <p:nvGrpSpPr>
          <p:cNvPr id="3" name="组合 2"/>
          <p:cNvGrpSpPr/>
          <p:nvPr/>
        </p:nvGrpSpPr>
        <p:grpSpPr>
          <a:xfrm>
            <a:off x="6561584" y="1716088"/>
            <a:ext cx="2211388" cy="5029200"/>
            <a:chOff x="6705600" y="1716088"/>
            <a:chExt cx="2211388" cy="5029200"/>
          </a:xfrm>
        </p:grpSpPr>
        <p:sp>
          <p:nvSpPr>
            <p:cNvPr id="31750" name="Rectangle 6"/>
            <p:cNvSpPr>
              <a:spLocks noChangeArrowheads="1"/>
            </p:cNvSpPr>
            <p:nvPr/>
          </p:nvSpPr>
          <p:spPr bwMode="auto">
            <a:xfrm>
              <a:off x="7848600" y="1716088"/>
              <a:ext cx="1066800" cy="5029200"/>
            </a:xfrm>
            <a:prstGeom prst="rect">
              <a:avLst/>
            </a:prstGeom>
            <a:solidFill>
              <a:schemeClr val="accent1"/>
            </a:solidFill>
            <a:ln w="9525" cmpd="sng">
              <a:solidFill>
                <a:schemeClr val="bg2"/>
              </a:solidFill>
              <a:miter lim="800000"/>
              <a:headEnd/>
              <a:tailEnd/>
            </a:ln>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a:p>
          </p:txBody>
        </p:sp>
        <p:sp>
          <p:nvSpPr>
            <p:cNvPr id="31751" name="Line 7"/>
            <p:cNvSpPr>
              <a:spLocks noChangeShapeType="1"/>
            </p:cNvSpPr>
            <p:nvPr/>
          </p:nvSpPr>
          <p:spPr bwMode="auto">
            <a:xfrm>
              <a:off x="7848600" y="20208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2" name="Line 8"/>
            <p:cNvSpPr>
              <a:spLocks noChangeShapeType="1"/>
            </p:cNvSpPr>
            <p:nvPr/>
          </p:nvSpPr>
          <p:spPr bwMode="auto">
            <a:xfrm>
              <a:off x="7848600" y="24018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3" name="Line 9"/>
            <p:cNvSpPr>
              <a:spLocks noChangeShapeType="1"/>
            </p:cNvSpPr>
            <p:nvPr/>
          </p:nvSpPr>
          <p:spPr bwMode="auto">
            <a:xfrm>
              <a:off x="7848600" y="27066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4" name="Line 10"/>
            <p:cNvSpPr>
              <a:spLocks noChangeShapeType="1"/>
            </p:cNvSpPr>
            <p:nvPr/>
          </p:nvSpPr>
          <p:spPr bwMode="auto">
            <a:xfrm>
              <a:off x="7848600" y="30114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5" name="Line 11"/>
            <p:cNvSpPr>
              <a:spLocks noChangeShapeType="1"/>
            </p:cNvSpPr>
            <p:nvPr/>
          </p:nvSpPr>
          <p:spPr bwMode="auto">
            <a:xfrm>
              <a:off x="7848600" y="33924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6" name="Line 12"/>
            <p:cNvSpPr>
              <a:spLocks noChangeShapeType="1"/>
            </p:cNvSpPr>
            <p:nvPr/>
          </p:nvSpPr>
          <p:spPr bwMode="auto">
            <a:xfrm>
              <a:off x="7848600" y="36972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7" name="Line 13"/>
            <p:cNvSpPr>
              <a:spLocks noChangeShapeType="1"/>
            </p:cNvSpPr>
            <p:nvPr/>
          </p:nvSpPr>
          <p:spPr bwMode="auto">
            <a:xfrm>
              <a:off x="7848600" y="40020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8" name="Line 14"/>
            <p:cNvSpPr>
              <a:spLocks noChangeShapeType="1"/>
            </p:cNvSpPr>
            <p:nvPr/>
          </p:nvSpPr>
          <p:spPr bwMode="auto">
            <a:xfrm>
              <a:off x="7848600" y="43068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9" name="Line 15"/>
            <p:cNvSpPr>
              <a:spLocks noChangeShapeType="1"/>
            </p:cNvSpPr>
            <p:nvPr/>
          </p:nvSpPr>
          <p:spPr bwMode="auto">
            <a:xfrm>
              <a:off x="7848600" y="46116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0" name="Line 16"/>
            <p:cNvSpPr>
              <a:spLocks noChangeShapeType="1"/>
            </p:cNvSpPr>
            <p:nvPr/>
          </p:nvSpPr>
          <p:spPr bwMode="auto">
            <a:xfrm>
              <a:off x="7848600" y="49926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1" name="Line 17"/>
            <p:cNvSpPr>
              <a:spLocks noChangeShapeType="1"/>
            </p:cNvSpPr>
            <p:nvPr/>
          </p:nvSpPr>
          <p:spPr bwMode="auto">
            <a:xfrm>
              <a:off x="7848600" y="53736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2" name="Line 18"/>
            <p:cNvSpPr>
              <a:spLocks noChangeShapeType="1"/>
            </p:cNvSpPr>
            <p:nvPr/>
          </p:nvSpPr>
          <p:spPr bwMode="auto">
            <a:xfrm>
              <a:off x="7848600" y="57546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3" name="Line 19"/>
            <p:cNvSpPr>
              <a:spLocks noChangeShapeType="1"/>
            </p:cNvSpPr>
            <p:nvPr/>
          </p:nvSpPr>
          <p:spPr bwMode="auto">
            <a:xfrm>
              <a:off x="7848600" y="60594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4" name="Line 31"/>
            <p:cNvSpPr>
              <a:spLocks noChangeShapeType="1"/>
            </p:cNvSpPr>
            <p:nvPr/>
          </p:nvSpPr>
          <p:spPr bwMode="auto">
            <a:xfrm>
              <a:off x="7848600" y="6364288"/>
              <a:ext cx="10668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5" name="Text Box 33"/>
            <p:cNvSpPr txBox="1">
              <a:spLocks noChangeArrowheads="1"/>
            </p:cNvSpPr>
            <p:nvPr/>
          </p:nvSpPr>
          <p:spPr bwMode="auto">
            <a:xfrm>
              <a:off x="8153400" y="3011488"/>
              <a:ext cx="611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a:solidFill>
                    <a:schemeClr val="bg2"/>
                  </a:solidFill>
                </a:rPr>
                <a:t>...</a:t>
              </a:r>
            </a:p>
          </p:txBody>
        </p:sp>
        <p:sp>
          <p:nvSpPr>
            <p:cNvPr id="31766" name="Text Box 34"/>
            <p:cNvSpPr txBox="1">
              <a:spLocks noChangeArrowheads="1"/>
            </p:cNvSpPr>
            <p:nvPr/>
          </p:nvSpPr>
          <p:spPr bwMode="auto">
            <a:xfrm>
              <a:off x="8305800" y="5334001"/>
              <a:ext cx="611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a:solidFill>
                    <a:schemeClr val="bg2"/>
                  </a:solidFill>
                </a:rPr>
                <a:t>...</a:t>
              </a:r>
            </a:p>
          </p:txBody>
        </p:sp>
        <p:sp>
          <p:nvSpPr>
            <p:cNvPr id="31767" name="Text Box 42"/>
            <p:cNvSpPr txBox="1">
              <a:spLocks noChangeArrowheads="1"/>
            </p:cNvSpPr>
            <p:nvPr/>
          </p:nvSpPr>
          <p:spPr bwMode="auto">
            <a:xfrm>
              <a:off x="7162800" y="1981201"/>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a:solidFill>
                    <a:schemeClr val="bg2"/>
                  </a:solidFill>
                </a:rPr>
                <a:t>DA3</a:t>
              </a:r>
            </a:p>
          </p:txBody>
        </p:sp>
        <p:sp>
          <p:nvSpPr>
            <p:cNvPr id="31768" name="Text Box 43"/>
            <p:cNvSpPr txBox="1">
              <a:spLocks noChangeArrowheads="1"/>
            </p:cNvSpPr>
            <p:nvPr/>
          </p:nvSpPr>
          <p:spPr bwMode="auto">
            <a:xfrm>
              <a:off x="7162800" y="4267201"/>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a:solidFill>
                    <a:schemeClr val="bg2"/>
                  </a:solidFill>
                </a:rPr>
                <a:t>DA4</a:t>
              </a:r>
            </a:p>
          </p:txBody>
        </p:sp>
        <p:sp>
          <p:nvSpPr>
            <p:cNvPr id="31769" name="Line 44"/>
            <p:cNvSpPr>
              <a:spLocks noChangeShapeType="1"/>
            </p:cNvSpPr>
            <p:nvPr/>
          </p:nvSpPr>
          <p:spPr bwMode="auto">
            <a:xfrm>
              <a:off x="6705600" y="2209801"/>
              <a:ext cx="5334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3" name="Line 48"/>
            <p:cNvSpPr>
              <a:spLocks noChangeShapeType="1"/>
            </p:cNvSpPr>
            <p:nvPr/>
          </p:nvSpPr>
          <p:spPr bwMode="auto">
            <a:xfrm>
              <a:off x="6781800" y="4495801"/>
              <a:ext cx="457200" cy="0"/>
            </a:xfrm>
            <a:prstGeom prst="line">
              <a:avLst/>
            </a:prstGeom>
            <a:noFill/>
            <a:ln w="9525" cmpd="sng">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7" name="Text Box 53"/>
            <p:cNvSpPr txBox="1">
              <a:spLocks noChangeArrowheads="1"/>
            </p:cNvSpPr>
            <p:nvPr/>
          </p:nvSpPr>
          <p:spPr bwMode="auto">
            <a:xfrm>
              <a:off x="8229600" y="426720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endParaRPr lang="zh-CN" altLang="en-US" sz="2400">
                <a:solidFill>
                  <a:schemeClr val="bg2"/>
                </a:solidFill>
              </a:endParaRPr>
            </a:p>
          </p:txBody>
        </p:sp>
        <p:sp>
          <p:nvSpPr>
            <p:cNvPr id="31778" name="Text Box 54"/>
            <p:cNvSpPr txBox="1">
              <a:spLocks noChangeArrowheads="1"/>
            </p:cNvSpPr>
            <p:nvPr/>
          </p:nvSpPr>
          <p:spPr bwMode="auto">
            <a:xfrm>
              <a:off x="8229600" y="457200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endParaRPr lang="zh-CN" altLang="en-US" sz="2400">
                <a:solidFill>
                  <a:schemeClr val="bg2"/>
                </a:solidFill>
              </a:endParaRPr>
            </a:p>
          </p:txBody>
        </p:sp>
        <p:sp>
          <p:nvSpPr>
            <p:cNvPr id="31779" name="Text Box 55"/>
            <p:cNvSpPr txBox="1">
              <a:spLocks noChangeArrowheads="1"/>
            </p:cNvSpPr>
            <p:nvPr/>
          </p:nvSpPr>
          <p:spPr bwMode="auto">
            <a:xfrm>
              <a:off x="8229600" y="495300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endParaRPr lang="zh-CN" altLang="en-US" sz="2400">
                <a:solidFill>
                  <a:schemeClr val="bg2"/>
                </a:solidFill>
              </a:endParaRPr>
            </a:p>
          </p:txBody>
        </p:sp>
        <p:sp>
          <p:nvSpPr>
            <p:cNvPr id="31780" name="Text Box 56"/>
            <p:cNvSpPr txBox="1">
              <a:spLocks noChangeArrowheads="1"/>
            </p:cNvSpPr>
            <p:nvPr/>
          </p:nvSpPr>
          <p:spPr bwMode="auto">
            <a:xfrm>
              <a:off x="8305800" y="571500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endParaRPr lang="zh-CN" altLang="en-US" sz="2400">
                <a:solidFill>
                  <a:schemeClr val="bg2"/>
                </a:solidFill>
              </a:endParaRPr>
            </a:p>
          </p:txBody>
        </p:sp>
        <p:sp>
          <p:nvSpPr>
            <p:cNvPr id="31781" name="Text Box 57"/>
            <p:cNvSpPr txBox="1">
              <a:spLocks noChangeArrowheads="1"/>
            </p:cNvSpPr>
            <p:nvPr/>
          </p:nvSpPr>
          <p:spPr bwMode="auto">
            <a:xfrm>
              <a:off x="8318500" y="5980113"/>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endParaRPr lang="zh-CN" altLang="en-US" sz="2400">
                <a:solidFill>
                  <a:schemeClr val="bg2"/>
                </a:solidFill>
              </a:endParaRPr>
            </a:p>
          </p:txBody>
        </p:sp>
        <p:sp>
          <p:nvSpPr>
            <p:cNvPr id="31782" name="Text Box 58"/>
            <p:cNvSpPr txBox="1">
              <a:spLocks noChangeArrowheads="1"/>
            </p:cNvSpPr>
            <p:nvPr/>
          </p:nvSpPr>
          <p:spPr bwMode="auto">
            <a:xfrm>
              <a:off x="8318500" y="6288088"/>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endParaRPr lang="zh-CN" altLang="en-US" sz="2400">
                <a:solidFill>
                  <a:schemeClr val="bg2"/>
                </a:solidFill>
              </a:endParaRPr>
            </a:p>
          </p:txBody>
        </p:sp>
      </p:grpSp>
      <p:sp>
        <p:nvSpPr>
          <p:cNvPr id="31783" name="AutoShape 60"/>
          <p:cNvSpPr>
            <a:spLocks noChangeArrowheads="1"/>
          </p:cNvSpPr>
          <p:nvPr/>
        </p:nvSpPr>
        <p:spPr bwMode="auto">
          <a:xfrm>
            <a:off x="-1" y="5229225"/>
            <a:ext cx="4175125" cy="936625"/>
          </a:xfrm>
          <a:prstGeom prst="wedgeRoundRectCallout">
            <a:avLst>
              <a:gd name="adj1" fmla="val -10095"/>
              <a:gd name="adj2" fmla="val -314531"/>
              <a:gd name="adj3" fmla="val 16667"/>
            </a:avLst>
          </a:prstGeom>
          <a:noFill/>
          <a:ln w="9525"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将</a:t>
            </a:r>
            <a:r>
              <a:rPr lang="en-US" altLang="zh-CN" sz="2400" b="1" dirty="0">
                <a:solidFill>
                  <a:schemeClr val="bg2"/>
                </a:solidFill>
              </a:rPr>
              <a:t>AL</a:t>
            </a:r>
            <a:r>
              <a:rPr lang="zh-CN" altLang="en-US" sz="2400" b="1" dirty="0">
                <a:solidFill>
                  <a:schemeClr val="bg2"/>
                </a:solidFill>
              </a:rPr>
              <a:t>的内容送入从</a:t>
            </a:r>
            <a:r>
              <a:rPr lang="en-US" altLang="zh-CN" sz="2400" b="1" dirty="0">
                <a:solidFill>
                  <a:schemeClr val="bg2"/>
                </a:solidFill>
              </a:rPr>
              <a:t>DA3 </a:t>
            </a:r>
            <a:r>
              <a:rPr lang="zh-CN" altLang="en-US" sz="2400" b="1" dirty="0">
                <a:solidFill>
                  <a:schemeClr val="bg2"/>
                </a:solidFill>
              </a:rPr>
              <a:t>开始再偏移</a:t>
            </a:r>
            <a:r>
              <a:rPr lang="en-US" altLang="zh-CN" sz="2400" b="1" dirty="0">
                <a:solidFill>
                  <a:schemeClr val="bg2"/>
                </a:solidFill>
              </a:rPr>
              <a:t>(ESI)</a:t>
            </a:r>
            <a:r>
              <a:rPr lang="zh-CN" altLang="en-US" sz="2400" b="1" dirty="0">
                <a:solidFill>
                  <a:schemeClr val="bg2"/>
                </a:solidFill>
              </a:rPr>
              <a:t>的存储单元中</a:t>
            </a:r>
          </a:p>
          <a:p>
            <a:pPr algn="ctr" eaLnBrk="1" hangingPunct="1"/>
            <a:endParaRPr lang="en-US" altLang="zh-CN" sz="2400" dirty="0"/>
          </a:p>
        </p:txBody>
      </p:sp>
      <p:sp>
        <p:nvSpPr>
          <p:cNvPr id="31784" name="AutoShape 61"/>
          <p:cNvSpPr>
            <a:spLocks noChangeArrowheads="1"/>
          </p:cNvSpPr>
          <p:nvPr/>
        </p:nvSpPr>
        <p:spPr bwMode="auto">
          <a:xfrm>
            <a:off x="1763712" y="3644900"/>
            <a:ext cx="4789487" cy="1366838"/>
          </a:xfrm>
          <a:prstGeom prst="wedgeRoundRectCallout">
            <a:avLst>
              <a:gd name="adj1" fmla="val -41148"/>
              <a:gd name="adj2" fmla="val -90769"/>
              <a:gd name="adj3" fmla="val 16667"/>
            </a:avLst>
          </a:prstGeom>
          <a:noFill/>
          <a:ln w="9525"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将从</a:t>
            </a:r>
            <a:r>
              <a:rPr lang="en-US" altLang="zh-CN" sz="2400" b="1" dirty="0">
                <a:solidFill>
                  <a:schemeClr val="bg2"/>
                </a:solidFill>
              </a:rPr>
              <a:t>DA4</a:t>
            </a:r>
            <a:r>
              <a:rPr lang="zh-CN" altLang="en-US" sz="2400" b="1" dirty="0">
                <a:solidFill>
                  <a:schemeClr val="bg2"/>
                </a:solidFill>
              </a:rPr>
              <a:t>开始再偏移</a:t>
            </a:r>
            <a:r>
              <a:rPr lang="en-US" altLang="zh-CN" sz="2400" b="1" dirty="0">
                <a:solidFill>
                  <a:schemeClr val="bg2"/>
                </a:solidFill>
              </a:rPr>
              <a:t>(EBX)+(EDI)</a:t>
            </a:r>
            <a:r>
              <a:rPr lang="zh-CN" altLang="en-US" sz="2400" b="1" dirty="0">
                <a:solidFill>
                  <a:schemeClr val="bg2"/>
                </a:solidFill>
              </a:rPr>
              <a:t>的字存储单元的内容与</a:t>
            </a:r>
            <a:r>
              <a:rPr lang="en-US" altLang="zh-CN" sz="2400" b="1" dirty="0">
                <a:solidFill>
                  <a:schemeClr val="bg2"/>
                </a:solidFill>
              </a:rPr>
              <a:t>DX</a:t>
            </a:r>
            <a:r>
              <a:rPr lang="zh-CN" altLang="en-US" sz="2400" b="1" dirty="0">
                <a:solidFill>
                  <a:schemeClr val="bg2"/>
                </a:solidFill>
              </a:rPr>
              <a:t>的内容相加，结果送回</a:t>
            </a:r>
            <a:r>
              <a:rPr lang="en-US" altLang="zh-CN" sz="2400" b="1" dirty="0">
                <a:solidFill>
                  <a:schemeClr val="bg2"/>
                </a:solidFill>
              </a:rPr>
              <a:t>DX</a:t>
            </a:r>
            <a:r>
              <a:rPr lang="zh-CN" altLang="en-US" sz="2400" b="1" dirty="0">
                <a:solidFill>
                  <a:schemeClr val="bg2"/>
                </a:solidFill>
              </a:rPr>
              <a:t>中。</a:t>
            </a:r>
          </a:p>
          <a:p>
            <a:pPr algn="ctr" eaLnBrk="1" hangingPunct="1"/>
            <a:endParaRPr lang="en-US" altLang="zh-CN" sz="24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17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17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1783"/>
                                        </p:tgtEl>
                                        <p:attrNameLst>
                                          <p:attrName>style.visibility</p:attrName>
                                        </p:attrNameLst>
                                      </p:cBhvr>
                                      <p:to>
                                        <p:strVal val="visible"/>
                                      </p:to>
                                    </p:set>
                                    <p:animEffect transition="in" filter="box(in)">
                                      <p:cBhvr>
                                        <p:cTn id="20" dur="500"/>
                                        <p:tgtEl>
                                          <p:spTgt spid="3178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1784"/>
                                        </p:tgtEl>
                                        <p:attrNameLst>
                                          <p:attrName>style.visibility</p:attrName>
                                        </p:attrNameLst>
                                      </p:cBhvr>
                                      <p:to>
                                        <p:strVal val="visible"/>
                                      </p:to>
                                    </p:set>
                                    <p:animEffect transition="in" filter="diamond(in)">
                                      <p:cBhvr>
                                        <p:cTn id="30" dur="2000"/>
                                        <p:tgtEl>
                                          <p:spTgt spid="3178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animBg="1" autoUpdateAnimBg="0"/>
      <p:bldP spid="31748" grpId="0" animBg="1" autoUpdateAnimBg="0"/>
      <p:bldP spid="31783" grpId="0" animBg="1" autoUpdateAnimBg="0"/>
      <p:bldP spid="31784"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A0DC2B7E-5D61-41F2-AB14-5943EBB6707C}" type="slidenum">
              <a:rPr lang="en-US" altLang="zh-CN" sz="1400">
                <a:solidFill>
                  <a:schemeClr val="bg2"/>
                </a:solidFill>
              </a:rPr>
              <a:pPr algn="r" eaLnBrk="1" hangingPunct="1"/>
              <a:t>23</a:t>
            </a:fld>
            <a:endParaRPr lang="en-US" altLang="zh-CN" sz="1400">
              <a:solidFill>
                <a:schemeClr val="bg2"/>
              </a:solidFill>
            </a:endParaRPr>
          </a:p>
        </p:txBody>
      </p:sp>
      <p:sp>
        <p:nvSpPr>
          <p:cNvPr id="32810" name="Rectangle 42"/>
          <p:cNvSpPr>
            <a:spLocks noChangeArrowheads="1"/>
          </p:cNvSpPr>
          <p:nvPr/>
        </p:nvSpPr>
        <p:spPr bwMode="auto">
          <a:xfrm>
            <a:off x="304800" y="228600"/>
            <a:ext cx="5105400" cy="4616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2</a:t>
            </a:r>
            <a:r>
              <a:rPr lang="zh-CN" altLang="en-US" sz="2400" b="1" dirty="0">
                <a:solidFill>
                  <a:schemeClr val="bg2"/>
                </a:solidFill>
              </a:rPr>
              <a:t>）在</a:t>
            </a:r>
            <a:r>
              <a:rPr lang="en-US" altLang="zh-CN" sz="2400" b="1" dirty="0">
                <a:solidFill>
                  <a:schemeClr val="bg2"/>
                </a:solidFill>
              </a:rPr>
              <a:t>DD</a:t>
            </a:r>
            <a:r>
              <a:rPr lang="zh-CN" altLang="en-US" sz="2400" b="1" dirty="0">
                <a:solidFill>
                  <a:schemeClr val="bg2"/>
                </a:solidFill>
              </a:rPr>
              <a:t>和</a:t>
            </a:r>
            <a:r>
              <a:rPr lang="en-US" altLang="zh-CN" sz="2400" b="1" dirty="0">
                <a:solidFill>
                  <a:schemeClr val="bg2"/>
                </a:solidFill>
              </a:rPr>
              <a:t>DQ</a:t>
            </a:r>
            <a:r>
              <a:rPr lang="zh-CN" altLang="en-US" sz="2400" b="1" dirty="0">
                <a:solidFill>
                  <a:schemeClr val="bg2"/>
                </a:solidFill>
              </a:rPr>
              <a:t>伪指令语句中引用</a:t>
            </a:r>
          </a:p>
        </p:txBody>
      </p:sp>
      <p:sp>
        <p:nvSpPr>
          <p:cNvPr id="32811" name="Text Box 43"/>
          <p:cNvSpPr txBox="1">
            <a:spLocks noChangeArrowheads="1"/>
          </p:cNvSpPr>
          <p:nvPr/>
        </p:nvSpPr>
        <p:spPr bwMode="auto">
          <a:xfrm>
            <a:off x="609600" y="762000"/>
            <a:ext cx="4800600" cy="1938992"/>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rgbClr val="0066FF"/>
                </a:solidFill>
              </a:rPr>
              <a:t>NUM       DB    75H</a:t>
            </a:r>
            <a:r>
              <a:rPr lang="en-US" altLang="zh-CN" sz="2400" b="1" dirty="0">
                <a:solidFill>
                  <a:schemeClr val="bg2"/>
                </a:solidFill>
              </a:rPr>
              <a:t/>
            </a:r>
            <a:br>
              <a:rPr lang="en-US" altLang="zh-CN" sz="2400" b="1" dirty="0">
                <a:solidFill>
                  <a:schemeClr val="bg2"/>
                </a:solidFill>
              </a:rPr>
            </a:br>
            <a:r>
              <a:rPr lang="en-US" altLang="zh-CN" sz="2400" b="1" dirty="0">
                <a:solidFill>
                  <a:schemeClr val="bg2"/>
                </a:solidFill>
              </a:rPr>
              <a:t>ADR1      DD   NUM</a:t>
            </a:r>
            <a:br>
              <a:rPr lang="en-US" altLang="zh-CN" sz="2400" b="1" dirty="0">
                <a:solidFill>
                  <a:schemeClr val="bg2"/>
                </a:solidFill>
              </a:rPr>
            </a:br>
            <a:r>
              <a:rPr lang="en-US" altLang="zh-CN" sz="2400" b="1" dirty="0">
                <a:solidFill>
                  <a:schemeClr val="bg2"/>
                </a:solidFill>
              </a:rPr>
              <a:t>ADR2      </a:t>
            </a:r>
            <a:r>
              <a:rPr lang="en-US" altLang="zh-CN" sz="2400" b="1" dirty="0" smtClean="0">
                <a:solidFill>
                  <a:schemeClr val="bg2"/>
                </a:solidFill>
              </a:rPr>
              <a:t>DQ    </a:t>
            </a:r>
            <a:r>
              <a:rPr lang="en-US" altLang="zh-CN" sz="2400" b="1" dirty="0">
                <a:solidFill>
                  <a:schemeClr val="bg2"/>
                </a:solidFill>
              </a:rPr>
              <a:t>NUM</a:t>
            </a:r>
            <a:br>
              <a:rPr lang="en-US" altLang="zh-CN" sz="2400" b="1" dirty="0">
                <a:solidFill>
                  <a:schemeClr val="bg2"/>
                </a:solidFill>
              </a:rPr>
            </a:br>
            <a:r>
              <a:rPr lang="en-US" altLang="zh-CN" sz="2400" b="1" dirty="0">
                <a:solidFill>
                  <a:srgbClr val="FF0000"/>
                </a:solidFill>
              </a:rPr>
              <a:t>ADR3      </a:t>
            </a:r>
            <a:r>
              <a:rPr lang="en-US" altLang="zh-CN" sz="2400" b="1" dirty="0" smtClean="0">
                <a:solidFill>
                  <a:srgbClr val="FF0000"/>
                </a:solidFill>
              </a:rPr>
              <a:t>DW    NUM</a:t>
            </a:r>
            <a:r>
              <a:rPr lang="en-US" altLang="zh-CN" sz="2400" b="1" dirty="0">
                <a:solidFill>
                  <a:srgbClr val="FF0000"/>
                </a:solidFill>
              </a:rPr>
              <a:t/>
            </a:r>
            <a:br>
              <a:rPr lang="en-US" altLang="zh-CN" sz="2400" b="1" dirty="0">
                <a:solidFill>
                  <a:srgbClr val="FF0000"/>
                </a:solidFill>
              </a:rPr>
            </a:br>
            <a:r>
              <a:rPr lang="en-US" altLang="zh-CN" sz="2400" b="1" dirty="0" smtClean="0">
                <a:solidFill>
                  <a:srgbClr val="FF0000"/>
                </a:solidFill>
              </a:rPr>
              <a:t>ADR4      DB     NUM</a:t>
            </a:r>
          </a:p>
        </p:txBody>
      </p:sp>
      <p:sp>
        <p:nvSpPr>
          <p:cNvPr id="32812" name="Text Box 46"/>
          <p:cNvSpPr txBox="1">
            <a:spLocks noChangeArrowheads="1"/>
          </p:cNvSpPr>
          <p:nvPr/>
        </p:nvSpPr>
        <p:spPr bwMode="auto">
          <a:xfrm>
            <a:off x="5752794" y="457200"/>
            <a:ext cx="2105638" cy="830997"/>
          </a:xfrm>
          <a:prstGeom prst="rect">
            <a:avLst/>
          </a:prstGeom>
          <a:noFill/>
          <a:ln w="28575"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表示取变 量的</a:t>
            </a:r>
            <a:r>
              <a:rPr lang="en-US" altLang="zh-CN" sz="2400" b="1" dirty="0">
                <a:solidFill>
                  <a:schemeClr val="bg2"/>
                </a:solidFill>
              </a:rPr>
              <a:t>32</a:t>
            </a:r>
            <a:r>
              <a:rPr lang="zh-CN" altLang="en-US" sz="2400" b="1" dirty="0">
                <a:solidFill>
                  <a:schemeClr val="bg2"/>
                </a:solidFill>
              </a:rPr>
              <a:t>位偏移地址</a:t>
            </a:r>
          </a:p>
        </p:txBody>
      </p:sp>
      <p:sp>
        <p:nvSpPr>
          <p:cNvPr id="32813" name="Line 47"/>
          <p:cNvSpPr>
            <a:spLocks noChangeShapeType="1"/>
          </p:cNvSpPr>
          <p:nvPr/>
        </p:nvSpPr>
        <p:spPr bwMode="auto">
          <a:xfrm>
            <a:off x="3635896" y="1700808"/>
            <a:ext cx="2088232" cy="30106"/>
          </a:xfrm>
          <a:prstGeom prst="line">
            <a:avLst/>
          </a:prstGeom>
          <a:noFill/>
          <a:ln w="28575" cmpd="sng">
            <a:solidFill>
              <a:srgbClr val="00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14" name="Line 48"/>
          <p:cNvSpPr>
            <a:spLocks noChangeShapeType="1"/>
          </p:cNvSpPr>
          <p:nvPr/>
        </p:nvSpPr>
        <p:spPr bwMode="auto">
          <a:xfrm flipH="1">
            <a:off x="3473053" y="908720"/>
            <a:ext cx="2251075" cy="447700"/>
          </a:xfrm>
          <a:prstGeom prst="line">
            <a:avLst/>
          </a:prstGeom>
          <a:noFill/>
          <a:ln w="28575" cmpd="sng">
            <a:solidFill>
              <a:srgbClr val="00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Text Box 46"/>
          <p:cNvSpPr txBox="1">
            <a:spLocks noChangeArrowheads="1"/>
          </p:cNvSpPr>
          <p:nvPr/>
        </p:nvSpPr>
        <p:spPr bwMode="auto">
          <a:xfrm>
            <a:off x="5752794" y="1413492"/>
            <a:ext cx="2877268" cy="830997"/>
          </a:xfrm>
          <a:prstGeom prst="rect">
            <a:avLst/>
          </a:prstGeom>
          <a:noFill/>
          <a:ln w="28575"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取变量的段基地址和偏移</a:t>
            </a:r>
            <a:r>
              <a:rPr lang="zh-CN" altLang="en-US" sz="2400" b="1" dirty="0" smtClean="0">
                <a:solidFill>
                  <a:schemeClr val="bg2"/>
                </a:solidFill>
              </a:rPr>
              <a:t>地址共</a:t>
            </a:r>
            <a:r>
              <a:rPr lang="en-US" altLang="zh-CN" sz="2400" b="1" dirty="0" smtClean="0">
                <a:solidFill>
                  <a:schemeClr val="bg2"/>
                </a:solidFill>
              </a:rPr>
              <a:t>64</a:t>
            </a:r>
            <a:r>
              <a:rPr lang="zh-CN" altLang="en-US" sz="2400" b="1" dirty="0" smtClean="0">
                <a:solidFill>
                  <a:schemeClr val="bg2"/>
                </a:solidFill>
              </a:rPr>
              <a:t>位</a:t>
            </a:r>
            <a:endParaRPr lang="zh-CN" altLang="en-US" sz="2400" b="1" dirty="0">
              <a:solidFill>
                <a:schemeClr val="bg2"/>
              </a:solidFill>
            </a:endParaRPr>
          </a:p>
        </p:txBody>
      </p:sp>
      <p:sp>
        <p:nvSpPr>
          <p:cNvPr id="2" name="文本框 1"/>
          <p:cNvSpPr txBox="1"/>
          <p:nvPr/>
        </p:nvSpPr>
        <p:spPr>
          <a:xfrm>
            <a:off x="539552" y="3171835"/>
            <a:ext cx="7704212" cy="830997"/>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b="1" dirty="0">
                <a:solidFill>
                  <a:schemeClr val="bg2"/>
                </a:solidFill>
              </a:rPr>
              <a:t>注意：只能在</a:t>
            </a:r>
            <a:r>
              <a:rPr lang="en-US" altLang="zh-CN" sz="2400" b="1" dirty="0">
                <a:solidFill>
                  <a:schemeClr val="bg2"/>
                </a:solidFill>
              </a:rPr>
              <a:t>DD</a:t>
            </a:r>
            <a:r>
              <a:rPr lang="zh-CN" altLang="en-US" sz="2400" b="1" dirty="0">
                <a:solidFill>
                  <a:schemeClr val="bg2"/>
                </a:solidFill>
              </a:rPr>
              <a:t>和</a:t>
            </a:r>
            <a:r>
              <a:rPr lang="en-US" altLang="zh-CN" sz="2400" b="1" dirty="0">
                <a:solidFill>
                  <a:schemeClr val="bg2"/>
                </a:solidFill>
              </a:rPr>
              <a:t>DQ</a:t>
            </a:r>
            <a:r>
              <a:rPr lang="zh-CN" altLang="en-US" sz="2400" b="1" dirty="0">
                <a:solidFill>
                  <a:schemeClr val="bg2"/>
                </a:solidFill>
              </a:rPr>
              <a:t>伪指令语句中使用变量来初始化</a:t>
            </a:r>
            <a:r>
              <a:rPr lang="zh-CN" altLang="en-US" sz="2400" b="1" dirty="0" smtClean="0">
                <a:solidFill>
                  <a:schemeClr val="bg2"/>
                </a:solidFill>
              </a:rPr>
              <a:t>，</a:t>
            </a:r>
            <a:r>
              <a:rPr lang="zh-CN" altLang="en-US" sz="2400" b="1" dirty="0" smtClean="0">
                <a:solidFill>
                  <a:srgbClr val="FF0000"/>
                </a:solidFill>
              </a:rPr>
              <a:t>其他</a:t>
            </a:r>
            <a:r>
              <a:rPr lang="zh-CN" altLang="en-US" sz="2400" b="1" dirty="0">
                <a:solidFill>
                  <a:srgbClr val="FF0000"/>
                </a:solidFill>
              </a:rPr>
              <a:t>变量定义伪指令</a:t>
            </a:r>
            <a:r>
              <a:rPr lang="zh-CN" altLang="en-US" sz="2400" b="1" dirty="0" smtClean="0">
                <a:solidFill>
                  <a:srgbClr val="FF0000"/>
                </a:solidFill>
              </a:rPr>
              <a:t>中用变量来初始化会</a:t>
            </a:r>
            <a:r>
              <a:rPr lang="zh-CN" altLang="en-US" sz="2400" b="1" dirty="0">
                <a:solidFill>
                  <a:srgbClr val="FF0000"/>
                </a:solidFill>
              </a:rPr>
              <a:t>出错</a:t>
            </a:r>
            <a:r>
              <a:rPr lang="zh-CN" altLang="en-US" sz="2400" b="1" dirty="0">
                <a:solidFill>
                  <a:schemeClr val="bg2"/>
                </a:solidFill>
              </a:rPr>
              <a:t>。</a:t>
            </a:r>
          </a:p>
        </p:txBody>
      </p:sp>
      <p:sp>
        <p:nvSpPr>
          <p:cNvPr id="10" name="Line 47"/>
          <p:cNvSpPr>
            <a:spLocks noChangeShapeType="1"/>
          </p:cNvSpPr>
          <p:nvPr/>
        </p:nvSpPr>
        <p:spPr bwMode="auto">
          <a:xfrm>
            <a:off x="3486867" y="2120180"/>
            <a:ext cx="2507887" cy="513575"/>
          </a:xfrm>
          <a:prstGeom prst="line">
            <a:avLst/>
          </a:prstGeom>
          <a:noFill/>
          <a:ln w="28575" cmpd="sng">
            <a:solidFill>
              <a:srgbClr val="00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Text Box 46"/>
          <p:cNvSpPr txBox="1">
            <a:spLocks noChangeArrowheads="1"/>
          </p:cNvSpPr>
          <p:nvPr/>
        </p:nvSpPr>
        <p:spPr bwMode="auto">
          <a:xfrm>
            <a:off x="5994754" y="2379779"/>
            <a:ext cx="1169534" cy="461665"/>
          </a:xfrm>
          <a:prstGeom prst="rect">
            <a:avLst/>
          </a:prstGeom>
          <a:noFill/>
          <a:ln w="28575"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出错！</a:t>
            </a:r>
            <a:endParaRPr lang="zh-CN" altLang="en-US" sz="2400" b="1" dirty="0">
              <a:solidFill>
                <a:schemeClr val="bg2"/>
              </a:solidFill>
            </a:endParaRPr>
          </a:p>
        </p:txBody>
      </p:sp>
      <p:sp>
        <p:nvSpPr>
          <p:cNvPr id="12" name="Line 47"/>
          <p:cNvSpPr>
            <a:spLocks noChangeShapeType="1"/>
          </p:cNvSpPr>
          <p:nvPr/>
        </p:nvSpPr>
        <p:spPr bwMode="auto">
          <a:xfrm>
            <a:off x="3486867" y="2494675"/>
            <a:ext cx="2453285" cy="206318"/>
          </a:xfrm>
          <a:prstGeom prst="line">
            <a:avLst/>
          </a:prstGeom>
          <a:noFill/>
          <a:ln w="28575" cmpd="sng">
            <a:solidFill>
              <a:srgbClr val="006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28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28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4" fill="hold" grpId="0" nodeType="clickEffect">
                                  <p:stCondLst>
                                    <p:cond delay="0"/>
                                  </p:stCondLst>
                                  <p:childTnLst>
                                    <p:set>
                                      <p:cBhvr>
                                        <p:cTn id="14" dur="1" fill="hold">
                                          <p:stCondLst>
                                            <p:cond delay="0"/>
                                          </p:stCondLst>
                                        </p:cTn>
                                        <p:tgtEl>
                                          <p:spTgt spid="32814"/>
                                        </p:tgtEl>
                                        <p:attrNameLst>
                                          <p:attrName>style.visibility</p:attrName>
                                        </p:attrNameLst>
                                      </p:cBhvr>
                                      <p:to>
                                        <p:strVal val="visible"/>
                                      </p:to>
                                    </p:set>
                                    <p:anim calcmode="lin" valueType="num">
                                      <p:cBhvr>
                                        <p:cTn id="15" dur="500" fill="hold"/>
                                        <p:tgtEl>
                                          <p:spTgt spid="32814"/>
                                        </p:tgtEl>
                                        <p:attrNameLst>
                                          <p:attrName>ppt_x</p:attrName>
                                        </p:attrNameLst>
                                      </p:cBhvr>
                                      <p:tavLst>
                                        <p:tav tm="0">
                                          <p:val>
                                            <p:strVal val="#ppt_x"/>
                                          </p:val>
                                        </p:tav>
                                        <p:tav tm="100000">
                                          <p:val>
                                            <p:strVal val="#ppt_x"/>
                                          </p:val>
                                        </p:tav>
                                      </p:tavLst>
                                    </p:anim>
                                    <p:anim calcmode="lin" valueType="num">
                                      <p:cBhvr>
                                        <p:cTn id="16" dur="500" fill="hold"/>
                                        <p:tgtEl>
                                          <p:spTgt spid="32814"/>
                                        </p:tgtEl>
                                        <p:attrNameLst>
                                          <p:attrName>ppt_y</p:attrName>
                                        </p:attrNameLst>
                                      </p:cBhvr>
                                      <p:tavLst>
                                        <p:tav tm="0">
                                          <p:val>
                                            <p:strVal val="#ppt_y+#ppt_h/2"/>
                                          </p:val>
                                        </p:tav>
                                        <p:tav tm="100000">
                                          <p:val>
                                            <p:strVal val="#ppt_y"/>
                                          </p:val>
                                        </p:tav>
                                      </p:tavLst>
                                    </p:anim>
                                    <p:anim calcmode="lin" valueType="num">
                                      <p:cBhvr>
                                        <p:cTn id="17" dur="500" fill="hold"/>
                                        <p:tgtEl>
                                          <p:spTgt spid="32814"/>
                                        </p:tgtEl>
                                        <p:attrNameLst>
                                          <p:attrName>ppt_w</p:attrName>
                                        </p:attrNameLst>
                                      </p:cBhvr>
                                      <p:tavLst>
                                        <p:tav tm="0">
                                          <p:val>
                                            <p:strVal val="#ppt_w"/>
                                          </p:val>
                                        </p:tav>
                                        <p:tav tm="100000">
                                          <p:val>
                                            <p:strVal val="#ppt_w"/>
                                          </p:val>
                                        </p:tav>
                                      </p:tavLst>
                                    </p:anim>
                                    <p:anim calcmode="lin" valueType="num">
                                      <p:cBhvr>
                                        <p:cTn id="18" dur="500" fill="hold"/>
                                        <p:tgtEl>
                                          <p:spTgt spid="32814"/>
                                        </p:tgtEl>
                                        <p:attrNameLst>
                                          <p:attrName>ppt_h</p:attrName>
                                        </p:attrNameLst>
                                      </p:cBhvr>
                                      <p:tavLst>
                                        <p:tav tm="0">
                                          <p:val>
                                            <p:fltVal val="0"/>
                                          </p:val>
                                        </p:tav>
                                        <p:tav tm="100000">
                                          <p:val>
                                            <p:strVal val="#ppt_h"/>
                                          </p:val>
                                        </p:tav>
                                      </p:tavLst>
                                    </p:anim>
                                  </p:childTnLst>
                                </p:cTn>
                              </p:par>
                            </p:childTnLst>
                          </p:cTn>
                        </p:par>
                        <p:par>
                          <p:cTn id="19" fill="hold">
                            <p:stCondLst>
                              <p:cond delay="500"/>
                            </p:stCondLst>
                            <p:childTnLst>
                              <p:par>
                                <p:cTn id="20" presetID="4" presetClass="entr" presetSubtype="32" fill="hold" grpId="0" nodeType="afterEffect">
                                  <p:stCondLst>
                                    <p:cond delay="0"/>
                                  </p:stCondLst>
                                  <p:childTnLst>
                                    <p:set>
                                      <p:cBhvr>
                                        <p:cTn id="21" dur="1" fill="hold">
                                          <p:stCondLst>
                                            <p:cond delay="0"/>
                                          </p:stCondLst>
                                        </p:cTn>
                                        <p:tgtEl>
                                          <p:spTgt spid="32812"/>
                                        </p:tgtEl>
                                        <p:attrNameLst>
                                          <p:attrName>style.visibility</p:attrName>
                                        </p:attrNameLst>
                                      </p:cBhvr>
                                      <p:to>
                                        <p:strVal val="visible"/>
                                      </p:to>
                                    </p:set>
                                    <p:animEffect transition="in" filter="box(out)">
                                      <p:cBhvr>
                                        <p:cTn id="22" dur="500"/>
                                        <p:tgtEl>
                                          <p:spTgt spid="32812"/>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32813"/>
                                        </p:tgtEl>
                                        <p:attrNameLst>
                                          <p:attrName>style.visibility</p:attrName>
                                        </p:attrNameLst>
                                      </p:cBhvr>
                                      <p:to>
                                        <p:strVal val="visible"/>
                                      </p:to>
                                    </p:set>
                                    <p:anim calcmode="lin" valueType="num">
                                      <p:cBhvr>
                                        <p:cTn id="27" dur="500" fill="hold"/>
                                        <p:tgtEl>
                                          <p:spTgt spid="32813"/>
                                        </p:tgtEl>
                                        <p:attrNameLst>
                                          <p:attrName>ppt_x</p:attrName>
                                        </p:attrNameLst>
                                      </p:cBhvr>
                                      <p:tavLst>
                                        <p:tav tm="0">
                                          <p:val>
                                            <p:strVal val="#ppt_x-#ppt_w/2"/>
                                          </p:val>
                                        </p:tav>
                                        <p:tav tm="100000">
                                          <p:val>
                                            <p:strVal val="#ppt_x"/>
                                          </p:val>
                                        </p:tav>
                                      </p:tavLst>
                                    </p:anim>
                                    <p:anim calcmode="lin" valueType="num">
                                      <p:cBhvr>
                                        <p:cTn id="28" dur="500" fill="hold"/>
                                        <p:tgtEl>
                                          <p:spTgt spid="32813"/>
                                        </p:tgtEl>
                                        <p:attrNameLst>
                                          <p:attrName>ppt_y</p:attrName>
                                        </p:attrNameLst>
                                      </p:cBhvr>
                                      <p:tavLst>
                                        <p:tav tm="0">
                                          <p:val>
                                            <p:strVal val="#ppt_y"/>
                                          </p:val>
                                        </p:tav>
                                        <p:tav tm="100000">
                                          <p:val>
                                            <p:strVal val="#ppt_y"/>
                                          </p:val>
                                        </p:tav>
                                      </p:tavLst>
                                    </p:anim>
                                    <p:anim calcmode="lin" valueType="num">
                                      <p:cBhvr>
                                        <p:cTn id="29" dur="500" fill="hold"/>
                                        <p:tgtEl>
                                          <p:spTgt spid="32813"/>
                                        </p:tgtEl>
                                        <p:attrNameLst>
                                          <p:attrName>ppt_w</p:attrName>
                                        </p:attrNameLst>
                                      </p:cBhvr>
                                      <p:tavLst>
                                        <p:tav tm="0">
                                          <p:val>
                                            <p:fltVal val="0"/>
                                          </p:val>
                                        </p:tav>
                                        <p:tav tm="100000">
                                          <p:val>
                                            <p:strVal val="#ppt_w"/>
                                          </p:val>
                                        </p:tav>
                                      </p:tavLst>
                                    </p:anim>
                                    <p:anim calcmode="lin" valueType="num">
                                      <p:cBhvr>
                                        <p:cTn id="30" dur="500" fill="hold"/>
                                        <p:tgtEl>
                                          <p:spTgt spid="32813"/>
                                        </p:tgtEl>
                                        <p:attrNameLst>
                                          <p:attrName>ppt_h</p:attrName>
                                        </p:attrNameLst>
                                      </p:cBhvr>
                                      <p:tavLst>
                                        <p:tav tm="0">
                                          <p:val>
                                            <p:strVal val="#ppt_h"/>
                                          </p:val>
                                        </p:tav>
                                        <p:tav tm="100000">
                                          <p:val>
                                            <p:strVal val="#ppt_h"/>
                                          </p:val>
                                        </p:tav>
                                      </p:tavLst>
                                    </p:anim>
                                  </p:childTnLst>
                                </p:cTn>
                              </p:par>
                            </p:childTnLst>
                          </p:cTn>
                        </p:par>
                        <p:par>
                          <p:cTn id="31" fill="hold">
                            <p:stCondLst>
                              <p:cond delay="500"/>
                            </p:stCondLst>
                            <p:childTnLst>
                              <p:par>
                                <p:cTn id="32" presetID="4" presetClass="entr" presetSubtype="32" fill="hold" grpId="0"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box(out)">
                                      <p:cBhvr>
                                        <p:cTn id="34" dur="500"/>
                                        <p:tgtEl>
                                          <p:spTgt spid="50"/>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ppt_x</p:attrName>
                                        </p:attrNameLst>
                                      </p:cBhvr>
                                      <p:tavLst>
                                        <p:tav tm="0">
                                          <p:val>
                                            <p:strVal val="#ppt_x-#ppt_w/2"/>
                                          </p:val>
                                        </p:tav>
                                        <p:tav tm="100000">
                                          <p:val>
                                            <p:strVal val="#ppt_x"/>
                                          </p:val>
                                        </p:tav>
                                      </p:tavLst>
                                    </p:anim>
                                    <p:anim calcmode="lin" valueType="num">
                                      <p:cBhvr>
                                        <p:cTn id="40" dur="500" fill="hold"/>
                                        <p:tgtEl>
                                          <p:spTgt spid="10"/>
                                        </p:tgtEl>
                                        <p:attrNameLst>
                                          <p:attrName>ppt_y</p:attrName>
                                        </p:attrNameLst>
                                      </p:cBhvr>
                                      <p:tavLst>
                                        <p:tav tm="0">
                                          <p:val>
                                            <p:strVal val="#ppt_y"/>
                                          </p:val>
                                        </p:tav>
                                        <p:tav tm="100000">
                                          <p:val>
                                            <p:strVal val="#ppt_y"/>
                                          </p:val>
                                        </p:tav>
                                      </p:tavLst>
                                    </p:anim>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strVal val="#ppt_h"/>
                                          </p:val>
                                        </p:tav>
                                        <p:tav tm="100000">
                                          <p:val>
                                            <p:strVal val="#ppt_h"/>
                                          </p:val>
                                        </p:tav>
                                      </p:tavLst>
                                    </p:anim>
                                  </p:childTnLst>
                                </p:cTn>
                              </p:par>
                            </p:childTnLst>
                          </p:cTn>
                        </p:par>
                        <p:par>
                          <p:cTn id="43" fill="hold">
                            <p:stCondLst>
                              <p:cond delay="500"/>
                            </p:stCondLst>
                            <p:childTnLst>
                              <p:par>
                                <p:cTn id="44" presetID="17" presetClass="entr" presetSubtype="8"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500" fill="hold"/>
                                        <p:tgtEl>
                                          <p:spTgt spid="12"/>
                                        </p:tgtEl>
                                        <p:attrNameLst>
                                          <p:attrName>ppt_x</p:attrName>
                                        </p:attrNameLst>
                                      </p:cBhvr>
                                      <p:tavLst>
                                        <p:tav tm="0">
                                          <p:val>
                                            <p:strVal val="#ppt_x-#ppt_w/2"/>
                                          </p:val>
                                        </p:tav>
                                        <p:tav tm="100000">
                                          <p:val>
                                            <p:strVal val="#ppt_x"/>
                                          </p:val>
                                        </p:tav>
                                      </p:tavLst>
                                    </p:anim>
                                    <p:anim calcmode="lin" valueType="num">
                                      <p:cBhvr>
                                        <p:cTn id="47" dur="500" fill="hold"/>
                                        <p:tgtEl>
                                          <p:spTgt spid="12"/>
                                        </p:tgtEl>
                                        <p:attrNameLst>
                                          <p:attrName>ppt_y</p:attrName>
                                        </p:attrNameLst>
                                      </p:cBhvr>
                                      <p:tavLst>
                                        <p:tav tm="0">
                                          <p:val>
                                            <p:strVal val="#ppt_y"/>
                                          </p:val>
                                        </p:tav>
                                        <p:tav tm="100000">
                                          <p:val>
                                            <p:strVal val="#ppt_y"/>
                                          </p:val>
                                        </p:tav>
                                      </p:tavLst>
                                    </p:anim>
                                    <p:anim calcmode="lin" valueType="num">
                                      <p:cBhvr>
                                        <p:cTn id="48" dur="500" fill="hold"/>
                                        <p:tgtEl>
                                          <p:spTgt spid="12"/>
                                        </p:tgtEl>
                                        <p:attrNameLst>
                                          <p:attrName>ppt_w</p:attrName>
                                        </p:attrNameLst>
                                      </p:cBhvr>
                                      <p:tavLst>
                                        <p:tav tm="0">
                                          <p:val>
                                            <p:fltVal val="0"/>
                                          </p:val>
                                        </p:tav>
                                        <p:tav tm="100000">
                                          <p:val>
                                            <p:strVal val="#ppt_w"/>
                                          </p:val>
                                        </p:tav>
                                      </p:tavLst>
                                    </p:anim>
                                    <p:anim calcmode="lin" valueType="num">
                                      <p:cBhvr>
                                        <p:cTn id="49" dur="500" fill="hold"/>
                                        <p:tgtEl>
                                          <p:spTgt spid="12"/>
                                        </p:tgtEl>
                                        <p:attrNameLst>
                                          <p:attrName>ppt_h</p:attrName>
                                        </p:attrNameLst>
                                      </p:cBhvr>
                                      <p:tavLst>
                                        <p:tav tm="0">
                                          <p:val>
                                            <p:strVal val="#ppt_h"/>
                                          </p:val>
                                        </p:tav>
                                        <p:tav tm="100000">
                                          <p:val>
                                            <p:strVal val="#ppt_h"/>
                                          </p:val>
                                        </p:tav>
                                      </p:tavLst>
                                    </p:anim>
                                  </p:childTnLst>
                                </p:cTn>
                              </p:par>
                            </p:childTnLst>
                          </p:cTn>
                        </p:par>
                        <p:par>
                          <p:cTn id="50" fill="hold">
                            <p:stCondLst>
                              <p:cond delay="1000"/>
                            </p:stCondLst>
                            <p:childTnLst>
                              <p:par>
                                <p:cTn id="51" presetID="4" presetClass="entr" presetSubtype="32"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box(out)">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wipe(down)">
                                      <p:cBhvr>
                                        <p:cTn id="5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10" grpId="0" animBg="1" autoUpdateAnimBg="0"/>
      <p:bldP spid="32811" grpId="0" animBg="1" autoUpdateAnimBg="0"/>
      <p:bldP spid="32812" grpId="0" animBg="1" autoUpdateAnimBg="0"/>
      <p:bldP spid="32813" grpId="0" animBg="1"/>
      <p:bldP spid="32814" grpId="0" animBg="1"/>
      <p:bldP spid="50" grpId="0" animBg="1" autoUpdateAnimBg="0"/>
      <p:bldP spid="2" grpId="0"/>
      <p:bldP spid="10" grpId="0" animBg="1"/>
      <p:bldP spid="11" grpId="0" animBg="1" autoUpdateAnimBg="0"/>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323528" y="78472"/>
            <a:ext cx="3068469" cy="52322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b="1" dirty="0">
                <a:solidFill>
                  <a:schemeClr val="hlink"/>
                </a:solidFill>
              </a:rPr>
              <a:t>2. </a:t>
            </a:r>
            <a:r>
              <a:rPr lang="zh-CN" altLang="en-US" b="1" dirty="0">
                <a:solidFill>
                  <a:schemeClr val="hlink"/>
                </a:solidFill>
              </a:rPr>
              <a:t>局部变量的定义</a:t>
            </a:r>
          </a:p>
        </p:txBody>
      </p:sp>
      <p:sp>
        <p:nvSpPr>
          <p:cNvPr id="3" name="文本框 2"/>
          <p:cNvSpPr txBox="1"/>
          <p:nvPr/>
        </p:nvSpPr>
        <p:spPr>
          <a:xfrm>
            <a:off x="503548" y="725971"/>
            <a:ext cx="8208912" cy="830997"/>
          </a:xfrm>
          <a:prstGeom prst="rect">
            <a:avLst/>
          </a:prstGeom>
          <a:noFill/>
        </p:spPr>
        <p:txBody>
          <a:bodyPr wrap="square" rtlCol="0">
            <a:spAutoFit/>
          </a:bodyPr>
          <a:lstStyle/>
          <a:p>
            <a:r>
              <a:rPr lang="zh-CN" altLang="en-US" sz="2400" b="1" dirty="0">
                <a:solidFill>
                  <a:schemeClr val="bg2"/>
                </a:solidFill>
              </a:rPr>
              <a:t>要让变量的作用域限制在某过程（子程序）中，则把它定义为局部变量。在</a:t>
            </a:r>
            <a:r>
              <a:rPr lang="en-US" altLang="zh-CN" sz="2400" b="1" dirty="0">
                <a:solidFill>
                  <a:schemeClr val="bg2"/>
                </a:solidFill>
              </a:rPr>
              <a:t>MASM</a:t>
            </a:r>
            <a:r>
              <a:rPr lang="zh-CN" altLang="en-US" sz="2400" b="1" dirty="0">
                <a:solidFill>
                  <a:schemeClr val="bg2"/>
                </a:solidFill>
              </a:rPr>
              <a:t>中使用</a:t>
            </a:r>
            <a:r>
              <a:rPr lang="en-US" altLang="zh-CN" sz="2400" b="1" dirty="0">
                <a:solidFill>
                  <a:srgbClr val="FF0000"/>
                </a:solidFill>
              </a:rPr>
              <a:t>local</a:t>
            </a:r>
            <a:r>
              <a:rPr lang="zh-CN" altLang="en-US" sz="2400" b="1" dirty="0">
                <a:solidFill>
                  <a:schemeClr val="bg2"/>
                </a:solidFill>
              </a:rPr>
              <a:t>伪指令定义局部变量。</a:t>
            </a:r>
          </a:p>
        </p:txBody>
      </p:sp>
      <p:sp>
        <p:nvSpPr>
          <p:cNvPr id="5" name="矩形 4"/>
          <p:cNvSpPr/>
          <p:nvPr/>
        </p:nvSpPr>
        <p:spPr>
          <a:xfrm>
            <a:off x="827584" y="1771414"/>
            <a:ext cx="8064896" cy="400110"/>
          </a:xfrm>
          <a:prstGeom prst="rect">
            <a:avLst/>
          </a:prstGeom>
        </p:spPr>
        <p:txBody>
          <a:bodyPr wrap="square">
            <a:spAutoFit/>
          </a:bodyPr>
          <a:lstStyle/>
          <a:p>
            <a:pPr lvl="0" indent="266700" eaLnBrk="0" hangingPunct="0"/>
            <a:r>
              <a:rPr lang="en-US" altLang="zh-CN" sz="2000" b="1" dirty="0">
                <a:solidFill>
                  <a:schemeClr val="bg2"/>
                </a:solidFill>
                <a:ea typeface="Courier"/>
              </a:rPr>
              <a:t>local    </a:t>
            </a:r>
            <a:r>
              <a:rPr lang="zh-CN" altLang="en-US" sz="2000" b="1" dirty="0">
                <a:solidFill>
                  <a:schemeClr val="bg2"/>
                </a:solidFill>
                <a:latin typeface="宋体" panose="02010600030101010101" pitchFamily="2" charset="-122"/>
              </a:rPr>
              <a:t>变量名</a:t>
            </a:r>
            <a:r>
              <a:rPr lang="en-US" altLang="zh-CN" sz="2000" b="1" dirty="0">
                <a:solidFill>
                  <a:schemeClr val="bg2"/>
                </a:solidFill>
                <a:ea typeface="Courier"/>
              </a:rPr>
              <a:t>1</a:t>
            </a:r>
            <a:r>
              <a:rPr lang="en-US" altLang="zh-CN" sz="2000" b="1" dirty="0">
                <a:solidFill>
                  <a:srgbClr val="FF0000"/>
                </a:solidFill>
                <a:ea typeface="Courier"/>
              </a:rPr>
              <a:t>[</a:t>
            </a:r>
            <a:r>
              <a:rPr lang="en-US" altLang="zh-CN" sz="2000" b="1" dirty="0">
                <a:solidFill>
                  <a:schemeClr val="bg2"/>
                </a:solidFill>
                <a:ea typeface="Courier"/>
              </a:rPr>
              <a:t>[</a:t>
            </a:r>
            <a:r>
              <a:rPr lang="zh-CN" altLang="en-US" sz="2000" b="1" dirty="0">
                <a:solidFill>
                  <a:schemeClr val="bg2"/>
                </a:solidFill>
                <a:latin typeface="宋体" panose="02010600030101010101" pitchFamily="2" charset="-122"/>
              </a:rPr>
              <a:t>重复数量</a:t>
            </a:r>
            <a:r>
              <a:rPr lang="en-US" altLang="zh-CN" sz="2000" b="1" dirty="0">
                <a:solidFill>
                  <a:schemeClr val="bg2"/>
                </a:solidFill>
                <a:ea typeface="Courier"/>
              </a:rPr>
              <a:t>]</a:t>
            </a:r>
            <a:r>
              <a:rPr lang="en-US" altLang="zh-CN" sz="2000" b="1" dirty="0">
                <a:solidFill>
                  <a:srgbClr val="FF0000"/>
                </a:solidFill>
                <a:ea typeface="Courier"/>
              </a:rPr>
              <a:t>][</a:t>
            </a:r>
            <a:r>
              <a:rPr lang="en-US" altLang="zh-CN" sz="2000" b="1" dirty="0">
                <a:solidFill>
                  <a:schemeClr val="bg2"/>
                </a:solidFill>
                <a:ea typeface="Courier"/>
              </a:rPr>
              <a:t>:</a:t>
            </a:r>
            <a:r>
              <a:rPr lang="zh-CN" altLang="en-US" sz="2000" b="1" dirty="0">
                <a:solidFill>
                  <a:schemeClr val="bg2"/>
                </a:solidFill>
                <a:latin typeface="宋体" panose="02010600030101010101" pitchFamily="2" charset="-122"/>
              </a:rPr>
              <a:t>类型</a:t>
            </a:r>
            <a:r>
              <a:rPr lang="en-US" altLang="zh-CN" sz="2000" b="1" dirty="0">
                <a:solidFill>
                  <a:srgbClr val="FF0000"/>
                </a:solidFill>
                <a:ea typeface="Courier"/>
              </a:rPr>
              <a:t>]</a:t>
            </a:r>
            <a:r>
              <a:rPr lang="en-US" altLang="zh-CN" sz="2000" b="1" dirty="0">
                <a:solidFill>
                  <a:schemeClr val="bg2"/>
                </a:solidFill>
                <a:ea typeface="Courier"/>
              </a:rPr>
              <a:t>,</a:t>
            </a:r>
            <a:r>
              <a:rPr lang="zh-CN" altLang="en-US" sz="2000" b="1" dirty="0">
                <a:solidFill>
                  <a:schemeClr val="bg2"/>
                </a:solidFill>
                <a:latin typeface="宋体" panose="02010600030101010101" pitchFamily="2" charset="-122"/>
              </a:rPr>
              <a:t>变量名</a:t>
            </a:r>
            <a:r>
              <a:rPr lang="en-US" altLang="zh-CN" sz="2000" b="1" dirty="0">
                <a:solidFill>
                  <a:schemeClr val="bg2"/>
                </a:solidFill>
                <a:ea typeface="Courier"/>
              </a:rPr>
              <a:t>2</a:t>
            </a:r>
            <a:r>
              <a:rPr lang="en-US" altLang="zh-CN" sz="2000" b="1" dirty="0">
                <a:solidFill>
                  <a:srgbClr val="FF0000"/>
                </a:solidFill>
                <a:ea typeface="Courier"/>
              </a:rPr>
              <a:t>[</a:t>
            </a:r>
            <a:r>
              <a:rPr lang="en-US" altLang="zh-CN" sz="2000" b="1" dirty="0">
                <a:solidFill>
                  <a:schemeClr val="bg2"/>
                </a:solidFill>
                <a:ea typeface="Courier"/>
              </a:rPr>
              <a:t>[</a:t>
            </a:r>
            <a:r>
              <a:rPr lang="zh-CN" altLang="en-US" sz="2000" b="1" dirty="0">
                <a:solidFill>
                  <a:schemeClr val="bg2"/>
                </a:solidFill>
                <a:latin typeface="宋体" panose="02010600030101010101" pitchFamily="2" charset="-122"/>
              </a:rPr>
              <a:t>重复数量</a:t>
            </a:r>
            <a:r>
              <a:rPr lang="en-US" altLang="zh-CN" sz="2000" b="1" dirty="0">
                <a:solidFill>
                  <a:schemeClr val="bg2"/>
                </a:solidFill>
                <a:ea typeface="Courier"/>
              </a:rPr>
              <a:t>]</a:t>
            </a:r>
            <a:r>
              <a:rPr lang="en-US" altLang="zh-CN" sz="2000" b="1" dirty="0">
                <a:solidFill>
                  <a:srgbClr val="FF0000"/>
                </a:solidFill>
                <a:ea typeface="Courier"/>
              </a:rPr>
              <a:t>][</a:t>
            </a:r>
            <a:r>
              <a:rPr lang="en-US" altLang="zh-CN" sz="2000" b="1" dirty="0">
                <a:solidFill>
                  <a:schemeClr val="bg2"/>
                </a:solidFill>
                <a:ea typeface="Courier"/>
              </a:rPr>
              <a:t>:</a:t>
            </a:r>
            <a:r>
              <a:rPr lang="zh-CN" altLang="en-US" sz="2000" b="1" dirty="0">
                <a:solidFill>
                  <a:schemeClr val="bg2"/>
                </a:solidFill>
                <a:latin typeface="宋体" panose="02010600030101010101" pitchFamily="2" charset="-122"/>
              </a:rPr>
              <a:t>类型</a:t>
            </a:r>
            <a:r>
              <a:rPr lang="en-US" altLang="zh-CN" sz="2000" b="1" dirty="0">
                <a:solidFill>
                  <a:srgbClr val="FF0000"/>
                </a:solidFill>
                <a:ea typeface="Courier"/>
              </a:rPr>
              <a:t>]</a:t>
            </a:r>
            <a:r>
              <a:rPr lang="en-US" altLang="zh-CN" sz="2000" b="1" dirty="0">
                <a:solidFill>
                  <a:schemeClr val="bg2"/>
                </a:solidFill>
                <a:ea typeface="Courier"/>
              </a:rPr>
              <a:t>……</a:t>
            </a:r>
            <a:endParaRPr lang="en-US" altLang="zh-CN" sz="2000" b="1" dirty="0">
              <a:solidFill>
                <a:schemeClr val="bg2"/>
              </a:solidFill>
            </a:endParaRPr>
          </a:p>
        </p:txBody>
      </p:sp>
      <p:sp>
        <p:nvSpPr>
          <p:cNvPr id="6" name="文本框 5"/>
          <p:cNvSpPr txBox="1"/>
          <p:nvPr/>
        </p:nvSpPr>
        <p:spPr>
          <a:xfrm>
            <a:off x="107504" y="1776637"/>
            <a:ext cx="1080120" cy="461665"/>
          </a:xfrm>
          <a:prstGeom prst="rect">
            <a:avLst/>
          </a:prstGeom>
          <a:noFill/>
        </p:spPr>
        <p:txBody>
          <a:bodyPr wrap="square" rtlCol="0">
            <a:spAutoFit/>
          </a:bodyPr>
          <a:lstStyle/>
          <a:p>
            <a:r>
              <a:rPr lang="zh-CN" altLang="en-US" sz="2400" b="1" dirty="0">
                <a:solidFill>
                  <a:srgbClr val="FF0000"/>
                </a:solidFill>
              </a:rPr>
              <a:t>格式：</a:t>
            </a:r>
          </a:p>
        </p:txBody>
      </p:sp>
      <p:sp>
        <p:nvSpPr>
          <p:cNvPr id="7" name="矩形 6"/>
          <p:cNvSpPr/>
          <p:nvPr/>
        </p:nvSpPr>
        <p:spPr>
          <a:xfrm>
            <a:off x="647564" y="2205528"/>
            <a:ext cx="7920880" cy="3416320"/>
          </a:xfrm>
          <a:prstGeom prst="rect">
            <a:avLst/>
          </a:prstGeom>
        </p:spPr>
        <p:txBody>
          <a:bodyPr wrap="square">
            <a:spAutoFit/>
          </a:bodyPr>
          <a:lstStyle/>
          <a:p>
            <a:pPr marL="342900" indent="-342900">
              <a:buClr>
                <a:srgbClr val="C00000"/>
              </a:buClr>
              <a:buFont typeface="Wingdings" panose="05000000000000000000" pitchFamily="2" charset="2"/>
              <a:buChar char="n"/>
            </a:pPr>
            <a:r>
              <a:rPr lang="en-US" altLang="zh-CN" sz="2400" b="1" dirty="0">
                <a:solidFill>
                  <a:schemeClr val="bg2"/>
                </a:solidFill>
              </a:rPr>
              <a:t>LOCAL</a:t>
            </a:r>
            <a:r>
              <a:rPr lang="zh-CN" altLang="en-US" sz="2400" b="1" dirty="0">
                <a:solidFill>
                  <a:schemeClr val="bg2"/>
                </a:solidFill>
              </a:rPr>
              <a:t>语句要紧跟在过程定义</a:t>
            </a:r>
            <a:r>
              <a:rPr lang="en-US" altLang="zh-CN" sz="2400" b="1" dirty="0">
                <a:solidFill>
                  <a:schemeClr val="bg2"/>
                </a:solidFill>
              </a:rPr>
              <a:t>PROC</a:t>
            </a:r>
            <a:r>
              <a:rPr lang="zh-CN" altLang="en-US" sz="2400" b="1" dirty="0">
                <a:solidFill>
                  <a:schemeClr val="bg2"/>
                </a:solidFill>
              </a:rPr>
              <a:t>语句之后</a:t>
            </a:r>
            <a:endParaRPr lang="en-US" altLang="zh-CN" sz="2400" b="1" dirty="0">
              <a:solidFill>
                <a:schemeClr val="bg2"/>
              </a:solidFill>
            </a:endParaRPr>
          </a:p>
          <a:p>
            <a:pPr marL="342900" indent="-342900">
              <a:buClr>
                <a:srgbClr val="C00000"/>
              </a:buClr>
              <a:buFont typeface="Wingdings" panose="05000000000000000000" pitchFamily="2" charset="2"/>
              <a:buChar char="n"/>
            </a:pPr>
            <a:r>
              <a:rPr lang="zh-CN" altLang="en-US" sz="2400" b="1" dirty="0">
                <a:solidFill>
                  <a:schemeClr val="bg2"/>
                </a:solidFill>
                <a:latin typeface="宋体" panose="02010600030101010101" pitchFamily="2" charset="-122"/>
              </a:rPr>
              <a:t>默认的类型是</a:t>
            </a:r>
            <a:r>
              <a:rPr lang="en-US" altLang="zh-CN" sz="2400" b="1" dirty="0" err="1">
                <a:solidFill>
                  <a:schemeClr val="bg2"/>
                </a:solidFill>
              </a:rPr>
              <a:t>dword</a:t>
            </a:r>
            <a:r>
              <a:rPr lang="zh-CN" altLang="en-US" sz="2400" b="1" dirty="0">
                <a:solidFill>
                  <a:schemeClr val="bg2"/>
                </a:solidFill>
                <a:latin typeface="宋体" panose="02010600030101010101" pitchFamily="2" charset="-122"/>
              </a:rPr>
              <a:t>，因此定义</a:t>
            </a:r>
            <a:r>
              <a:rPr lang="en-US" altLang="zh-CN" sz="2400" b="1" dirty="0" err="1">
                <a:solidFill>
                  <a:schemeClr val="bg2"/>
                </a:solidFill>
              </a:rPr>
              <a:t>dword</a:t>
            </a:r>
            <a:r>
              <a:rPr lang="zh-CN" altLang="en-US" sz="2400" b="1" dirty="0">
                <a:solidFill>
                  <a:schemeClr val="bg2"/>
                </a:solidFill>
                <a:latin typeface="宋体" panose="02010600030101010101" pitchFamily="2" charset="-122"/>
              </a:rPr>
              <a:t>类型的局部变量，则类型可以省略。</a:t>
            </a:r>
            <a:endParaRPr lang="en-US" altLang="zh-CN" sz="2400" b="1" dirty="0">
              <a:solidFill>
                <a:schemeClr val="bg2"/>
              </a:solidFill>
              <a:latin typeface="宋体" panose="02010600030101010101" pitchFamily="2" charset="-122"/>
            </a:endParaRPr>
          </a:p>
          <a:p>
            <a:pPr marL="342900" indent="-342900">
              <a:buClr>
                <a:srgbClr val="C00000"/>
              </a:buClr>
              <a:buFont typeface="Wingdings" panose="05000000000000000000" pitchFamily="2" charset="2"/>
              <a:buChar char="n"/>
            </a:pPr>
            <a:r>
              <a:rPr lang="zh-CN" altLang="en-US" sz="2400" b="1" dirty="0">
                <a:solidFill>
                  <a:schemeClr val="bg2"/>
                </a:solidFill>
                <a:latin typeface="宋体" panose="02010600030101010101" pitchFamily="2" charset="-122"/>
              </a:rPr>
              <a:t>当定义数组的时候，元素个数用</a:t>
            </a:r>
            <a:r>
              <a:rPr lang="en-US" altLang="zh-CN" sz="2400" b="1" dirty="0">
                <a:solidFill>
                  <a:schemeClr val="bg2"/>
                </a:solidFill>
              </a:rPr>
              <a:t>[] </a:t>
            </a:r>
            <a:r>
              <a:rPr lang="zh-CN" altLang="en-US" sz="2400" b="1" dirty="0">
                <a:solidFill>
                  <a:schemeClr val="bg2"/>
                </a:solidFill>
                <a:latin typeface="宋体" panose="02010600030101010101" pitchFamily="2" charset="-122"/>
              </a:rPr>
              <a:t>括号括起来。</a:t>
            </a:r>
            <a:endParaRPr lang="en-US" altLang="zh-CN" sz="2400" b="1" dirty="0">
              <a:solidFill>
                <a:schemeClr val="bg2"/>
              </a:solidFill>
              <a:latin typeface="宋体" panose="02010600030101010101" pitchFamily="2" charset="-122"/>
            </a:endParaRPr>
          </a:p>
          <a:p>
            <a:pPr marL="342900" indent="-342900">
              <a:buClr>
                <a:srgbClr val="C00000"/>
              </a:buClr>
              <a:buFont typeface="Wingdings" panose="05000000000000000000" pitchFamily="2" charset="2"/>
              <a:buChar char="n"/>
            </a:pPr>
            <a:r>
              <a:rPr lang="zh-CN" altLang="en-US" sz="2400" b="1" dirty="0">
                <a:solidFill>
                  <a:schemeClr val="bg2"/>
                </a:solidFill>
                <a:latin typeface="宋体" panose="02010600030101010101" pitchFamily="2" charset="-122"/>
              </a:rPr>
              <a:t>局部变量不能和已定义的全局变量同名。</a:t>
            </a:r>
            <a:endParaRPr lang="en-US" altLang="zh-CN" sz="2400" b="1" dirty="0">
              <a:solidFill>
                <a:schemeClr val="bg2"/>
              </a:solidFill>
              <a:latin typeface="宋体" panose="02010600030101010101" pitchFamily="2" charset="-122"/>
            </a:endParaRPr>
          </a:p>
          <a:p>
            <a:pPr marL="342900" indent="-342900">
              <a:buClr>
                <a:srgbClr val="C00000"/>
              </a:buClr>
              <a:buFont typeface="Wingdings" panose="05000000000000000000" pitchFamily="2" charset="2"/>
              <a:buChar char="n"/>
            </a:pPr>
            <a:r>
              <a:rPr lang="zh-CN" altLang="en-US" sz="2400" b="1" dirty="0">
                <a:solidFill>
                  <a:schemeClr val="bg2"/>
                </a:solidFill>
                <a:latin typeface="宋体" panose="02010600030101010101" pitchFamily="2" charset="-122"/>
              </a:rPr>
              <a:t>局部变量的作用域是当前的子程序，所以在不同的子程序中可以有同名的局部变量。</a:t>
            </a:r>
            <a:endParaRPr lang="en-US" altLang="zh-CN" sz="2400" b="1" dirty="0">
              <a:solidFill>
                <a:schemeClr val="bg2"/>
              </a:solidFill>
              <a:latin typeface="宋体" panose="02010600030101010101" pitchFamily="2" charset="-122"/>
            </a:endParaRPr>
          </a:p>
          <a:p>
            <a:pPr marL="342900" indent="-342900">
              <a:buClr>
                <a:srgbClr val="C00000"/>
              </a:buClr>
              <a:buFont typeface="Wingdings" panose="05000000000000000000" pitchFamily="2" charset="2"/>
              <a:buChar char="n"/>
            </a:pPr>
            <a:r>
              <a:rPr lang="zh-CN" altLang="en-US" sz="2400" b="1" dirty="0">
                <a:solidFill>
                  <a:srgbClr val="000000"/>
                </a:solidFill>
                <a:latin typeface="宋体" panose="02010600030101010101" pitchFamily="2" charset="-122"/>
              </a:rPr>
              <a:t>局部变量的初值是随机的，是其他子程序执行后在堆栈里留下的垃圾，所以使用时</a:t>
            </a:r>
            <a:r>
              <a:rPr lang="zh-CN" altLang="en-US" sz="2400" b="1" dirty="0">
                <a:solidFill>
                  <a:srgbClr val="FF0000"/>
                </a:solidFill>
                <a:latin typeface="宋体" panose="02010600030101010101" pitchFamily="2" charset="-122"/>
              </a:rPr>
              <a:t>一定要对局部变量赋值</a:t>
            </a:r>
            <a:r>
              <a:rPr lang="zh-CN" altLang="en-US" sz="2400" b="1" dirty="0">
                <a:solidFill>
                  <a:srgbClr val="000000"/>
                </a:solidFill>
                <a:latin typeface="宋体" panose="02010600030101010101" pitchFamily="2" charset="-122"/>
              </a:rPr>
              <a:t>。</a:t>
            </a:r>
            <a:endParaRPr lang="zh-CN" altLang="en-US" sz="2400" b="1" dirty="0"/>
          </a:p>
        </p:txBody>
      </p:sp>
      <p:sp>
        <p:nvSpPr>
          <p:cNvPr id="8" name="矩形 7"/>
          <p:cNvSpPr/>
          <p:nvPr/>
        </p:nvSpPr>
        <p:spPr>
          <a:xfrm>
            <a:off x="-10398" y="5689693"/>
            <a:ext cx="9144000" cy="400110"/>
          </a:xfrm>
          <a:prstGeom prst="rect">
            <a:avLst/>
          </a:prstGeom>
        </p:spPr>
        <p:txBody>
          <a:bodyPr wrap="square">
            <a:spAutoFit/>
          </a:bodyPr>
          <a:lstStyle/>
          <a:p>
            <a:r>
              <a:rPr lang="zh-CN" altLang="en-US" sz="2000" b="1" dirty="0">
                <a:solidFill>
                  <a:srgbClr val="000000"/>
                </a:solidFill>
                <a:latin typeface="Courier"/>
              </a:rPr>
              <a:t>例</a:t>
            </a:r>
            <a:r>
              <a:rPr lang="en-US" altLang="zh-CN" sz="2000" b="1" dirty="0">
                <a:solidFill>
                  <a:srgbClr val="000000"/>
                </a:solidFill>
                <a:latin typeface="Courier"/>
              </a:rPr>
              <a:t>1 Local var1[1024]:byte ;</a:t>
            </a:r>
            <a:r>
              <a:rPr lang="zh-CN" altLang="en-US" sz="2000" b="1" dirty="0">
                <a:solidFill>
                  <a:srgbClr val="000000"/>
                </a:solidFill>
                <a:latin typeface="Courier"/>
              </a:rPr>
              <a:t>定义了一个</a:t>
            </a:r>
            <a:r>
              <a:rPr lang="en-US" altLang="zh-CN" sz="2000" b="1" dirty="0">
                <a:solidFill>
                  <a:srgbClr val="000000"/>
                </a:solidFill>
                <a:latin typeface="Courier"/>
              </a:rPr>
              <a:t>1024</a:t>
            </a:r>
            <a:r>
              <a:rPr lang="zh-CN" altLang="en-US" sz="2000" b="1" dirty="0">
                <a:solidFill>
                  <a:srgbClr val="000000"/>
                </a:solidFill>
                <a:latin typeface="Courier"/>
              </a:rPr>
              <a:t>字节长的</a:t>
            </a:r>
            <a:r>
              <a:rPr lang="zh-CN" altLang="en-US" sz="2000" b="1" dirty="0" smtClean="0">
                <a:solidFill>
                  <a:srgbClr val="000000"/>
                </a:solidFill>
                <a:latin typeface="Courier"/>
              </a:rPr>
              <a:t>局部变量</a:t>
            </a:r>
            <a:r>
              <a:rPr lang="en-US" altLang="zh-CN" sz="2000" b="1" dirty="0" smtClean="0">
                <a:solidFill>
                  <a:srgbClr val="000000"/>
                </a:solidFill>
                <a:latin typeface="Courier"/>
              </a:rPr>
              <a:t>var1</a:t>
            </a:r>
            <a:endParaRPr lang="zh-CN" altLang="en-US" sz="2000" dirty="0"/>
          </a:p>
        </p:txBody>
      </p:sp>
      <p:sp>
        <p:nvSpPr>
          <p:cNvPr id="10" name="矩形 9"/>
          <p:cNvSpPr/>
          <p:nvPr/>
        </p:nvSpPr>
        <p:spPr>
          <a:xfrm>
            <a:off x="0" y="6124273"/>
            <a:ext cx="9029221" cy="707886"/>
          </a:xfrm>
          <a:prstGeom prst="rect">
            <a:avLst/>
          </a:prstGeom>
        </p:spPr>
        <p:txBody>
          <a:bodyPr wrap="square">
            <a:spAutoFit/>
          </a:bodyPr>
          <a:lstStyle/>
          <a:p>
            <a:r>
              <a:rPr lang="zh-CN" altLang="en-US" sz="2000" b="1" dirty="0">
                <a:solidFill>
                  <a:srgbClr val="000000"/>
                </a:solidFill>
                <a:latin typeface="Courier"/>
              </a:rPr>
              <a:t>例</a:t>
            </a:r>
            <a:r>
              <a:rPr lang="en-US" altLang="zh-CN" sz="2000" b="1" dirty="0">
                <a:solidFill>
                  <a:srgbClr val="000000"/>
                </a:solidFill>
                <a:latin typeface="Courier"/>
              </a:rPr>
              <a:t>2 Local var3,var4:byte ;</a:t>
            </a:r>
            <a:r>
              <a:rPr lang="zh-CN" altLang="en-US" sz="2000" b="1" dirty="0">
                <a:solidFill>
                  <a:srgbClr val="000000"/>
                </a:solidFill>
                <a:latin typeface="Courier"/>
              </a:rPr>
              <a:t>定义了</a:t>
            </a:r>
            <a:r>
              <a:rPr lang="en-US" altLang="zh-CN" sz="2000" b="1" dirty="0" err="1">
                <a:solidFill>
                  <a:srgbClr val="000000"/>
                </a:solidFill>
                <a:latin typeface="Courier"/>
              </a:rPr>
              <a:t>dword</a:t>
            </a:r>
            <a:r>
              <a:rPr lang="zh-CN" altLang="en-US" sz="2000" b="1" dirty="0">
                <a:solidFill>
                  <a:srgbClr val="000000"/>
                </a:solidFill>
                <a:latin typeface="Courier"/>
              </a:rPr>
              <a:t>型局部变量</a:t>
            </a:r>
            <a:r>
              <a:rPr lang="en-US" altLang="zh-CN" sz="2000" b="1" dirty="0">
                <a:solidFill>
                  <a:srgbClr val="000000"/>
                </a:solidFill>
                <a:latin typeface="Courier"/>
              </a:rPr>
              <a:t>var3,byte</a:t>
            </a:r>
            <a:r>
              <a:rPr lang="zh-CN" altLang="en-US" sz="2000" b="1" dirty="0">
                <a:solidFill>
                  <a:srgbClr val="000000"/>
                </a:solidFill>
                <a:latin typeface="Courier"/>
              </a:rPr>
              <a:t>型局部变量</a:t>
            </a:r>
            <a:r>
              <a:rPr lang="en-US" altLang="zh-CN" sz="2000" b="1" dirty="0">
                <a:solidFill>
                  <a:srgbClr val="000000"/>
                </a:solidFill>
                <a:latin typeface="Courier"/>
              </a:rPr>
              <a:t>var4</a:t>
            </a:r>
            <a:endParaRPr lang="zh-CN" altLang="en-US" sz="2000" dirty="0"/>
          </a:p>
        </p:txBody>
      </p:sp>
      <p:sp>
        <p:nvSpPr>
          <p:cNvPr id="9" name="灯片编号占位符 3">
            <a:extLst>
              <a:ext uri="{FF2B5EF4-FFF2-40B4-BE49-F238E27FC236}">
                <a16:creationId xmlns:a16="http://schemas.microsoft.com/office/drawing/2014/main" id="{01CDA637-2D31-4D63-A3B1-BB8A3D285BBD}"/>
              </a:ext>
            </a:extLst>
          </p:cNvPr>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CD7EA0C5-0141-4480-89E6-F726F0525C4B}" type="slidenum">
              <a:rPr lang="en-US" altLang="zh-CN" sz="1400">
                <a:solidFill>
                  <a:schemeClr val="bg2"/>
                </a:solidFill>
              </a:rPr>
              <a:pPr algn="r" eaLnBrk="1" hangingPunct="1"/>
              <a:t>24</a:t>
            </a:fld>
            <a:endParaRPr lang="en-US" altLang="zh-CN" sz="1400">
              <a:solidFill>
                <a:schemeClr val="bg2"/>
              </a:solidFill>
            </a:endParaRPr>
          </a:p>
        </p:txBody>
      </p:sp>
    </p:spTree>
    <p:extLst>
      <p:ext uri="{BB962C8B-B14F-4D97-AF65-F5344CB8AC3E}">
        <p14:creationId xmlns:p14="http://schemas.microsoft.com/office/powerpoint/2010/main" val="49365013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wipe(down)">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wipe(down)">
                                      <p:cBhvr>
                                        <p:cTn id="30" dur="500"/>
                                        <p:tgtEl>
                                          <p:spTgt spid="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wipe(down)">
                                      <p:cBhvr>
                                        <p:cTn id="35" dur="500"/>
                                        <p:tgtEl>
                                          <p:spTgt spid="7">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down)">
                                      <p:cBhvr>
                                        <p:cTn id="40" dur="500"/>
                                        <p:tgtEl>
                                          <p:spTgt spid="7">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
                                            <p:txEl>
                                              <p:pRg st="4" end="4"/>
                                            </p:txEl>
                                          </p:spTgt>
                                        </p:tgtEl>
                                        <p:attrNameLst>
                                          <p:attrName>style.visibility</p:attrName>
                                        </p:attrNameLst>
                                      </p:cBhvr>
                                      <p:to>
                                        <p:strVal val="visible"/>
                                      </p:to>
                                    </p:set>
                                    <p:animEffect transition="in" filter="wipe(down)">
                                      <p:cBhvr>
                                        <p:cTn id="45" dur="500"/>
                                        <p:tgtEl>
                                          <p:spTgt spid="7">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7">
                                            <p:txEl>
                                              <p:pRg st="5" end="5"/>
                                            </p:txEl>
                                          </p:spTgt>
                                        </p:tgtEl>
                                        <p:attrNameLst>
                                          <p:attrName>style.visibility</p:attrName>
                                        </p:attrNameLst>
                                      </p:cBhvr>
                                      <p:to>
                                        <p:strVal val="visible"/>
                                      </p:to>
                                    </p:set>
                                    <p:animEffect transition="in" filter="wipe(down)">
                                      <p:cBhvr>
                                        <p:cTn id="50" dur="500"/>
                                        <p:tgtEl>
                                          <p:spTgt spid="7">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down)">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down)">
                                      <p:cBhvr>
                                        <p:cTn id="6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p:bldP spid="5" grpId="0"/>
      <p:bldP spid="6" grpId="0"/>
      <p:bldP spid="7" grpId="0" build="p"/>
      <p:bldP spid="8"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CD7EA0C5-0141-4480-89E6-F726F0525C4B}" type="slidenum">
              <a:rPr lang="en-US" altLang="zh-CN" sz="1400">
                <a:solidFill>
                  <a:schemeClr val="bg2"/>
                </a:solidFill>
              </a:rPr>
              <a:pPr algn="r" eaLnBrk="1" hangingPunct="1"/>
              <a:t>25</a:t>
            </a:fld>
            <a:endParaRPr lang="en-US" altLang="zh-CN" sz="1400">
              <a:solidFill>
                <a:schemeClr val="bg2"/>
              </a:solidFill>
            </a:endParaRPr>
          </a:p>
        </p:txBody>
      </p:sp>
      <p:sp>
        <p:nvSpPr>
          <p:cNvPr id="33795" name="Rectangle 3"/>
          <p:cNvSpPr>
            <a:spLocks noChangeArrowheads="1"/>
          </p:cNvSpPr>
          <p:nvPr/>
        </p:nvSpPr>
        <p:spPr bwMode="auto">
          <a:xfrm>
            <a:off x="607740" y="600018"/>
            <a:ext cx="8190706" cy="1569660"/>
          </a:xfrm>
          <a:prstGeom prst="rect">
            <a:avLst/>
          </a:prstGeom>
          <a:solidFill>
            <a:schemeClr val="bg1"/>
          </a:solidFill>
          <a:ln>
            <a:noFill/>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457200" indent="-457200" eaLnBrk="1" hangingPunct="1">
              <a:buClr>
                <a:srgbClr val="C00000"/>
              </a:buClr>
              <a:buFont typeface="Wingdings" panose="05000000000000000000" pitchFamily="2" charset="2"/>
              <a:buChar char="n"/>
            </a:pPr>
            <a:r>
              <a:rPr lang="zh-CN" altLang="en-US" sz="2400" b="1" dirty="0">
                <a:solidFill>
                  <a:schemeClr val="bg2"/>
                </a:solidFill>
              </a:rPr>
              <a:t>标号加在一条指令的前面，它就是该指令在内存的存放地址的符号表示，也就是指令地址的别名。</a:t>
            </a:r>
            <a:endParaRPr lang="en-US" altLang="zh-CN" sz="2400" b="1" dirty="0">
              <a:solidFill>
                <a:schemeClr val="bg2"/>
              </a:solidFill>
            </a:endParaRPr>
          </a:p>
          <a:p>
            <a:pPr marL="457200" indent="-457200" eaLnBrk="1" hangingPunct="1">
              <a:buClr>
                <a:srgbClr val="C00000"/>
              </a:buClr>
              <a:buFont typeface="Wingdings" panose="05000000000000000000" pitchFamily="2" charset="2"/>
              <a:buChar char="n"/>
            </a:pPr>
            <a:r>
              <a:rPr lang="zh-CN" altLang="en-US" sz="2400" b="1" dirty="0">
                <a:solidFill>
                  <a:schemeClr val="bg2"/>
                </a:solidFill>
              </a:rPr>
              <a:t>标号主要用在程序中需要改变程序的执行顺序时，用来标记转移的目的地。</a:t>
            </a:r>
          </a:p>
        </p:txBody>
      </p:sp>
      <p:sp>
        <p:nvSpPr>
          <p:cNvPr id="33796" name="Rectangle 4"/>
          <p:cNvSpPr>
            <a:spLocks noChangeArrowheads="1"/>
          </p:cNvSpPr>
          <p:nvPr/>
        </p:nvSpPr>
        <p:spPr bwMode="auto">
          <a:xfrm>
            <a:off x="3131840" y="27404"/>
            <a:ext cx="1790700" cy="5794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3200" b="1" dirty="0">
                <a:solidFill>
                  <a:schemeClr val="hlink"/>
                </a:solidFill>
              </a:rPr>
              <a:t>三、标号</a:t>
            </a:r>
          </a:p>
        </p:txBody>
      </p:sp>
      <p:sp>
        <p:nvSpPr>
          <p:cNvPr id="33797" name="Text Box 5"/>
          <p:cNvSpPr txBox="1">
            <a:spLocks noChangeArrowheads="1"/>
          </p:cNvSpPr>
          <p:nvPr/>
        </p:nvSpPr>
        <p:spPr bwMode="auto">
          <a:xfrm>
            <a:off x="619148" y="2152404"/>
            <a:ext cx="5544616" cy="2677656"/>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例如：          </a:t>
            </a:r>
            <a:r>
              <a:rPr lang="en-US" altLang="zh-CN" sz="2400" b="1" dirty="0">
                <a:solidFill>
                  <a:schemeClr val="bg2"/>
                </a:solidFill>
              </a:rPr>
              <a:t>MOV   </a:t>
            </a:r>
            <a:r>
              <a:rPr lang="en-US" altLang="zh-CN" sz="2400" b="1" dirty="0" smtClean="0">
                <a:solidFill>
                  <a:schemeClr val="bg2"/>
                </a:solidFill>
              </a:rPr>
              <a:t>ECX</a:t>
            </a:r>
            <a:r>
              <a:rPr lang="en-US" altLang="zh-CN" sz="2400" b="1" dirty="0">
                <a:solidFill>
                  <a:schemeClr val="bg2"/>
                </a:solidFill>
              </a:rPr>
              <a:t>, 100</a:t>
            </a:r>
            <a:br>
              <a:rPr lang="en-US" altLang="zh-CN" sz="2400" b="1" dirty="0">
                <a:solidFill>
                  <a:schemeClr val="bg2"/>
                </a:solidFill>
              </a:rPr>
            </a:br>
            <a:r>
              <a:rPr lang="en-US" altLang="zh-CN" sz="2400" b="1" dirty="0">
                <a:solidFill>
                  <a:schemeClr val="bg2"/>
                </a:solidFill>
              </a:rPr>
              <a:t>            </a:t>
            </a:r>
            <a:r>
              <a:rPr lang="en-US" altLang="zh-CN" sz="2400" b="1" dirty="0">
                <a:solidFill>
                  <a:schemeClr val="hlink"/>
                </a:solidFill>
              </a:rPr>
              <a:t>LAB:</a:t>
            </a:r>
            <a:r>
              <a:rPr lang="en-US" altLang="zh-CN" sz="2400" b="1" dirty="0">
                <a:solidFill>
                  <a:schemeClr val="bg2"/>
                </a:solidFill>
              </a:rPr>
              <a:t> MOV  AX, BX</a:t>
            </a:r>
            <a:br>
              <a:rPr lang="en-US" altLang="zh-CN" sz="2400" b="1" dirty="0">
                <a:solidFill>
                  <a:schemeClr val="bg2"/>
                </a:solidFill>
              </a:rPr>
            </a:br>
            <a:r>
              <a:rPr lang="en-US" altLang="zh-CN" sz="2400" b="1" dirty="0">
                <a:solidFill>
                  <a:schemeClr val="bg2"/>
                </a:solidFill>
              </a:rPr>
              <a:t>                      ……</a:t>
            </a:r>
            <a:br>
              <a:rPr lang="en-US" altLang="zh-CN" sz="2400" b="1" dirty="0">
                <a:solidFill>
                  <a:schemeClr val="bg2"/>
                </a:solidFill>
              </a:rPr>
            </a:br>
            <a:r>
              <a:rPr lang="en-US" altLang="zh-CN" sz="2400" b="1" dirty="0">
                <a:solidFill>
                  <a:schemeClr val="bg2"/>
                </a:solidFill>
              </a:rPr>
              <a:t>                      LOOP  </a:t>
            </a:r>
            <a:r>
              <a:rPr lang="en-US" altLang="zh-CN" sz="2400" b="1" dirty="0">
                <a:solidFill>
                  <a:schemeClr val="hlink"/>
                </a:solidFill>
              </a:rPr>
              <a:t>LAB</a:t>
            </a:r>
            <a:r>
              <a:rPr lang="en-US" altLang="zh-CN" sz="2400" b="1" dirty="0">
                <a:solidFill>
                  <a:schemeClr val="bg2"/>
                </a:solidFill>
              </a:rPr>
              <a:t/>
            </a:r>
            <a:br>
              <a:rPr lang="en-US" altLang="zh-CN" sz="2400" b="1" dirty="0">
                <a:solidFill>
                  <a:schemeClr val="bg2"/>
                </a:solidFill>
              </a:rPr>
            </a:br>
            <a:r>
              <a:rPr lang="en-US" altLang="zh-CN" sz="2400" b="1" dirty="0">
                <a:solidFill>
                  <a:schemeClr val="bg2"/>
                </a:solidFill>
              </a:rPr>
              <a:t>                      JNE    </a:t>
            </a:r>
            <a:r>
              <a:rPr lang="en-US" altLang="zh-CN" sz="2400" b="1" dirty="0">
                <a:solidFill>
                  <a:schemeClr val="hlink"/>
                </a:solidFill>
              </a:rPr>
              <a:t>NEXT</a:t>
            </a:r>
            <a:r>
              <a:rPr lang="en-US" altLang="zh-CN" sz="2400" b="1" dirty="0">
                <a:solidFill>
                  <a:schemeClr val="bg2"/>
                </a:solidFill>
              </a:rPr>
              <a:t>   ;</a:t>
            </a:r>
            <a:r>
              <a:rPr lang="zh-CN" altLang="en-US" sz="2400" b="1" dirty="0">
                <a:solidFill>
                  <a:schemeClr val="bg2"/>
                </a:solidFill>
              </a:rPr>
              <a:t>不为零转移</a:t>
            </a:r>
            <a:br>
              <a:rPr lang="zh-CN" altLang="en-US" sz="2400" b="1" dirty="0">
                <a:solidFill>
                  <a:schemeClr val="bg2"/>
                </a:solidFill>
              </a:rPr>
            </a:br>
            <a:r>
              <a:rPr lang="zh-CN" altLang="en-US" sz="2400" b="1" dirty="0">
                <a:solidFill>
                  <a:schemeClr val="bg2"/>
                </a:solidFill>
              </a:rPr>
              <a:t>                      </a:t>
            </a:r>
            <a:r>
              <a:rPr lang="en-US" altLang="zh-CN" sz="2400" b="1" dirty="0">
                <a:solidFill>
                  <a:schemeClr val="bg2"/>
                </a:solidFill>
              </a:rPr>
              <a:t>……</a:t>
            </a:r>
            <a:br>
              <a:rPr lang="en-US" altLang="zh-CN" sz="2400" b="1" dirty="0">
                <a:solidFill>
                  <a:schemeClr val="bg2"/>
                </a:solidFill>
              </a:rPr>
            </a:br>
            <a:r>
              <a:rPr lang="en-US" altLang="zh-CN" sz="2400" b="1" dirty="0">
                <a:solidFill>
                  <a:schemeClr val="bg2"/>
                </a:solidFill>
              </a:rPr>
              <a:t>          </a:t>
            </a:r>
            <a:r>
              <a:rPr lang="en-US" altLang="zh-CN" sz="2400" b="1" dirty="0">
                <a:solidFill>
                  <a:schemeClr val="hlink"/>
                </a:solidFill>
              </a:rPr>
              <a:t>NEXT:</a:t>
            </a:r>
            <a:r>
              <a:rPr lang="en-US" altLang="zh-CN" sz="2400" b="1" dirty="0">
                <a:solidFill>
                  <a:schemeClr val="bg2"/>
                </a:solidFill>
              </a:rPr>
              <a:t> ……</a:t>
            </a:r>
          </a:p>
        </p:txBody>
      </p:sp>
      <p:sp>
        <p:nvSpPr>
          <p:cNvPr id="2" name="文本框 1"/>
          <p:cNvSpPr txBox="1"/>
          <p:nvPr/>
        </p:nvSpPr>
        <p:spPr>
          <a:xfrm>
            <a:off x="706648" y="4837964"/>
            <a:ext cx="8190705" cy="1200329"/>
          </a:xfrm>
          <a:prstGeom prst="rect">
            <a:avLst/>
          </a:prstGeom>
          <a:noFill/>
        </p:spPr>
        <p:txBody>
          <a:bodyPr wrap="square" rtlCol="0">
            <a:spAutoFit/>
          </a:bodyPr>
          <a:lstStyle/>
          <a:p>
            <a:pPr marL="342900" indent="-342900">
              <a:buClr>
                <a:srgbClr val="C00000"/>
              </a:buClr>
              <a:buFont typeface="Wingdings" panose="05000000000000000000" pitchFamily="2" charset="2"/>
              <a:buChar char="n"/>
            </a:pPr>
            <a:r>
              <a:rPr lang="zh-CN" altLang="en-US" sz="2400" b="1" dirty="0">
                <a:solidFill>
                  <a:schemeClr val="bg2"/>
                </a:solidFill>
              </a:rPr>
              <a:t>上面方法所加标号属于局部标号，只能在所在的过程中被引用。</a:t>
            </a:r>
            <a:endParaRPr lang="en-US" altLang="zh-CN" sz="2400" b="1" dirty="0">
              <a:solidFill>
                <a:schemeClr val="bg2"/>
              </a:solidFill>
            </a:endParaRPr>
          </a:p>
          <a:p>
            <a:pPr marL="342900" indent="-342900">
              <a:buClr>
                <a:srgbClr val="C00000"/>
              </a:buClr>
              <a:buFont typeface="Wingdings" panose="05000000000000000000" pitchFamily="2" charset="2"/>
              <a:buChar char="n"/>
            </a:pPr>
            <a:r>
              <a:rPr lang="zh-CN" altLang="en-US" sz="2400" b="1" dirty="0">
                <a:solidFill>
                  <a:schemeClr val="bg2"/>
                </a:solidFill>
              </a:rPr>
              <a:t>若标号名后加上双冒号，则该标号在整个程序中都可引用。</a:t>
            </a:r>
          </a:p>
        </p:txBody>
      </p:sp>
      <p:sp>
        <p:nvSpPr>
          <p:cNvPr id="3" name="文本框 2"/>
          <p:cNvSpPr txBox="1"/>
          <p:nvPr/>
        </p:nvSpPr>
        <p:spPr>
          <a:xfrm>
            <a:off x="1043608" y="6046197"/>
            <a:ext cx="6120680" cy="461665"/>
          </a:xfrm>
          <a:prstGeom prst="rect">
            <a:avLst/>
          </a:prstGeom>
          <a:noFill/>
        </p:spPr>
        <p:txBody>
          <a:bodyPr wrap="square" rtlCol="0">
            <a:spAutoFit/>
          </a:bodyPr>
          <a:lstStyle/>
          <a:p>
            <a:r>
              <a:rPr lang="zh-CN" altLang="en-US" sz="2400" b="1" dirty="0">
                <a:solidFill>
                  <a:schemeClr val="bg2"/>
                </a:solidFill>
              </a:rPr>
              <a:t>例如：</a:t>
            </a:r>
            <a:r>
              <a:rPr lang="en-US" altLang="zh-CN" sz="2400" b="1" dirty="0" err="1">
                <a:solidFill>
                  <a:schemeClr val="bg2"/>
                </a:solidFill>
              </a:rPr>
              <a:t>Glob_LAB</a:t>
            </a:r>
            <a:r>
              <a:rPr lang="en-US" altLang="zh-CN" sz="2400" b="1" dirty="0">
                <a:solidFill>
                  <a:schemeClr val="bg2"/>
                </a:solidFill>
              </a:rPr>
              <a:t>::MOV  BX, AX</a:t>
            </a:r>
            <a:endParaRPr lang="zh-CN" altLang="en-US" sz="2400" b="1" dirty="0">
              <a:solidFill>
                <a:schemeClr val="bg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37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79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795">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379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Effect transition="in" filter="wipe(down)">
                                      <p:cBhvr>
                                        <p:cTn id="23" dur="500"/>
                                        <p:tgtEl>
                                          <p:spTgt spid="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wipe(down)">
                                      <p:cBhvr>
                                        <p:cTn id="28" dur="500"/>
                                        <p:tgtEl>
                                          <p:spTgt spid="2">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down)">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autoUpdateAnimBg="0"/>
      <p:bldP spid="33796" grpId="0" animBg="1" autoUpdateAnimBg="0"/>
      <p:bldP spid="33797" grpId="0" animBg="1" autoUpdateAnimBg="0"/>
      <p:bldP spid="2" grpId="0" build="p"/>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D16E6092-FCBC-4AEF-AB54-2862A015A833}" type="slidenum">
              <a:rPr lang="en-US" altLang="zh-CN" sz="1400">
                <a:solidFill>
                  <a:schemeClr val="bg2"/>
                </a:solidFill>
              </a:rPr>
              <a:pPr algn="r" eaLnBrk="1" hangingPunct="1"/>
              <a:t>26</a:t>
            </a:fld>
            <a:endParaRPr lang="en-US" altLang="zh-CN" sz="1400">
              <a:solidFill>
                <a:schemeClr val="bg2"/>
              </a:solidFill>
            </a:endParaRPr>
          </a:p>
        </p:txBody>
      </p:sp>
      <p:sp>
        <p:nvSpPr>
          <p:cNvPr id="34819" name="Rectangle 2"/>
          <p:cNvSpPr>
            <a:spLocks noChangeArrowheads="1"/>
          </p:cNvSpPr>
          <p:nvPr/>
        </p:nvSpPr>
        <p:spPr bwMode="auto">
          <a:xfrm>
            <a:off x="900113" y="4292600"/>
            <a:ext cx="6584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t>它表示该标号可以被段内还是段间的指令调用。</a:t>
            </a:r>
          </a:p>
        </p:txBody>
      </p:sp>
      <p:sp>
        <p:nvSpPr>
          <p:cNvPr id="34820" name="Rectangle 3"/>
          <p:cNvSpPr>
            <a:spLocks noChangeArrowheads="1"/>
          </p:cNvSpPr>
          <p:nvPr/>
        </p:nvSpPr>
        <p:spPr bwMode="auto">
          <a:xfrm>
            <a:off x="1066800" y="304800"/>
            <a:ext cx="2936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t>每个标号具有三属性</a:t>
            </a:r>
          </a:p>
        </p:txBody>
      </p:sp>
      <p:sp>
        <p:nvSpPr>
          <p:cNvPr id="34821" name="Rectangle 4"/>
          <p:cNvSpPr>
            <a:spLocks noChangeArrowheads="1"/>
          </p:cNvSpPr>
          <p:nvPr/>
        </p:nvSpPr>
        <p:spPr bwMode="auto">
          <a:xfrm>
            <a:off x="914400" y="838200"/>
            <a:ext cx="4043094"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1</a:t>
            </a:r>
            <a:r>
              <a:rPr lang="zh-CN" altLang="en-US" sz="2400" b="1" dirty="0">
                <a:solidFill>
                  <a:schemeClr val="bg2"/>
                </a:solidFill>
              </a:rPr>
              <a:t>）段属性（</a:t>
            </a:r>
            <a:r>
              <a:rPr lang="en-US" altLang="zh-CN" sz="2400" b="1" dirty="0">
                <a:solidFill>
                  <a:schemeClr val="bg2"/>
                </a:solidFill>
              </a:rPr>
              <a:t>SEGMENT</a:t>
            </a:r>
            <a:r>
              <a:rPr lang="zh-CN" altLang="en-US" sz="2400" b="1" dirty="0">
                <a:solidFill>
                  <a:schemeClr val="bg2"/>
                </a:solidFill>
              </a:rPr>
              <a:t>）</a:t>
            </a:r>
          </a:p>
        </p:txBody>
      </p:sp>
      <p:sp>
        <p:nvSpPr>
          <p:cNvPr id="34822" name="Rectangle 5"/>
          <p:cNvSpPr>
            <a:spLocks noChangeArrowheads="1"/>
          </p:cNvSpPr>
          <p:nvPr/>
        </p:nvSpPr>
        <p:spPr bwMode="auto">
          <a:xfrm>
            <a:off x="838200" y="1524000"/>
            <a:ext cx="64492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t> </a:t>
            </a:r>
            <a:r>
              <a:rPr lang="zh-CN" altLang="en-US" sz="2400" b="1" dirty="0"/>
              <a:t>它表示该标号所代表的地址在哪个逻辑段中。</a:t>
            </a:r>
          </a:p>
        </p:txBody>
      </p:sp>
      <p:sp>
        <p:nvSpPr>
          <p:cNvPr id="34823" name="Rectangle 6"/>
          <p:cNvSpPr>
            <a:spLocks noChangeArrowheads="1"/>
          </p:cNvSpPr>
          <p:nvPr/>
        </p:nvSpPr>
        <p:spPr bwMode="auto">
          <a:xfrm>
            <a:off x="838200" y="2133600"/>
            <a:ext cx="4292600"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2</a:t>
            </a:r>
            <a:r>
              <a:rPr lang="zh-CN" altLang="en-US" sz="2400" b="1" dirty="0">
                <a:solidFill>
                  <a:schemeClr val="bg2"/>
                </a:solidFill>
              </a:rPr>
              <a:t>）偏移量属性（</a:t>
            </a:r>
            <a:r>
              <a:rPr lang="en-US" altLang="zh-CN" sz="2400" b="1" dirty="0">
                <a:solidFill>
                  <a:schemeClr val="bg2"/>
                </a:solidFill>
              </a:rPr>
              <a:t>OFFSET</a:t>
            </a:r>
            <a:r>
              <a:rPr lang="zh-CN" altLang="en-US" sz="2400" b="1" dirty="0">
                <a:solidFill>
                  <a:schemeClr val="bg2"/>
                </a:solidFill>
              </a:rPr>
              <a:t>）</a:t>
            </a:r>
          </a:p>
        </p:txBody>
      </p:sp>
      <p:sp>
        <p:nvSpPr>
          <p:cNvPr id="34824" name="Rectangle 7"/>
          <p:cNvSpPr>
            <a:spLocks noChangeArrowheads="1"/>
          </p:cNvSpPr>
          <p:nvPr/>
        </p:nvSpPr>
        <p:spPr bwMode="auto">
          <a:xfrm>
            <a:off x="990600" y="2819400"/>
            <a:ext cx="7391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t>它表示该标号所代表的地址在段内与段起点间的字节数，即地址的偏移量。</a:t>
            </a:r>
          </a:p>
        </p:txBody>
      </p:sp>
      <p:sp>
        <p:nvSpPr>
          <p:cNvPr id="34825" name="Rectangle 8"/>
          <p:cNvSpPr>
            <a:spLocks noChangeArrowheads="1"/>
          </p:cNvSpPr>
          <p:nvPr/>
        </p:nvSpPr>
        <p:spPr bwMode="auto">
          <a:xfrm>
            <a:off x="838200" y="3810000"/>
            <a:ext cx="4598988"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a:t>
            </a:r>
            <a:r>
              <a:rPr lang="en-US" altLang="zh-CN" sz="2400" b="1" dirty="0">
                <a:solidFill>
                  <a:schemeClr val="bg2"/>
                </a:solidFill>
              </a:rPr>
              <a:t>3</a:t>
            </a:r>
            <a:r>
              <a:rPr lang="zh-CN" altLang="en-US" sz="2400" b="1" dirty="0">
                <a:solidFill>
                  <a:schemeClr val="bg2"/>
                </a:solidFill>
              </a:rPr>
              <a:t>）距离属性（也叫类型属性）</a:t>
            </a:r>
          </a:p>
        </p:txBody>
      </p:sp>
      <p:sp>
        <p:nvSpPr>
          <p:cNvPr id="34827" name="Rectangle 10"/>
          <p:cNvSpPr>
            <a:spLocks noChangeArrowheads="1"/>
          </p:cNvSpPr>
          <p:nvPr/>
        </p:nvSpPr>
        <p:spPr bwMode="auto">
          <a:xfrm>
            <a:off x="339661" y="4956629"/>
            <a:ext cx="2268538"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NEAR</a:t>
            </a:r>
            <a:r>
              <a:rPr lang="zh-CN" altLang="en-US" sz="2400" b="1" dirty="0">
                <a:solidFill>
                  <a:schemeClr val="hlink"/>
                </a:solidFill>
              </a:rPr>
              <a:t>（近）：</a:t>
            </a:r>
          </a:p>
        </p:txBody>
      </p:sp>
      <p:sp>
        <p:nvSpPr>
          <p:cNvPr id="12" name="Rectangle 2"/>
          <p:cNvSpPr>
            <a:spLocks noChangeArrowheads="1"/>
          </p:cNvSpPr>
          <p:nvPr/>
        </p:nvSpPr>
        <p:spPr bwMode="auto">
          <a:xfrm>
            <a:off x="2244661" y="5983626"/>
            <a:ext cx="6673851"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FAR</a:t>
            </a:r>
            <a:r>
              <a:rPr lang="zh-CN" altLang="en-US" sz="2400" b="1" dirty="0">
                <a:solidFill>
                  <a:schemeClr val="bg2"/>
                </a:solidFill>
              </a:rPr>
              <a:t>标号可以被非本段的转移和调用指令使用。</a:t>
            </a:r>
          </a:p>
        </p:txBody>
      </p:sp>
      <p:sp>
        <p:nvSpPr>
          <p:cNvPr id="13" name="Rectangle 12"/>
          <p:cNvSpPr>
            <a:spLocks noChangeArrowheads="1"/>
          </p:cNvSpPr>
          <p:nvPr/>
        </p:nvSpPr>
        <p:spPr bwMode="auto">
          <a:xfrm>
            <a:off x="339661" y="5983626"/>
            <a:ext cx="2030413"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FAR</a:t>
            </a:r>
            <a:r>
              <a:rPr lang="zh-CN" altLang="en-US" sz="2400" b="1" dirty="0">
                <a:solidFill>
                  <a:schemeClr val="hlink"/>
                </a:solidFill>
              </a:rPr>
              <a:t>（远）：</a:t>
            </a:r>
          </a:p>
        </p:txBody>
      </p:sp>
      <p:sp>
        <p:nvSpPr>
          <p:cNvPr id="34826" name="Rectangle 9"/>
          <p:cNvSpPr>
            <a:spLocks noChangeArrowheads="1"/>
          </p:cNvSpPr>
          <p:nvPr/>
        </p:nvSpPr>
        <p:spPr bwMode="auto">
          <a:xfrm>
            <a:off x="1691680" y="4927600"/>
            <a:ext cx="74523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t>             NEAR</a:t>
            </a:r>
            <a:r>
              <a:rPr lang="zh-CN" altLang="en-US" sz="2400" b="1" dirty="0"/>
              <a:t>标号只能作段内转移，即只能是与该标号所指指令同在一个逻辑段的其它指令才能使用它。</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48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82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82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482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482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482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481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3482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348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down)">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down)">
                                      <p:cBhvr>
                                        <p:cTn id="4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P spid="34820" grpId="0" autoUpdateAnimBg="0"/>
      <p:bldP spid="34821" grpId="0" animBg="1" autoUpdateAnimBg="0"/>
      <p:bldP spid="34822" grpId="0" autoUpdateAnimBg="0"/>
      <p:bldP spid="34823" grpId="0" animBg="1" autoUpdateAnimBg="0"/>
      <p:bldP spid="34824" grpId="0" autoUpdateAnimBg="0"/>
      <p:bldP spid="34825" grpId="0" animBg="1" autoUpdateAnimBg="0"/>
      <p:bldP spid="34827" grpId="0" animBg="1" autoUpdateAnimBg="0"/>
      <p:bldP spid="12" grpId="0"/>
      <p:bldP spid="13" grpId="0" animBg="1"/>
      <p:bldP spid="3482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32E7A303-FBEB-4E9F-8B5C-C160228C9474}" type="slidenum">
              <a:rPr lang="en-US" altLang="zh-CN" sz="1400">
                <a:solidFill>
                  <a:schemeClr val="bg2"/>
                </a:solidFill>
              </a:rPr>
              <a:pPr algn="r" eaLnBrk="1" hangingPunct="1"/>
              <a:t>27</a:t>
            </a:fld>
            <a:endParaRPr lang="en-US" altLang="zh-CN" sz="1400">
              <a:solidFill>
                <a:schemeClr val="bg2"/>
              </a:solidFill>
            </a:endParaRPr>
          </a:p>
        </p:txBody>
      </p:sp>
      <p:sp>
        <p:nvSpPr>
          <p:cNvPr id="35843" name="Rectangle 4"/>
          <p:cNvSpPr>
            <a:spLocks noChangeArrowheads="1"/>
          </p:cNvSpPr>
          <p:nvPr/>
        </p:nvSpPr>
        <p:spPr bwMode="auto">
          <a:xfrm>
            <a:off x="796528" y="1902914"/>
            <a:ext cx="7297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  </a:t>
            </a:r>
            <a:r>
              <a:rPr lang="zh-CN" altLang="en-US" sz="2400" b="1">
                <a:solidFill>
                  <a:schemeClr val="bg2"/>
                </a:solidFill>
              </a:rPr>
              <a:t>当标号加在指令语句前面时，它隐含为</a:t>
            </a:r>
            <a:r>
              <a:rPr lang="en-US" altLang="zh-CN" sz="2400" b="1">
                <a:solidFill>
                  <a:schemeClr val="bg2"/>
                </a:solidFill>
              </a:rPr>
              <a:t>NEAR</a:t>
            </a:r>
            <a:r>
              <a:rPr lang="zh-CN" altLang="en-US" sz="2400" b="1">
                <a:solidFill>
                  <a:schemeClr val="bg2"/>
                </a:solidFill>
              </a:rPr>
              <a:t>属性。</a:t>
            </a:r>
          </a:p>
        </p:txBody>
      </p:sp>
      <p:sp>
        <p:nvSpPr>
          <p:cNvPr id="35844" name="Rectangle 5"/>
          <p:cNvSpPr>
            <a:spLocks noChangeArrowheads="1"/>
          </p:cNvSpPr>
          <p:nvPr/>
        </p:nvSpPr>
        <p:spPr bwMode="auto">
          <a:xfrm>
            <a:off x="796528" y="1293314"/>
            <a:ext cx="1644650"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a.</a:t>
            </a:r>
            <a:r>
              <a:rPr lang="zh-CN" altLang="en-US" sz="2400" b="1">
                <a:solidFill>
                  <a:schemeClr val="bg2"/>
                </a:solidFill>
              </a:rPr>
              <a:t>隐含方式</a:t>
            </a:r>
          </a:p>
        </p:txBody>
      </p:sp>
      <p:sp>
        <p:nvSpPr>
          <p:cNvPr id="35845" name="Text Box 6"/>
          <p:cNvSpPr txBox="1">
            <a:spLocks noChangeArrowheads="1"/>
          </p:cNvSpPr>
          <p:nvPr/>
        </p:nvSpPr>
        <p:spPr bwMode="auto">
          <a:xfrm>
            <a:off x="1101328" y="2512514"/>
            <a:ext cx="5181600" cy="51911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b="1">
                <a:solidFill>
                  <a:schemeClr val="bg2"/>
                </a:solidFill>
              </a:rPr>
              <a:t>例   </a:t>
            </a:r>
            <a:r>
              <a:rPr lang="en-US" altLang="zh-CN" b="1">
                <a:solidFill>
                  <a:schemeClr val="bg2"/>
                </a:solidFill>
              </a:rPr>
              <a:t>SUB1</a:t>
            </a:r>
            <a:r>
              <a:rPr lang="zh-CN" altLang="en-US" b="1">
                <a:solidFill>
                  <a:schemeClr val="bg2"/>
                </a:solidFill>
              </a:rPr>
              <a:t>：</a:t>
            </a:r>
            <a:r>
              <a:rPr lang="en-US" altLang="zh-CN" b="1">
                <a:solidFill>
                  <a:schemeClr val="bg2"/>
                </a:solidFill>
              </a:rPr>
              <a:t>MOV  AX</a:t>
            </a:r>
            <a:r>
              <a:rPr lang="zh-CN" altLang="en-US" b="1">
                <a:solidFill>
                  <a:schemeClr val="bg2"/>
                </a:solidFill>
              </a:rPr>
              <a:t>，</a:t>
            </a:r>
            <a:r>
              <a:rPr lang="en-US" altLang="zh-CN" b="1">
                <a:solidFill>
                  <a:schemeClr val="bg2"/>
                </a:solidFill>
              </a:rPr>
              <a:t>30H               </a:t>
            </a:r>
          </a:p>
        </p:txBody>
      </p:sp>
      <p:sp>
        <p:nvSpPr>
          <p:cNvPr id="35846" name="Rectangle 7"/>
          <p:cNvSpPr>
            <a:spLocks noChangeArrowheads="1"/>
          </p:cNvSpPr>
          <p:nvPr/>
        </p:nvSpPr>
        <p:spPr bwMode="auto">
          <a:xfrm>
            <a:off x="685800" y="3284984"/>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SUB1</a:t>
            </a:r>
            <a:r>
              <a:rPr lang="zh-CN" altLang="en-US" sz="2400" b="1" dirty="0">
                <a:solidFill>
                  <a:schemeClr val="bg2"/>
                </a:solidFill>
              </a:rPr>
              <a:t>的距离属性为</a:t>
            </a:r>
            <a:r>
              <a:rPr lang="en-US" altLang="zh-CN" sz="2400" b="1" dirty="0">
                <a:solidFill>
                  <a:schemeClr val="bg2"/>
                </a:solidFill>
              </a:rPr>
              <a:t>NEAR</a:t>
            </a:r>
            <a:r>
              <a:rPr lang="zh-CN" altLang="en-US" sz="2400" b="1" dirty="0">
                <a:solidFill>
                  <a:schemeClr val="bg2"/>
                </a:solidFill>
              </a:rPr>
              <a:t>，它只能被本段的转移指令和调用指令访问。</a:t>
            </a:r>
          </a:p>
        </p:txBody>
      </p:sp>
      <p:sp>
        <p:nvSpPr>
          <p:cNvPr id="35847" name="Rectangle 8"/>
          <p:cNvSpPr>
            <a:spLocks noChangeArrowheads="1"/>
          </p:cNvSpPr>
          <p:nvPr/>
        </p:nvSpPr>
        <p:spPr bwMode="auto">
          <a:xfrm>
            <a:off x="796528" y="4265114"/>
            <a:ext cx="5454650"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b.</a:t>
            </a:r>
            <a:r>
              <a:rPr lang="zh-CN" altLang="en-US" sz="2400" b="1" dirty="0">
                <a:solidFill>
                  <a:schemeClr val="bg2"/>
                </a:solidFill>
              </a:rPr>
              <a:t>用</a:t>
            </a:r>
            <a:r>
              <a:rPr lang="en-US" altLang="zh-CN" sz="2400" b="1" dirty="0">
                <a:solidFill>
                  <a:schemeClr val="bg2"/>
                </a:solidFill>
              </a:rPr>
              <a:t>LABEL</a:t>
            </a:r>
            <a:r>
              <a:rPr lang="zh-CN" altLang="en-US" sz="2400" b="1" dirty="0">
                <a:solidFill>
                  <a:schemeClr val="bg2"/>
                </a:solidFill>
              </a:rPr>
              <a:t>伪指令给标号指定距离属性</a:t>
            </a:r>
          </a:p>
        </p:txBody>
      </p:sp>
      <p:sp>
        <p:nvSpPr>
          <p:cNvPr id="35848" name="Rectangle 9"/>
          <p:cNvSpPr>
            <a:spLocks noChangeArrowheads="1"/>
          </p:cNvSpPr>
          <p:nvPr/>
        </p:nvSpPr>
        <p:spPr bwMode="auto">
          <a:xfrm>
            <a:off x="796528" y="5560514"/>
            <a:ext cx="708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rPr>
              <a:t>类型</a:t>
            </a:r>
            <a:r>
              <a:rPr lang="zh-CN" altLang="en-US" sz="2400" b="1" dirty="0">
                <a:solidFill>
                  <a:schemeClr val="bg2"/>
                </a:solidFill>
              </a:rPr>
              <a:t>为</a:t>
            </a:r>
            <a:r>
              <a:rPr lang="en-US" altLang="zh-CN" sz="2400" b="1" dirty="0">
                <a:solidFill>
                  <a:schemeClr val="bg2"/>
                </a:solidFill>
              </a:rPr>
              <a:t>NEAR</a:t>
            </a:r>
            <a:r>
              <a:rPr lang="zh-CN" altLang="en-US" sz="2400" b="1" dirty="0">
                <a:solidFill>
                  <a:schemeClr val="bg2"/>
                </a:solidFill>
              </a:rPr>
              <a:t>或</a:t>
            </a:r>
            <a:r>
              <a:rPr lang="en-US" altLang="zh-CN" sz="2400" b="1" dirty="0">
                <a:solidFill>
                  <a:schemeClr val="bg2"/>
                </a:solidFill>
              </a:rPr>
              <a:t>FAR</a:t>
            </a:r>
            <a:r>
              <a:rPr lang="zh-CN" altLang="en-US" sz="2400" b="1" dirty="0">
                <a:solidFill>
                  <a:schemeClr val="bg2"/>
                </a:solidFill>
              </a:rPr>
              <a:t>。该语句要与指令语句连用。</a:t>
            </a:r>
          </a:p>
        </p:txBody>
      </p:sp>
      <p:grpSp>
        <p:nvGrpSpPr>
          <p:cNvPr id="35849" name="Group 9"/>
          <p:cNvGrpSpPr>
            <a:grpSpLocks/>
          </p:cNvGrpSpPr>
          <p:nvPr/>
        </p:nvGrpSpPr>
        <p:grpSpPr bwMode="auto">
          <a:xfrm>
            <a:off x="644128" y="4874714"/>
            <a:ext cx="4037013" cy="457200"/>
            <a:chOff x="0" y="0"/>
            <a:chExt cx="2543" cy="288"/>
          </a:xfrm>
        </p:grpSpPr>
        <p:sp>
          <p:nvSpPr>
            <p:cNvPr id="35850" name="Rectangle 10"/>
            <p:cNvSpPr>
              <a:spLocks noChangeArrowheads="1"/>
            </p:cNvSpPr>
            <p:nvPr/>
          </p:nvSpPr>
          <p:spPr bwMode="auto">
            <a:xfrm>
              <a:off x="0" y="0"/>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格式：</a:t>
              </a:r>
            </a:p>
          </p:txBody>
        </p:sp>
        <p:sp>
          <p:nvSpPr>
            <p:cNvPr id="35851" name="Rectangle 11"/>
            <p:cNvSpPr>
              <a:spLocks noChangeArrowheads="1"/>
            </p:cNvSpPr>
            <p:nvPr/>
          </p:nvSpPr>
          <p:spPr bwMode="auto">
            <a:xfrm>
              <a:off x="576" y="0"/>
              <a:ext cx="1967" cy="28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 </a:t>
              </a:r>
              <a:r>
                <a:rPr lang="zh-CN" altLang="en-US" sz="2400" b="1">
                  <a:solidFill>
                    <a:schemeClr val="bg2"/>
                  </a:solidFill>
                </a:rPr>
                <a:t>标号名  </a:t>
              </a:r>
              <a:r>
                <a:rPr lang="en-US" altLang="zh-CN" sz="2400" b="1">
                  <a:solidFill>
                    <a:schemeClr val="bg2"/>
                  </a:solidFill>
                </a:rPr>
                <a:t>LABEL  </a:t>
              </a:r>
              <a:r>
                <a:rPr lang="zh-CN" altLang="en-US" sz="2400" b="1">
                  <a:solidFill>
                    <a:schemeClr val="bg2"/>
                  </a:solidFill>
                </a:rPr>
                <a:t>类型</a:t>
              </a:r>
            </a:p>
          </p:txBody>
        </p:sp>
      </p:grpSp>
      <p:sp>
        <p:nvSpPr>
          <p:cNvPr id="35854" name="Rectangle 3"/>
          <p:cNvSpPr>
            <a:spLocks noChangeArrowheads="1"/>
          </p:cNvSpPr>
          <p:nvPr/>
        </p:nvSpPr>
        <p:spPr bwMode="auto">
          <a:xfrm>
            <a:off x="471997" y="569142"/>
            <a:ext cx="5443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标号的距离属性可以有两种方法来指定</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8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84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84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584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584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584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58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p:bldP spid="35844" grpId="0" animBg="1" autoUpdateAnimBg="0"/>
      <p:bldP spid="35845" grpId="0" animBg="1" autoUpdateAnimBg="0"/>
      <p:bldP spid="35846" grpId="0" autoUpdateAnimBg="0"/>
      <p:bldP spid="35847" grpId="0" animBg="1" autoUpdateAnimBg="0"/>
      <p:bldP spid="3584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28A61636-6B91-48EB-AFBD-28824A00B740}" type="slidenum">
              <a:rPr lang="en-US" altLang="zh-CN" sz="1400">
                <a:solidFill>
                  <a:schemeClr val="bg2"/>
                </a:solidFill>
              </a:rPr>
              <a:pPr algn="r" eaLnBrk="1" hangingPunct="1"/>
              <a:t>28</a:t>
            </a:fld>
            <a:endParaRPr lang="en-US" altLang="zh-CN" sz="1400">
              <a:solidFill>
                <a:schemeClr val="bg2"/>
              </a:solidFill>
            </a:endParaRPr>
          </a:p>
        </p:txBody>
      </p:sp>
      <p:sp>
        <p:nvSpPr>
          <p:cNvPr id="36867" name="Text Box 3"/>
          <p:cNvSpPr txBox="1">
            <a:spLocks noChangeArrowheads="1"/>
          </p:cNvSpPr>
          <p:nvPr/>
        </p:nvSpPr>
        <p:spPr bwMode="auto">
          <a:xfrm>
            <a:off x="1143000" y="179046"/>
            <a:ext cx="6019800" cy="11874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例如： </a:t>
            </a:r>
            <a:r>
              <a:rPr lang="en-US" altLang="zh-CN" sz="2400" b="1">
                <a:solidFill>
                  <a:schemeClr val="hlink"/>
                </a:solidFill>
              </a:rPr>
              <a:t>SUB1_FAR </a:t>
            </a:r>
            <a:r>
              <a:rPr lang="en-US" altLang="zh-CN" sz="2400" b="1">
                <a:solidFill>
                  <a:schemeClr val="bg2"/>
                </a:solidFill>
              </a:rPr>
              <a:t>   LABEL    FAR</a:t>
            </a:r>
            <a:br>
              <a:rPr lang="en-US" altLang="zh-CN" sz="2400" b="1">
                <a:solidFill>
                  <a:schemeClr val="bg2"/>
                </a:solidFill>
              </a:rPr>
            </a:br>
            <a:r>
              <a:rPr lang="en-US" altLang="zh-CN" sz="2400" b="1">
                <a:solidFill>
                  <a:schemeClr val="bg2"/>
                </a:solidFill>
              </a:rPr>
              <a:t>             </a:t>
            </a:r>
            <a:r>
              <a:rPr lang="en-US" altLang="zh-CN" sz="2400" b="1">
                <a:solidFill>
                  <a:schemeClr val="hlink"/>
                </a:solidFill>
              </a:rPr>
              <a:t>SUB1</a:t>
            </a:r>
            <a:r>
              <a:rPr lang="en-US" altLang="zh-CN" sz="2400" b="1">
                <a:solidFill>
                  <a:schemeClr val="bg2"/>
                </a:solidFill>
              </a:rPr>
              <a:t>:  MOV  AX,30H</a:t>
            </a:r>
            <a:br>
              <a:rPr lang="en-US" altLang="zh-CN" sz="2400" b="1">
                <a:solidFill>
                  <a:schemeClr val="bg2"/>
                </a:solidFill>
              </a:rPr>
            </a:br>
            <a:r>
              <a:rPr lang="en-US" altLang="zh-CN" sz="2400" b="1">
                <a:solidFill>
                  <a:schemeClr val="bg2"/>
                </a:solidFill>
              </a:rPr>
              <a:t>                         …...</a:t>
            </a:r>
          </a:p>
        </p:txBody>
      </p:sp>
      <p:sp>
        <p:nvSpPr>
          <p:cNvPr id="36868" name="Rectangle 4"/>
          <p:cNvSpPr>
            <a:spLocks noChangeArrowheads="1"/>
          </p:cNvSpPr>
          <p:nvPr/>
        </p:nvSpPr>
        <p:spPr bwMode="auto">
          <a:xfrm>
            <a:off x="395536" y="1382371"/>
            <a:ext cx="874846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u"/>
            </a:pPr>
            <a:r>
              <a:rPr lang="en-US" altLang="zh-CN" sz="2400" b="1" dirty="0">
                <a:solidFill>
                  <a:schemeClr val="bg2"/>
                </a:solidFill>
              </a:rPr>
              <a:t>SUB1_FAR</a:t>
            </a:r>
            <a:r>
              <a:rPr lang="zh-CN" altLang="en-US" sz="2400" b="1" dirty="0">
                <a:solidFill>
                  <a:schemeClr val="bg2"/>
                </a:solidFill>
              </a:rPr>
              <a:t>与</a:t>
            </a:r>
            <a:r>
              <a:rPr lang="en-US" altLang="zh-CN" sz="2400" b="1" dirty="0">
                <a:solidFill>
                  <a:schemeClr val="bg2"/>
                </a:solidFill>
              </a:rPr>
              <a:t>SUB1</a:t>
            </a:r>
            <a:r>
              <a:rPr lang="zh-CN" altLang="en-US" sz="2400" b="1" dirty="0">
                <a:solidFill>
                  <a:schemeClr val="bg2"/>
                </a:solidFill>
              </a:rPr>
              <a:t>两个标号具有相同的逻辑地址。被转移指令或调用指令使用时是指同一个入口地址。</a:t>
            </a:r>
            <a:endParaRPr lang="en-US" altLang="zh-CN" sz="2400" b="1" dirty="0">
              <a:solidFill>
                <a:schemeClr val="bg2"/>
              </a:solidFill>
            </a:endParaRPr>
          </a:p>
          <a:p>
            <a:pPr marL="342900" indent="-342900" eaLnBrk="1" hangingPunct="1">
              <a:buClr>
                <a:srgbClr val="C00000"/>
              </a:buClr>
              <a:buFont typeface="Wingdings" panose="05000000000000000000" pitchFamily="2" charset="2"/>
              <a:buChar char="u"/>
            </a:pPr>
            <a:r>
              <a:rPr lang="en-US" altLang="zh-CN" sz="2400" b="1" dirty="0">
                <a:solidFill>
                  <a:schemeClr val="bg2"/>
                </a:solidFill>
              </a:rPr>
              <a:t>SUB1</a:t>
            </a:r>
            <a:r>
              <a:rPr lang="zh-CN" altLang="en-US" sz="2400" b="1" dirty="0">
                <a:solidFill>
                  <a:schemeClr val="bg2"/>
                </a:solidFill>
              </a:rPr>
              <a:t>只能被本段调用，</a:t>
            </a:r>
            <a:r>
              <a:rPr lang="en-US" altLang="zh-CN" sz="2400" b="1" dirty="0">
                <a:solidFill>
                  <a:schemeClr val="bg2"/>
                </a:solidFill>
              </a:rPr>
              <a:t>SUB1-FAR</a:t>
            </a:r>
            <a:r>
              <a:rPr lang="zh-CN" altLang="en-US" sz="2400" b="1" dirty="0">
                <a:solidFill>
                  <a:schemeClr val="bg2"/>
                </a:solidFill>
              </a:rPr>
              <a:t>可以被其它段的指令调用。</a:t>
            </a:r>
          </a:p>
        </p:txBody>
      </p:sp>
      <p:sp>
        <p:nvSpPr>
          <p:cNvPr id="36869" name="Rectangle 5"/>
          <p:cNvSpPr>
            <a:spLocks noChangeArrowheads="1"/>
          </p:cNvSpPr>
          <p:nvPr/>
        </p:nvSpPr>
        <p:spPr bwMode="auto">
          <a:xfrm>
            <a:off x="1013072" y="2679894"/>
            <a:ext cx="7848600" cy="830997"/>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LABEL</a:t>
            </a:r>
            <a:r>
              <a:rPr lang="zh-CN" altLang="en-US" sz="2400" b="1" dirty="0">
                <a:solidFill>
                  <a:schemeClr val="bg2"/>
                </a:solidFill>
              </a:rPr>
              <a:t>伪指令还可用来定义变量的属性，即改变一个变量的属性，如把字变量的高低字节作为字节变量来处理。</a:t>
            </a:r>
          </a:p>
        </p:txBody>
      </p:sp>
      <p:sp>
        <p:nvSpPr>
          <p:cNvPr id="36870" name="Rectangle 6"/>
          <p:cNvSpPr>
            <a:spLocks noChangeArrowheads="1"/>
          </p:cNvSpPr>
          <p:nvPr/>
        </p:nvSpPr>
        <p:spPr bwMode="auto">
          <a:xfrm>
            <a:off x="1231454" y="3562190"/>
            <a:ext cx="7116115" cy="156966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例如：</a:t>
            </a:r>
            <a:r>
              <a:rPr lang="en-US" altLang="zh-CN" sz="2400" b="1" dirty="0">
                <a:solidFill>
                  <a:schemeClr val="bg2"/>
                </a:solidFill>
              </a:rPr>
              <a:t>DATA_BYTE   LABEL  BYTE</a:t>
            </a:r>
          </a:p>
          <a:p>
            <a:pPr eaLnBrk="1" hangingPunct="1"/>
            <a:r>
              <a:rPr lang="en-US" altLang="zh-CN" sz="2400" b="1" dirty="0">
                <a:solidFill>
                  <a:schemeClr val="bg2"/>
                </a:solidFill>
              </a:rPr>
              <a:t>            DATA_WORD  DW  20H  DUP</a:t>
            </a:r>
            <a:r>
              <a:rPr lang="zh-CN" altLang="en-US" sz="2400" b="1" dirty="0" smtClean="0">
                <a:solidFill>
                  <a:schemeClr val="bg2"/>
                </a:solidFill>
              </a:rPr>
              <a:t>（</a:t>
            </a:r>
            <a:r>
              <a:rPr lang="en-US" altLang="zh-CN" sz="2400" b="1" dirty="0" smtClean="0">
                <a:solidFill>
                  <a:schemeClr val="bg2"/>
                </a:solidFill>
              </a:rPr>
              <a:t>0AABBH</a:t>
            </a:r>
            <a:r>
              <a:rPr lang="zh-CN" altLang="en-US" sz="2400" b="1" dirty="0" smtClean="0">
                <a:solidFill>
                  <a:schemeClr val="bg2"/>
                </a:solidFill>
              </a:rPr>
              <a:t>）</a:t>
            </a:r>
            <a:r>
              <a:rPr lang="en-US" altLang="zh-CN" sz="2400" b="1" dirty="0" smtClean="0">
                <a:solidFill>
                  <a:schemeClr val="bg2"/>
                </a:solidFill>
              </a:rPr>
              <a:t/>
            </a:r>
            <a:br>
              <a:rPr lang="en-US" altLang="zh-CN" sz="2400" b="1" dirty="0" smtClean="0">
                <a:solidFill>
                  <a:schemeClr val="bg2"/>
                </a:solidFill>
              </a:rPr>
            </a:br>
            <a:r>
              <a:rPr lang="en-US" altLang="zh-CN" sz="2400" b="1" dirty="0" smtClean="0">
                <a:solidFill>
                  <a:schemeClr val="bg2"/>
                </a:solidFill>
              </a:rPr>
              <a:t>	MOV  DATA_WORD, AL    ;</a:t>
            </a:r>
            <a:r>
              <a:rPr lang="zh-CN" altLang="en-US" sz="2400" b="1" dirty="0" smtClean="0">
                <a:solidFill>
                  <a:srgbClr val="FF0000"/>
                </a:solidFill>
              </a:rPr>
              <a:t>错误</a:t>
            </a:r>
            <a:r>
              <a:rPr lang="en-US" altLang="zh-CN" sz="2400" b="1" dirty="0">
                <a:solidFill>
                  <a:schemeClr val="bg2"/>
                </a:solidFill>
              </a:rPr>
              <a:t/>
            </a:r>
            <a:br>
              <a:rPr lang="en-US" altLang="zh-CN" sz="2400" b="1" dirty="0">
                <a:solidFill>
                  <a:schemeClr val="bg2"/>
                </a:solidFill>
              </a:rPr>
            </a:br>
            <a:r>
              <a:rPr lang="en-US" altLang="zh-CN" sz="2400" b="1" dirty="0" smtClean="0">
                <a:solidFill>
                  <a:schemeClr val="bg2"/>
                </a:solidFill>
              </a:rPr>
              <a:t>	MOV  DATA_BYTE, AL      ;</a:t>
            </a:r>
            <a:r>
              <a:rPr lang="zh-CN" altLang="en-US" sz="2400" b="1" dirty="0" smtClean="0">
                <a:solidFill>
                  <a:schemeClr val="bg2"/>
                </a:solidFill>
              </a:rPr>
              <a:t>正确</a:t>
            </a:r>
            <a:endParaRPr lang="en-US" altLang="zh-CN" sz="2400" b="1" dirty="0" smtClean="0">
              <a:solidFill>
                <a:schemeClr val="bg2"/>
              </a:solidFill>
            </a:endParaRPr>
          </a:p>
        </p:txBody>
      </p:sp>
      <p:sp>
        <p:nvSpPr>
          <p:cNvPr id="36871" name="Rectangle 7"/>
          <p:cNvSpPr>
            <a:spLocks noChangeArrowheads="1"/>
          </p:cNvSpPr>
          <p:nvPr/>
        </p:nvSpPr>
        <p:spPr bwMode="auto">
          <a:xfrm>
            <a:off x="335074" y="5183149"/>
            <a:ext cx="89454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n"/>
            </a:pPr>
            <a:r>
              <a:rPr lang="en-US" altLang="zh-CN" sz="2400" b="1" dirty="0">
                <a:solidFill>
                  <a:schemeClr val="bg2"/>
                </a:solidFill>
              </a:rPr>
              <a:t>DATA_BYTE</a:t>
            </a:r>
            <a:r>
              <a:rPr lang="zh-CN" altLang="en-US" sz="2400" b="1" dirty="0">
                <a:solidFill>
                  <a:schemeClr val="bg2"/>
                </a:solidFill>
              </a:rPr>
              <a:t>与</a:t>
            </a:r>
            <a:r>
              <a:rPr lang="en-US" altLang="zh-CN" sz="2400" b="1" dirty="0">
                <a:solidFill>
                  <a:schemeClr val="bg2"/>
                </a:solidFill>
              </a:rPr>
              <a:t>DATA_WORD</a:t>
            </a:r>
            <a:r>
              <a:rPr lang="zh-CN" altLang="en-US" sz="2400" b="1" dirty="0">
                <a:solidFill>
                  <a:schemeClr val="bg2"/>
                </a:solidFill>
              </a:rPr>
              <a:t>具有相同的段基址和偏移量。 </a:t>
            </a:r>
            <a:endParaRPr lang="en-US" altLang="zh-CN" sz="2400" b="1" dirty="0">
              <a:solidFill>
                <a:schemeClr val="bg2"/>
              </a:solidFill>
            </a:endParaRPr>
          </a:p>
        </p:txBody>
      </p:sp>
      <p:sp>
        <p:nvSpPr>
          <p:cNvPr id="2" name="文本框 1"/>
          <p:cNvSpPr txBox="1"/>
          <p:nvPr/>
        </p:nvSpPr>
        <p:spPr>
          <a:xfrm>
            <a:off x="335074" y="5798403"/>
            <a:ext cx="8452717" cy="830997"/>
          </a:xfrm>
          <a:prstGeom prst="rect">
            <a:avLst/>
          </a:prstGeom>
          <a:noFill/>
          <a:ln>
            <a:solidFill>
              <a:srgbClr val="FF0000"/>
            </a:solidFill>
          </a:ln>
        </p:spPr>
        <p:txBody>
          <a:bodyPr wrap="square" rtlCol="0">
            <a:spAutoFit/>
          </a:bodyPr>
          <a:lstStyle/>
          <a:p>
            <a:r>
              <a:rPr lang="zh-CN" altLang="en-US" sz="2400" b="1" dirty="0">
                <a:solidFill>
                  <a:srgbClr val="FF0000"/>
                </a:solidFill>
              </a:rPr>
              <a:t>注意</a:t>
            </a:r>
            <a:r>
              <a:rPr lang="zh-CN" altLang="en-US" sz="2400" b="1" dirty="0">
                <a:solidFill>
                  <a:schemeClr val="bg2"/>
                </a:solidFill>
              </a:rPr>
              <a:t>：用</a:t>
            </a:r>
            <a:r>
              <a:rPr lang="en-US" altLang="zh-CN" sz="2400" b="1" dirty="0">
                <a:solidFill>
                  <a:schemeClr val="bg2"/>
                </a:solidFill>
              </a:rPr>
              <a:t>LABEL</a:t>
            </a:r>
            <a:r>
              <a:rPr lang="zh-CN" altLang="en-US" sz="2400" b="1" dirty="0">
                <a:solidFill>
                  <a:schemeClr val="bg2"/>
                </a:solidFill>
              </a:rPr>
              <a:t>定义的标号或变量的</a:t>
            </a:r>
            <a:r>
              <a:rPr lang="zh-CN" altLang="en-US" sz="2400" b="1" dirty="0">
                <a:solidFill>
                  <a:srgbClr val="FF0000"/>
                </a:solidFill>
              </a:rPr>
              <a:t>地址</a:t>
            </a:r>
            <a:r>
              <a:rPr lang="zh-CN" altLang="en-US" sz="2400" b="1" dirty="0">
                <a:solidFill>
                  <a:schemeClr val="bg2"/>
                </a:solidFill>
              </a:rPr>
              <a:t>一定是相邻的下一指令语句或伪指令定义的变量。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686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86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868">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86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687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687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nimBg="1" autoUpdateAnimBg="0"/>
      <p:bldP spid="36868" grpId="0" build="p" autoUpdateAnimBg="0"/>
      <p:bldP spid="36869" grpId="0" animBg="1" autoUpdateAnimBg="0"/>
      <p:bldP spid="36870" grpId="0" animBg="1" autoUpdateAnimBg="0"/>
      <p:bldP spid="36871" grpId="0" build="p" autoUpdateAnimBg="0"/>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5ADC060B-32F8-430A-BF1B-4EE86E682A67}" type="slidenum">
              <a:rPr lang="en-US" altLang="zh-CN" sz="1400">
                <a:solidFill>
                  <a:schemeClr val="bg2"/>
                </a:solidFill>
              </a:rPr>
              <a:pPr algn="r" eaLnBrk="1" hangingPunct="1"/>
              <a:t>29</a:t>
            </a:fld>
            <a:endParaRPr lang="en-US" altLang="zh-CN" sz="1400">
              <a:solidFill>
                <a:schemeClr val="bg2"/>
              </a:solidFill>
            </a:endParaRPr>
          </a:p>
        </p:txBody>
      </p:sp>
      <p:sp>
        <p:nvSpPr>
          <p:cNvPr id="37891" name="Rectangle 2"/>
          <p:cNvSpPr>
            <a:spLocks noChangeArrowheads="1"/>
          </p:cNvSpPr>
          <p:nvPr/>
        </p:nvSpPr>
        <p:spPr bwMode="auto">
          <a:xfrm>
            <a:off x="685800" y="990600"/>
            <a:ext cx="80327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符号定义语句将常数或表达式等形式用某个指定的符号来表示。在</a:t>
            </a:r>
            <a:r>
              <a:rPr lang="en-US" altLang="zh-CN" sz="2400" b="1" dirty="0">
                <a:solidFill>
                  <a:schemeClr val="bg2"/>
                </a:solidFill>
              </a:rPr>
              <a:t>80x86</a:t>
            </a:r>
            <a:r>
              <a:rPr lang="zh-CN" altLang="en-US" sz="2400" b="1" dirty="0">
                <a:solidFill>
                  <a:schemeClr val="bg2"/>
                </a:solidFill>
              </a:rPr>
              <a:t>汇编语言中有两种符号定义语句。</a:t>
            </a:r>
          </a:p>
        </p:txBody>
      </p:sp>
      <p:sp>
        <p:nvSpPr>
          <p:cNvPr id="37892" name="Rectangle 3"/>
          <p:cNvSpPr>
            <a:spLocks noChangeArrowheads="1"/>
          </p:cNvSpPr>
          <p:nvPr/>
        </p:nvSpPr>
        <p:spPr bwMode="auto">
          <a:xfrm>
            <a:off x="2895600" y="304800"/>
            <a:ext cx="3344863" cy="5794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3200" b="1" dirty="0">
                <a:solidFill>
                  <a:schemeClr val="hlink"/>
                </a:solidFill>
              </a:rPr>
              <a:t>4.3  </a:t>
            </a:r>
            <a:r>
              <a:rPr lang="zh-CN" altLang="en-US" sz="3200" b="1" dirty="0">
                <a:solidFill>
                  <a:schemeClr val="hlink"/>
                </a:solidFill>
              </a:rPr>
              <a:t>符号定义语句</a:t>
            </a:r>
          </a:p>
        </p:txBody>
      </p:sp>
      <p:sp>
        <p:nvSpPr>
          <p:cNvPr id="37893" name="Rectangle 4"/>
          <p:cNvSpPr>
            <a:spLocks noChangeArrowheads="1"/>
          </p:cNvSpPr>
          <p:nvPr/>
        </p:nvSpPr>
        <p:spPr bwMode="auto">
          <a:xfrm>
            <a:off x="2895600" y="2209800"/>
            <a:ext cx="2286000" cy="5191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b="1" dirty="0">
                <a:solidFill>
                  <a:schemeClr val="hlink"/>
                </a:solidFill>
              </a:rPr>
              <a:t>一、等值语句</a:t>
            </a:r>
          </a:p>
        </p:txBody>
      </p:sp>
      <p:sp>
        <p:nvSpPr>
          <p:cNvPr id="37894" name="Rectangle 5"/>
          <p:cNvSpPr>
            <a:spLocks noChangeArrowheads="1"/>
          </p:cNvSpPr>
          <p:nvPr/>
        </p:nvSpPr>
        <p:spPr bwMode="auto">
          <a:xfrm>
            <a:off x="794899" y="2819400"/>
            <a:ext cx="1112805" cy="461665"/>
          </a:xfrm>
          <a:prstGeom prst="rect">
            <a:avLst/>
          </a:prstGeom>
          <a:solidFill>
            <a:schemeClr val="bg1"/>
          </a:solidFill>
          <a:ln>
            <a:noFill/>
          </a:ln>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格式：</a:t>
            </a:r>
          </a:p>
        </p:txBody>
      </p:sp>
      <p:sp>
        <p:nvSpPr>
          <p:cNvPr id="37895" name="Rectangle 6"/>
          <p:cNvSpPr>
            <a:spLocks noChangeArrowheads="1"/>
          </p:cNvSpPr>
          <p:nvPr/>
        </p:nvSpPr>
        <p:spPr bwMode="auto">
          <a:xfrm>
            <a:off x="762000" y="3429000"/>
            <a:ext cx="8001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rPr>
              <a:t>功能</a:t>
            </a:r>
            <a:r>
              <a:rPr lang="zh-CN" altLang="en-US" sz="2400" b="1" dirty="0">
                <a:solidFill>
                  <a:schemeClr val="bg2"/>
                </a:solidFill>
              </a:rPr>
              <a:t>：用</a:t>
            </a:r>
            <a:r>
              <a:rPr lang="zh-CN" altLang="en-US" sz="2400" b="1" dirty="0">
                <a:solidFill>
                  <a:schemeClr val="hlink"/>
                </a:solidFill>
              </a:rPr>
              <a:t>符号名</a:t>
            </a:r>
            <a:r>
              <a:rPr lang="zh-CN" altLang="en-US" sz="2400" b="1" dirty="0">
                <a:solidFill>
                  <a:schemeClr val="bg2"/>
                </a:solidFill>
              </a:rPr>
              <a:t>来表示</a:t>
            </a:r>
            <a:r>
              <a:rPr lang="en-US" altLang="zh-CN" sz="2400" b="1" dirty="0">
                <a:solidFill>
                  <a:schemeClr val="bg2"/>
                </a:solidFill>
              </a:rPr>
              <a:t>EQU</a:t>
            </a:r>
            <a:r>
              <a:rPr lang="zh-CN" altLang="en-US" sz="2400" b="1" dirty="0">
                <a:solidFill>
                  <a:schemeClr val="bg2"/>
                </a:solidFill>
              </a:rPr>
              <a:t>右边的表达式。后面的程序中一旦出现该符号名，汇编程序将把它替换成该表达式。</a:t>
            </a:r>
          </a:p>
        </p:txBody>
      </p:sp>
      <p:sp>
        <p:nvSpPr>
          <p:cNvPr id="37896" name="Rectangle 7"/>
          <p:cNvSpPr>
            <a:spLocks noChangeArrowheads="1"/>
          </p:cNvSpPr>
          <p:nvPr/>
        </p:nvSpPr>
        <p:spPr bwMode="auto">
          <a:xfrm>
            <a:off x="762000" y="4267200"/>
            <a:ext cx="688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just" eaLnBrk="1" hangingPunct="1"/>
            <a:r>
              <a:rPr lang="zh-CN" altLang="en-US" sz="2400" b="1" dirty="0">
                <a:solidFill>
                  <a:schemeClr val="bg2"/>
                </a:solidFill>
              </a:rPr>
              <a:t>表达式可以是任何形式，常见的有以下几种情况。</a:t>
            </a:r>
          </a:p>
        </p:txBody>
      </p:sp>
      <p:sp>
        <p:nvSpPr>
          <p:cNvPr id="37897" name="Rectangle 8"/>
          <p:cNvSpPr>
            <a:spLocks noChangeArrowheads="1"/>
          </p:cNvSpPr>
          <p:nvPr/>
        </p:nvSpPr>
        <p:spPr bwMode="auto">
          <a:xfrm>
            <a:off x="990600" y="4800600"/>
            <a:ext cx="2841625"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1.</a:t>
            </a:r>
            <a:r>
              <a:rPr lang="zh-CN" altLang="en-US" sz="2400" b="1" dirty="0">
                <a:solidFill>
                  <a:schemeClr val="bg2"/>
                </a:solidFill>
              </a:rPr>
              <a:t>常数或数值表达式</a:t>
            </a:r>
          </a:p>
        </p:txBody>
      </p:sp>
      <p:sp>
        <p:nvSpPr>
          <p:cNvPr id="37898" name="Rectangle 9"/>
          <p:cNvSpPr>
            <a:spLocks noChangeArrowheads="1"/>
          </p:cNvSpPr>
          <p:nvPr/>
        </p:nvSpPr>
        <p:spPr bwMode="auto">
          <a:xfrm>
            <a:off x="1495425" y="5548383"/>
            <a:ext cx="3686175" cy="822325"/>
          </a:xfrm>
          <a:prstGeom prst="rect">
            <a:avLst/>
          </a:prstGeom>
          <a:solidFill>
            <a:schemeClr val="bg1"/>
          </a:solidFill>
          <a:ln>
            <a:noFill/>
          </a:ln>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COUNT  EQU  5</a:t>
            </a:r>
          </a:p>
          <a:p>
            <a:pPr eaLnBrk="1" hangingPunct="1"/>
            <a:r>
              <a:rPr lang="en-US" altLang="zh-CN" sz="2400" b="1" dirty="0">
                <a:solidFill>
                  <a:schemeClr val="bg2"/>
                </a:solidFill>
              </a:rPr>
              <a:t>NUM       EQU  COUNT+5</a:t>
            </a:r>
          </a:p>
        </p:txBody>
      </p:sp>
      <p:sp>
        <p:nvSpPr>
          <p:cNvPr id="11" name="Rectangle 5"/>
          <p:cNvSpPr>
            <a:spLocks noChangeArrowheads="1"/>
          </p:cNvSpPr>
          <p:nvPr/>
        </p:nvSpPr>
        <p:spPr bwMode="auto">
          <a:xfrm>
            <a:off x="2027205" y="2819400"/>
            <a:ext cx="3169457" cy="46166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符号名   </a:t>
            </a:r>
            <a:r>
              <a:rPr lang="en-US" altLang="zh-CN" sz="2400" b="1" dirty="0">
                <a:solidFill>
                  <a:schemeClr val="bg2"/>
                </a:solidFill>
              </a:rPr>
              <a:t>EQU   </a:t>
            </a:r>
            <a:r>
              <a:rPr lang="zh-CN" altLang="en-US" sz="2400" b="1" dirty="0">
                <a:solidFill>
                  <a:schemeClr val="bg2"/>
                </a:solidFill>
              </a:rPr>
              <a:t>表达式</a:t>
            </a:r>
          </a:p>
        </p:txBody>
      </p:sp>
      <p:sp>
        <p:nvSpPr>
          <p:cNvPr id="2" name="TextBox 1"/>
          <p:cNvSpPr txBox="1"/>
          <p:nvPr/>
        </p:nvSpPr>
        <p:spPr>
          <a:xfrm>
            <a:off x="496089" y="5548383"/>
            <a:ext cx="1043801" cy="461665"/>
          </a:xfrm>
          <a:prstGeom prst="rect">
            <a:avLst/>
          </a:prstGeom>
          <a:noFill/>
        </p:spPr>
        <p:txBody>
          <a:bodyPr wrap="square" rtlCol="0">
            <a:spAutoFit/>
          </a:bodyPr>
          <a:lstStyle/>
          <a:p>
            <a:r>
              <a:rPr lang="zh-CN" altLang="en-US" sz="2400" b="1" dirty="0">
                <a:solidFill>
                  <a:schemeClr val="bg2"/>
                </a:solidFill>
              </a:rPr>
              <a:t>例如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78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78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789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789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789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789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3789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down)">
                                      <p:cBhvr>
                                        <p:cTn id="39" dur="500"/>
                                        <p:tgtEl>
                                          <p:spTgt spid="2"/>
                                        </p:tgtEl>
                                      </p:cBhvr>
                                    </p:animEffec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499"/>
                                          </p:stCondLst>
                                        </p:cTn>
                                        <p:tgtEl>
                                          <p:spTgt spid="378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p:bldP spid="37892" grpId="0" animBg="1" autoUpdateAnimBg="0"/>
      <p:bldP spid="37893" grpId="0" animBg="1" autoUpdateAnimBg="0"/>
      <p:bldP spid="37894" grpId="0" animBg="1" autoUpdateAnimBg="0"/>
      <p:bldP spid="37895" grpId="0" autoUpdateAnimBg="0"/>
      <p:bldP spid="37896" grpId="0" autoUpdateAnimBg="0"/>
      <p:bldP spid="37897" grpId="0" animBg="1" autoUpdateAnimBg="0"/>
      <p:bldP spid="37898" grpId="0" animBg="1" autoUpdateAnimBg="0"/>
      <p:bldP spid="11" grpId="0" animBg="1" autoUpdateAnimBg="0"/>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A6073AE3-2E79-45A7-8291-A2B7B1E25FC4}" type="slidenum">
              <a:rPr lang="en-US" altLang="zh-CN" sz="1400">
                <a:solidFill>
                  <a:schemeClr val="bg2"/>
                </a:solidFill>
              </a:rPr>
              <a:pPr algn="r" eaLnBrk="1" hangingPunct="1"/>
              <a:t>30</a:t>
            </a:fld>
            <a:endParaRPr lang="en-US" altLang="zh-CN" sz="1400">
              <a:solidFill>
                <a:schemeClr val="bg2"/>
              </a:solidFill>
            </a:endParaRPr>
          </a:p>
        </p:txBody>
      </p:sp>
      <p:sp>
        <p:nvSpPr>
          <p:cNvPr id="38915" name="Rectangle 2"/>
          <p:cNvSpPr>
            <a:spLocks noChangeArrowheads="1"/>
          </p:cNvSpPr>
          <p:nvPr/>
        </p:nvSpPr>
        <p:spPr bwMode="auto">
          <a:xfrm>
            <a:off x="992560" y="96621"/>
            <a:ext cx="1931988"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2.</a:t>
            </a:r>
            <a:r>
              <a:rPr lang="zh-CN" altLang="en-US" sz="2400" b="1" dirty="0">
                <a:solidFill>
                  <a:schemeClr val="bg2"/>
                </a:solidFill>
              </a:rPr>
              <a:t>地址表达式</a:t>
            </a:r>
          </a:p>
        </p:txBody>
      </p:sp>
      <p:sp>
        <p:nvSpPr>
          <p:cNvPr id="38916" name="Rectangle 3"/>
          <p:cNvSpPr>
            <a:spLocks noChangeArrowheads="1"/>
          </p:cNvSpPr>
          <p:nvPr/>
        </p:nvSpPr>
        <p:spPr bwMode="auto">
          <a:xfrm>
            <a:off x="611560" y="1239621"/>
            <a:ext cx="7696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ADR1</a:t>
            </a:r>
            <a:r>
              <a:rPr lang="zh-CN" altLang="en-US" sz="2400" b="1" dirty="0">
                <a:solidFill>
                  <a:schemeClr val="bg2"/>
                </a:solidFill>
              </a:rPr>
              <a:t>被定义为在</a:t>
            </a:r>
            <a:r>
              <a:rPr lang="en-US" altLang="zh-CN" sz="2400" b="1" dirty="0">
                <a:solidFill>
                  <a:schemeClr val="bg2"/>
                </a:solidFill>
              </a:rPr>
              <a:t>DS</a:t>
            </a:r>
            <a:r>
              <a:rPr lang="zh-CN" altLang="en-US" sz="2400" b="1" dirty="0">
                <a:solidFill>
                  <a:schemeClr val="bg2"/>
                </a:solidFill>
              </a:rPr>
              <a:t>数据段中</a:t>
            </a:r>
            <a:r>
              <a:rPr lang="zh-CN" altLang="en-US" sz="2400" b="1" dirty="0" smtClean="0">
                <a:solidFill>
                  <a:schemeClr val="bg2"/>
                </a:solidFill>
              </a:rPr>
              <a:t>以</a:t>
            </a:r>
            <a:r>
              <a:rPr lang="en-US" altLang="zh-CN" sz="2400" b="1" dirty="0" smtClean="0">
                <a:solidFill>
                  <a:schemeClr val="bg2"/>
                </a:solidFill>
              </a:rPr>
              <a:t>EBP</a:t>
            </a:r>
            <a:r>
              <a:rPr lang="zh-CN" altLang="en-US" sz="2400" b="1" dirty="0">
                <a:solidFill>
                  <a:schemeClr val="bg2"/>
                </a:solidFill>
              </a:rPr>
              <a:t>作基址寻址的一个存储单元。</a:t>
            </a:r>
          </a:p>
        </p:txBody>
      </p:sp>
      <p:sp>
        <p:nvSpPr>
          <p:cNvPr id="38917" name="Rectangle 4"/>
          <p:cNvSpPr>
            <a:spLocks noChangeArrowheads="1"/>
          </p:cNvSpPr>
          <p:nvPr/>
        </p:nvSpPr>
        <p:spPr bwMode="auto">
          <a:xfrm>
            <a:off x="1068760" y="706221"/>
            <a:ext cx="3970959" cy="46166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ADR1  EQU  DS</a:t>
            </a:r>
            <a:r>
              <a:rPr lang="zh-CN" altLang="en-US" sz="2400" b="1" dirty="0">
                <a:solidFill>
                  <a:schemeClr val="bg2"/>
                </a:solidFill>
              </a:rPr>
              <a:t>：</a:t>
            </a:r>
            <a:r>
              <a:rPr lang="en-US" altLang="zh-CN" sz="2400" b="1" dirty="0">
                <a:solidFill>
                  <a:schemeClr val="bg2"/>
                </a:solidFill>
              </a:rPr>
              <a:t>[EBP+14]</a:t>
            </a:r>
          </a:p>
        </p:txBody>
      </p:sp>
      <p:sp>
        <p:nvSpPr>
          <p:cNvPr id="38918" name="Rectangle 5"/>
          <p:cNvSpPr>
            <a:spLocks noChangeArrowheads="1"/>
          </p:cNvSpPr>
          <p:nvPr/>
        </p:nvSpPr>
        <p:spPr bwMode="auto">
          <a:xfrm>
            <a:off x="1088719" y="3807920"/>
            <a:ext cx="4746812"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4.</a:t>
            </a:r>
            <a:r>
              <a:rPr lang="zh-CN" altLang="en-US" sz="2400" b="1" dirty="0">
                <a:solidFill>
                  <a:schemeClr val="bg2"/>
                </a:solidFill>
              </a:rPr>
              <a:t>变量名、寄存器名或指令助记符</a:t>
            </a:r>
          </a:p>
        </p:txBody>
      </p:sp>
      <p:sp>
        <p:nvSpPr>
          <p:cNvPr id="38919" name="Rectangle 6"/>
          <p:cNvSpPr>
            <a:spLocks noChangeArrowheads="1"/>
          </p:cNvSpPr>
          <p:nvPr/>
        </p:nvSpPr>
        <p:spPr bwMode="auto">
          <a:xfrm>
            <a:off x="174319" y="4493720"/>
            <a:ext cx="8642350" cy="8223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solidFill>
                  <a:schemeClr val="bg2"/>
                </a:solidFill>
              </a:rPr>
              <a:t>例如：</a:t>
            </a:r>
            <a:r>
              <a:rPr lang="en-US" altLang="zh-CN" sz="2400" b="1">
                <a:solidFill>
                  <a:schemeClr val="bg2"/>
                </a:solidFill>
              </a:rPr>
              <a:t>CREG  EQU  CX</a:t>
            </a:r>
            <a:r>
              <a:rPr lang="zh-CN" altLang="en-US" sz="2400" b="1">
                <a:solidFill>
                  <a:schemeClr val="bg2"/>
                </a:solidFill>
              </a:rPr>
              <a:t>；在后面的程序使用</a:t>
            </a:r>
            <a:r>
              <a:rPr lang="en-US" altLang="zh-CN" sz="2400" b="1">
                <a:solidFill>
                  <a:schemeClr val="bg2"/>
                </a:solidFill>
              </a:rPr>
              <a:t>CREG</a:t>
            </a:r>
            <a:r>
              <a:rPr lang="zh-CN" altLang="en-US" sz="2400" b="1">
                <a:solidFill>
                  <a:schemeClr val="bg2"/>
                </a:solidFill>
              </a:rPr>
              <a:t>就是使用</a:t>
            </a:r>
            <a:r>
              <a:rPr lang="en-US" altLang="zh-CN" sz="2400" b="1">
                <a:solidFill>
                  <a:schemeClr val="bg2"/>
                </a:solidFill>
              </a:rPr>
              <a:t>CX</a:t>
            </a:r>
          </a:p>
          <a:p>
            <a:pPr eaLnBrk="1" hangingPunct="1"/>
            <a:r>
              <a:rPr lang="en-US" altLang="zh-CN" sz="2400" b="1">
                <a:solidFill>
                  <a:schemeClr val="bg2"/>
                </a:solidFill>
              </a:rPr>
              <a:t>            CBD     EQU  DAA</a:t>
            </a:r>
            <a:r>
              <a:rPr lang="zh-CN" altLang="en-US" sz="2400" b="1">
                <a:solidFill>
                  <a:schemeClr val="bg2"/>
                </a:solidFill>
              </a:rPr>
              <a:t>；</a:t>
            </a:r>
            <a:r>
              <a:rPr lang="en-US" altLang="zh-CN" sz="2400" b="1">
                <a:solidFill>
                  <a:schemeClr val="bg2"/>
                </a:solidFill>
              </a:rPr>
              <a:t>DAA</a:t>
            </a:r>
            <a:r>
              <a:rPr lang="zh-CN" altLang="en-US" sz="2400" b="1">
                <a:solidFill>
                  <a:schemeClr val="bg2"/>
                </a:solidFill>
              </a:rPr>
              <a:t>为十进制调整指令。  </a:t>
            </a:r>
          </a:p>
        </p:txBody>
      </p:sp>
      <p:sp>
        <p:nvSpPr>
          <p:cNvPr id="38920" name="Rectangle 7"/>
          <p:cNvSpPr>
            <a:spLocks noChangeArrowheads="1"/>
          </p:cNvSpPr>
          <p:nvPr/>
        </p:nvSpPr>
        <p:spPr bwMode="auto">
          <a:xfrm>
            <a:off x="250519" y="5484320"/>
            <a:ext cx="8534400"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注意：在同一源程序中，同一符号不能用</a:t>
            </a:r>
            <a:r>
              <a:rPr lang="en-US" altLang="zh-CN" sz="2400" b="1" dirty="0">
                <a:solidFill>
                  <a:schemeClr val="bg2"/>
                </a:solidFill>
              </a:rPr>
              <a:t>EQU</a:t>
            </a:r>
            <a:r>
              <a:rPr lang="zh-CN" altLang="en-US" sz="2400" b="1" dirty="0">
                <a:solidFill>
                  <a:schemeClr val="bg2"/>
                </a:solidFill>
              </a:rPr>
              <a:t>定义多次。</a:t>
            </a:r>
          </a:p>
        </p:txBody>
      </p:sp>
      <p:grpSp>
        <p:nvGrpSpPr>
          <p:cNvPr id="38921" name="Group 9"/>
          <p:cNvGrpSpPr>
            <a:grpSpLocks/>
          </p:cNvGrpSpPr>
          <p:nvPr/>
        </p:nvGrpSpPr>
        <p:grpSpPr bwMode="auto">
          <a:xfrm>
            <a:off x="1331640" y="5963019"/>
            <a:ext cx="5257800" cy="822325"/>
            <a:chOff x="0" y="0"/>
            <a:chExt cx="3312" cy="518"/>
          </a:xfrm>
        </p:grpSpPr>
        <p:sp>
          <p:nvSpPr>
            <p:cNvPr id="38922" name="Rectangle 8"/>
            <p:cNvSpPr>
              <a:spLocks noChangeArrowheads="1"/>
            </p:cNvSpPr>
            <p:nvPr/>
          </p:nvSpPr>
          <p:spPr bwMode="auto">
            <a:xfrm>
              <a:off x="0" y="0"/>
              <a:ext cx="1931"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例：</a:t>
              </a:r>
              <a:r>
                <a:rPr lang="en-US" altLang="zh-CN" sz="2400" b="1" dirty="0">
                  <a:solidFill>
                    <a:schemeClr val="bg2"/>
                  </a:solidFill>
                </a:rPr>
                <a:t>CBD  EQU  DAA</a:t>
              </a:r>
            </a:p>
            <a:p>
              <a:pPr eaLnBrk="1" hangingPunct="1"/>
              <a:r>
                <a:rPr lang="en-US" altLang="zh-CN" sz="2400" b="1" dirty="0">
                  <a:solidFill>
                    <a:schemeClr val="bg2"/>
                  </a:solidFill>
                </a:rPr>
                <a:t>        CBD  EQU  ADD</a:t>
              </a:r>
            </a:p>
          </p:txBody>
        </p:sp>
        <p:sp>
          <p:nvSpPr>
            <p:cNvPr id="38923" name="AutoShape 10"/>
            <p:cNvSpPr>
              <a:spLocks/>
            </p:cNvSpPr>
            <p:nvPr/>
          </p:nvSpPr>
          <p:spPr bwMode="auto">
            <a:xfrm>
              <a:off x="2064" y="144"/>
              <a:ext cx="96" cy="336"/>
            </a:xfrm>
            <a:prstGeom prst="rightBrace">
              <a:avLst>
                <a:gd name="adj1" fmla="val 29167"/>
                <a:gd name="adj2" fmla="val 50000"/>
              </a:avLst>
            </a:prstGeom>
            <a:noFill/>
            <a:ln w="9525"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a:p>
          </p:txBody>
        </p:sp>
        <p:sp>
          <p:nvSpPr>
            <p:cNvPr id="38924" name="Text Box 11"/>
            <p:cNvSpPr txBox="1">
              <a:spLocks noChangeArrowheads="1"/>
            </p:cNvSpPr>
            <p:nvPr/>
          </p:nvSpPr>
          <p:spPr bwMode="auto">
            <a:xfrm>
              <a:off x="2304" y="144"/>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hlink"/>
                  </a:solidFill>
                </a:rPr>
                <a:t>错误用法</a:t>
              </a:r>
            </a:p>
          </p:txBody>
        </p:sp>
      </p:grpSp>
      <p:sp>
        <p:nvSpPr>
          <p:cNvPr id="13" name="Rectangle 2"/>
          <p:cNvSpPr>
            <a:spLocks noChangeArrowheads="1"/>
          </p:cNvSpPr>
          <p:nvPr/>
        </p:nvSpPr>
        <p:spPr bwMode="auto">
          <a:xfrm>
            <a:off x="1014479" y="2056814"/>
            <a:ext cx="1388522"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3.</a:t>
            </a:r>
            <a:r>
              <a:rPr lang="zh-CN" altLang="en-US" sz="2400" b="1" dirty="0">
                <a:solidFill>
                  <a:schemeClr val="bg2"/>
                </a:solidFill>
              </a:rPr>
              <a:t>字符串</a:t>
            </a:r>
          </a:p>
        </p:txBody>
      </p:sp>
      <p:sp>
        <p:nvSpPr>
          <p:cNvPr id="2" name="文本框 1"/>
          <p:cNvSpPr txBox="1"/>
          <p:nvPr/>
        </p:nvSpPr>
        <p:spPr>
          <a:xfrm>
            <a:off x="1088719" y="2708920"/>
            <a:ext cx="7696200" cy="830997"/>
          </a:xfrm>
          <a:prstGeom prst="rect">
            <a:avLst/>
          </a:prstGeom>
          <a:solidFill>
            <a:schemeClr val="accent2"/>
          </a:solidFill>
        </p:spPr>
        <p:txBody>
          <a:bodyPr wrap="square" rtlCol="0">
            <a:spAutoFit/>
          </a:bodyPr>
          <a:lstStyle/>
          <a:p>
            <a:r>
              <a:rPr lang="en-US" altLang="zh-CN" sz="2400" b="1" dirty="0">
                <a:solidFill>
                  <a:schemeClr val="bg2"/>
                </a:solidFill>
              </a:rPr>
              <a:t>STR1 EQU “ABCD”</a:t>
            </a:r>
          </a:p>
          <a:p>
            <a:r>
              <a:rPr lang="en-US" altLang="zh-CN" sz="2400" b="1" dirty="0">
                <a:solidFill>
                  <a:schemeClr val="bg2"/>
                </a:solidFill>
              </a:rPr>
              <a:t>STR2  BYTE   STR1 ;STR1</a:t>
            </a:r>
            <a:r>
              <a:rPr lang="zh-CN" altLang="en-US" sz="2400" b="1" dirty="0">
                <a:solidFill>
                  <a:schemeClr val="bg2"/>
                </a:solidFill>
              </a:rPr>
              <a:t>为符号常量</a:t>
            </a:r>
            <a:r>
              <a:rPr lang="en-US" altLang="zh-CN" sz="2400" b="1" dirty="0">
                <a:solidFill>
                  <a:schemeClr val="bg2"/>
                </a:solidFill>
              </a:rPr>
              <a:t>,STR2</a:t>
            </a:r>
            <a:r>
              <a:rPr lang="zh-CN" altLang="en-US" sz="2400" b="1" dirty="0">
                <a:solidFill>
                  <a:schemeClr val="bg2"/>
                </a:solidFill>
              </a:rPr>
              <a:t>为变量。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89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9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8916"/>
                                        </p:tgtEl>
                                        <p:attrNameLst>
                                          <p:attrName>style.visibility</p:attrName>
                                        </p:attrNameLst>
                                      </p:cBhvr>
                                      <p:to>
                                        <p:strVal val="visible"/>
                                      </p:to>
                                    </p:set>
                                  </p:childTnLst>
                                </p:cTn>
                              </p:par>
                            </p:childTnLst>
                          </p:cTn>
                        </p:par>
                      </p:childTnLst>
                    </p:cTn>
                  </p:par>
                  <p:par>
                    <p:cTn id="15" fill="hold">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389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389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3892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499"/>
                                          </p:stCondLst>
                                        </p:cTn>
                                        <p:tgtEl>
                                          <p:spTgt spid="389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nimBg="1" autoUpdateAnimBg="0"/>
      <p:bldP spid="38916" grpId="0" autoUpdateAnimBg="0"/>
      <p:bldP spid="38917" grpId="0" animBg="1" autoUpdateAnimBg="0"/>
      <p:bldP spid="38918" grpId="0" animBg="1" autoUpdateAnimBg="0"/>
      <p:bldP spid="38919" grpId="0" animBg="1" autoUpdateAnimBg="0"/>
      <p:bldP spid="38920" grpId="0" animBg="1" autoUpdateAnimBg="0"/>
      <p:bldP spid="13" grpId="0" animBg="1" autoUpdateAnimBg="0"/>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5E7187CA-43C5-4DA4-82F6-3F251185852E}" type="slidenum">
              <a:rPr lang="en-US" altLang="zh-CN" sz="1400">
                <a:solidFill>
                  <a:schemeClr val="bg2"/>
                </a:solidFill>
              </a:rPr>
              <a:pPr algn="r" eaLnBrk="1" hangingPunct="1"/>
              <a:t>31</a:t>
            </a:fld>
            <a:endParaRPr lang="en-US" altLang="zh-CN" sz="1400">
              <a:solidFill>
                <a:schemeClr val="bg2"/>
              </a:solidFill>
            </a:endParaRPr>
          </a:p>
        </p:txBody>
      </p:sp>
      <p:sp>
        <p:nvSpPr>
          <p:cNvPr id="39939" name="Rectangle 2"/>
          <p:cNvSpPr>
            <a:spLocks noChangeArrowheads="1"/>
          </p:cNvSpPr>
          <p:nvPr/>
        </p:nvSpPr>
        <p:spPr bwMode="auto">
          <a:xfrm>
            <a:off x="611188" y="836613"/>
            <a:ext cx="3100387"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格式：符号名</a:t>
            </a:r>
            <a:r>
              <a:rPr lang="en-US" altLang="zh-CN" sz="2400" b="1" dirty="0">
                <a:solidFill>
                  <a:schemeClr val="bg2"/>
                </a:solidFill>
              </a:rPr>
              <a:t>=</a:t>
            </a:r>
            <a:r>
              <a:rPr lang="zh-CN" altLang="en-US" sz="2400" b="1" dirty="0">
                <a:solidFill>
                  <a:schemeClr val="bg2"/>
                </a:solidFill>
              </a:rPr>
              <a:t>表达式</a:t>
            </a:r>
          </a:p>
        </p:txBody>
      </p:sp>
      <p:sp>
        <p:nvSpPr>
          <p:cNvPr id="39940" name="Rectangle 3"/>
          <p:cNvSpPr>
            <a:spLocks noChangeArrowheads="1"/>
          </p:cNvSpPr>
          <p:nvPr/>
        </p:nvSpPr>
        <p:spPr bwMode="auto">
          <a:xfrm>
            <a:off x="2916238" y="188913"/>
            <a:ext cx="2317750" cy="51911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b="1" dirty="0">
                <a:solidFill>
                  <a:schemeClr val="hlink"/>
                </a:solidFill>
              </a:rPr>
              <a:t>二、等号语句</a:t>
            </a:r>
          </a:p>
        </p:txBody>
      </p:sp>
      <p:sp>
        <p:nvSpPr>
          <p:cNvPr id="39941" name="Rectangle 4"/>
          <p:cNvSpPr>
            <a:spLocks noChangeArrowheads="1"/>
          </p:cNvSpPr>
          <p:nvPr/>
        </p:nvSpPr>
        <p:spPr bwMode="auto">
          <a:xfrm>
            <a:off x="539750" y="1412875"/>
            <a:ext cx="8229600" cy="850900"/>
          </a:xfrm>
          <a:prstGeom prst="rect">
            <a:avLst/>
          </a:prstGeom>
          <a:solidFill>
            <a:schemeClr val="bg1"/>
          </a:solidFill>
          <a:ln w="28575" cmpd="sng">
            <a:solidFill>
              <a:srgbClr val="0066FF"/>
            </a:solidFill>
            <a:miter lim="800000"/>
            <a:headEnd/>
            <a:tailEnd/>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        </a:t>
            </a:r>
            <a:r>
              <a:rPr lang="zh-CN" altLang="en-US" sz="2400" b="1" dirty="0">
                <a:solidFill>
                  <a:schemeClr val="bg2"/>
                </a:solidFill>
              </a:rPr>
              <a:t>等号语句与等值语句具有相同的作用。但等号语句可以对一个符号进行多次重复定义。</a:t>
            </a:r>
          </a:p>
        </p:txBody>
      </p:sp>
      <p:sp>
        <p:nvSpPr>
          <p:cNvPr id="39942" name="Rectangle 5"/>
          <p:cNvSpPr>
            <a:spLocks noChangeArrowheads="1"/>
          </p:cNvSpPr>
          <p:nvPr/>
        </p:nvSpPr>
        <p:spPr bwMode="auto">
          <a:xfrm>
            <a:off x="2195513" y="2420938"/>
            <a:ext cx="2566987" cy="1590675"/>
          </a:xfrm>
          <a:prstGeom prst="rect">
            <a:avLst/>
          </a:prstGeom>
          <a:noFill/>
          <a:ln w="38100" cmpd="sng">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solidFill>
                  <a:schemeClr val="bg2"/>
                </a:solidFill>
              </a:rPr>
              <a:t>例如：</a:t>
            </a:r>
          </a:p>
          <a:p>
            <a:pPr eaLnBrk="1" hangingPunct="1"/>
            <a:r>
              <a:rPr lang="en-US" altLang="zh-CN" sz="2400" b="1">
                <a:solidFill>
                  <a:schemeClr val="hlink"/>
                </a:solidFill>
              </a:rPr>
              <a:t>CONT</a:t>
            </a:r>
            <a:r>
              <a:rPr lang="en-US" altLang="zh-CN" sz="2400" b="1">
                <a:solidFill>
                  <a:schemeClr val="bg2"/>
                </a:solidFill>
              </a:rPr>
              <a:t>=5</a:t>
            </a:r>
          </a:p>
          <a:p>
            <a:pPr eaLnBrk="1" hangingPunct="1"/>
            <a:r>
              <a:rPr lang="en-US" altLang="zh-CN" sz="2400" b="1">
                <a:solidFill>
                  <a:schemeClr val="hlink"/>
                </a:solidFill>
              </a:rPr>
              <a:t>NUM</a:t>
            </a:r>
            <a:r>
              <a:rPr lang="en-US" altLang="zh-CN" sz="2400" b="1">
                <a:solidFill>
                  <a:schemeClr val="bg2"/>
                </a:solidFill>
              </a:rPr>
              <a:t>=14H</a:t>
            </a:r>
          </a:p>
          <a:p>
            <a:pPr eaLnBrk="1" hangingPunct="1"/>
            <a:r>
              <a:rPr lang="en-US" altLang="zh-CN" sz="2400" b="1">
                <a:solidFill>
                  <a:schemeClr val="hlink"/>
                </a:solidFill>
              </a:rPr>
              <a:t>NUM</a:t>
            </a:r>
            <a:r>
              <a:rPr lang="en-US" altLang="zh-CN" sz="2400" b="1">
                <a:solidFill>
                  <a:schemeClr val="bg2"/>
                </a:solidFill>
              </a:rPr>
              <a:t>=NUM+10H</a:t>
            </a:r>
          </a:p>
        </p:txBody>
      </p:sp>
      <p:sp>
        <p:nvSpPr>
          <p:cNvPr id="39943" name="Rectangle 6"/>
          <p:cNvSpPr>
            <a:spLocks noChangeArrowheads="1"/>
          </p:cNvSpPr>
          <p:nvPr/>
        </p:nvSpPr>
        <p:spPr bwMode="auto">
          <a:xfrm>
            <a:off x="519950" y="5535499"/>
            <a:ext cx="8001000" cy="850900"/>
          </a:xfrm>
          <a:prstGeom prst="rect">
            <a:avLst/>
          </a:prstGeom>
          <a:solidFill>
            <a:schemeClr val="bg1"/>
          </a:solidFill>
          <a:ln w="28575" cmpd="sng">
            <a:solidFill>
              <a:srgbClr val="0066FF"/>
            </a:solidFill>
            <a:miter lim="800000"/>
            <a:headEnd/>
            <a:tailEnd/>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rPr>
              <a:t>注意</a:t>
            </a:r>
            <a:r>
              <a:rPr lang="zh-CN" altLang="en-US" sz="2400" b="1" dirty="0">
                <a:solidFill>
                  <a:schemeClr val="bg2"/>
                </a:solidFill>
              </a:rPr>
              <a:t>：等值语句与等号语句定义的符号都不会在内存分配存储单元。所定义的符号没有段、偏离量和类型等属性。</a:t>
            </a:r>
          </a:p>
        </p:txBody>
      </p:sp>
      <p:sp>
        <p:nvSpPr>
          <p:cNvPr id="39944" name="Rectangle 7"/>
          <p:cNvSpPr>
            <a:spLocks noChangeArrowheads="1"/>
          </p:cNvSpPr>
          <p:nvPr/>
        </p:nvSpPr>
        <p:spPr bwMode="auto">
          <a:xfrm>
            <a:off x="3203848" y="4554178"/>
            <a:ext cx="24479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smtClean="0">
                <a:solidFill>
                  <a:schemeClr val="bg2"/>
                </a:solidFill>
              </a:rPr>
              <a:t>CBD=DAA</a:t>
            </a:r>
            <a:endParaRPr lang="en-US" altLang="zh-CN" sz="2400" b="1" dirty="0">
              <a:solidFill>
                <a:schemeClr val="bg2"/>
              </a:solidFill>
            </a:endParaRPr>
          </a:p>
          <a:p>
            <a:pPr eaLnBrk="1" hangingPunct="1"/>
            <a:r>
              <a:rPr lang="en-US" altLang="zh-CN" sz="2400" b="1" dirty="0" smtClean="0">
                <a:solidFill>
                  <a:schemeClr val="bg2"/>
                </a:solidFill>
              </a:rPr>
              <a:t>CXR=CX</a:t>
            </a:r>
            <a:endParaRPr lang="en-US" altLang="zh-CN" sz="2400" b="1" dirty="0">
              <a:solidFill>
                <a:schemeClr val="bg2"/>
              </a:solidFill>
            </a:endParaRPr>
          </a:p>
        </p:txBody>
      </p:sp>
      <p:sp>
        <p:nvSpPr>
          <p:cNvPr id="39945" name="Text Box 8"/>
          <p:cNvSpPr txBox="1">
            <a:spLocks noChangeArrowheads="1"/>
          </p:cNvSpPr>
          <p:nvPr/>
        </p:nvSpPr>
        <p:spPr bwMode="auto">
          <a:xfrm>
            <a:off x="467544" y="4511526"/>
            <a:ext cx="2665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下面是错误用法：</a:t>
            </a:r>
          </a:p>
        </p:txBody>
      </p:sp>
      <p:sp>
        <p:nvSpPr>
          <p:cNvPr id="39946" name="Text Box 9"/>
          <p:cNvSpPr txBox="1">
            <a:spLocks noChangeArrowheads="1"/>
          </p:cNvSpPr>
          <p:nvPr/>
        </p:nvSpPr>
        <p:spPr bwMode="auto">
          <a:xfrm>
            <a:off x="467544" y="4049861"/>
            <a:ext cx="80648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hlink"/>
                </a:solidFill>
              </a:rPr>
              <a:t>等号语句不</a:t>
            </a:r>
            <a:r>
              <a:rPr lang="zh-CN" altLang="en-US" sz="2400" b="1" dirty="0" smtClean="0">
                <a:solidFill>
                  <a:schemeClr val="hlink"/>
                </a:solidFill>
              </a:rPr>
              <a:t>能为寄存器名</a:t>
            </a:r>
            <a:r>
              <a:rPr lang="zh-CN" altLang="en-US" sz="2400" b="1" dirty="0">
                <a:solidFill>
                  <a:schemeClr val="hlink"/>
                </a:solidFill>
              </a:rPr>
              <a:t>、</a:t>
            </a:r>
            <a:r>
              <a:rPr lang="zh-CN" altLang="en-US" sz="2400" b="1" dirty="0" smtClean="0">
                <a:solidFill>
                  <a:schemeClr val="hlink"/>
                </a:solidFill>
              </a:rPr>
              <a:t>助记符等系统关键字定义</a:t>
            </a:r>
            <a:r>
              <a:rPr lang="zh-CN" altLang="en-US" sz="2400" b="1" dirty="0">
                <a:solidFill>
                  <a:schemeClr val="hlink"/>
                </a:solidFill>
              </a:rPr>
              <a:t>别名！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99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993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994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994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9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945"/>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39944"/>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399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animBg="1" autoUpdateAnimBg="0"/>
      <p:bldP spid="39940" grpId="0" animBg="1" autoUpdateAnimBg="0"/>
      <p:bldP spid="39941" grpId="0" animBg="1" autoUpdateAnimBg="0"/>
      <p:bldP spid="39942" grpId="0" animBg="1" autoUpdateAnimBg="0"/>
      <p:bldP spid="39943" grpId="0" animBg="1" autoUpdateAnimBg="0"/>
      <p:bldP spid="39944" grpId="0" autoUpdateAnimBg="0"/>
      <p:bldP spid="39945" grpId="0" autoUpdateAnimBg="0"/>
      <p:bldP spid="3994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64131619-D741-47E4-AB23-54060368D599}" type="slidenum">
              <a:rPr lang="en-US" altLang="zh-CN" sz="1400">
                <a:solidFill>
                  <a:schemeClr val="bg2"/>
                </a:solidFill>
              </a:rPr>
              <a:pPr algn="r" eaLnBrk="1" hangingPunct="1"/>
              <a:t>32</a:t>
            </a:fld>
            <a:endParaRPr lang="en-US" altLang="zh-CN" sz="1400">
              <a:solidFill>
                <a:schemeClr val="bg2"/>
              </a:solidFill>
            </a:endParaRPr>
          </a:p>
        </p:txBody>
      </p:sp>
      <p:sp>
        <p:nvSpPr>
          <p:cNvPr id="40963" name="Rectangle 2"/>
          <p:cNvSpPr>
            <a:spLocks noChangeArrowheads="1"/>
          </p:cNvSpPr>
          <p:nvPr/>
        </p:nvSpPr>
        <p:spPr bwMode="auto">
          <a:xfrm>
            <a:off x="2514600" y="381000"/>
            <a:ext cx="3762375" cy="5794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3200" b="1" dirty="0">
                <a:solidFill>
                  <a:schemeClr val="hlink"/>
                </a:solidFill>
              </a:rPr>
              <a:t>4.4  </a:t>
            </a:r>
            <a:r>
              <a:rPr lang="zh-CN" altLang="en-US" sz="3200" b="1" dirty="0">
                <a:solidFill>
                  <a:schemeClr val="hlink"/>
                </a:solidFill>
              </a:rPr>
              <a:t>表达式与运算符</a:t>
            </a:r>
          </a:p>
        </p:txBody>
      </p:sp>
      <p:sp>
        <p:nvSpPr>
          <p:cNvPr id="40964" name="Rectangle 3"/>
          <p:cNvSpPr>
            <a:spLocks noChangeArrowheads="1"/>
          </p:cNvSpPr>
          <p:nvPr/>
        </p:nvSpPr>
        <p:spPr bwMode="auto">
          <a:xfrm>
            <a:off x="609600" y="1066800"/>
            <a:ext cx="7956550" cy="822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        </a:t>
            </a:r>
            <a:r>
              <a:rPr lang="zh-CN" altLang="en-US" sz="2400" b="1" dirty="0">
                <a:solidFill>
                  <a:schemeClr val="bg2"/>
                </a:solidFill>
              </a:rPr>
              <a:t>表达式是指令或伪指令语句操作数的常见形式。它由常数、变量、标号等通过操作运算符连接而成。</a:t>
            </a:r>
          </a:p>
        </p:txBody>
      </p:sp>
      <p:sp>
        <p:nvSpPr>
          <p:cNvPr id="40965" name="Rectangle 4"/>
          <p:cNvSpPr>
            <a:spLocks noChangeArrowheads="1"/>
          </p:cNvSpPr>
          <p:nvPr/>
        </p:nvSpPr>
        <p:spPr bwMode="auto">
          <a:xfrm>
            <a:off x="609600" y="2133600"/>
            <a:ext cx="8001000" cy="850900"/>
          </a:xfrm>
          <a:prstGeom prst="rect">
            <a:avLst/>
          </a:prstGeom>
          <a:solidFill>
            <a:schemeClr val="bg1"/>
          </a:solidFill>
          <a:ln w="28575" cmpd="sng">
            <a:solidFill>
              <a:srgbClr val="0066FF"/>
            </a:solidFill>
            <a:miter lim="800000"/>
            <a:headEnd/>
            <a:tailEnd/>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rPr>
              <a:t>注意：</a:t>
            </a:r>
            <a:r>
              <a:rPr lang="zh-CN" altLang="en-US" sz="2400" b="1" dirty="0">
                <a:solidFill>
                  <a:schemeClr val="bg2"/>
                </a:solidFill>
              </a:rPr>
              <a:t>任何表达式的值在程序被汇编的过程中进行计算确定，而不是到程序运行时才计算。</a:t>
            </a:r>
          </a:p>
        </p:txBody>
      </p:sp>
      <p:sp>
        <p:nvSpPr>
          <p:cNvPr id="40966" name="Rectangle 5"/>
          <p:cNvSpPr>
            <a:spLocks noChangeArrowheads="1"/>
          </p:cNvSpPr>
          <p:nvPr/>
        </p:nvSpPr>
        <p:spPr bwMode="auto">
          <a:xfrm>
            <a:off x="685800" y="3124200"/>
            <a:ext cx="7924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        </a:t>
            </a:r>
            <a:r>
              <a:rPr lang="en-US" altLang="zh-CN" sz="2400" b="1" dirty="0" smtClean="0">
                <a:solidFill>
                  <a:schemeClr val="bg2"/>
                </a:solidFill>
              </a:rPr>
              <a:t>MASM</a:t>
            </a:r>
            <a:r>
              <a:rPr lang="zh-CN" altLang="en-US" sz="2400" b="1" dirty="0" smtClean="0">
                <a:solidFill>
                  <a:schemeClr val="bg2"/>
                </a:solidFill>
              </a:rPr>
              <a:t>宏汇编</a:t>
            </a:r>
            <a:r>
              <a:rPr lang="zh-CN" altLang="en-US" sz="2400" b="1" dirty="0">
                <a:solidFill>
                  <a:schemeClr val="bg2"/>
                </a:solidFill>
              </a:rPr>
              <a:t>语言中的操作运算符非常丰富，可以分为以下五类。</a:t>
            </a:r>
          </a:p>
        </p:txBody>
      </p:sp>
      <p:sp>
        <p:nvSpPr>
          <p:cNvPr id="40967" name="Rectangle 6"/>
          <p:cNvSpPr>
            <a:spLocks noChangeArrowheads="1"/>
          </p:cNvSpPr>
          <p:nvPr/>
        </p:nvSpPr>
        <p:spPr bwMode="auto">
          <a:xfrm>
            <a:off x="395288" y="4149725"/>
            <a:ext cx="2350323"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FF0000"/>
                </a:solidFill>
              </a:rPr>
              <a:t>一、算术运算符</a:t>
            </a:r>
          </a:p>
        </p:txBody>
      </p:sp>
      <p:sp>
        <p:nvSpPr>
          <p:cNvPr id="40968" name="Rectangle 7"/>
          <p:cNvSpPr>
            <a:spLocks noChangeArrowheads="1"/>
          </p:cNvSpPr>
          <p:nvPr/>
        </p:nvSpPr>
        <p:spPr bwMode="auto">
          <a:xfrm>
            <a:off x="684213" y="4724400"/>
            <a:ext cx="559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a:t>
            </a:r>
            <a:r>
              <a:rPr lang="zh-CN" altLang="en-US" sz="2400" b="1" dirty="0">
                <a:solidFill>
                  <a:schemeClr val="bg2"/>
                </a:solidFill>
              </a:rPr>
              <a:t>、</a:t>
            </a:r>
            <a:r>
              <a:rPr lang="en-US" altLang="zh-CN" sz="2400" b="1" dirty="0">
                <a:solidFill>
                  <a:schemeClr val="bg2"/>
                </a:solidFill>
              </a:rPr>
              <a:t>—</a:t>
            </a:r>
            <a:r>
              <a:rPr lang="zh-CN" altLang="en-US" sz="2400" b="1" dirty="0">
                <a:solidFill>
                  <a:schemeClr val="bg2"/>
                </a:solidFill>
              </a:rPr>
              <a:t>、＊、 </a:t>
            </a:r>
            <a:r>
              <a:rPr lang="en-US" altLang="zh-CN" sz="2400" b="1" dirty="0">
                <a:solidFill>
                  <a:schemeClr val="bg2"/>
                </a:solidFill>
              </a:rPr>
              <a:t>/ </a:t>
            </a:r>
            <a:r>
              <a:rPr lang="zh-CN" altLang="en-US" sz="2400" b="1" dirty="0">
                <a:solidFill>
                  <a:schemeClr val="bg2"/>
                </a:solidFill>
              </a:rPr>
              <a:t>、</a:t>
            </a:r>
            <a:r>
              <a:rPr lang="en-US" altLang="zh-CN" sz="2400" b="1" dirty="0">
                <a:solidFill>
                  <a:schemeClr val="bg2"/>
                </a:solidFill>
              </a:rPr>
              <a:t>MOD</a:t>
            </a:r>
            <a:r>
              <a:rPr lang="zh-CN" altLang="en-US" sz="2400" b="1" dirty="0">
                <a:solidFill>
                  <a:schemeClr val="bg2"/>
                </a:solidFill>
              </a:rPr>
              <a:t>、</a:t>
            </a:r>
            <a:r>
              <a:rPr lang="en-US" altLang="zh-CN" sz="2400" b="1" dirty="0">
                <a:solidFill>
                  <a:schemeClr val="bg2"/>
                </a:solidFill>
              </a:rPr>
              <a:t>SHL</a:t>
            </a:r>
            <a:r>
              <a:rPr lang="zh-CN" altLang="en-US" sz="2400" b="1" dirty="0">
                <a:solidFill>
                  <a:schemeClr val="bg2"/>
                </a:solidFill>
              </a:rPr>
              <a:t>、</a:t>
            </a:r>
            <a:r>
              <a:rPr lang="en-US" altLang="zh-CN" sz="2400" b="1" dirty="0">
                <a:solidFill>
                  <a:schemeClr val="bg2"/>
                </a:solidFill>
              </a:rPr>
              <a:t>SHR</a:t>
            </a:r>
            <a:r>
              <a:rPr lang="zh-CN" altLang="en-US" sz="2400" b="1" dirty="0">
                <a:solidFill>
                  <a:schemeClr val="bg2"/>
                </a:solidFill>
              </a:rPr>
              <a:t>、</a:t>
            </a:r>
            <a:r>
              <a:rPr lang="en-US" altLang="zh-CN" sz="2400" b="1" dirty="0">
                <a:solidFill>
                  <a:schemeClr val="bg2"/>
                </a:solidFill>
              </a:rPr>
              <a:t>[ ]</a:t>
            </a:r>
          </a:p>
        </p:txBody>
      </p:sp>
      <p:sp>
        <p:nvSpPr>
          <p:cNvPr id="40969" name="Rectangle 8"/>
          <p:cNvSpPr>
            <a:spLocks noChangeArrowheads="1"/>
          </p:cNvSpPr>
          <p:nvPr/>
        </p:nvSpPr>
        <p:spPr bwMode="auto">
          <a:xfrm>
            <a:off x="457200" y="5486400"/>
            <a:ext cx="7375525"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1.</a:t>
            </a:r>
            <a:r>
              <a:rPr lang="zh-CN" altLang="en-US" sz="2400" b="1">
                <a:solidFill>
                  <a:schemeClr val="bg2"/>
                </a:solidFill>
              </a:rPr>
              <a:t>运算符“</a:t>
            </a:r>
            <a:r>
              <a:rPr lang="en-US" altLang="zh-CN" sz="2400" b="1">
                <a:solidFill>
                  <a:schemeClr val="bg2"/>
                </a:solidFill>
              </a:rPr>
              <a:t>+”</a:t>
            </a:r>
            <a:r>
              <a:rPr lang="zh-CN" altLang="en-US" sz="2400" b="1">
                <a:solidFill>
                  <a:schemeClr val="bg2"/>
                </a:solidFill>
              </a:rPr>
              <a:t>和“</a:t>
            </a:r>
            <a:r>
              <a:rPr lang="en-US" altLang="zh-CN" sz="2400">
                <a:solidFill>
                  <a:schemeClr val="bg2"/>
                </a:solidFill>
              </a:rPr>
              <a:t>-”</a:t>
            </a:r>
            <a:r>
              <a:rPr lang="zh-CN" altLang="en-US" sz="2400" b="1">
                <a:solidFill>
                  <a:schemeClr val="bg2"/>
                </a:solidFill>
              </a:rPr>
              <a:t>也可作单目运算符，表示数的正负。</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09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96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96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096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09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animBg="1" autoUpdateAnimBg="0"/>
      <p:bldP spid="40964" grpId="0" animBg="1" autoUpdateAnimBg="0"/>
      <p:bldP spid="40965" grpId="0" animBg="1" autoUpdateAnimBg="0"/>
      <p:bldP spid="40966" grpId="0" autoUpdateAnimBg="0"/>
      <p:bldP spid="40967" grpId="0" animBg="1" autoUpdateAnimBg="0"/>
      <p:bldP spid="40968" grpId="0" autoUpdateAnimBg="0"/>
      <p:bldP spid="40969"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8BA84758-5DEA-4BDD-9FA2-95983524B49C}" type="slidenum">
              <a:rPr lang="en-US" altLang="zh-CN" sz="1400">
                <a:solidFill>
                  <a:schemeClr val="bg2"/>
                </a:solidFill>
              </a:rPr>
              <a:pPr algn="r" eaLnBrk="1" hangingPunct="1"/>
              <a:t>33</a:t>
            </a:fld>
            <a:endParaRPr lang="en-US" altLang="zh-CN" sz="1400">
              <a:solidFill>
                <a:schemeClr val="bg2"/>
              </a:solidFill>
            </a:endParaRPr>
          </a:p>
        </p:txBody>
      </p:sp>
      <p:sp>
        <p:nvSpPr>
          <p:cNvPr id="41987" name="Rectangle 2"/>
          <p:cNvSpPr>
            <a:spLocks noChangeArrowheads="1"/>
          </p:cNvSpPr>
          <p:nvPr/>
        </p:nvSpPr>
        <p:spPr bwMode="auto">
          <a:xfrm>
            <a:off x="685800" y="381000"/>
            <a:ext cx="7696200" cy="8223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2.</a:t>
            </a:r>
            <a:r>
              <a:rPr lang="zh-CN" altLang="en-US" sz="2400" b="1">
                <a:solidFill>
                  <a:schemeClr val="bg2"/>
                </a:solidFill>
              </a:rPr>
              <a:t>使用“</a:t>
            </a:r>
            <a:r>
              <a:rPr lang="en-US" altLang="zh-CN" sz="2400" b="1">
                <a:solidFill>
                  <a:schemeClr val="bg2"/>
                </a:solidFill>
              </a:rPr>
              <a:t>+”</a:t>
            </a:r>
            <a:r>
              <a:rPr lang="zh-CN" altLang="en-US" sz="2400" b="1">
                <a:solidFill>
                  <a:schemeClr val="bg2"/>
                </a:solidFill>
              </a:rPr>
              <a:t>、“</a:t>
            </a:r>
            <a:r>
              <a:rPr lang="en-US" altLang="zh-CN" sz="2400" b="1">
                <a:solidFill>
                  <a:schemeClr val="bg2"/>
                </a:solidFill>
              </a:rPr>
              <a:t>-”</a:t>
            </a:r>
            <a:r>
              <a:rPr lang="zh-CN" altLang="en-US" sz="2400" b="1">
                <a:solidFill>
                  <a:schemeClr val="bg2"/>
                </a:solidFill>
              </a:rPr>
              <a:t>、“＊”、和“</a:t>
            </a:r>
            <a:r>
              <a:rPr lang="en-US" altLang="zh-CN" sz="2400" b="1">
                <a:solidFill>
                  <a:schemeClr val="bg2"/>
                </a:solidFill>
              </a:rPr>
              <a:t>/”</a:t>
            </a:r>
            <a:r>
              <a:rPr lang="zh-CN" altLang="en-US" sz="2400" b="1">
                <a:solidFill>
                  <a:schemeClr val="bg2"/>
                </a:solidFill>
              </a:rPr>
              <a:t>运算符时，参加运算的数和运算结果都是整数。</a:t>
            </a:r>
          </a:p>
        </p:txBody>
      </p:sp>
      <p:sp>
        <p:nvSpPr>
          <p:cNvPr id="41988" name="Text Box 3"/>
          <p:cNvSpPr txBox="1">
            <a:spLocks noChangeArrowheads="1"/>
          </p:cNvSpPr>
          <p:nvPr/>
        </p:nvSpPr>
        <p:spPr bwMode="auto">
          <a:xfrm>
            <a:off x="685800" y="1371600"/>
            <a:ext cx="7696200" cy="8223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3.“/”</a:t>
            </a:r>
            <a:r>
              <a:rPr lang="zh-CN" altLang="en-US" sz="2400" b="1" dirty="0">
                <a:solidFill>
                  <a:schemeClr val="bg2"/>
                </a:solidFill>
              </a:rPr>
              <a:t>运算为取商的整数部分，而“</a:t>
            </a:r>
            <a:r>
              <a:rPr lang="en-US" altLang="zh-CN" sz="2400" b="1" dirty="0">
                <a:solidFill>
                  <a:schemeClr val="bg2"/>
                </a:solidFill>
              </a:rPr>
              <a:t>MOD”</a:t>
            </a:r>
            <a:r>
              <a:rPr lang="zh-CN" altLang="en-US" sz="2400" b="1" dirty="0">
                <a:solidFill>
                  <a:schemeClr val="bg2"/>
                </a:solidFill>
              </a:rPr>
              <a:t>运算取除法运算的余数。</a:t>
            </a:r>
          </a:p>
        </p:txBody>
      </p:sp>
      <p:sp>
        <p:nvSpPr>
          <p:cNvPr id="41990" name="Rectangle 4"/>
          <p:cNvSpPr>
            <a:spLocks noChangeArrowheads="1"/>
          </p:cNvSpPr>
          <p:nvPr/>
        </p:nvSpPr>
        <p:spPr bwMode="auto">
          <a:xfrm>
            <a:off x="1835696" y="2382019"/>
            <a:ext cx="2890535" cy="2308324"/>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NUM=15</a:t>
            </a:r>
            <a:r>
              <a:rPr lang="zh-CN" altLang="en-US" sz="2400" b="1" dirty="0">
                <a:solidFill>
                  <a:schemeClr val="bg2"/>
                </a:solidFill>
              </a:rPr>
              <a:t>＊</a:t>
            </a:r>
            <a:r>
              <a:rPr lang="en-US" altLang="zh-CN" sz="2400" b="1" dirty="0">
                <a:solidFill>
                  <a:schemeClr val="bg2"/>
                </a:solidFill>
              </a:rPr>
              <a:t>8</a:t>
            </a:r>
          </a:p>
          <a:p>
            <a:pPr eaLnBrk="1" hangingPunct="1"/>
            <a:r>
              <a:rPr lang="en-US" altLang="zh-CN" sz="2400" b="1" dirty="0">
                <a:solidFill>
                  <a:schemeClr val="bg2"/>
                </a:solidFill>
              </a:rPr>
              <a:t>NUM=NUM/7</a:t>
            </a:r>
          </a:p>
          <a:p>
            <a:pPr eaLnBrk="1" hangingPunct="1"/>
            <a:r>
              <a:rPr lang="en-US" altLang="zh-CN" sz="2400" b="1" dirty="0">
                <a:solidFill>
                  <a:schemeClr val="bg2"/>
                </a:solidFill>
              </a:rPr>
              <a:t>NUM=NUM MOD 3</a:t>
            </a:r>
          </a:p>
          <a:p>
            <a:pPr eaLnBrk="1" hangingPunct="1"/>
            <a:r>
              <a:rPr lang="en-US" altLang="zh-CN" sz="2400" b="1" dirty="0">
                <a:solidFill>
                  <a:schemeClr val="bg2"/>
                </a:solidFill>
              </a:rPr>
              <a:t>NUM=NUM+5</a:t>
            </a:r>
          </a:p>
          <a:p>
            <a:pPr eaLnBrk="1" hangingPunct="1"/>
            <a:r>
              <a:rPr lang="en-US" altLang="zh-CN" sz="2400" b="1" dirty="0">
                <a:solidFill>
                  <a:schemeClr val="bg2"/>
                </a:solidFill>
              </a:rPr>
              <a:t>NUM=-NUM-3</a:t>
            </a:r>
          </a:p>
          <a:p>
            <a:pPr eaLnBrk="1" hangingPunct="1"/>
            <a:r>
              <a:rPr lang="en-US" altLang="zh-CN" sz="2400" b="1" dirty="0">
                <a:solidFill>
                  <a:schemeClr val="bg2"/>
                </a:solidFill>
              </a:rPr>
              <a:t>NUM=-NUM-NUM</a:t>
            </a:r>
          </a:p>
        </p:txBody>
      </p:sp>
      <p:sp>
        <p:nvSpPr>
          <p:cNvPr id="41991" name="Rectangle 5"/>
          <p:cNvSpPr>
            <a:spLocks noChangeArrowheads="1"/>
          </p:cNvSpPr>
          <p:nvPr/>
        </p:nvSpPr>
        <p:spPr bwMode="auto">
          <a:xfrm>
            <a:off x="827584" y="23622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例如：</a:t>
            </a:r>
          </a:p>
        </p:txBody>
      </p:sp>
      <p:sp>
        <p:nvSpPr>
          <p:cNvPr id="8" name="Rectangle 4"/>
          <p:cNvSpPr>
            <a:spLocks noChangeArrowheads="1"/>
          </p:cNvSpPr>
          <p:nvPr/>
        </p:nvSpPr>
        <p:spPr bwMode="auto">
          <a:xfrm>
            <a:off x="3967187" y="2357735"/>
            <a:ext cx="1866217" cy="46166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C00000"/>
                </a:solidFill>
              </a:rPr>
              <a:t>；</a:t>
            </a:r>
            <a:r>
              <a:rPr lang="en-US" altLang="zh-CN" sz="2400" b="1" dirty="0">
                <a:solidFill>
                  <a:srgbClr val="C00000"/>
                </a:solidFill>
              </a:rPr>
              <a:t>NUM=120</a:t>
            </a:r>
          </a:p>
        </p:txBody>
      </p:sp>
      <p:sp>
        <p:nvSpPr>
          <p:cNvPr id="9" name="Rectangle 4"/>
          <p:cNvSpPr>
            <a:spLocks noChangeArrowheads="1"/>
          </p:cNvSpPr>
          <p:nvPr/>
        </p:nvSpPr>
        <p:spPr bwMode="auto">
          <a:xfrm>
            <a:off x="3983583" y="2741661"/>
            <a:ext cx="1712328" cy="46166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C00000"/>
                </a:solidFill>
              </a:rPr>
              <a:t>；</a:t>
            </a:r>
            <a:r>
              <a:rPr lang="en-US" altLang="zh-CN" sz="2400" b="1" dirty="0">
                <a:solidFill>
                  <a:srgbClr val="C00000"/>
                </a:solidFill>
              </a:rPr>
              <a:t>NUM=17</a:t>
            </a:r>
          </a:p>
        </p:txBody>
      </p:sp>
      <p:sp>
        <p:nvSpPr>
          <p:cNvPr id="10" name="Rectangle 4"/>
          <p:cNvSpPr>
            <a:spLocks noChangeArrowheads="1"/>
          </p:cNvSpPr>
          <p:nvPr/>
        </p:nvSpPr>
        <p:spPr bwMode="auto">
          <a:xfrm>
            <a:off x="4726231" y="4258003"/>
            <a:ext cx="1712328" cy="46166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C00000"/>
                </a:solidFill>
              </a:rPr>
              <a:t>；</a:t>
            </a:r>
            <a:r>
              <a:rPr lang="en-US" altLang="zh-CN" sz="2400" b="1" dirty="0">
                <a:solidFill>
                  <a:srgbClr val="C00000"/>
                </a:solidFill>
              </a:rPr>
              <a:t>NUM=20</a:t>
            </a:r>
          </a:p>
        </p:txBody>
      </p:sp>
      <p:sp>
        <p:nvSpPr>
          <p:cNvPr id="11" name="Rectangle 4"/>
          <p:cNvSpPr>
            <a:spLocks noChangeArrowheads="1"/>
          </p:cNvSpPr>
          <p:nvPr/>
        </p:nvSpPr>
        <p:spPr bwMode="auto">
          <a:xfrm>
            <a:off x="4729400" y="3099839"/>
            <a:ext cx="1558440" cy="46166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C00000"/>
                </a:solidFill>
              </a:rPr>
              <a:t>；</a:t>
            </a:r>
            <a:r>
              <a:rPr lang="en-US" altLang="zh-CN" sz="2400" b="1" dirty="0">
                <a:solidFill>
                  <a:srgbClr val="C00000"/>
                </a:solidFill>
              </a:rPr>
              <a:t>NUM=2</a:t>
            </a:r>
          </a:p>
        </p:txBody>
      </p:sp>
      <p:sp>
        <p:nvSpPr>
          <p:cNvPr id="12" name="Rectangle 4"/>
          <p:cNvSpPr>
            <a:spLocks noChangeArrowheads="1"/>
          </p:cNvSpPr>
          <p:nvPr/>
        </p:nvSpPr>
        <p:spPr bwMode="auto">
          <a:xfrm>
            <a:off x="4729400" y="3491469"/>
            <a:ext cx="1558440" cy="46166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C00000"/>
                </a:solidFill>
              </a:rPr>
              <a:t>；</a:t>
            </a:r>
            <a:r>
              <a:rPr lang="en-US" altLang="zh-CN" sz="2400" b="1" dirty="0">
                <a:solidFill>
                  <a:srgbClr val="C00000"/>
                </a:solidFill>
              </a:rPr>
              <a:t>NUM=7</a:t>
            </a:r>
          </a:p>
        </p:txBody>
      </p:sp>
      <p:sp>
        <p:nvSpPr>
          <p:cNvPr id="13" name="Rectangle 4"/>
          <p:cNvSpPr>
            <a:spLocks noChangeArrowheads="1"/>
          </p:cNvSpPr>
          <p:nvPr/>
        </p:nvSpPr>
        <p:spPr bwMode="auto">
          <a:xfrm>
            <a:off x="4729400" y="3866373"/>
            <a:ext cx="1814920" cy="46166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C00000"/>
                </a:solidFill>
              </a:rPr>
              <a:t>；</a:t>
            </a:r>
            <a:r>
              <a:rPr lang="en-US" altLang="zh-CN" sz="2400" b="1" dirty="0">
                <a:solidFill>
                  <a:srgbClr val="C00000"/>
                </a:solidFill>
              </a:rPr>
              <a:t>NUM=-10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19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19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1991"/>
                                        </p:tgtEl>
                                        <p:attrNameLst>
                                          <p:attrName>style.visibility</p:attrName>
                                        </p:attrNameLst>
                                      </p:cBhvr>
                                      <p:to>
                                        <p:strVal val="visible"/>
                                      </p:to>
                                    </p:set>
                                    <p:animEffect transition="in" filter="wipe(down)">
                                      <p:cBhvr>
                                        <p:cTn id="15" dur="500"/>
                                        <p:tgtEl>
                                          <p:spTgt spid="41991"/>
                                        </p:tgtEl>
                                      </p:cBhvr>
                                    </p:animEffect>
                                  </p:childTnLst>
                                </p:cTn>
                              </p:par>
                            </p:childTnLst>
                          </p:cTn>
                        </p:par>
                        <p:par>
                          <p:cTn id="16" fill="hold">
                            <p:stCondLst>
                              <p:cond delay="500"/>
                            </p:stCondLst>
                            <p:childTnLst>
                              <p:par>
                                <p:cTn id="17" presetID="22" presetClass="entr" presetSubtype="4" fill="hold" grpId="0" nodeType="afterEffect">
                                  <p:stCondLst>
                                    <p:cond delay="0"/>
                                  </p:stCondLst>
                                  <p:childTnLst>
                                    <p:set>
                                      <p:cBhvr>
                                        <p:cTn id="18" dur="1" fill="hold">
                                          <p:stCondLst>
                                            <p:cond delay="0"/>
                                          </p:stCondLst>
                                        </p:cTn>
                                        <p:tgtEl>
                                          <p:spTgt spid="41990">
                                            <p:txEl>
                                              <p:charRg st="4294967295" end="4294967295"/>
                                            </p:txEl>
                                          </p:spTgt>
                                        </p:tgtEl>
                                        <p:attrNameLst>
                                          <p:attrName>style.visibility</p:attrName>
                                        </p:attrNameLst>
                                      </p:cBhvr>
                                      <p:to>
                                        <p:strVal val="visible"/>
                                      </p:to>
                                    </p:set>
                                    <p:animEffect transition="in" filter="wipe(down)">
                                      <p:cBhvr>
                                        <p:cTn id="19" dur="500"/>
                                        <p:tgtEl>
                                          <p:spTgt spid="41990">
                                            <p:txEl>
                                              <p:charRg st="4294967295" end="429496729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
                                            <p:txEl>
                                              <p:pRg st="0" end="0"/>
                                            </p:txEl>
                                          </p:spTgt>
                                        </p:tgtEl>
                                        <p:attrNameLst>
                                          <p:attrName>style.visibility</p:attrName>
                                        </p:attrNameLst>
                                      </p:cBhvr>
                                      <p:to>
                                        <p:strVal val="visible"/>
                                      </p:to>
                                    </p:set>
                                    <p:animEffect transition="in" filter="wipe(down)">
                                      <p:cBhvr>
                                        <p:cTn id="24" dur="500"/>
                                        <p:tgtEl>
                                          <p:spTgt spid="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animEffect transition="in" filter="wipe(down)">
                                      <p:cBhvr>
                                        <p:cTn id="29" dur="500"/>
                                        <p:tgtEl>
                                          <p:spTgt spid="9">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1">
                                            <p:txEl>
                                              <p:pRg st="0" end="0"/>
                                            </p:txEl>
                                          </p:spTgt>
                                        </p:tgtEl>
                                        <p:attrNameLst>
                                          <p:attrName>style.visibility</p:attrName>
                                        </p:attrNameLst>
                                      </p:cBhvr>
                                      <p:to>
                                        <p:strVal val="visible"/>
                                      </p:to>
                                    </p:set>
                                    <p:animEffect transition="in" filter="wipe(down)">
                                      <p:cBhvr>
                                        <p:cTn id="34" dur="500"/>
                                        <p:tgtEl>
                                          <p:spTgt spid="11">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animEffect transition="in" filter="wipe(down)">
                                      <p:cBhvr>
                                        <p:cTn id="39" dur="500"/>
                                        <p:tgtEl>
                                          <p:spTgt spid="12">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3">
                                            <p:txEl>
                                              <p:pRg st="0" end="0"/>
                                            </p:txEl>
                                          </p:spTgt>
                                        </p:tgtEl>
                                        <p:attrNameLst>
                                          <p:attrName>style.visibility</p:attrName>
                                        </p:attrNameLst>
                                      </p:cBhvr>
                                      <p:to>
                                        <p:strVal val="visible"/>
                                      </p:to>
                                    </p:set>
                                    <p:animEffect transition="in" filter="wipe(down)">
                                      <p:cBhvr>
                                        <p:cTn id="44" dur="500"/>
                                        <p:tgtEl>
                                          <p:spTgt spid="13">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0">
                                            <p:txEl>
                                              <p:pRg st="0" end="0"/>
                                            </p:txEl>
                                          </p:spTgt>
                                        </p:tgtEl>
                                        <p:attrNameLst>
                                          <p:attrName>style.visibility</p:attrName>
                                        </p:attrNameLst>
                                      </p:cBhvr>
                                      <p:to>
                                        <p:strVal val="visible"/>
                                      </p:to>
                                    </p:set>
                                    <p:animEffect transition="in" filter="wipe(down)">
                                      <p:cBhvr>
                                        <p:cTn id="49"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animBg="1" autoUpdateAnimBg="0"/>
      <p:bldP spid="41988" grpId="0" animBg="1" autoUpdateAnimBg="0"/>
      <p:bldP spid="41990" grpId="0" uiExpand="1"/>
      <p:bldP spid="41991" grpId="0"/>
      <p:bldP spid="8" grpId="0" uiExpand="1" build="p"/>
      <p:bldP spid="9" grpId="0" uiExpand="1" build="p"/>
      <p:bldP spid="10" grpId="0" uiExpand="1" build="p"/>
      <p:bldP spid="11" grpId="0" uiExpand="1" build="p"/>
      <p:bldP spid="12" grpId="0" uiExpand="1" build="p"/>
      <p:bldP spid="1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A7C2F6F9-7CE8-4698-9EC4-B94E4334C05C}" type="slidenum">
              <a:rPr lang="en-US" altLang="zh-CN" sz="1400">
                <a:solidFill>
                  <a:schemeClr val="bg2"/>
                </a:solidFill>
              </a:rPr>
              <a:pPr algn="r" eaLnBrk="1" hangingPunct="1"/>
              <a:t>34</a:t>
            </a:fld>
            <a:endParaRPr lang="en-US" altLang="zh-CN" sz="1400">
              <a:solidFill>
                <a:schemeClr val="bg2"/>
              </a:solidFill>
            </a:endParaRPr>
          </a:p>
        </p:txBody>
      </p:sp>
      <p:sp>
        <p:nvSpPr>
          <p:cNvPr id="43011" name="Rectangle 2"/>
          <p:cNvSpPr>
            <a:spLocks noChangeArrowheads="1"/>
          </p:cNvSpPr>
          <p:nvPr/>
        </p:nvSpPr>
        <p:spPr bwMode="auto">
          <a:xfrm>
            <a:off x="990600" y="304800"/>
            <a:ext cx="5840413"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4. “SHR ”</a:t>
            </a:r>
            <a:r>
              <a:rPr lang="zh-CN" altLang="en-US" sz="2400" b="1">
                <a:solidFill>
                  <a:schemeClr val="bg2"/>
                </a:solidFill>
              </a:rPr>
              <a:t>和“</a:t>
            </a:r>
            <a:r>
              <a:rPr lang="en-US" altLang="zh-CN" sz="2400" b="1">
                <a:solidFill>
                  <a:schemeClr val="bg2"/>
                </a:solidFill>
              </a:rPr>
              <a:t>SHL ”</a:t>
            </a:r>
            <a:r>
              <a:rPr lang="zh-CN" altLang="en-US" sz="2400" b="1">
                <a:solidFill>
                  <a:schemeClr val="bg2"/>
                </a:solidFill>
              </a:rPr>
              <a:t>为逻辑移位运算符</a:t>
            </a:r>
          </a:p>
        </p:txBody>
      </p:sp>
      <p:sp>
        <p:nvSpPr>
          <p:cNvPr id="43012" name="Rectangle 3"/>
          <p:cNvSpPr>
            <a:spLocks noChangeArrowheads="1"/>
          </p:cNvSpPr>
          <p:nvPr/>
        </p:nvSpPr>
        <p:spPr bwMode="auto">
          <a:xfrm>
            <a:off x="838200" y="990600"/>
            <a:ext cx="7696200" cy="850900"/>
          </a:xfrm>
          <a:prstGeom prst="rect">
            <a:avLst/>
          </a:prstGeom>
          <a:solidFill>
            <a:schemeClr val="bg1"/>
          </a:solidFill>
          <a:ln w="28575" cmpd="sng">
            <a:solidFill>
              <a:srgbClr val="0066FF"/>
            </a:solidFill>
            <a:miter lim="800000"/>
            <a:headEnd/>
            <a:tailEnd/>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“SHR”</a:t>
            </a:r>
            <a:r>
              <a:rPr lang="zh-CN" altLang="en-US" sz="2400" b="1" dirty="0">
                <a:solidFill>
                  <a:schemeClr val="bg2"/>
                </a:solidFill>
              </a:rPr>
              <a:t>为右移，左边移出来的空位用</a:t>
            </a:r>
            <a:r>
              <a:rPr lang="en-US" altLang="zh-CN" sz="2400" b="1" dirty="0">
                <a:solidFill>
                  <a:schemeClr val="bg2"/>
                </a:solidFill>
              </a:rPr>
              <a:t>0</a:t>
            </a:r>
            <a:r>
              <a:rPr lang="zh-CN" altLang="en-US" sz="2400" b="1" dirty="0">
                <a:solidFill>
                  <a:schemeClr val="bg2"/>
                </a:solidFill>
              </a:rPr>
              <a:t>补入。</a:t>
            </a:r>
          </a:p>
          <a:p>
            <a:pPr eaLnBrk="1" hangingPunct="1"/>
            <a:r>
              <a:rPr lang="en-US" altLang="zh-CN" sz="2400" b="1" dirty="0">
                <a:solidFill>
                  <a:schemeClr val="bg2"/>
                </a:solidFill>
              </a:rPr>
              <a:t>“ SHL”</a:t>
            </a:r>
            <a:r>
              <a:rPr lang="zh-CN" altLang="en-US" sz="2400" b="1" dirty="0">
                <a:solidFill>
                  <a:schemeClr val="bg2"/>
                </a:solidFill>
              </a:rPr>
              <a:t>为左移，右边移出来的空位用</a:t>
            </a:r>
            <a:r>
              <a:rPr lang="en-US" altLang="zh-CN" sz="2400" b="1" dirty="0">
                <a:solidFill>
                  <a:schemeClr val="bg2"/>
                </a:solidFill>
              </a:rPr>
              <a:t>0</a:t>
            </a:r>
            <a:r>
              <a:rPr lang="zh-CN" altLang="en-US" sz="2400" b="1" dirty="0">
                <a:solidFill>
                  <a:schemeClr val="bg2"/>
                </a:solidFill>
              </a:rPr>
              <a:t>补入。</a:t>
            </a:r>
          </a:p>
        </p:txBody>
      </p:sp>
      <p:sp>
        <p:nvSpPr>
          <p:cNvPr id="43013" name="Rectangle 5"/>
          <p:cNvSpPr>
            <a:spLocks noChangeArrowheads="1"/>
          </p:cNvSpPr>
          <p:nvPr/>
        </p:nvSpPr>
        <p:spPr bwMode="auto">
          <a:xfrm>
            <a:off x="611560" y="2036589"/>
            <a:ext cx="8280920" cy="1938992"/>
          </a:xfrm>
          <a:prstGeom prst="rect">
            <a:avLst/>
          </a:prstGeom>
          <a:solidFill>
            <a:schemeClr val="bg1"/>
          </a:solidFill>
          <a:ln w="28575" cmpd="sng">
            <a:solidFill>
              <a:schemeClr val="bg1"/>
            </a:solidFill>
            <a:miter lim="800000"/>
            <a:headEnd/>
            <a:tailEnd/>
          </a:ln>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rPr>
              <a:t>注意</a:t>
            </a:r>
            <a:r>
              <a:rPr lang="zh-CN" altLang="en-US" sz="2400" b="1" dirty="0">
                <a:solidFill>
                  <a:schemeClr val="bg2"/>
                </a:solidFill>
              </a:rPr>
              <a:t>：移位运算符与移位指令区别！ </a:t>
            </a:r>
            <a:endParaRPr lang="en-US" altLang="zh-CN" sz="2400" b="1" dirty="0">
              <a:solidFill>
                <a:schemeClr val="bg2"/>
              </a:solidFill>
            </a:endParaRPr>
          </a:p>
          <a:p>
            <a:pPr marL="342900" indent="-342900" eaLnBrk="1" hangingPunct="1">
              <a:buClr>
                <a:srgbClr val="C00000"/>
              </a:buClr>
              <a:buFont typeface="Wingdings" panose="05000000000000000000" pitchFamily="2" charset="2"/>
              <a:buChar char="u"/>
            </a:pPr>
            <a:r>
              <a:rPr lang="zh-CN" altLang="en-US" sz="2400" b="1" dirty="0">
                <a:solidFill>
                  <a:schemeClr val="bg2"/>
                </a:solidFill>
              </a:rPr>
              <a:t>移位运算符的操作对象是某一具体的数（常数），在汇编时完成移位操作。</a:t>
            </a:r>
            <a:endParaRPr lang="en-US" altLang="zh-CN" sz="2400" b="1" dirty="0">
              <a:solidFill>
                <a:schemeClr val="bg2"/>
              </a:solidFill>
            </a:endParaRPr>
          </a:p>
          <a:p>
            <a:pPr marL="342900" indent="-342900" eaLnBrk="1" hangingPunct="1">
              <a:buClr>
                <a:srgbClr val="C00000"/>
              </a:buClr>
              <a:buFont typeface="Wingdings" panose="05000000000000000000" pitchFamily="2" charset="2"/>
              <a:buChar char="u"/>
            </a:pPr>
            <a:r>
              <a:rPr lang="zh-CN" altLang="en-US" sz="2400" b="1" dirty="0">
                <a:solidFill>
                  <a:schemeClr val="bg2"/>
                </a:solidFill>
              </a:rPr>
              <a:t>而移位指令是对一个寄存器或存储单元内容在程序运行时执行移位操作。</a:t>
            </a:r>
          </a:p>
        </p:txBody>
      </p:sp>
      <p:sp>
        <p:nvSpPr>
          <p:cNvPr id="43015" name="Text Box 6"/>
          <p:cNvSpPr txBox="1">
            <a:spLocks noChangeArrowheads="1"/>
          </p:cNvSpPr>
          <p:nvPr/>
        </p:nvSpPr>
        <p:spPr bwMode="auto">
          <a:xfrm>
            <a:off x="762000" y="41148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例如</a:t>
            </a:r>
          </a:p>
        </p:txBody>
      </p:sp>
      <p:sp>
        <p:nvSpPr>
          <p:cNvPr id="43016" name="Text Box 7"/>
          <p:cNvSpPr txBox="1">
            <a:spLocks noChangeArrowheads="1"/>
          </p:cNvSpPr>
          <p:nvPr/>
        </p:nvSpPr>
        <p:spPr bwMode="auto">
          <a:xfrm>
            <a:off x="1905000" y="4191000"/>
            <a:ext cx="3962400" cy="1955800"/>
          </a:xfrm>
          <a:prstGeom prst="rect">
            <a:avLst/>
          </a:prstGeom>
          <a:noFill/>
          <a:ln w="38100"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a:solidFill>
                  <a:schemeClr val="bg2"/>
                </a:solidFill>
              </a:rPr>
              <a:t>NUM=11011011B</a:t>
            </a:r>
            <a:br>
              <a:rPr lang="en-US" altLang="zh-CN" sz="2400" b="1">
                <a:solidFill>
                  <a:schemeClr val="bg2"/>
                </a:solidFill>
              </a:rPr>
            </a:br>
            <a:r>
              <a:rPr lang="en-US" altLang="zh-CN" sz="2400" b="1">
                <a:solidFill>
                  <a:schemeClr val="bg2"/>
                </a:solidFill>
              </a:rPr>
              <a:t>…….</a:t>
            </a:r>
            <a:br>
              <a:rPr lang="en-US" altLang="zh-CN" sz="2400" b="1">
                <a:solidFill>
                  <a:schemeClr val="bg2"/>
                </a:solidFill>
              </a:rPr>
            </a:br>
            <a:r>
              <a:rPr lang="en-US" altLang="zh-CN" sz="2400" b="1">
                <a:solidFill>
                  <a:schemeClr val="bg2"/>
                </a:solidFill>
              </a:rPr>
              <a:t>MOV   AX , NUM SHL  1 MOV   BX ,  NUM SHR 2</a:t>
            </a:r>
            <a:br>
              <a:rPr lang="en-US" altLang="zh-CN" sz="2400" b="1">
                <a:solidFill>
                  <a:schemeClr val="bg2"/>
                </a:solidFill>
              </a:rPr>
            </a:br>
            <a:r>
              <a:rPr lang="en-US" altLang="zh-CN" sz="2400" b="1">
                <a:solidFill>
                  <a:schemeClr val="bg2"/>
                </a:solidFill>
              </a:rPr>
              <a:t>ADD    DX ,  NUM SHR 6</a:t>
            </a:r>
          </a:p>
        </p:txBody>
      </p:sp>
      <p:sp>
        <p:nvSpPr>
          <p:cNvPr id="43017" name="AutoShape 8"/>
          <p:cNvSpPr>
            <a:spLocks noChangeArrowheads="1"/>
          </p:cNvSpPr>
          <p:nvPr/>
        </p:nvSpPr>
        <p:spPr bwMode="auto">
          <a:xfrm>
            <a:off x="5715000" y="4572000"/>
            <a:ext cx="2241376" cy="762000"/>
          </a:xfrm>
          <a:prstGeom prst="wedgeRectCallout">
            <a:avLst>
              <a:gd name="adj1" fmla="val -68212"/>
              <a:gd name="adj2" fmla="val 27917"/>
            </a:avLst>
          </a:prstGeom>
          <a:solidFill>
            <a:srgbClr val="33CC33"/>
          </a:solidFill>
          <a:ln w="9525" cmpd="sng">
            <a:solidFill>
              <a:schemeClr val="tx1"/>
            </a:solidFill>
            <a:miter lim="800000"/>
            <a:headEnd/>
            <a:tailEnd/>
          </a:ln>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能否改成指令：</a:t>
            </a:r>
          </a:p>
          <a:p>
            <a:pPr eaLnBrk="1" hangingPunct="1"/>
            <a:r>
              <a:rPr lang="en-US" altLang="zh-CN" sz="2400" b="1" dirty="0">
                <a:solidFill>
                  <a:schemeClr val="bg2"/>
                </a:solidFill>
              </a:rPr>
              <a:t>SHL NUM,1</a:t>
            </a:r>
          </a:p>
        </p:txBody>
      </p:sp>
      <p:sp>
        <p:nvSpPr>
          <p:cNvPr id="2" name="爆炸形 1 1"/>
          <p:cNvSpPr/>
          <p:nvPr/>
        </p:nvSpPr>
        <p:spPr bwMode="auto">
          <a:xfrm>
            <a:off x="7329414" y="5321399"/>
            <a:ext cx="1512168" cy="866425"/>
          </a:xfrm>
          <a:prstGeom prst="irregularSeal1">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rPr>
              <a:t>不能！</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30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30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30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301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301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3015"/>
                                        </p:tgtEl>
                                        <p:attrNameLst>
                                          <p:attrName>style.visibility</p:attrName>
                                        </p:attrNameLst>
                                      </p:cBhvr>
                                      <p:to>
                                        <p:strVal val="visible"/>
                                      </p:to>
                                    </p:set>
                                    <p:animEffect transition="in" filter="wipe(down)">
                                      <p:cBhvr>
                                        <p:cTn id="27" dur="500"/>
                                        <p:tgtEl>
                                          <p:spTgt spid="43015"/>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43016"/>
                                        </p:tgtEl>
                                        <p:attrNameLst>
                                          <p:attrName>style.visibility</p:attrName>
                                        </p:attrNameLst>
                                      </p:cBhvr>
                                      <p:to>
                                        <p:strVal val="visible"/>
                                      </p:to>
                                    </p:set>
                                    <p:animEffect transition="in" filter="wipe(down)">
                                      <p:cBhvr>
                                        <p:cTn id="30" dur="500"/>
                                        <p:tgtEl>
                                          <p:spTgt spid="430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43017"/>
                                        </p:tgtEl>
                                        <p:attrNameLst>
                                          <p:attrName>style.visibility</p:attrName>
                                        </p:attrNameLst>
                                      </p:cBhvr>
                                      <p:to>
                                        <p:strVal val="visible"/>
                                      </p:to>
                                    </p:set>
                                    <p:animEffect transition="in" filter="wipe(down)">
                                      <p:cBhvr>
                                        <p:cTn id="35" dur="500"/>
                                        <p:tgtEl>
                                          <p:spTgt spid="43017"/>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37"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barn(outVertical)">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animBg="1" autoUpdateAnimBg="0"/>
      <p:bldP spid="43012" grpId="0" animBg="1" autoUpdateAnimBg="0"/>
      <p:bldP spid="43013" grpId="0" uiExpand="1" build="p" autoUpdateAnimBg="0"/>
      <p:bldP spid="43015" grpId="0"/>
      <p:bldP spid="43016" grpId="0" animBg="1"/>
      <p:bldP spid="43017" grpId="0" animBg="1"/>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2680261F-4A6F-4996-8266-9CA6A42CA9A4}" type="slidenum">
              <a:rPr lang="en-US" altLang="zh-CN" sz="1400">
                <a:solidFill>
                  <a:schemeClr val="bg2"/>
                </a:solidFill>
              </a:rPr>
              <a:pPr algn="r" eaLnBrk="1" hangingPunct="1"/>
              <a:t>35</a:t>
            </a:fld>
            <a:endParaRPr lang="en-US" altLang="zh-CN" sz="1400">
              <a:solidFill>
                <a:schemeClr val="bg2"/>
              </a:solidFill>
            </a:endParaRPr>
          </a:p>
        </p:txBody>
      </p:sp>
      <p:sp>
        <p:nvSpPr>
          <p:cNvPr id="44035" name="Text Box 2"/>
          <p:cNvSpPr txBox="1">
            <a:spLocks noChangeArrowheads="1"/>
          </p:cNvSpPr>
          <p:nvPr/>
        </p:nvSpPr>
        <p:spPr bwMode="auto">
          <a:xfrm>
            <a:off x="899592" y="395505"/>
            <a:ext cx="609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上面的指令序列等效下面三条指令。</a:t>
            </a:r>
          </a:p>
        </p:txBody>
      </p:sp>
      <p:sp>
        <p:nvSpPr>
          <p:cNvPr id="44036" name="Text Box 3"/>
          <p:cNvSpPr txBox="1">
            <a:spLocks noChangeArrowheads="1"/>
          </p:cNvSpPr>
          <p:nvPr/>
        </p:nvSpPr>
        <p:spPr bwMode="auto">
          <a:xfrm>
            <a:off x="1239089" y="1082675"/>
            <a:ext cx="5029200" cy="1225550"/>
          </a:xfrm>
          <a:prstGeom prst="rect">
            <a:avLst/>
          </a:prstGeom>
          <a:noFill/>
          <a:ln w="38100" cmpd="sng">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MOV   AX  </a:t>
            </a:r>
            <a:r>
              <a:rPr lang="zh-CN" altLang="en-US" sz="2400" b="1" dirty="0">
                <a:solidFill>
                  <a:schemeClr val="bg2"/>
                </a:solidFill>
              </a:rPr>
              <a:t>，</a:t>
            </a:r>
            <a:r>
              <a:rPr lang="en-US" altLang="zh-CN" sz="2400" b="1" dirty="0">
                <a:solidFill>
                  <a:schemeClr val="bg2"/>
                </a:solidFill>
              </a:rPr>
              <a:t>110110110B</a:t>
            </a:r>
            <a:br>
              <a:rPr lang="en-US" altLang="zh-CN" sz="2400" b="1" dirty="0">
                <a:solidFill>
                  <a:schemeClr val="bg2"/>
                </a:solidFill>
              </a:rPr>
            </a:br>
            <a:r>
              <a:rPr lang="en-US" altLang="zh-CN" sz="2400" b="1" dirty="0">
                <a:solidFill>
                  <a:schemeClr val="bg2"/>
                </a:solidFill>
              </a:rPr>
              <a:t>MOV   BX  </a:t>
            </a:r>
            <a:r>
              <a:rPr lang="zh-CN" altLang="en-US" sz="2400" b="1" dirty="0">
                <a:solidFill>
                  <a:schemeClr val="bg2"/>
                </a:solidFill>
              </a:rPr>
              <a:t>， </a:t>
            </a:r>
            <a:r>
              <a:rPr lang="en-US" altLang="zh-CN" sz="2400" b="1" dirty="0">
                <a:solidFill>
                  <a:schemeClr val="bg2"/>
                </a:solidFill>
              </a:rPr>
              <a:t>00110110B</a:t>
            </a:r>
            <a:br>
              <a:rPr lang="en-US" altLang="zh-CN" sz="2400" b="1" dirty="0">
                <a:solidFill>
                  <a:schemeClr val="bg2"/>
                </a:solidFill>
              </a:rPr>
            </a:br>
            <a:r>
              <a:rPr lang="en-US" altLang="zh-CN" sz="2400" b="1" dirty="0">
                <a:solidFill>
                  <a:schemeClr val="bg2"/>
                </a:solidFill>
              </a:rPr>
              <a:t>ADD    DX </a:t>
            </a:r>
            <a:r>
              <a:rPr lang="zh-CN" altLang="en-US" sz="2400" b="1" dirty="0">
                <a:solidFill>
                  <a:schemeClr val="bg2"/>
                </a:solidFill>
              </a:rPr>
              <a:t>， </a:t>
            </a:r>
            <a:r>
              <a:rPr lang="en-US" altLang="zh-CN" sz="2400" b="1" dirty="0" smtClean="0">
                <a:solidFill>
                  <a:schemeClr val="bg2"/>
                </a:solidFill>
              </a:rPr>
              <a:t>11B</a:t>
            </a:r>
            <a:endParaRPr lang="en-US" altLang="zh-CN" sz="2400" b="1" dirty="0">
              <a:solidFill>
                <a:schemeClr val="bg2"/>
              </a:solidFill>
            </a:endParaRPr>
          </a:p>
        </p:txBody>
      </p:sp>
      <p:sp>
        <p:nvSpPr>
          <p:cNvPr id="44037" name="Rectangle 5"/>
          <p:cNvSpPr>
            <a:spLocks noChangeArrowheads="1"/>
          </p:cNvSpPr>
          <p:nvPr/>
        </p:nvSpPr>
        <p:spPr bwMode="auto">
          <a:xfrm>
            <a:off x="323528" y="2506662"/>
            <a:ext cx="4940300"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5.</a:t>
            </a:r>
            <a:r>
              <a:rPr lang="zh-CN" altLang="en-US" sz="2400" b="1">
                <a:solidFill>
                  <a:schemeClr val="bg2"/>
                </a:solidFill>
              </a:rPr>
              <a:t>下标运算符“</a:t>
            </a:r>
            <a:r>
              <a:rPr lang="en-US" altLang="zh-CN" sz="2400" b="1">
                <a:solidFill>
                  <a:schemeClr val="bg2"/>
                </a:solidFill>
              </a:rPr>
              <a:t>[ ]”</a:t>
            </a:r>
            <a:r>
              <a:rPr lang="zh-CN" altLang="en-US" sz="2400" b="1">
                <a:solidFill>
                  <a:schemeClr val="bg2"/>
                </a:solidFill>
              </a:rPr>
              <a:t>具有相加的作用</a:t>
            </a:r>
          </a:p>
        </p:txBody>
      </p:sp>
      <p:grpSp>
        <p:nvGrpSpPr>
          <p:cNvPr id="44038" name="Group 6"/>
          <p:cNvGrpSpPr>
            <a:grpSpLocks/>
          </p:cNvGrpSpPr>
          <p:nvPr/>
        </p:nvGrpSpPr>
        <p:grpSpPr bwMode="auto">
          <a:xfrm>
            <a:off x="762000" y="3200400"/>
            <a:ext cx="6115050" cy="457200"/>
            <a:chOff x="0" y="0"/>
            <a:chExt cx="3504" cy="288"/>
          </a:xfrm>
        </p:grpSpPr>
        <p:sp>
          <p:nvSpPr>
            <p:cNvPr id="44039" name="Text Box 7"/>
            <p:cNvSpPr txBox="1">
              <a:spLocks noChangeArrowheads="1"/>
            </p:cNvSpPr>
            <p:nvPr/>
          </p:nvSpPr>
          <p:spPr bwMode="auto">
            <a:xfrm>
              <a:off x="0" y="0"/>
              <a:ext cx="14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一般使用格式：</a:t>
              </a:r>
            </a:p>
          </p:txBody>
        </p:sp>
        <p:sp>
          <p:nvSpPr>
            <p:cNvPr id="44040" name="Text Box 8"/>
            <p:cNvSpPr txBox="1">
              <a:spLocks noChangeArrowheads="1"/>
            </p:cNvSpPr>
            <p:nvPr/>
          </p:nvSpPr>
          <p:spPr bwMode="auto">
            <a:xfrm>
              <a:off x="1488" y="0"/>
              <a:ext cx="2016" cy="28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表达式</a:t>
              </a:r>
              <a:r>
                <a:rPr lang="en-US" altLang="zh-CN" sz="2400" b="1">
                  <a:solidFill>
                    <a:schemeClr val="bg2"/>
                  </a:solidFill>
                </a:rPr>
                <a:t>1 [</a:t>
              </a:r>
              <a:r>
                <a:rPr lang="zh-CN" altLang="en-US" sz="2400" b="1">
                  <a:solidFill>
                    <a:schemeClr val="bg2"/>
                  </a:solidFill>
                </a:rPr>
                <a:t>表达式</a:t>
              </a:r>
              <a:r>
                <a:rPr lang="en-US" altLang="zh-CN" sz="2400" b="1">
                  <a:solidFill>
                    <a:schemeClr val="bg2"/>
                  </a:solidFill>
                </a:rPr>
                <a:t>2]</a:t>
              </a:r>
            </a:p>
          </p:txBody>
        </p:sp>
      </p:grpSp>
      <p:sp>
        <p:nvSpPr>
          <p:cNvPr id="44041" name="Text Box 9"/>
          <p:cNvSpPr txBox="1">
            <a:spLocks noChangeArrowheads="1"/>
          </p:cNvSpPr>
          <p:nvPr/>
        </p:nvSpPr>
        <p:spPr bwMode="auto">
          <a:xfrm>
            <a:off x="1066800" y="3886200"/>
            <a:ext cx="6858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hlink"/>
                </a:solidFill>
              </a:rPr>
              <a:t>作用</a:t>
            </a:r>
            <a:r>
              <a:rPr lang="zh-CN" altLang="en-US" sz="2400" b="1">
                <a:solidFill>
                  <a:schemeClr val="bg2"/>
                </a:solidFill>
              </a:rPr>
              <a:t>：将表达式</a:t>
            </a:r>
            <a:r>
              <a:rPr lang="en-US" altLang="zh-CN" sz="2400" b="1">
                <a:solidFill>
                  <a:schemeClr val="bg2"/>
                </a:solidFill>
              </a:rPr>
              <a:t>1</a:t>
            </a:r>
            <a:r>
              <a:rPr lang="zh-CN" altLang="en-US" sz="2400" b="1">
                <a:solidFill>
                  <a:schemeClr val="bg2"/>
                </a:solidFill>
              </a:rPr>
              <a:t>与表达式</a:t>
            </a:r>
            <a:r>
              <a:rPr lang="en-US" altLang="zh-CN" sz="2400" b="1">
                <a:solidFill>
                  <a:schemeClr val="bg2"/>
                </a:solidFill>
              </a:rPr>
              <a:t>2</a:t>
            </a:r>
            <a:r>
              <a:rPr lang="zh-CN" altLang="en-US" sz="2400" b="1">
                <a:solidFill>
                  <a:schemeClr val="bg2"/>
                </a:solidFill>
              </a:rPr>
              <a:t>的值相加后形成一个存储器操作数的地址。</a:t>
            </a:r>
          </a:p>
        </p:txBody>
      </p:sp>
      <p:sp>
        <p:nvSpPr>
          <p:cNvPr id="44042" name="Text Box 10"/>
          <p:cNvSpPr txBox="1">
            <a:spLocks noChangeArrowheads="1"/>
          </p:cNvSpPr>
          <p:nvPr/>
        </p:nvSpPr>
        <p:spPr bwMode="auto">
          <a:xfrm>
            <a:off x="1066800" y="48768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下面两个语句是等效的。</a:t>
            </a:r>
          </a:p>
        </p:txBody>
      </p:sp>
      <p:sp>
        <p:nvSpPr>
          <p:cNvPr id="44043" name="Text Box 11"/>
          <p:cNvSpPr txBox="1">
            <a:spLocks noChangeArrowheads="1"/>
          </p:cNvSpPr>
          <p:nvPr/>
        </p:nvSpPr>
        <p:spPr bwMode="auto">
          <a:xfrm>
            <a:off x="1219200" y="5562600"/>
            <a:ext cx="4572000" cy="8223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a:solidFill>
                  <a:schemeClr val="bg2"/>
                </a:solidFill>
              </a:rPr>
              <a:t>MOV   AX</a:t>
            </a:r>
            <a:r>
              <a:rPr lang="zh-CN" altLang="en-US" sz="2400" b="1">
                <a:solidFill>
                  <a:schemeClr val="bg2"/>
                </a:solidFill>
              </a:rPr>
              <a:t>，</a:t>
            </a:r>
            <a:r>
              <a:rPr lang="en-US" altLang="zh-CN" sz="2400" b="1">
                <a:solidFill>
                  <a:schemeClr val="bg2"/>
                </a:solidFill>
              </a:rPr>
              <a:t>DA_WORD[20H]</a:t>
            </a:r>
            <a:br>
              <a:rPr lang="en-US" altLang="zh-CN" sz="2400" b="1">
                <a:solidFill>
                  <a:schemeClr val="bg2"/>
                </a:solidFill>
              </a:rPr>
            </a:br>
            <a:r>
              <a:rPr lang="en-US" altLang="zh-CN" sz="2400" b="1">
                <a:solidFill>
                  <a:schemeClr val="bg2"/>
                </a:solidFill>
              </a:rPr>
              <a:t>MOV   AX</a:t>
            </a:r>
            <a:r>
              <a:rPr lang="zh-CN" altLang="en-US" sz="2400" b="1">
                <a:solidFill>
                  <a:schemeClr val="bg2"/>
                </a:solidFill>
              </a:rPr>
              <a:t>，</a:t>
            </a:r>
            <a:r>
              <a:rPr lang="en-US" altLang="zh-CN" sz="2400" b="1">
                <a:solidFill>
                  <a:schemeClr val="bg2"/>
                </a:solidFill>
              </a:rPr>
              <a:t>DA_WORD+20H</a:t>
            </a:r>
          </a:p>
        </p:txBody>
      </p:sp>
      <p:sp>
        <p:nvSpPr>
          <p:cNvPr id="2" name="椭圆形标注 1"/>
          <p:cNvSpPr/>
          <p:nvPr/>
        </p:nvSpPr>
        <p:spPr bwMode="auto">
          <a:xfrm>
            <a:off x="5975350" y="90408"/>
            <a:ext cx="2845122" cy="1250359"/>
          </a:xfrm>
          <a:prstGeom prst="wedgeEllipseCallout">
            <a:avLst>
              <a:gd name="adj1" fmla="val -89521"/>
              <a:gd name="adj2" fmla="val 46976"/>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lang="zh-CN" altLang="en-US" sz="2000" b="1" dirty="0">
                <a:solidFill>
                  <a:schemeClr val="bg2"/>
                </a:solidFill>
              </a:rPr>
              <a:t>移位运算将对象按照与</a:t>
            </a:r>
            <a:r>
              <a:rPr lang="en-US" altLang="zh-CN" sz="2000" b="1" dirty="0">
                <a:solidFill>
                  <a:schemeClr val="bg2"/>
                </a:solidFill>
              </a:rPr>
              <a:t>AX</a:t>
            </a:r>
            <a:r>
              <a:rPr lang="zh-CN" altLang="en-US" sz="2000" b="1" dirty="0">
                <a:solidFill>
                  <a:schemeClr val="bg2"/>
                </a:solidFill>
              </a:rPr>
              <a:t>等长的</a:t>
            </a:r>
            <a:r>
              <a:rPr lang="en-US" altLang="zh-CN" sz="2000" b="1" dirty="0">
                <a:solidFill>
                  <a:schemeClr val="bg2"/>
                </a:solidFill>
              </a:rPr>
              <a:t>16bit</a:t>
            </a:r>
            <a:r>
              <a:rPr lang="zh-CN" altLang="en-US" sz="2000" b="1" dirty="0">
                <a:solidFill>
                  <a:schemeClr val="bg2"/>
                </a:solidFill>
              </a:rPr>
              <a:t>数处理</a:t>
            </a:r>
            <a:endParaRPr kumimoji="0" lang="zh-CN" altLang="en-US" sz="2000" b="1" i="0" u="none" strike="noStrike" cap="none" normalizeH="0" baseline="0" dirty="0">
              <a:ln>
                <a:noFill/>
              </a:ln>
              <a:solidFill>
                <a:schemeClr val="bg2"/>
              </a:solidFill>
              <a:effectLs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40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03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403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4403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4404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4404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440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autoUpdateAnimBg="0"/>
      <p:bldP spid="44036" grpId="0" animBg="1" autoUpdateAnimBg="0"/>
      <p:bldP spid="44037" grpId="0" animBg="1" autoUpdateAnimBg="0"/>
      <p:bldP spid="44041" grpId="0" autoUpdateAnimBg="0"/>
      <p:bldP spid="44042" grpId="0" autoUpdateAnimBg="0"/>
      <p:bldP spid="44043" grpId="0" animBg="1" autoUpdateAnimBg="0"/>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4F301F55-6A4F-4B17-9760-2B4378F11730}" type="slidenum">
              <a:rPr lang="en-US" altLang="zh-CN" sz="1400">
                <a:solidFill>
                  <a:schemeClr val="bg2"/>
                </a:solidFill>
              </a:rPr>
              <a:pPr algn="r" eaLnBrk="1" hangingPunct="1"/>
              <a:t>36</a:t>
            </a:fld>
            <a:endParaRPr lang="en-US" altLang="zh-CN" sz="1400">
              <a:solidFill>
                <a:schemeClr val="bg2"/>
              </a:solidFill>
            </a:endParaRPr>
          </a:p>
        </p:txBody>
      </p:sp>
      <p:sp>
        <p:nvSpPr>
          <p:cNvPr id="45059" name="Rectangle 2"/>
          <p:cNvSpPr>
            <a:spLocks noChangeArrowheads="1"/>
          </p:cNvSpPr>
          <p:nvPr/>
        </p:nvSpPr>
        <p:spPr bwMode="auto">
          <a:xfrm>
            <a:off x="1219200" y="304800"/>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solidFill>
                  <a:schemeClr val="bg2"/>
                </a:solidFill>
              </a:rPr>
              <a:t>可以用寄存器来存放下标变量</a:t>
            </a:r>
          </a:p>
        </p:txBody>
      </p:sp>
      <p:sp>
        <p:nvSpPr>
          <p:cNvPr id="45060" name="Rectangle 3"/>
          <p:cNvSpPr>
            <a:spLocks noChangeArrowheads="1"/>
          </p:cNvSpPr>
          <p:nvPr/>
        </p:nvSpPr>
        <p:spPr bwMode="auto">
          <a:xfrm>
            <a:off x="838200" y="914400"/>
            <a:ext cx="402183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例：下面几个语句是等价的</a:t>
            </a:r>
          </a:p>
        </p:txBody>
      </p:sp>
      <p:sp>
        <p:nvSpPr>
          <p:cNvPr id="45061" name="Text Box 4"/>
          <p:cNvSpPr txBox="1">
            <a:spLocks noChangeArrowheads="1"/>
          </p:cNvSpPr>
          <p:nvPr/>
        </p:nvSpPr>
        <p:spPr bwMode="auto">
          <a:xfrm>
            <a:off x="1676400" y="1524000"/>
            <a:ext cx="6783388" cy="230832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MOV  AX ,  ARRAY[EBX][ESI]; </a:t>
            </a:r>
            <a:r>
              <a:rPr lang="zh-CN" altLang="en-US" sz="2400" b="1" dirty="0">
                <a:solidFill>
                  <a:schemeClr val="bg2"/>
                </a:solidFill>
              </a:rPr>
              <a:t>基址变址寻址</a:t>
            </a:r>
            <a:br>
              <a:rPr lang="zh-CN" altLang="en-US" sz="2400" b="1" dirty="0">
                <a:solidFill>
                  <a:schemeClr val="bg2"/>
                </a:solidFill>
              </a:rPr>
            </a:br>
            <a:r>
              <a:rPr lang="en-US" altLang="zh-CN" sz="2400" b="1" dirty="0">
                <a:solidFill>
                  <a:schemeClr val="bg2"/>
                </a:solidFill>
              </a:rPr>
              <a:t>MOV   AX,  ARRAY[EBX+ESI]</a:t>
            </a:r>
            <a:br>
              <a:rPr lang="en-US" altLang="zh-CN" sz="2400" b="1" dirty="0">
                <a:solidFill>
                  <a:schemeClr val="bg2"/>
                </a:solidFill>
              </a:rPr>
            </a:br>
            <a:r>
              <a:rPr lang="en-US" altLang="zh-CN" sz="2400" b="1" dirty="0">
                <a:solidFill>
                  <a:schemeClr val="bg2"/>
                </a:solidFill>
              </a:rPr>
              <a:t>MOV   AX , [ARRAY+EBX][ESI]</a:t>
            </a:r>
            <a:br>
              <a:rPr lang="en-US" altLang="zh-CN" sz="2400" b="1" dirty="0">
                <a:solidFill>
                  <a:schemeClr val="bg2"/>
                </a:solidFill>
              </a:rPr>
            </a:br>
            <a:r>
              <a:rPr lang="en-US" altLang="zh-CN" sz="2400" b="1" dirty="0">
                <a:solidFill>
                  <a:schemeClr val="bg2"/>
                </a:solidFill>
              </a:rPr>
              <a:t>MOV   AX , [ARRAY+ESI][EBX]</a:t>
            </a:r>
            <a:br>
              <a:rPr lang="en-US" altLang="zh-CN" sz="2400" b="1" dirty="0">
                <a:solidFill>
                  <a:schemeClr val="bg2"/>
                </a:solidFill>
              </a:rPr>
            </a:br>
            <a:r>
              <a:rPr lang="en-US" altLang="zh-CN" sz="2400" b="1" dirty="0">
                <a:solidFill>
                  <a:schemeClr val="bg2"/>
                </a:solidFill>
              </a:rPr>
              <a:t>MOV   AX , [ARRAY+EBX+ESI]</a:t>
            </a:r>
            <a:br>
              <a:rPr lang="en-US" altLang="zh-CN" sz="2400" b="1" dirty="0">
                <a:solidFill>
                  <a:schemeClr val="bg2"/>
                </a:solidFill>
              </a:rPr>
            </a:br>
            <a:r>
              <a:rPr lang="en-US" altLang="zh-CN" sz="2400" b="1" dirty="0">
                <a:solidFill>
                  <a:schemeClr val="bg2"/>
                </a:solidFill>
              </a:rPr>
              <a:t>MOV   AX,  [ARRAY][EBX][ESI]</a:t>
            </a:r>
          </a:p>
        </p:txBody>
      </p:sp>
      <p:sp>
        <p:nvSpPr>
          <p:cNvPr id="45062" name="Text Box 5"/>
          <p:cNvSpPr txBox="1">
            <a:spLocks noChangeArrowheads="1"/>
          </p:cNvSpPr>
          <p:nvPr/>
        </p:nvSpPr>
        <p:spPr bwMode="auto">
          <a:xfrm>
            <a:off x="1331640" y="3889213"/>
            <a:ext cx="347925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下面是几个错误的语句：</a:t>
            </a:r>
          </a:p>
        </p:txBody>
      </p:sp>
      <p:sp>
        <p:nvSpPr>
          <p:cNvPr id="45063" name="Text Box 6"/>
          <p:cNvSpPr txBox="1">
            <a:spLocks noChangeArrowheads="1"/>
          </p:cNvSpPr>
          <p:nvPr/>
        </p:nvSpPr>
        <p:spPr bwMode="auto">
          <a:xfrm>
            <a:off x="1676400" y="4430225"/>
            <a:ext cx="5132040" cy="193899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MOV   AX</a:t>
            </a:r>
            <a:r>
              <a:rPr lang="zh-CN" altLang="en-US" sz="2400" b="1" dirty="0">
                <a:solidFill>
                  <a:schemeClr val="bg2"/>
                </a:solidFill>
              </a:rPr>
              <a:t>，</a:t>
            </a:r>
            <a:r>
              <a:rPr lang="en-US" altLang="zh-CN" sz="2400" b="1" dirty="0">
                <a:solidFill>
                  <a:schemeClr val="bg2"/>
                </a:solidFill>
              </a:rPr>
              <a:t>ARRAY+EBX+ESI</a:t>
            </a:r>
            <a:br>
              <a:rPr lang="en-US" altLang="zh-CN" sz="2400" b="1" dirty="0">
                <a:solidFill>
                  <a:schemeClr val="bg2"/>
                </a:solidFill>
              </a:rPr>
            </a:br>
            <a:r>
              <a:rPr lang="en-US" altLang="zh-CN" sz="2400" b="1" dirty="0">
                <a:solidFill>
                  <a:schemeClr val="bg2"/>
                </a:solidFill>
              </a:rPr>
              <a:t>MOV   AX</a:t>
            </a:r>
            <a:r>
              <a:rPr lang="zh-CN" altLang="en-US" sz="2400" b="1" dirty="0">
                <a:solidFill>
                  <a:schemeClr val="bg2"/>
                </a:solidFill>
              </a:rPr>
              <a:t>，</a:t>
            </a:r>
            <a:r>
              <a:rPr lang="en-US" altLang="zh-CN" sz="2400" b="1" dirty="0">
                <a:solidFill>
                  <a:schemeClr val="bg2"/>
                </a:solidFill>
              </a:rPr>
              <a:t>ARRAY+EBX[ESI]</a:t>
            </a:r>
            <a:br>
              <a:rPr lang="en-US" altLang="zh-CN" sz="2400" b="1" dirty="0">
                <a:solidFill>
                  <a:schemeClr val="bg2"/>
                </a:solidFill>
              </a:rPr>
            </a:br>
            <a:r>
              <a:rPr lang="en-US" altLang="zh-CN" sz="2400" b="1" dirty="0">
                <a:solidFill>
                  <a:schemeClr val="bg2"/>
                </a:solidFill>
              </a:rPr>
              <a:t>MOV   AX</a:t>
            </a:r>
            <a:r>
              <a:rPr lang="zh-CN" altLang="en-US" sz="2400" b="1" dirty="0">
                <a:solidFill>
                  <a:schemeClr val="bg2"/>
                </a:solidFill>
              </a:rPr>
              <a:t>，</a:t>
            </a:r>
            <a:r>
              <a:rPr lang="en-US" altLang="zh-CN" sz="2400" b="1" dirty="0">
                <a:solidFill>
                  <a:schemeClr val="bg2"/>
                </a:solidFill>
              </a:rPr>
              <a:t>ARRAY+DA_WORD</a:t>
            </a:r>
            <a:br>
              <a:rPr lang="en-US" altLang="zh-CN" sz="2400" b="1" dirty="0">
                <a:solidFill>
                  <a:schemeClr val="bg2"/>
                </a:solidFill>
              </a:rPr>
            </a:br>
            <a:r>
              <a:rPr lang="en-US" altLang="zh-CN" sz="2400" b="1" dirty="0">
                <a:solidFill>
                  <a:schemeClr val="bg2"/>
                </a:solidFill>
              </a:rPr>
              <a:t>MOV   AX,  [EBX+ESI]DA_WORD</a:t>
            </a:r>
            <a:br>
              <a:rPr lang="en-US" altLang="zh-CN" sz="2400" b="1" dirty="0">
                <a:solidFill>
                  <a:schemeClr val="bg2"/>
                </a:solidFill>
              </a:rPr>
            </a:br>
            <a:r>
              <a:rPr lang="en-US" altLang="zh-CN" sz="2400" b="1" dirty="0">
                <a:solidFill>
                  <a:schemeClr val="bg2"/>
                </a:solidFill>
              </a:rPr>
              <a:t>MOV   AX,  [EBX][ESI]DA_WORD</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50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06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06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06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0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utoUpdateAnimBg="0"/>
      <p:bldP spid="45060" grpId="0" autoUpdateAnimBg="0"/>
      <p:bldP spid="45061" grpId="0" animBg="1" autoUpdateAnimBg="0"/>
      <p:bldP spid="45062" grpId="0" autoUpdateAnimBg="0"/>
      <p:bldP spid="45063"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45ECA87A-BFE0-4617-9172-BE8E008E6732}" type="slidenum">
              <a:rPr lang="en-US" altLang="zh-CN" sz="1400">
                <a:solidFill>
                  <a:schemeClr val="bg2"/>
                </a:solidFill>
              </a:rPr>
              <a:pPr algn="r" eaLnBrk="1" hangingPunct="1"/>
              <a:t>37</a:t>
            </a:fld>
            <a:endParaRPr lang="en-US" altLang="zh-CN" sz="1400">
              <a:solidFill>
                <a:schemeClr val="bg2"/>
              </a:solidFill>
            </a:endParaRPr>
          </a:p>
        </p:txBody>
      </p:sp>
      <p:sp>
        <p:nvSpPr>
          <p:cNvPr id="46083" name="Rectangle 2"/>
          <p:cNvSpPr>
            <a:spLocks noChangeArrowheads="1"/>
          </p:cNvSpPr>
          <p:nvPr/>
        </p:nvSpPr>
        <p:spPr bwMode="auto">
          <a:xfrm>
            <a:off x="2438400" y="533400"/>
            <a:ext cx="2687638" cy="5191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b="1" dirty="0">
                <a:solidFill>
                  <a:schemeClr val="hlink"/>
                </a:solidFill>
              </a:rPr>
              <a:t>二、逻辑运算符</a:t>
            </a:r>
          </a:p>
        </p:txBody>
      </p:sp>
      <p:sp>
        <p:nvSpPr>
          <p:cNvPr id="46084" name="Rectangle 3"/>
          <p:cNvSpPr>
            <a:spLocks noChangeArrowheads="1"/>
          </p:cNvSpPr>
          <p:nvPr/>
        </p:nvSpPr>
        <p:spPr bwMode="auto">
          <a:xfrm>
            <a:off x="457200" y="1219200"/>
            <a:ext cx="8305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        </a:t>
            </a:r>
            <a:r>
              <a:rPr lang="zh-CN" altLang="en-US" sz="2400" b="1" dirty="0">
                <a:solidFill>
                  <a:schemeClr val="bg2"/>
                </a:solidFill>
              </a:rPr>
              <a:t>逻辑运算符有</a:t>
            </a:r>
            <a:r>
              <a:rPr lang="en-US" altLang="zh-CN" sz="2400" b="1" dirty="0">
                <a:solidFill>
                  <a:schemeClr val="bg2"/>
                </a:solidFill>
              </a:rPr>
              <a:t>NOT</a:t>
            </a:r>
            <a:r>
              <a:rPr lang="zh-CN" altLang="en-US" sz="2400" b="1" dirty="0">
                <a:solidFill>
                  <a:schemeClr val="bg2"/>
                </a:solidFill>
              </a:rPr>
              <a:t>、</a:t>
            </a:r>
            <a:r>
              <a:rPr lang="en-US" altLang="zh-CN" sz="2400" b="1" dirty="0">
                <a:solidFill>
                  <a:schemeClr val="bg2"/>
                </a:solidFill>
              </a:rPr>
              <a:t>AND</a:t>
            </a:r>
            <a:r>
              <a:rPr lang="zh-CN" altLang="en-US" sz="2400" b="1" dirty="0">
                <a:solidFill>
                  <a:schemeClr val="bg2"/>
                </a:solidFill>
              </a:rPr>
              <a:t>、</a:t>
            </a:r>
            <a:r>
              <a:rPr lang="en-US" altLang="zh-CN" sz="2400" b="1" dirty="0">
                <a:solidFill>
                  <a:schemeClr val="bg2"/>
                </a:solidFill>
              </a:rPr>
              <a:t>OR</a:t>
            </a:r>
            <a:r>
              <a:rPr lang="zh-CN" altLang="en-US" sz="2400" b="1" dirty="0">
                <a:solidFill>
                  <a:schemeClr val="bg2"/>
                </a:solidFill>
              </a:rPr>
              <a:t>和</a:t>
            </a:r>
            <a:r>
              <a:rPr lang="en-US" altLang="zh-CN" sz="2400" b="1" dirty="0">
                <a:solidFill>
                  <a:schemeClr val="bg2"/>
                </a:solidFill>
              </a:rPr>
              <a:t>XOR</a:t>
            </a:r>
            <a:r>
              <a:rPr lang="zh-CN" altLang="en-US" sz="2400" b="1" dirty="0">
                <a:solidFill>
                  <a:schemeClr val="bg2"/>
                </a:solidFill>
              </a:rPr>
              <a:t>等四个，它们执行的都是按位逻辑运算。</a:t>
            </a:r>
          </a:p>
        </p:txBody>
      </p:sp>
      <p:grpSp>
        <p:nvGrpSpPr>
          <p:cNvPr id="2" name="组合 1"/>
          <p:cNvGrpSpPr/>
          <p:nvPr/>
        </p:nvGrpSpPr>
        <p:grpSpPr>
          <a:xfrm>
            <a:off x="762000" y="2209800"/>
            <a:ext cx="4945063" cy="2047876"/>
            <a:chOff x="762000" y="2209800"/>
            <a:chExt cx="4945063" cy="2047876"/>
          </a:xfrm>
        </p:grpSpPr>
        <p:sp>
          <p:nvSpPr>
            <p:cNvPr id="46086" name="Text Box 4"/>
            <p:cNvSpPr txBox="1">
              <a:spLocks noChangeArrowheads="1"/>
            </p:cNvSpPr>
            <p:nvPr/>
          </p:nvSpPr>
          <p:spPr bwMode="auto">
            <a:xfrm>
              <a:off x="762000" y="22098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例如</a:t>
              </a:r>
            </a:p>
          </p:txBody>
        </p:sp>
        <p:sp>
          <p:nvSpPr>
            <p:cNvPr id="46087" name="Text Box 5"/>
            <p:cNvSpPr txBox="1">
              <a:spLocks noChangeArrowheads="1"/>
            </p:cNvSpPr>
            <p:nvPr/>
          </p:nvSpPr>
          <p:spPr bwMode="auto">
            <a:xfrm>
              <a:off x="1600200" y="2319338"/>
              <a:ext cx="4106863" cy="19383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MOV  AX</a:t>
              </a:r>
              <a:r>
                <a:rPr lang="zh-CN" altLang="en-US" sz="2400" b="1" dirty="0">
                  <a:solidFill>
                    <a:schemeClr val="bg2"/>
                  </a:solidFill>
                </a:rPr>
                <a:t>，</a:t>
              </a:r>
              <a:r>
                <a:rPr lang="en-US" altLang="zh-CN" sz="2400" b="1" dirty="0">
                  <a:solidFill>
                    <a:schemeClr val="bg2"/>
                  </a:solidFill>
                </a:rPr>
                <a:t>NOT 0F0H</a:t>
              </a:r>
              <a:br>
                <a:rPr lang="en-US" altLang="zh-CN" sz="2400" b="1" dirty="0">
                  <a:solidFill>
                    <a:schemeClr val="bg2"/>
                  </a:solidFill>
                </a:rPr>
              </a:br>
              <a:r>
                <a:rPr lang="en-US" altLang="zh-CN" sz="2400" b="1" dirty="0">
                  <a:solidFill>
                    <a:schemeClr val="bg2"/>
                  </a:solidFill>
                </a:rPr>
                <a:t>MOV   AL ,  NOT 0F0H</a:t>
              </a:r>
              <a:br>
                <a:rPr lang="en-US" altLang="zh-CN" sz="2400" b="1" dirty="0">
                  <a:solidFill>
                    <a:schemeClr val="bg2"/>
                  </a:solidFill>
                </a:rPr>
              </a:br>
              <a:r>
                <a:rPr lang="en-US" altLang="zh-CN" sz="2400" b="1" dirty="0">
                  <a:solidFill>
                    <a:schemeClr val="bg2"/>
                  </a:solidFill>
                </a:rPr>
                <a:t>MOV   BL ,  55H AND 0F0H</a:t>
              </a:r>
              <a:br>
                <a:rPr lang="en-US" altLang="zh-CN" sz="2400" b="1" dirty="0">
                  <a:solidFill>
                    <a:schemeClr val="bg2"/>
                  </a:solidFill>
                </a:rPr>
              </a:br>
              <a:r>
                <a:rPr lang="en-US" altLang="zh-CN" sz="2400" b="1" dirty="0">
                  <a:solidFill>
                    <a:schemeClr val="bg2"/>
                  </a:solidFill>
                </a:rPr>
                <a:t>MOV   BH ,  55H OR 0F0H</a:t>
              </a:r>
              <a:br>
                <a:rPr lang="en-US" altLang="zh-CN" sz="2400" b="1" dirty="0">
                  <a:solidFill>
                    <a:schemeClr val="bg2"/>
                  </a:solidFill>
                </a:rPr>
              </a:br>
              <a:r>
                <a:rPr lang="en-US" altLang="zh-CN" sz="2400" b="1" dirty="0">
                  <a:solidFill>
                    <a:schemeClr val="bg2"/>
                  </a:solidFill>
                </a:rPr>
                <a:t>MOV   CL ,   55H XOR 0F0H</a:t>
              </a:r>
            </a:p>
          </p:txBody>
        </p:sp>
      </p:grpSp>
      <p:sp>
        <p:nvSpPr>
          <p:cNvPr id="46088" name="Rectangle 6"/>
          <p:cNvSpPr>
            <a:spLocks noChangeArrowheads="1"/>
          </p:cNvSpPr>
          <p:nvPr/>
        </p:nvSpPr>
        <p:spPr bwMode="auto">
          <a:xfrm>
            <a:off x="2667000" y="4367213"/>
            <a:ext cx="2679700" cy="51911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b="1" dirty="0">
                <a:solidFill>
                  <a:schemeClr val="hlink"/>
                </a:solidFill>
              </a:rPr>
              <a:t>三、关系运算符</a:t>
            </a:r>
          </a:p>
        </p:txBody>
      </p:sp>
      <p:sp>
        <p:nvSpPr>
          <p:cNvPr id="46089" name="Rectangle 7"/>
          <p:cNvSpPr>
            <a:spLocks noChangeArrowheads="1"/>
          </p:cNvSpPr>
          <p:nvPr/>
        </p:nvSpPr>
        <p:spPr bwMode="auto">
          <a:xfrm>
            <a:off x="533400" y="5105400"/>
            <a:ext cx="8077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关系运算符包括：</a:t>
            </a:r>
            <a:r>
              <a:rPr lang="en-US" altLang="zh-CN" sz="2400" b="1" dirty="0">
                <a:solidFill>
                  <a:schemeClr val="bg2"/>
                </a:solidFill>
              </a:rPr>
              <a:t>EQ</a:t>
            </a:r>
            <a:r>
              <a:rPr lang="zh-CN" altLang="en-US" sz="2400" b="1" dirty="0">
                <a:solidFill>
                  <a:schemeClr val="bg2"/>
                </a:solidFill>
              </a:rPr>
              <a:t>（等于）、</a:t>
            </a:r>
            <a:r>
              <a:rPr lang="en-US" altLang="zh-CN" sz="2400" b="1" dirty="0">
                <a:solidFill>
                  <a:schemeClr val="bg2"/>
                </a:solidFill>
              </a:rPr>
              <a:t>NE</a:t>
            </a:r>
            <a:r>
              <a:rPr lang="zh-CN" altLang="en-US" sz="2400" b="1" dirty="0">
                <a:solidFill>
                  <a:schemeClr val="bg2"/>
                </a:solidFill>
              </a:rPr>
              <a:t>（不等于）、</a:t>
            </a:r>
            <a:r>
              <a:rPr lang="en-US" altLang="zh-CN" sz="2400" b="1" dirty="0">
                <a:solidFill>
                  <a:schemeClr val="bg2"/>
                </a:solidFill>
              </a:rPr>
              <a:t>LT</a:t>
            </a:r>
            <a:r>
              <a:rPr lang="zh-CN" altLang="en-US" sz="2400" b="1" dirty="0">
                <a:solidFill>
                  <a:schemeClr val="bg2"/>
                </a:solidFill>
              </a:rPr>
              <a:t>（小于）、 </a:t>
            </a:r>
            <a:r>
              <a:rPr lang="en-US" altLang="zh-CN" sz="2400" b="1" dirty="0">
                <a:solidFill>
                  <a:schemeClr val="bg2"/>
                </a:solidFill>
              </a:rPr>
              <a:t>LE</a:t>
            </a:r>
            <a:r>
              <a:rPr lang="zh-CN" altLang="en-US" sz="2400" b="1" dirty="0">
                <a:solidFill>
                  <a:schemeClr val="bg2"/>
                </a:solidFill>
              </a:rPr>
              <a:t>（小于等于）、</a:t>
            </a:r>
            <a:r>
              <a:rPr lang="en-US" altLang="zh-CN" sz="2400" b="1" dirty="0">
                <a:solidFill>
                  <a:schemeClr val="bg2"/>
                </a:solidFill>
              </a:rPr>
              <a:t>GT</a:t>
            </a:r>
            <a:r>
              <a:rPr lang="zh-CN" altLang="en-US" sz="2400" b="1" dirty="0">
                <a:solidFill>
                  <a:schemeClr val="bg2"/>
                </a:solidFill>
              </a:rPr>
              <a:t>（大于）、 </a:t>
            </a:r>
            <a:r>
              <a:rPr lang="en-US" altLang="zh-CN" sz="2400" b="1" dirty="0">
                <a:solidFill>
                  <a:schemeClr val="bg2"/>
                </a:solidFill>
              </a:rPr>
              <a:t>GE</a:t>
            </a:r>
            <a:r>
              <a:rPr lang="zh-CN" altLang="en-US" sz="2400" b="1" dirty="0">
                <a:solidFill>
                  <a:schemeClr val="bg2"/>
                </a:solidFill>
              </a:rPr>
              <a:t>（大于等于）</a:t>
            </a:r>
          </a:p>
        </p:txBody>
      </p:sp>
      <p:sp>
        <p:nvSpPr>
          <p:cNvPr id="10" name="矩形 9"/>
          <p:cNvSpPr/>
          <p:nvPr/>
        </p:nvSpPr>
        <p:spPr>
          <a:xfrm>
            <a:off x="5707063" y="2279650"/>
            <a:ext cx="3126049" cy="461665"/>
          </a:xfrm>
          <a:prstGeom prst="rect">
            <a:avLst/>
          </a:prstGeom>
        </p:spPr>
        <p:txBody>
          <a:bodyPr wrap="none">
            <a:spAutoFit/>
          </a:bodyPr>
          <a:lstStyle/>
          <a:p>
            <a:r>
              <a:rPr lang="en-US" altLang="zh-CN" sz="2400" b="1" dirty="0">
                <a:solidFill>
                  <a:schemeClr val="bg2"/>
                </a:solidFill>
              </a:rPr>
              <a:t>=&gt;MOV  AX ,0FF0FH</a:t>
            </a:r>
            <a:endParaRPr lang="zh-CN" altLang="en-US" sz="2400" dirty="0"/>
          </a:p>
        </p:txBody>
      </p:sp>
      <p:sp>
        <p:nvSpPr>
          <p:cNvPr id="11" name="矩形 10"/>
          <p:cNvSpPr/>
          <p:nvPr/>
        </p:nvSpPr>
        <p:spPr>
          <a:xfrm>
            <a:off x="5702077" y="2667000"/>
            <a:ext cx="3118073" cy="461665"/>
          </a:xfrm>
          <a:prstGeom prst="rect">
            <a:avLst/>
          </a:prstGeom>
        </p:spPr>
        <p:txBody>
          <a:bodyPr wrap="square">
            <a:spAutoFit/>
          </a:bodyPr>
          <a:lstStyle/>
          <a:p>
            <a:r>
              <a:rPr lang="en-US" altLang="zh-CN" sz="2400" b="1" dirty="0">
                <a:solidFill>
                  <a:schemeClr val="bg2"/>
                </a:solidFill>
              </a:rPr>
              <a:t>=&gt;MOV  AL , 0FH</a:t>
            </a:r>
            <a:endParaRPr lang="zh-CN" altLang="en-US" sz="2400" dirty="0"/>
          </a:p>
        </p:txBody>
      </p:sp>
      <p:sp>
        <p:nvSpPr>
          <p:cNvPr id="12" name="矩形 11"/>
          <p:cNvSpPr/>
          <p:nvPr/>
        </p:nvSpPr>
        <p:spPr>
          <a:xfrm>
            <a:off x="5689115" y="3074988"/>
            <a:ext cx="2391232" cy="461665"/>
          </a:xfrm>
          <a:prstGeom prst="rect">
            <a:avLst/>
          </a:prstGeom>
        </p:spPr>
        <p:txBody>
          <a:bodyPr wrap="none">
            <a:spAutoFit/>
          </a:bodyPr>
          <a:lstStyle/>
          <a:p>
            <a:r>
              <a:rPr lang="en-US" altLang="zh-CN" sz="2400" b="1" dirty="0">
                <a:solidFill>
                  <a:schemeClr val="bg2"/>
                </a:solidFill>
              </a:rPr>
              <a:t>=&gt;MOV BL,50H</a:t>
            </a:r>
            <a:endParaRPr lang="zh-CN" altLang="en-US" sz="2400" dirty="0"/>
          </a:p>
        </p:txBody>
      </p:sp>
      <p:sp>
        <p:nvSpPr>
          <p:cNvPr id="13" name="矩形 12"/>
          <p:cNvSpPr/>
          <p:nvPr/>
        </p:nvSpPr>
        <p:spPr>
          <a:xfrm>
            <a:off x="5703962" y="3452416"/>
            <a:ext cx="2689391" cy="461665"/>
          </a:xfrm>
          <a:prstGeom prst="rect">
            <a:avLst/>
          </a:prstGeom>
        </p:spPr>
        <p:txBody>
          <a:bodyPr wrap="none">
            <a:spAutoFit/>
          </a:bodyPr>
          <a:lstStyle/>
          <a:p>
            <a:r>
              <a:rPr lang="en-US" altLang="zh-CN" sz="2400" b="1" dirty="0">
                <a:solidFill>
                  <a:schemeClr val="bg2"/>
                </a:solidFill>
              </a:rPr>
              <a:t>=&gt;MOV BH, 0F5H</a:t>
            </a:r>
            <a:endParaRPr lang="zh-CN" altLang="en-US" sz="2400" dirty="0"/>
          </a:p>
        </p:txBody>
      </p:sp>
      <p:sp>
        <p:nvSpPr>
          <p:cNvPr id="14" name="矩形 13"/>
          <p:cNvSpPr/>
          <p:nvPr/>
        </p:nvSpPr>
        <p:spPr>
          <a:xfrm>
            <a:off x="5671803" y="3864868"/>
            <a:ext cx="2708627" cy="461665"/>
          </a:xfrm>
          <a:prstGeom prst="rect">
            <a:avLst/>
          </a:prstGeom>
        </p:spPr>
        <p:txBody>
          <a:bodyPr wrap="none">
            <a:spAutoFit/>
          </a:bodyPr>
          <a:lstStyle/>
          <a:p>
            <a:r>
              <a:rPr lang="en-US" altLang="zh-CN" sz="2400" b="1" dirty="0">
                <a:solidFill>
                  <a:schemeClr val="bg2"/>
                </a:solidFill>
              </a:rPr>
              <a:t>=&gt;MOV CL, 0A5H</a:t>
            </a:r>
            <a:endParaRPr lang="zh-CN" altLang="en-US" sz="24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60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0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down)">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down)">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4608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460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animBg="1" autoUpdateAnimBg="0"/>
      <p:bldP spid="46084" grpId="0" autoUpdateAnimBg="0"/>
      <p:bldP spid="46088" grpId="0" animBg="1" autoUpdateAnimBg="0"/>
      <p:bldP spid="46089" grpId="0" autoUpdateAnimBg="0"/>
      <p:bldP spid="10" grpId="0"/>
      <p:bldP spid="11" grpId="0"/>
      <p:bldP spid="12" grpId="0"/>
      <p:bldP spid="13" grpId="0"/>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57A92BE1-9414-4A0B-8587-FFA88C0FF696}" type="slidenum">
              <a:rPr lang="en-US" altLang="zh-CN" sz="1400">
                <a:solidFill>
                  <a:schemeClr val="bg2"/>
                </a:solidFill>
              </a:rPr>
              <a:pPr algn="r" eaLnBrk="1" hangingPunct="1"/>
              <a:t>38</a:t>
            </a:fld>
            <a:endParaRPr lang="en-US" altLang="zh-CN" sz="1400">
              <a:solidFill>
                <a:schemeClr val="bg2"/>
              </a:solidFill>
            </a:endParaRPr>
          </a:p>
        </p:txBody>
      </p:sp>
      <p:sp>
        <p:nvSpPr>
          <p:cNvPr id="47107" name="Rectangle 2"/>
          <p:cNvSpPr>
            <a:spLocks noChangeArrowheads="1"/>
          </p:cNvSpPr>
          <p:nvPr/>
        </p:nvSpPr>
        <p:spPr bwMode="auto">
          <a:xfrm>
            <a:off x="761773" y="476672"/>
            <a:ext cx="8001000" cy="1938992"/>
          </a:xfrm>
          <a:prstGeom prst="rect">
            <a:avLst/>
          </a:prstGeom>
          <a:noFill/>
          <a:ln w="28575"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n"/>
            </a:pPr>
            <a:r>
              <a:rPr lang="zh-CN" altLang="en-US" sz="2400" b="1" dirty="0">
                <a:solidFill>
                  <a:schemeClr val="bg2"/>
                </a:solidFill>
              </a:rPr>
              <a:t>关系运算符用来比较两个表达式的大小。比较的两个表达式必须同为常数或同一逻辑段中的变量。</a:t>
            </a:r>
            <a:endParaRPr lang="en-US" altLang="zh-CN" sz="2400" b="1" dirty="0">
              <a:solidFill>
                <a:schemeClr val="bg2"/>
              </a:solidFill>
            </a:endParaRPr>
          </a:p>
          <a:p>
            <a:pPr marL="342900" indent="-342900" eaLnBrk="1" hangingPunct="1">
              <a:buClr>
                <a:srgbClr val="C00000"/>
              </a:buClr>
              <a:buFont typeface="Wingdings" panose="05000000000000000000" pitchFamily="2" charset="2"/>
              <a:buChar char="n"/>
            </a:pPr>
            <a:r>
              <a:rPr lang="zh-CN" altLang="en-US" sz="2400" b="1" dirty="0">
                <a:solidFill>
                  <a:schemeClr val="bg2"/>
                </a:solidFill>
              </a:rPr>
              <a:t>若是常量的比较，则按无符号数进行比较；若是变量的比较，则比较它们的偏移量的大小。</a:t>
            </a:r>
          </a:p>
          <a:p>
            <a:pPr marL="342900" indent="-342900" eaLnBrk="1" hangingPunct="1">
              <a:buClr>
                <a:srgbClr val="C00000"/>
              </a:buClr>
              <a:buFont typeface="Wingdings" panose="05000000000000000000" pitchFamily="2" charset="2"/>
              <a:buChar char="n"/>
            </a:pPr>
            <a:r>
              <a:rPr lang="zh-CN" altLang="en-US" sz="2400" b="1" dirty="0">
                <a:solidFill>
                  <a:schemeClr val="bg2"/>
                </a:solidFill>
              </a:rPr>
              <a:t>关系运算的结果只能是“真”（全</a:t>
            </a:r>
            <a:r>
              <a:rPr lang="en-US" altLang="zh-CN" sz="2400" b="1" dirty="0">
                <a:solidFill>
                  <a:schemeClr val="bg2"/>
                </a:solidFill>
              </a:rPr>
              <a:t>1</a:t>
            </a:r>
            <a:r>
              <a:rPr lang="zh-CN" altLang="en-US" sz="2400" b="1" dirty="0">
                <a:solidFill>
                  <a:schemeClr val="bg2"/>
                </a:solidFill>
              </a:rPr>
              <a:t>）或“假”（全</a:t>
            </a:r>
            <a:r>
              <a:rPr lang="en-US" altLang="zh-CN" sz="2400" b="1" dirty="0">
                <a:solidFill>
                  <a:schemeClr val="bg2"/>
                </a:solidFill>
              </a:rPr>
              <a:t>0</a:t>
            </a:r>
            <a:r>
              <a:rPr lang="zh-CN" altLang="en-US" sz="2400" b="1" dirty="0">
                <a:solidFill>
                  <a:schemeClr val="bg2"/>
                </a:solidFill>
              </a:rPr>
              <a:t>）</a:t>
            </a:r>
          </a:p>
        </p:txBody>
      </p:sp>
      <p:grpSp>
        <p:nvGrpSpPr>
          <p:cNvPr id="47110" name="Group 6"/>
          <p:cNvGrpSpPr>
            <a:grpSpLocks/>
          </p:cNvGrpSpPr>
          <p:nvPr/>
        </p:nvGrpSpPr>
        <p:grpSpPr bwMode="auto">
          <a:xfrm>
            <a:off x="289039" y="3003825"/>
            <a:ext cx="5075049" cy="830263"/>
            <a:chOff x="-16" y="48"/>
            <a:chExt cx="5152" cy="523"/>
          </a:xfrm>
        </p:grpSpPr>
        <p:sp>
          <p:nvSpPr>
            <p:cNvPr id="47111" name="Text Box 5"/>
            <p:cNvSpPr txBox="1">
              <a:spLocks noChangeArrowheads="1"/>
            </p:cNvSpPr>
            <p:nvPr/>
          </p:nvSpPr>
          <p:spPr bwMode="auto">
            <a:xfrm>
              <a:off x="624" y="48"/>
              <a:ext cx="4512" cy="52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MOV   AX</a:t>
              </a:r>
              <a:r>
                <a:rPr lang="zh-CN" altLang="en-US" sz="2400" b="1" dirty="0">
                  <a:solidFill>
                    <a:schemeClr val="bg2"/>
                  </a:solidFill>
                </a:rPr>
                <a:t>，</a:t>
              </a:r>
              <a:r>
                <a:rPr lang="en-US" altLang="zh-CN" sz="2400" b="1" dirty="0">
                  <a:solidFill>
                    <a:schemeClr val="bg2"/>
                  </a:solidFill>
                </a:rPr>
                <a:t>0FH  EQ  1111B</a:t>
              </a:r>
              <a:br>
                <a:rPr lang="en-US" altLang="zh-CN" sz="2400" b="1" dirty="0">
                  <a:solidFill>
                    <a:schemeClr val="bg2"/>
                  </a:solidFill>
                </a:rPr>
              </a:br>
              <a:r>
                <a:rPr lang="en-US" altLang="zh-CN" sz="2400" b="1" dirty="0">
                  <a:solidFill>
                    <a:schemeClr val="bg2"/>
                  </a:solidFill>
                </a:rPr>
                <a:t>MOV   BX ,  0FH  NE  1111B</a:t>
              </a:r>
            </a:p>
          </p:txBody>
        </p:sp>
        <p:sp>
          <p:nvSpPr>
            <p:cNvPr id="47112" name="Text Box 6"/>
            <p:cNvSpPr txBox="1">
              <a:spLocks noChangeArrowheads="1"/>
            </p:cNvSpPr>
            <p:nvPr/>
          </p:nvSpPr>
          <p:spPr bwMode="auto">
            <a:xfrm>
              <a:off x="-16" y="6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a:t>
              </a:r>
              <a:r>
                <a:rPr lang="en-US" altLang="zh-CN" sz="2400" b="1" dirty="0" smtClean="0">
                  <a:solidFill>
                    <a:schemeClr val="bg2"/>
                  </a:solidFill>
                </a:rPr>
                <a:t>1</a:t>
              </a:r>
              <a:endParaRPr lang="zh-CN" altLang="en-US" sz="2400" b="1" dirty="0">
                <a:solidFill>
                  <a:schemeClr val="bg2"/>
                </a:solidFill>
              </a:endParaRPr>
            </a:p>
          </p:txBody>
        </p:sp>
      </p:grpSp>
      <p:sp>
        <p:nvSpPr>
          <p:cNvPr id="47113" name="Text Box 7"/>
          <p:cNvSpPr txBox="1">
            <a:spLocks noChangeArrowheads="1"/>
          </p:cNvSpPr>
          <p:nvPr/>
        </p:nvSpPr>
        <p:spPr bwMode="auto">
          <a:xfrm>
            <a:off x="919480" y="4222721"/>
            <a:ext cx="4428286" cy="4572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a:solidFill>
                  <a:schemeClr val="bg2"/>
                </a:solidFill>
              </a:rPr>
              <a:t>VAR    DW   NUM  LT  0ABH</a:t>
            </a:r>
          </a:p>
        </p:txBody>
      </p:sp>
      <p:sp>
        <p:nvSpPr>
          <p:cNvPr id="47114" name="Text Box 9"/>
          <p:cNvSpPr txBox="1">
            <a:spLocks noChangeArrowheads="1"/>
          </p:cNvSpPr>
          <p:nvPr/>
        </p:nvSpPr>
        <p:spPr bwMode="auto">
          <a:xfrm>
            <a:off x="684213" y="5019950"/>
            <a:ext cx="780573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该语句在汇编时，根据符号常量</a:t>
            </a:r>
            <a:r>
              <a:rPr lang="en-US" altLang="zh-CN" sz="2400" b="1" dirty="0">
                <a:solidFill>
                  <a:schemeClr val="bg2"/>
                </a:solidFill>
              </a:rPr>
              <a:t>NUM</a:t>
            </a:r>
            <a:r>
              <a:rPr lang="zh-CN" altLang="en-US" sz="2400" b="1" dirty="0">
                <a:solidFill>
                  <a:schemeClr val="bg2"/>
                </a:solidFill>
              </a:rPr>
              <a:t>的大小来决定</a:t>
            </a:r>
            <a:r>
              <a:rPr lang="en-US" altLang="zh-CN" sz="2400" b="1" dirty="0">
                <a:solidFill>
                  <a:schemeClr val="bg2"/>
                </a:solidFill>
              </a:rPr>
              <a:t>VAR</a:t>
            </a:r>
            <a:r>
              <a:rPr lang="zh-CN" altLang="en-US" sz="2400" b="1" dirty="0">
                <a:solidFill>
                  <a:schemeClr val="bg2"/>
                </a:solidFill>
              </a:rPr>
              <a:t>存储单元的值，当</a:t>
            </a:r>
            <a:r>
              <a:rPr lang="en-US" altLang="zh-CN" sz="2400" b="1" dirty="0">
                <a:solidFill>
                  <a:schemeClr val="bg2"/>
                </a:solidFill>
              </a:rPr>
              <a:t>NUM&lt;0ABH</a:t>
            </a:r>
            <a:r>
              <a:rPr lang="zh-CN" altLang="en-US" sz="2400" b="1" dirty="0">
                <a:solidFill>
                  <a:schemeClr val="bg2"/>
                </a:solidFill>
              </a:rPr>
              <a:t>时，则变量</a:t>
            </a:r>
            <a:r>
              <a:rPr lang="en-US" altLang="zh-CN" sz="2400" b="1" dirty="0">
                <a:solidFill>
                  <a:schemeClr val="bg2"/>
                </a:solidFill>
              </a:rPr>
              <a:t>VAR</a:t>
            </a:r>
            <a:r>
              <a:rPr lang="zh-CN" altLang="en-US" sz="2400" b="1" dirty="0">
                <a:solidFill>
                  <a:schemeClr val="bg2"/>
                </a:solidFill>
              </a:rPr>
              <a:t>的内容为0</a:t>
            </a:r>
            <a:r>
              <a:rPr lang="en-US" altLang="zh-CN" sz="2400" b="1" dirty="0">
                <a:solidFill>
                  <a:schemeClr val="bg2"/>
                </a:solidFill>
              </a:rPr>
              <a:t>FFFFH</a:t>
            </a:r>
            <a:r>
              <a:rPr lang="zh-CN" altLang="en-US" sz="2400" b="1" dirty="0">
                <a:solidFill>
                  <a:schemeClr val="bg2"/>
                </a:solidFill>
              </a:rPr>
              <a:t>，否则</a:t>
            </a:r>
            <a:r>
              <a:rPr lang="en-US" altLang="zh-CN" sz="2400" b="1" dirty="0">
                <a:solidFill>
                  <a:schemeClr val="bg2"/>
                </a:solidFill>
              </a:rPr>
              <a:t>VAR</a:t>
            </a:r>
            <a:r>
              <a:rPr lang="zh-CN" altLang="en-US" sz="2400" b="1" dirty="0">
                <a:solidFill>
                  <a:schemeClr val="bg2"/>
                </a:solidFill>
              </a:rPr>
              <a:t>的内容为0。</a:t>
            </a:r>
          </a:p>
        </p:txBody>
      </p:sp>
      <p:sp>
        <p:nvSpPr>
          <p:cNvPr id="47115" name="Text Box 12"/>
          <p:cNvSpPr txBox="1">
            <a:spLocks noChangeArrowheads="1"/>
          </p:cNvSpPr>
          <p:nvPr/>
        </p:nvSpPr>
        <p:spPr bwMode="auto">
          <a:xfrm>
            <a:off x="289039" y="4222224"/>
            <a:ext cx="858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a:t>
            </a:r>
            <a:r>
              <a:rPr lang="en-US" altLang="zh-CN" sz="2400" b="1" dirty="0">
                <a:solidFill>
                  <a:schemeClr val="bg2"/>
                </a:solidFill>
              </a:rPr>
              <a:t>2</a:t>
            </a:r>
          </a:p>
        </p:txBody>
      </p:sp>
      <p:sp>
        <p:nvSpPr>
          <p:cNvPr id="2" name="文本框 1"/>
          <p:cNvSpPr txBox="1"/>
          <p:nvPr/>
        </p:nvSpPr>
        <p:spPr>
          <a:xfrm>
            <a:off x="5287095" y="2996952"/>
            <a:ext cx="3172693" cy="461665"/>
          </a:xfrm>
          <a:prstGeom prst="rect">
            <a:avLst/>
          </a:prstGeom>
          <a:noFill/>
        </p:spPr>
        <p:txBody>
          <a:bodyPr wrap="square" rtlCol="0">
            <a:spAutoFit/>
          </a:bodyPr>
          <a:lstStyle/>
          <a:p>
            <a:r>
              <a:rPr lang="en-US" altLang="zh-CN" sz="2400" b="1" dirty="0">
                <a:solidFill>
                  <a:schemeClr val="bg2"/>
                </a:solidFill>
              </a:rPr>
              <a:t>=&gt;MOV  AX ,0FFFFH</a:t>
            </a:r>
            <a:endParaRPr lang="zh-CN" altLang="en-US" sz="2400" dirty="0"/>
          </a:p>
        </p:txBody>
      </p:sp>
      <p:sp>
        <p:nvSpPr>
          <p:cNvPr id="3" name="文本框 2"/>
          <p:cNvSpPr txBox="1"/>
          <p:nvPr/>
        </p:nvSpPr>
        <p:spPr>
          <a:xfrm>
            <a:off x="5277658" y="3372423"/>
            <a:ext cx="2483768" cy="461665"/>
          </a:xfrm>
          <a:prstGeom prst="rect">
            <a:avLst/>
          </a:prstGeom>
          <a:noFill/>
        </p:spPr>
        <p:txBody>
          <a:bodyPr wrap="square" rtlCol="0">
            <a:spAutoFit/>
          </a:bodyPr>
          <a:lstStyle/>
          <a:p>
            <a:r>
              <a:rPr lang="en-US" altLang="zh-CN" sz="2400" b="1" dirty="0">
                <a:solidFill>
                  <a:schemeClr val="bg2"/>
                </a:solidFill>
              </a:rPr>
              <a:t>=&gt;MOV   BX, 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71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71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down)">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7113"/>
                                        </p:tgtEl>
                                        <p:attrNameLst>
                                          <p:attrName>style.visibility</p:attrName>
                                        </p:attrNameLst>
                                      </p:cBhvr>
                                      <p:to>
                                        <p:strVal val="visible"/>
                                      </p:to>
                                    </p:set>
                                    <p:anim calcmode="lin" valueType="num">
                                      <p:cBhvr additive="base">
                                        <p:cTn id="33" dur="500" fill="hold"/>
                                        <p:tgtEl>
                                          <p:spTgt spid="47113"/>
                                        </p:tgtEl>
                                        <p:attrNameLst>
                                          <p:attrName>ppt_x</p:attrName>
                                        </p:attrNameLst>
                                      </p:cBhvr>
                                      <p:tavLst>
                                        <p:tav tm="0">
                                          <p:val>
                                            <p:strVal val="#ppt_x"/>
                                          </p:val>
                                        </p:tav>
                                        <p:tav tm="100000">
                                          <p:val>
                                            <p:strVal val="#ppt_x"/>
                                          </p:val>
                                        </p:tav>
                                      </p:tavLst>
                                    </p:anim>
                                    <p:anim calcmode="lin" valueType="num">
                                      <p:cBhvr additive="base">
                                        <p:cTn id="34" dur="500" fill="hold"/>
                                        <p:tgtEl>
                                          <p:spTgt spid="4711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7115"/>
                                        </p:tgtEl>
                                        <p:attrNameLst>
                                          <p:attrName>style.visibility</p:attrName>
                                        </p:attrNameLst>
                                      </p:cBhvr>
                                      <p:to>
                                        <p:strVal val="visible"/>
                                      </p:to>
                                    </p:set>
                                    <p:anim calcmode="lin" valueType="num">
                                      <p:cBhvr additive="base">
                                        <p:cTn id="37" dur="500" fill="hold"/>
                                        <p:tgtEl>
                                          <p:spTgt spid="47115"/>
                                        </p:tgtEl>
                                        <p:attrNameLst>
                                          <p:attrName>ppt_x</p:attrName>
                                        </p:attrNameLst>
                                      </p:cBhvr>
                                      <p:tavLst>
                                        <p:tav tm="0">
                                          <p:val>
                                            <p:strVal val="#ppt_x"/>
                                          </p:val>
                                        </p:tav>
                                        <p:tav tm="100000">
                                          <p:val>
                                            <p:strVal val="#ppt_x"/>
                                          </p:val>
                                        </p:tav>
                                      </p:tavLst>
                                    </p:anim>
                                    <p:anim calcmode="lin" valueType="num">
                                      <p:cBhvr additive="base">
                                        <p:cTn id="38" dur="500" fill="hold"/>
                                        <p:tgtEl>
                                          <p:spTgt spid="471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47114"/>
                                        </p:tgtEl>
                                        <p:attrNameLst>
                                          <p:attrName>style.visibility</p:attrName>
                                        </p:attrNameLst>
                                      </p:cBhvr>
                                      <p:to>
                                        <p:strVal val="visible"/>
                                      </p:to>
                                    </p:set>
                                    <p:animEffect transition="in" filter="box(out)">
                                      <p:cBhvr>
                                        <p:cTn id="43" dur="500"/>
                                        <p:tgtEl>
                                          <p:spTgt spid="47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uiExpand="1" build="p" autoUpdateAnimBg="0"/>
      <p:bldP spid="47113" grpId="0" animBg="1" autoUpdateAnimBg="0"/>
      <p:bldP spid="47114" grpId="0" autoUpdateAnimBg="0"/>
      <p:bldP spid="47115" grpId="0" autoUpdateAnimBg="0"/>
      <p:bldP spid="2"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txBox="1">
            <a:spLocks noGrp="1" noChangeArrowheads="1"/>
          </p:cNvSpPr>
          <p:nvPr/>
        </p:nvSpPr>
        <p:spPr bwMode="auto">
          <a:xfrm>
            <a:off x="8420894" y="6350396"/>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FD9F8F84-9BC6-404D-9000-AC419BCDE419}" type="slidenum">
              <a:rPr lang="en-US" altLang="zh-CN" sz="1400">
                <a:solidFill>
                  <a:schemeClr val="bg2"/>
                </a:solidFill>
              </a:rPr>
              <a:pPr algn="r" eaLnBrk="1" hangingPunct="1"/>
              <a:t>39</a:t>
            </a:fld>
            <a:endParaRPr lang="en-US" altLang="zh-CN" sz="1400">
              <a:solidFill>
                <a:schemeClr val="bg2"/>
              </a:solidFill>
            </a:endParaRPr>
          </a:p>
        </p:txBody>
      </p:sp>
      <p:sp>
        <p:nvSpPr>
          <p:cNvPr id="48131" name="Rectangle 2"/>
          <p:cNvSpPr>
            <a:spLocks noChangeArrowheads="1"/>
          </p:cNvSpPr>
          <p:nvPr/>
        </p:nvSpPr>
        <p:spPr bwMode="auto">
          <a:xfrm>
            <a:off x="2590800" y="533400"/>
            <a:ext cx="3405188" cy="5191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b="1" dirty="0">
                <a:solidFill>
                  <a:schemeClr val="hlink"/>
                </a:solidFill>
              </a:rPr>
              <a:t>四、数值返回运算符</a:t>
            </a:r>
          </a:p>
        </p:txBody>
      </p:sp>
      <p:sp>
        <p:nvSpPr>
          <p:cNvPr id="48132" name="Rectangle 3"/>
          <p:cNvSpPr>
            <a:spLocks noChangeArrowheads="1"/>
          </p:cNvSpPr>
          <p:nvPr/>
        </p:nvSpPr>
        <p:spPr bwMode="auto">
          <a:xfrm>
            <a:off x="533400" y="1052736"/>
            <a:ext cx="8229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       </a:t>
            </a:r>
            <a:r>
              <a:rPr lang="zh-CN" altLang="en-US" sz="2400" b="1" dirty="0">
                <a:solidFill>
                  <a:schemeClr val="bg2"/>
                </a:solidFill>
              </a:rPr>
              <a:t>该类运算符有</a:t>
            </a:r>
            <a:r>
              <a:rPr lang="en-US" altLang="zh-CN" sz="2400" b="1" dirty="0">
                <a:solidFill>
                  <a:schemeClr val="bg2"/>
                </a:solidFill>
              </a:rPr>
              <a:t>5</a:t>
            </a:r>
            <a:r>
              <a:rPr lang="zh-CN" altLang="en-US" sz="2400" b="1" dirty="0">
                <a:solidFill>
                  <a:schemeClr val="bg2"/>
                </a:solidFill>
              </a:rPr>
              <a:t>个，它们将变量或标号的某些特征值或存储单元地址的一部分提取出来。</a:t>
            </a:r>
          </a:p>
        </p:txBody>
      </p:sp>
      <p:sp>
        <p:nvSpPr>
          <p:cNvPr id="48133" name="Rectangle 4"/>
          <p:cNvSpPr>
            <a:spLocks noChangeArrowheads="1"/>
          </p:cNvSpPr>
          <p:nvPr/>
        </p:nvSpPr>
        <p:spPr bwMode="auto">
          <a:xfrm>
            <a:off x="1752600" y="2729136"/>
            <a:ext cx="45993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取变量或标号所在段的段基址。</a:t>
            </a:r>
          </a:p>
        </p:txBody>
      </p:sp>
      <p:sp>
        <p:nvSpPr>
          <p:cNvPr id="48134" name="Rectangle 5"/>
          <p:cNvSpPr>
            <a:spLocks noChangeArrowheads="1"/>
          </p:cNvSpPr>
          <p:nvPr/>
        </p:nvSpPr>
        <p:spPr bwMode="auto">
          <a:xfrm>
            <a:off x="609600" y="2119536"/>
            <a:ext cx="1946275"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1.SEG</a:t>
            </a:r>
            <a:r>
              <a:rPr lang="zh-CN" altLang="en-US" sz="2400" b="1" dirty="0">
                <a:solidFill>
                  <a:schemeClr val="hlink"/>
                </a:solidFill>
              </a:rPr>
              <a:t>运算符</a:t>
            </a:r>
          </a:p>
        </p:txBody>
      </p:sp>
      <p:grpSp>
        <p:nvGrpSpPr>
          <p:cNvPr id="48135" name="Group 7"/>
          <p:cNvGrpSpPr>
            <a:grpSpLocks/>
          </p:cNvGrpSpPr>
          <p:nvPr/>
        </p:nvGrpSpPr>
        <p:grpSpPr bwMode="auto">
          <a:xfrm>
            <a:off x="0" y="3934842"/>
            <a:ext cx="4343400" cy="2384425"/>
            <a:chOff x="0" y="0"/>
            <a:chExt cx="2736" cy="1502"/>
          </a:xfrm>
        </p:grpSpPr>
        <p:sp>
          <p:nvSpPr>
            <p:cNvPr id="48136" name="Text Box 6"/>
            <p:cNvSpPr txBox="1">
              <a:spLocks noChangeArrowheads="1"/>
            </p:cNvSpPr>
            <p:nvPr/>
          </p:nvSpPr>
          <p:spPr bwMode="auto">
            <a:xfrm>
              <a:off x="624" y="48"/>
              <a:ext cx="2112" cy="1454"/>
            </a:xfrm>
            <a:prstGeom prst="rect">
              <a:avLst/>
            </a:prstGeom>
            <a:noFill/>
            <a:ln w="38100"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DATA  SEGMENT </a:t>
              </a:r>
              <a:br>
                <a:rPr lang="en-US" altLang="zh-CN" sz="2400" b="1" dirty="0">
                  <a:solidFill>
                    <a:schemeClr val="bg2"/>
                  </a:solidFill>
                </a:rPr>
              </a:br>
              <a:r>
                <a:rPr lang="en-US" altLang="zh-CN" sz="2400" b="1" dirty="0">
                  <a:solidFill>
                    <a:schemeClr val="bg2"/>
                  </a:solidFill>
                </a:rPr>
                <a:t>  K1   DW  1</a:t>
              </a:r>
              <a:r>
                <a:rPr lang="zh-CN" altLang="en-US" sz="2400" b="1" dirty="0">
                  <a:solidFill>
                    <a:schemeClr val="bg2"/>
                  </a:solidFill>
                </a:rPr>
                <a:t>，</a:t>
              </a:r>
              <a:r>
                <a:rPr lang="en-US" altLang="zh-CN" sz="2400" b="1" dirty="0">
                  <a:solidFill>
                    <a:schemeClr val="bg2"/>
                  </a:solidFill>
                </a:rPr>
                <a:t>2</a:t>
              </a:r>
              <a:br>
                <a:rPr lang="en-US" altLang="zh-CN" sz="2400" b="1" dirty="0">
                  <a:solidFill>
                    <a:schemeClr val="bg2"/>
                  </a:solidFill>
                </a:rPr>
              </a:br>
              <a:r>
                <a:rPr lang="en-US" altLang="zh-CN" sz="2400" b="1" dirty="0">
                  <a:solidFill>
                    <a:schemeClr val="bg2"/>
                  </a:solidFill>
                </a:rPr>
                <a:t>  K2   DW  3</a:t>
              </a:r>
              <a:r>
                <a:rPr lang="zh-CN" altLang="en-US" sz="2400" b="1" dirty="0">
                  <a:solidFill>
                    <a:schemeClr val="bg2"/>
                  </a:solidFill>
                </a:rPr>
                <a:t>，</a:t>
              </a:r>
              <a:r>
                <a:rPr lang="en-US" altLang="zh-CN" sz="2400" b="1" dirty="0">
                  <a:solidFill>
                    <a:schemeClr val="bg2"/>
                  </a:solidFill>
                </a:rPr>
                <a:t>4</a:t>
              </a:r>
              <a:br>
                <a:rPr lang="en-US" altLang="zh-CN" sz="2400" b="1" dirty="0">
                  <a:solidFill>
                    <a:schemeClr val="bg2"/>
                  </a:solidFill>
                </a:rPr>
              </a:br>
              <a:r>
                <a:rPr lang="en-US" altLang="zh-CN" sz="2400" b="1" dirty="0">
                  <a:solidFill>
                    <a:schemeClr val="bg2"/>
                  </a:solidFill>
                </a:rPr>
                <a:t>        ……</a:t>
              </a:r>
              <a:br>
                <a:rPr lang="en-US" altLang="zh-CN" sz="2400" b="1" dirty="0">
                  <a:solidFill>
                    <a:schemeClr val="bg2"/>
                  </a:solidFill>
                </a:rPr>
              </a:br>
              <a:r>
                <a:rPr lang="en-US" altLang="zh-CN" sz="2400" b="1" dirty="0">
                  <a:solidFill>
                    <a:schemeClr val="bg2"/>
                  </a:solidFill>
                </a:rPr>
                <a:t> MOV   AX , SEG   K1</a:t>
              </a:r>
              <a:br>
                <a:rPr lang="en-US" altLang="zh-CN" sz="2400" b="1" dirty="0">
                  <a:solidFill>
                    <a:schemeClr val="bg2"/>
                  </a:solidFill>
                </a:rPr>
              </a:br>
              <a:r>
                <a:rPr lang="en-US" altLang="zh-CN" sz="2400" b="1" dirty="0">
                  <a:solidFill>
                    <a:schemeClr val="bg2"/>
                  </a:solidFill>
                </a:rPr>
                <a:t> MOV   BX ,  SEG  K2</a:t>
              </a:r>
            </a:p>
          </p:txBody>
        </p:sp>
        <p:sp>
          <p:nvSpPr>
            <p:cNvPr id="48137" name="Text Box 7"/>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例如：</a:t>
              </a:r>
            </a:p>
          </p:txBody>
        </p:sp>
      </p:grpSp>
      <p:grpSp>
        <p:nvGrpSpPr>
          <p:cNvPr id="48138" name="Group 10"/>
          <p:cNvGrpSpPr>
            <a:grpSpLocks/>
          </p:cNvGrpSpPr>
          <p:nvPr/>
        </p:nvGrpSpPr>
        <p:grpSpPr bwMode="auto">
          <a:xfrm>
            <a:off x="4317206" y="3931568"/>
            <a:ext cx="4787900" cy="2316163"/>
            <a:chOff x="0" y="0"/>
            <a:chExt cx="2880" cy="1451"/>
          </a:xfrm>
        </p:grpSpPr>
        <p:sp>
          <p:nvSpPr>
            <p:cNvPr id="48139" name="Text Box 8"/>
            <p:cNvSpPr txBox="1">
              <a:spLocks noChangeArrowheads="1"/>
            </p:cNvSpPr>
            <p:nvPr/>
          </p:nvSpPr>
          <p:spPr bwMode="auto">
            <a:xfrm>
              <a:off x="0" y="0"/>
              <a:ext cx="2880" cy="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设</a:t>
              </a:r>
              <a:r>
                <a:rPr lang="en-US" altLang="zh-CN" sz="2400" b="1" dirty="0">
                  <a:solidFill>
                    <a:schemeClr val="bg2"/>
                  </a:solidFill>
                </a:rPr>
                <a:t>DATA</a:t>
              </a:r>
              <a:r>
                <a:rPr lang="zh-CN" altLang="en-US" sz="2400" b="1" dirty="0">
                  <a:solidFill>
                    <a:schemeClr val="bg2"/>
                  </a:solidFill>
                </a:rPr>
                <a:t>逻辑段的段基址为</a:t>
              </a:r>
              <a:r>
                <a:rPr lang="en-US" altLang="zh-CN" sz="2400" b="1" dirty="0">
                  <a:solidFill>
                    <a:schemeClr val="bg2"/>
                  </a:solidFill>
                </a:rPr>
                <a:t>1FFEH</a:t>
              </a:r>
              <a:r>
                <a:rPr lang="zh-CN" altLang="en-US" sz="2400" b="1" dirty="0">
                  <a:solidFill>
                    <a:schemeClr val="bg2"/>
                  </a:solidFill>
                </a:rPr>
                <a:t>，则两条传送指令将被汇编为：</a:t>
              </a:r>
            </a:p>
          </p:txBody>
        </p:sp>
        <p:sp>
          <p:nvSpPr>
            <p:cNvPr id="48140" name="Text Box 9"/>
            <p:cNvSpPr txBox="1">
              <a:spLocks noChangeArrowheads="1"/>
            </p:cNvSpPr>
            <p:nvPr/>
          </p:nvSpPr>
          <p:spPr bwMode="auto">
            <a:xfrm>
              <a:off x="384" y="912"/>
              <a:ext cx="1920" cy="539"/>
            </a:xfrm>
            <a:prstGeom prst="rect">
              <a:avLst/>
            </a:prstGeom>
            <a:noFill/>
            <a:ln w="38100"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a:solidFill>
                    <a:schemeClr val="bg2"/>
                  </a:solidFill>
                </a:rPr>
                <a:t>MOV   AX </a:t>
              </a:r>
              <a:r>
                <a:rPr lang="zh-CN" altLang="en-US" sz="2400" b="1">
                  <a:solidFill>
                    <a:schemeClr val="bg2"/>
                  </a:solidFill>
                </a:rPr>
                <a:t>，</a:t>
              </a:r>
              <a:r>
                <a:rPr lang="en-US" altLang="zh-CN" sz="2400" b="1">
                  <a:solidFill>
                    <a:schemeClr val="bg2"/>
                  </a:solidFill>
                </a:rPr>
                <a:t>1FFEH</a:t>
              </a:r>
              <a:br>
                <a:rPr lang="en-US" altLang="zh-CN" sz="2400" b="1">
                  <a:solidFill>
                    <a:schemeClr val="bg2"/>
                  </a:solidFill>
                </a:rPr>
              </a:br>
              <a:r>
                <a:rPr lang="en-US" altLang="zh-CN" sz="2400" b="1">
                  <a:solidFill>
                    <a:schemeClr val="bg2"/>
                  </a:solidFill>
                </a:rPr>
                <a:t>MOV    BX </a:t>
              </a:r>
              <a:r>
                <a:rPr lang="zh-CN" altLang="en-US" sz="2400" b="1">
                  <a:solidFill>
                    <a:schemeClr val="bg2"/>
                  </a:solidFill>
                </a:rPr>
                <a:t>，</a:t>
              </a:r>
              <a:r>
                <a:rPr lang="en-US" altLang="zh-CN" sz="2400" b="1">
                  <a:solidFill>
                    <a:schemeClr val="bg2"/>
                  </a:solidFill>
                </a:rPr>
                <a:t>1FFEH</a:t>
              </a:r>
            </a:p>
          </p:txBody>
        </p:sp>
      </p:grpSp>
      <p:sp>
        <p:nvSpPr>
          <p:cNvPr id="48141" name="Rectangle 10"/>
          <p:cNvSpPr>
            <a:spLocks noChangeArrowheads="1"/>
          </p:cNvSpPr>
          <p:nvPr/>
        </p:nvSpPr>
        <p:spPr bwMode="auto">
          <a:xfrm>
            <a:off x="827088" y="2729136"/>
            <a:ext cx="936625"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rPr>
              <a:t>作用</a:t>
            </a:r>
            <a:r>
              <a:rPr lang="en-US" altLang="zh-CN" sz="2400" b="1" dirty="0">
                <a:solidFill>
                  <a:schemeClr val="hlink"/>
                </a:solidFill>
              </a:rPr>
              <a:t>:</a:t>
            </a:r>
          </a:p>
        </p:txBody>
      </p:sp>
      <p:sp>
        <p:nvSpPr>
          <p:cNvPr id="2" name="文本框 1"/>
          <p:cNvSpPr txBox="1"/>
          <p:nvPr/>
        </p:nvSpPr>
        <p:spPr>
          <a:xfrm>
            <a:off x="533400" y="3330352"/>
            <a:ext cx="8359080" cy="461665"/>
          </a:xfrm>
          <a:prstGeom prst="rect">
            <a:avLst/>
          </a:prstGeom>
          <a:noFill/>
          <a:ln w="38100">
            <a:solidFill>
              <a:srgbClr val="FF0000"/>
            </a:solidFill>
          </a:ln>
        </p:spPr>
        <p:txBody>
          <a:bodyPr wrap="square" rtlCol="0">
            <a:spAutoFit/>
          </a:bodyPr>
          <a:lstStyle/>
          <a:p>
            <a:r>
              <a:rPr lang="zh-CN" altLang="en-US" sz="2400" b="1" dirty="0">
                <a:solidFill>
                  <a:srgbClr val="0066FF"/>
                </a:solidFill>
              </a:rPr>
              <a:t>该运算符为</a:t>
            </a:r>
            <a:r>
              <a:rPr lang="en-US" altLang="zh-CN" sz="2400" b="1" dirty="0">
                <a:solidFill>
                  <a:srgbClr val="0066FF"/>
                </a:solidFill>
              </a:rPr>
              <a:t>16</a:t>
            </a:r>
            <a:r>
              <a:rPr lang="zh-CN" altLang="en-US" sz="2400" b="1" dirty="0">
                <a:solidFill>
                  <a:srgbClr val="0066FF"/>
                </a:solidFill>
              </a:rPr>
              <a:t>位机或实模式下可用，在</a:t>
            </a:r>
            <a:r>
              <a:rPr lang="en-US" altLang="zh-CN" sz="2400" b="1" dirty="0">
                <a:solidFill>
                  <a:srgbClr val="0066FF"/>
                </a:solidFill>
              </a:rPr>
              <a:t>32</a:t>
            </a:r>
            <a:r>
              <a:rPr lang="zh-CN" altLang="en-US" sz="2400" b="1" dirty="0">
                <a:solidFill>
                  <a:srgbClr val="0066FF"/>
                </a:solidFill>
              </a:rPr>
              <a:t>位模式中不能使用！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81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1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813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8141"/>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4813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down)">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481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48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animBg="1" autoUpdateAnimBg="0"/>
      <p:bldP spid="48132" grpId="0" autoUpdateAnimBg="0"/>
      <p:bldP spid="48133" grpId="0" autoUpdateAnimBg="0"/>
      <p:bldP spid="48134" grpId="0" animBg="1" autoUpdateAnimBg="0"/>
      <p:bldP spid="48141" grpId="0" animBg="1" autoUpdateAnimBg="0"/>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C1FD7927-70AC-4512-AFF6-205CC054CFB7}" type="slidenum">
              <a:rPr lang="en-US" altLang="zh-CN" sz="1400">
                <a:solidFill>
                  <a:schemeClr val="bg2"/>
                </a:solidFill>
              </a:rPr>
              <a:pPr algn="r" eaLnBrk="1" hangingPunct="1"/>
              <a:t>40</a:t>
            </a:fld>
            <a:endParaRPr lang="en-US" altLang="zh-CN" sz="1400" dirty="0">
              <a:solidFill>
                <a:schemeClr val="bg2"/>
              </a:solidFill>
            </a:endParaRPr>
          </a:p>
        </p:txBody>
      </p:sp>
      <p:sp>
        <p:nvSpPr>
          <p:cNvPr id="49155" name="Rectangle 2"/>
          <p:cNvSpPr>
            <a:spLocks noChangeArrowheads="1"/>
          </p:cNvSpPr>
          <p:nvPr/>
        </p:nvSpPr>
        <p:spPr bwMode="auto">
          <a:xfrm>
            <a:off x="729464" y="561869"/>
            <a:ext cx="74158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该运算符的作用是取变量或标号在段内的偏移地址。</a:t>
            </a:r>
          </a:p>
        </p:txBody>
      </p:sp>
      <p:sp>
        <p:nvSpPr>
          <p:cNvPr id="49156" name="Rectangle 3"/>
          <p:cNvSpPr>
            <a:spLocks noChangeArrowheads="1"/>
          </p:cNvSpPr>
          <p:nvPr/>
        </p:nvSpPr>
        <p:spPr bwMode="auto">
          <a:xfrm>
            <a:off x="838200" y="108503"/>
            <a:ext cx="2539478"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2.OFFSET</a:t>
            </a:r>
            <a:r>
              <a:rPr lang="zh-CN" altLang="en-US" sz="2400" b="1" dirty="0">
                <a:solidFill>
                  <a:schemeClr val="hlink"/>
                </a:solidFill>
              </a:rPr>
              <a:t>运算符</a:t>
            </a:r>
          </a:p>
        </p:txBody>
      </p:sp>
      <p:sp>
        <p:nvSpPr>
          <p:cNvPr id="49158" name="Text Box 4"/>
          <p:cNvSpPr txBox="1">
            <a:spLocks noChangeArrowheads="1"/>
          </p:cNvSpPr>
          <p:nvPr/>
        </p:nvSpPr>
        <p:spPr bwMode="auto">
          <a:xfrm>
            <a:off x="253421" y="1482296"/>
            <a:ext cx="5040621" cy="46196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    </a:t>
            </a:r>
            <a:r>
              <a:rPr lang="en-US" altLang="zh-CN" sz="2400" b="1" dirty="0">
                <a:solidFill>
                  <a:srgbClr val="0066FF"/>
                </a:solidFill>
              </a:rPr>
              <a:t>;16</a:t>
            </a:r>
            <a:r>
              <a:rPr lang="zh-CN" altLang="en-US" sz="2400" b="1" dirty="0">
                <a:solidFill>
                  <a:srgbClr val="0066FF"/>
                </a:solidFill>
              </a:rPr>
              <a:t>位模式下的例程</a:t>
            </a:r>
          </a:p>
        </p:txBody>
      </p:sp>
      <p:sp>
        <p:nvSpPr>
          <p:cNvPr id="49159" name="Text Box 5"/>
          <p:cNvSpPr txBox="1">
            <a:spLocks noChangeArrowheads="1"/>
          </p:cNvSpPr>
          <p:nvPr/>
        </p:nvSpPr>
        <p:spPr bwMode="auto">
          <a:xfrm>
            <a:off x="1107788" y="1887278"/>
            <a:ext cx="6612003" cy="3416300"/>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DATA SEGMENT</a:t>
            </a:r>
            <a:br>
              <a:rPr lang="en-US" altLang="zh-CN" sz="2400" b="1" dirty="0">
                <a:solidFill>
                  <a:schemeClr val="bg2"/>
                </a:solidFill>
              </a:rPr>
            </a:br>
            <a:r>
              <a:rPr lang="en-US" altLang="zh-CN" sz="2400" b="1" dirty="0">
                <a:solidFill>
                  <a:schemeClr val="bg2"/>
                </a:solidFill>
              </a:rPr>
              <a:t>VAR1  DB   20H DUP(0)</a:t>
            </a:r>
            <a:br>
              <a:rPr lang="en-US" altLang="zh-CN" sz="2400" b="1" dirty="0">
                <a:solidFill>
                  <a:schemeClr val="bg2"/>
                </a:solidFill>
              </a:rPr>
            </a:br>
            <a:r>
              <a:rPr lang="en-US" altLang="zh-CN" sz="2400" b="1" dirty="0">
                <a:solidFill>
                  <a:schemeClr val="bg2"/>
                </a:solidFill>
              </a:rPr>
              <a:t>VAR2  DW  5A49H</a:t>
            </a:r>
            <a:br>
              <a:rPr lang="en-US" altLang="zh-CN" sz="2400" b="1" dirty="0">
                <a:solidFill>
                  <a:schemeClr val="bg2"/>
                </a:solidFill>
              </a:rPr>
            </a:br>
            <a:r>
              <a:rPr lang="en-US" altLang="zh-CN" sz="2400" b="1" dirty="0">
                <a:solidFill>
                  <a:schemeClr val="bg2"/>
                </a:solidFill>
              </a:rPr>
              <a:t>ADDR  DW  VAR2</a:t>
            </a:r>
            <a:r>
              <a:rPr lang="zh-CN" altLang="en-US" sz="2400" b="1" dirty="0">
                <a:solidFill>
                  <a:schemeClr val="bg2"/>
                </a:solidFill>
              </a:rPr>
              <a:t/>
            </a:r>
            <a:br>
              <a:rPr lang="zh-CN" altLang="en-US" sz="2400" b="1" dirty="0">
                <a:solidFill>
                  <a:schemeClr val="bg2"/>
                </a:solidFill>
              </a:rPr>
            </a:br>
            <a:r>
              <a:rPr lang="zh-CN" altLang="en-US" sz="2400" b="1" dirty="0">
                <a:solidFill>
                  <a:schemeClr val="bg2"/>
                </a:solidFill>
              </a:rPr>
              <a:t>              </a:t>
            </a:r>
            <a:r>
              <a:rPr lang="en-US" altLang="zh-CN" sz="2400" b="1" dirty="0">
                <a:solidFill>
                  <a:schemeClr val="bg2"/>
                </a:solidFill>
              </a:rPr>
              <a:t>…….</a:t>
            </a:r>
            <a:br>
              <a:rPr lang="en-US" altLang="zh-CN" sz="2400" b="1" dirty="0">
                <a:solidFill>
                  <a:schemeClr val="bg2"/>
                </a:solidFill>
              </a:rPr>
            </a:br>
            <a:r>
              <a:rPr lang="en-US" altLang="zh-CN" sz="2400" b="1" dirty="0">
                <a:solidFill>
                  <a:schemeClr val="bg2"/>
                </a:solidFill>
              </a:rPr>
              <a:t>              MOV  BX</a:t>
            </a:r>
            <a:r>
              <a:rPr lang="zh-CN" altLang="en-US" sz="2400" b="1" dirty="0">
                <a:solidFill>
                  <a:schemeClr val="bg2"/>
                </a:solidFill>
              </a:rPr>
              <a:t>，</a:t>
            </a:r>
            <a:r>
              <a:rPr lang="en-US" altLang="zh-CN" sz="2400" b="1" dirty="0">
                <a:solidFill>
                  <a:schemeClr val="bg2"/>
                </a:solidFill>
              </a:rPr>
              <a:t>VAR2</a:t>
            </a:r>
            <a:r>
              <a:rPr lang="zh-CN" altLang="en-US" sz="2400" b="1" dirty="0">
                <a:solidFill>
                  <a:schemeClr val="bg2"/>
                </a:solidFill>
              </a:rPr>
              <a:t>；</a:t>
            </a:r>
            <a:r>
              <a:rPr lang="en-US" altLang="zh-CN" sz="2400" b="1" dirty="0">
                <a:solidFill>
                  <a:schemeClr val="bg2"/>
                </a:solidFill>
              </a:rPr>
              <a:t/>
            </a:r>
            <a:br>
              <a:rPr lang="en-US" altLang="zh-CN" sz="2400" b="1" dirty="0">
                <a:solidFill>
                  <a:schemeClr val="bg2"/>
                </a:solidFill>
              </a:rPr>
            </a:br>
            <a:r>
              <a:rPr lang="en-US" altLang="zh-CN" sz="2400" b="1" dirty="0">
                <a:solidFill>
                  <a:schemeClr val="bg2"/>
                </a:solidFill>
              </a:rPr>
              <a:t>              MOV   SI , OFFSET  VAR2</a:t>
            </a:r>
            <a:br>
              <a:rPr lang="en-US" altLang="zh-CN" sz="2400" b="1" dirty="0">
                <a:solidFill>
                  <a:schemeClr val="bg2"/>
                </a:solidFill>
              </a:rPr>
            </a:br>
            <a:r>
              <a:rPr lang="en-US" altLang="zh-CN" sz="2400" b="1" dirty="0">
                <a:solidFill>
                  <a:schemeClr val="bg2"/>
                </a:solidFill>
              </a:rPr>
              <a:t>              MOV   DI, ADDR</a:t>
            </a:r>
            <a:r>
              <a:rPr lang="zh-CN" altLang="en-US" sz="2400" b="1" dirty="0">
                <a:solidFill>
                  <a:schemeClr val="bg2"/>
                </a:solidFill>
              </a:rPr>
              <a:t/>
            </a:r>
            <a:br>
              <a:rPr lang="zh-CN" altLang="en-US" sz="2400" b="1" dirty="0">
                <a:solidFill>
                  <a:schemeClr val="bg2"/>
                </a:solidFill>
              </a:rPr>
            </a:br>
            <a:r>
              <a:rPr lang="zh-CN" altLang="en-US" sz="2400" b="1" dirty="0">
                <a:solidFill>
                  <a:schemeClr val="bg2"/>
                </a:solidFill>
              </a:rPr>
              <a:t>              </a:t>
            </a:r>
            <a:r>
              <a:rPr lang="en-US" altLang="zh-CN" sz="2400" b="1" dirty="0">
                <a:solidFill>
                  <a:schemeClr val="bg2"/>
                </a:solidFill>
              </a:rPr>
              <a:t>MOV   BP</a:t>
            </a:r>
            <a:r>
              <a:rPr lang="zh-CN" altLang="en-US" sz="2400" b="1" dirty="0">
                <a:solidFill>
                  <a:schemeClr val="bg2"/>
                </a:solidFill>
              </a:rPr>
              <a:t>，</a:t>
            </a:r>
            <a:r>
              <a:rPr lang="en-US" altLang="zh-CN" sz="2400" b="1" dirty="0">
                <a:solidFill>
                  <a:schemeClr val="bg2"/>
                </a:solidFill>
              </a:rPr>
              <a:t>OFFSET  ADDR</a:t>
            </a:r>
            <a:endParaRPr lang="en-US" altLang="zh-CN" sz="2400" b="1" dirty="0">
              <a:solidFill>
                <a:schemeClr val="hlink"/>
              </a:solidFill>
            </a:endParaRPr>
          </a:p>
        </p:txBody>
      </p:sp>
      <p:sp>
        <p:nvSpPr>
          <p:cNvPr id="8" name="文本框 7"/>
          <p:cNvSpPr txBox="1"/>
          <p:nvPr/>
        </p:nvSpPr>
        <p:spPr>
          <a:xfrm>
            <a:off x="3761334" y="2973514"/>
            <a:ext cx="5040560" cy="461665"/>
          </a:xfrm>
          <a:prstGeom prst="rect">
            <a:avLst/>
          </a:prstGeom>
          <a:noFill/>
        </p:spPr>
        <p:txBody>
          <a:bodyPr wrap="square" rtlCol="0">
            <a:spAutoFit/>
          </a:bodyPr>
          <a:lstStyle/>
          <a:p>
            <a:r>
              <a:rPr lang="en-US" altLang="zh-CN" sz="2400" b="1" dirty="0">
                <a:solidFill>
                  <a:schemeClr val="hlink"/>
                </a:solidFill>
              </a:rPr>
              <a:t>;</a:t>
            </a:r>
            <a:r>
              <a:rPr lang="zh-CN" altLang="en-US" sz="2400" b="1" dirty="0">
                <a:solidFill>
                  <a:schemeClr val="hlink"/>
                </a:solidFill>
              </a:rPr>
              <a:t>将</a:t>
            </a:r>
            <a:r>
              <a:rPr lang="en-US" altLang="zh-CN" sz="2400" b="1" dirty="0">
                <a:solidFill>
                  <a:schemeClr val="hlink"/>
                </a:solidFill>
              </a:rPr>
              <a:t>VAR2</a:t>
            </a:r>
            <a:r>
              <a:rPr lang="zh-CN" altLang="en-US" sz="2400" b="1" dirty="0">
                <a:solidFill>
                  <a:schemeClr val="hlink"/>
                </a:solidFill>
              </a:rPr>
              <a:t>的偏移量</a:t>
            </a:r>
            <a:r>
              <a:rPr lang="en-US" altLang="zh-CN" sz="2400" b="1" dirty="0">
                <a:solidFill>
                  <a:schemeClr val="hlink"/>
                </a:solidFill>
              </a:rPr>
              <a:t>20H</a:t>
            </a:r>
            <a:r>
              <a:rPr lang="zh-CN" altLang="en-US" sz="2400" b="1" dirty="0">
                <a:solidFill>
                  <a:schemeClr val="hlink"/>
                </a:solidFill>
              </a:rPr>
              <a:t>存入</a:t>
            </a:r>
            <a:r>
              <a:rPr lang="en-US" altLang="zh-CN" sz="2400" b="1" dirty="0">
                <a:solidFill>
                  <a:schemeClr val="hlink"/>
                </a:solidFill>
              </a:rPr>
              <a:t>ADDR</a:t>
            </a:r>
            <a:r>
              <a:rPr lang="zh-CN" altLang="en-US" sz="2400" b="1" dirty="0">
                <a:solidFill>
                  <a:schemeClr val="hlink"/>
                </a:solidFill>
              </a:rPr>
              <a:t>中</a:t>
            </a:r>
            <a:endParaRPr lang="zh-CN" altLang="en-US" sz="2400" dirty="0"/>
          </a:p>
        </p:txBody>
      </p:sp>
      <p:sp>
        <p:nvSpPr>
          <p:cNvPr id="10" name="文本框 9"/>
          <p:cNvSpPr txBox="1"/>
          <p:nvPr/>
        </p:nvSpPr>
        <p:spPr>
          <a:xfrm>
            <a:off x="4788024" y="3674152"/>
            <a:ext cx="2016224" cy="461665"/>
          </a:xfrm>
          <a:prstGeom prst="rect">
            <a:avLst/>
          </a:prstGeom>
          <a:noFill/>
        </p:spPr>
        <p:txBody>
          <a:bodyPr wrap="square" rtlCol="0">
            <a:spAutoFit/>
          </a:bodyPr>
          <a:lstStyle/>
          <a:p>
            <a:r>
              <a:rPr lang="en-US" altLang="zh-CN" sz="2400" b="1" dirty="0">
                <a:solidFill>
                  <a:schemeClr val="hlink"/>
                </a:solidFill>
              </a:rPr>
              <a:t>(BX)=5A49H</a:t>
            </a:r>
            <a:endParaRPr lang="zh-CN" altLang="en-US" sz="2400" dirty="0"/>
          </a:p>
        </p:txBody>
      </p:sp>
      <p:sp>
        <p:nvSpPr>
          <p:cNvPr id="2" name="文本框 1"/>
          <p:cNvSpPr txBox="1"/>
          <p:nvPr/>
        </p:nvSpPr>
        <p:spPr>
          <a:xfrm>
            <a:off x="5823473" y="4039442"/>
            <a:ext cx="1662659" cy="461665"/>
          </a:xfrm>
          <a:prstGeom prst="rect">
            <a:avLst/>
          </a:prstGeom>
          <a:noFill/>
        </p:spPr>
        <p:txBody>
          <a:bodyPr wrap="square" rtlCol="0">
            <a:spAutoFit/>
          </a:bodyPr>
          <a:lstStyle/>
          <a:p>
            <a:r>
              <a:rPr lang="en-US" altLang="zh-CN" sz="2400" b="1" dirty="0">
                <a:solidFill>
                  <a:schemeClr val="hlink"/>
                </a:solidFill>
              </a:rPr>
              <a:t>;(SI)=20H</a:t>
            </a:r>
            <a:endParaRPr lang="zh-CN" altLang="en-US" sz="2400" dirty="0"/>
          </a:p>
        </p:txBody>
      </p:sp>
      <p:sp>
        <p:nvSpPr>
          <p:cNvPr id="3" name="文本框 2"/>
          <p:cNvSpPr txBox="1"/>
          <p:nvPr/>
        </p:nvSpPr>
        <p:spPr>
          <a:xfrm>
            <a:off x="4721349" y="4404732"/>
            <a:ext cx="2998442" cy="461665"/>
          </a:xfrm>
          <a:prstGeom prst="rect">
            <a:avLst/>
          </a:prstGeom>
          <a:noFill/>
        </p:spPr>
        <p:txBody>
          <a:bodyPr wrap="square" rtlCol="0">
            <a:spAutoFit/>
          </a:bodyPr>
          <a:lstStyle/>
          <a:p>
            <a:r>
              <a:rPr lang="en-US" altLang="zh-CN" sz="2400" b="1" dirty="0">
                <a:solidFill>
                  <a:schemeClr val="hlink"/>
                </a:solidFill>
              </a:rPr>
              <a:t>;DI</a:t>
            </a:r>
            <a:r>
              <a:rPr lang="zh-CN" altLang="en-US" sz="2400" b="1" dirty="0">
                <a:solidFill>
                  <a:schemeClr val="hlink"/>
                </a:solidFill>
              </a:rPr>
              <a:t>的内容与</a:t>
            </a:r>
            <a:r>
              <a:rPr lang="en-US" altLang="zh-CN" sz="2400" b="1" dirty="0">
                <a:solidFill>
                  <a:schemeClr val="hlink"/>
                </a:solidFill>
              </a:rPr>
              <a:t>SI</a:t>
            </a:r>
            <a:r>
              <a:rPr lang="zh-CN" altLang="en-US" sz="2400" b="1" dirty="0">
                <a:solidFill>
                  <a:schemeClr val="hlink"/>
                </a:solidFill>
              </a:rPr>
              <a:t>相同</a:t>
            </a:r>
            <a:endParaRPr lang="zh-CN" altLang="en-US" sz="2400" dirty="0"/>
          </a:p>
        </p:txBody>
      </p:sp>
      <p:sp>
        <p:nvSpPr>
          <p:cNvPr id="4" name="文本框 3"/>
          <p:cNvSpPr txBox="1"/>
          <p:nvPr/>
        </p:nvSpPr>
        <p:spPr>
          <a:xfrm>
            <a:off x="6220570" y="4751276"/>
            <a:ext cx="1781622" cy="461665"/>
          </a:xfrm>
          <a:prstGeom prst="rect">
            <a:avLst/>
          </a:prstGeom>
          <a:noFill/>
        </p:spPr>
        <p:txBody>
          <a:bodyPr wrap="square" rtlCol="0">
            <a:spAutoFit/>
          </a:bodyPr>
          <a:lstStyle/>
          <a:p>
            <a:r>
              <a:rPr lang="en-US" altLang="zh-CN" sz="2400" b="1" dirty="0">
                <a:solidFill>
                  <a:schemeClr val="hlink"/>
                </a:solidFill>
              </a:rPr>
              <a:t>;(BP)=22H</a:t>
            </a:r>
            <a:endParaRPr lang="zh-CN" altLang="en-US" sz="2400" dirty="0"/>
          </a:p>
        </p:txBody>
      </p:sp>
      <p:sp>
        <p:nvSpPr>
          <p:cNvPr id="5" name="文本框 4"/>
          <p:cNvSpPr txBox="1"/>
          <p:nvPr/>
        </p:nvSpPr>
        <p:spPr>
          <a:xfrm>
            <a:off x="1806903" y="5254098"/>
            <a:ext cx="4669904" cy="461665"/>
          </a:xfrm>
          <a:prstGeom prst="rect">
            <a:avLst/>
          </a:prstGeom>
          <a:noFill/>
        </p:spPr>
        <p:txBody>
          <a:bodyPr wrap="square" rtlCol="0">
            <a:spAutoFit/>
          </a:bodyPr>
          <a:lstStyle/>
          <a:p>
            <a:r>
              <a:rPr lang="zh-CN" altLang="en-US" sz="2400" b="1" dirty="0">
                <a:solidFill>
                  <a:srgbClr val="0066FF"/>
                </a:solidFill>
              </a:rPr>
              <a:t>获取偏移量还可以用什么方法？</a:t>
            </a:r>
          </a:p>
        </p:txBody>
      </p:sp>
      <p:sp>
        <p:nvSpPr>
          <p:cNvPr id="7" name="七角星 6"/>
          <p:cNvSpPr/>
          <p:nvPr/>
        </p:nvSpPr>
        <p:spPr bwMode="auto">
          <a:xfrm>
            <a:off x="6222313" y="5135311"/>
            <a:ext cx="2579581" cy="657625"/>
          </a:xfrm>
          <a:prstGeom prst="star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sz="2400" dirty="0">
                <a:solidFill>
                  <a:srgbClr val="FF0000"/>
                </a:solidFill>
              </a:rPr>
              <a:t>指令</a:t>
            </a:r>
            <a:r>
              <a:rPr lang="en-US" altLang="zh-CN" sz="2400" dirty="0">
                <a:solidFill>
                  <a:srgbClr val="FF0000"/>
                </a:solidFill>
              </a:rPr>
              <a:t>LEA</a:t>
            </a:r>
            <a:endParaRPr lang="zh-CN" altLang="en-US" sz="2400" dirty="0">
              <a:solidFill>
                <a:srgbClr val="FF0000"/>
              </a:solidFill>
            </a:endParaRPr>
          </a:p>
        </p:txBody>
      </p:sp>
      <p:sp>
        <p:nvSpPr>
          <p:cNvPr id="11" name="文本框 10"/>
          <p:cNvSpPr txBox="1"/>
          <p:nvPr/>
        </p:nvSpPr>
        <p:spPr>
          <a:xfrm>
            <a:off x="838200" y="1025670"/>
            <a:ext cx="7311024" cy="461665"/>
          </a:xfrm>
          <a:prstGeom prst="rect">
            <a:avLst/>
          </a:prstGeom>
          <a:noFill/>
          <a:ln w="38100">
            <a:solidFill>
              <a:srgbClr val="FF0000"/>
            </a:solidFill>
          </a:ln>
        </p:spPr>
        <p:txBody>
          <a:bodyPr wrap="square" rtlCol="0">
            <a:spAutoFit/>
          </a:bodyPr>
          <a:lstStyle/>
          <a:p>
            <a:r>
              <a:rPr lang="zh-CN" altLang="en-US" sz="2400" b="1" dirty="0">
                <a:solidFill>
                  <a:schemeClr val="bg2"/>
                </a:solidFill>
              </a:rPr>
              <a:t>注意：</a:t>
            </a:r>
            <a:r>
              <a:rPr lang="en-US" altLang="zh-CN" sz="2400" b="1" dirty="0">
                <a:solidFill>
                  <a:schemeClr val="bg2"/>
                </a:solidFill>
              </a:rPr>
              <a:t>16</a:t>
            </a:r>
            <a:r>
              <a:rPr lang="zh-CN" altLang="en-US" sz="2400" b="1" dirty="0">
                <a:solidFill>
                  <a:schemeClr val="bg2"/>
                </a:solidFill>
              </a:rPr>
              <a:t>位系统中偏移量为</a:t>
            </a:r>
            <a:r>
              <a:rPr lang="en-US" altLang="zh-CN" sz="2400" b="1" dirty="0">
                <a:solidFill>
                  <a:schemeClr val="bg2"/>
                </a:solidFill>
              </a:rPr>
              <a:t>16</a:t>
            </a:r>
            <a:r>
              <a:rPr lang="zh-CN" altLang="en-US" sz="2400" b="1" dirty="0">
                <a:solidFill>
                  <a:schemeClr val="bg2"/>
                </a:solidFill>
              </a:rPr>
              <a:t>位，</a:t>
            </a:r>
            <a:r>
              <a:rPr lang="en-US" altLang="zh-CN" sz="2400" b="1" dirty="0">
                <a:solidFill>
                  <a:schemeClr val="bg2"/>
                </a:solidFill>
              </a:rPr>
              <a:t>32</a:t>
            </a:r>
            <a:r>
              <a:rPr lang="zh-CN" altLang="en-US" sz="2400" b="1" dirty="0">
                <a:solidFill>
                  <a:schemeClr val="bg2"/>
                </a:solidFill>
              </a:rPr>
              <a:t>位系统为</a:t>
            </a:r>
            <a:r>
              <a:rPr lang="en-US" altLang="zh-CN" sz="2400" b="1" dirty="0">
                <a:solidFill>
                  <a:schemeClr val="bg2"/>
                </a:solidFill>
              </a:rPr>
              <a:t>32</a:t>
            </a:r>
            <a:r>
              <a:rPr lang="zh-CN" altLang="en-US" sz="2400" b="1" dirty="0">
                <a:solidFill>
                  <a:schemeClr val="bg2"/>
                </a:solidFill>
              </a:rPr>
              <a:t>位！</a:t>
            </a:r>
          </a:p>
        </p:txBody>
      </p:sp>
      <p:sp>
        <p:nvSpPr>
          <p:cNvPr id="12" name="圆角矩形 11"/>
          <p:cNvSpPr/>
          <p:nvPr/>
        </p:nvSpPr>
        <p:spPr bwMode="auto">
          <a:xfrm>
            <a:off x="511645" y="5715763"/>
            <a:ext cx="4524175" cy="426672"/>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lang="zh-CN" altLang="en-US" sz="2400" dirty="0">
                <a:solidFill>
                  <a:srgbClr val="FF0000"/>
                </a:solidFill>
              </a:rPr>
              <a:t>该程序能在</a:t>
            </a:r>
            <a:r>
              <a:rPr lang="en-US" altLang="zh-CN" sz="2400" dirty="0">
                <a:solidFill>
                  <a:srgbClr val="FF0000"/>
                </a:solidFill>
              </a:rPr>
              <a:t>32</a:t>
            </a:r>
            <a:r>
              <a:rPr lang="zh-CN" altLang="en-US" sz="2400" dirty="0">
                <a:solidFill>
                  <a:srgbClr val="FF0000"/>
                </a:solidFill>
              </a:rPr>
              <a:t>位</a:t>
            </a:r>
            <a:r>
              <a:rPr lang="en-US" altLang="zh-CN" sz="2400" dirty="0">
                <a:solidFill>
                  <a:srgbClr val="FF0000"/>
                </a:solidFill>
              </a:rPr>
              <a:t>flat</a:t>
            </a:r>
            <a:r>
              <a:rPr lang="zh-CN" altLang="en-US" sz="2400" dirty="0">
                <a:solidFill>
                  <a:srgbClr val="FF0000"/>
                </a:solidFill>
              </a:rPr>
              <a:t>模式运行吗？</a:t>
            </a:r>
            <a:endParaRPr kumimoji="0" lang="zh-CN" altLang="en-US" sz="2400" b="0" i="0" u="none" strike="noStrike" cap="none" normalizeH="0" baseline="0" dirty="0">
              <a:ln>
                <a:noFill/>
              </a:ln>
              <a:solidFill>
                <a:srgbClr val="FF0000"/>
              </a:solidFill>
              <a:effectLst/>
            </a:endParaRPr>
          </a:p>
        </p:txBody>
      </p:sp>
      <p:sp>
        <p:nvSpPr>
          <p:cNvPr id="15" name="七角星 14"/>
          <p:cNvSpPr/>
          <p:nvPr/>
        </p:nvSpPr>
        <p:spPr bwMode="auto">
          <a:xfrm>
            <a:off x="5442115" y="5687613"/>
            <a:ext cx="1656184" cy="635805"/>
          </a:xfrm>
          <a:prstGeom prst="star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400" b="1" i="0" u="none" strike="noStrike" cap="none" normalizeH="0" baseline="0" dirty="0">
                <a:ln>
                  <a:noFill/>
                </a:ln>
                <a:solidFill>
                  <a:srgbClr val="FF0000"/>
                </a:solidFill>
                <a:effectLst/>
                <a:latin typeface="Times New Roman" pitchFamily="18" charset="0"/>
                <a:ea typeface="宋体" pitchFamily="2" charset="-122"/>
              </a:rPr>
              <a:t>不能！</a:t>
            </a:r>
          </a:p>
        </p:txBody>
      </p:sp>
      <p:sp>
        <p:nvSpPr>
          <p:cNvPr id="16" name="文本框 15"/>
          <p:cNvSpPr txBox="1"/>
          <p:nvPr/>
        </p:nvSpPr>
        <p:spPr>
          <a:xfrm>
            <a:off x="572208" y="6273131"/>
            <a:ext cx="7730324" cy="400110"/>
          </a:xfrm>
          <a:prstGeom prst="rect">
            <a:avLst/>
          </a:prstGeom>
          <a:noFill/>
        </p:spPr>
        <p:txBody>
          <a:bodyPr wrap="square" rtlCol="0">
            <a:spAutoFit/>
          </a:bodyPr>
          <a:lstStyle/>
          <a:p>
            <a:r>
              <a:rPr lang="en-US" altLang="zh-CN" sz="2000" b="1" dirty="0">
                <a:solidFill>
                  <a:schemeClr val="bg2"/>
                </a:solidFill>
              </a:rPr>
              <a:t>OFFSET</a:t>
            </a:r>
            <a:r>
              <a:rPr lang="zh-CN" altLang="en-US" sz="2000" b="1" dirty="0">
                <a:solidFill>
                  <a:schemeClr val="bg2"/>
                </a:solidFill>
              </a:rPr>
              <a:t>运算符获取的偏移量为</a:t>
            </a:r>
            <a:r>
              <a:rPr lang="en-US" altLang="zh-CN" sz="2000" b="1" dirty="0" err="1">
                <a:solidFill>
                  <a:schemeClr val="bg2"/>
                </a:solidFill>
              </a:rPr>
              <a:t>dword</a:t>
            </a:r>
            <a:r>
              <a:rPr lang="zh-CN" altLang="en-US" sz="2000" b="1" dirty="0">
                <a:solidFill>
                  <a:schemeClr val="bg2"/>
                </a:solidFill>
              </a:rPr>
              <a:t>类型，只能存入</a:t>
            </a:r>
            <a:r>
              <a:rPr lang="en-US" altLang="zh-CN" sz="2000" b="1" dirty="0">
                <a:solidFill>
                  <a:schemeClr val="bg2"/>
                </a:solidFill>
              </a:rPr>
              <a:t>32</a:t>
            </a:r>
            <a:r>
              <a:rPr lang="zh-CN" altLang="en-US" sz="2000" b="1" dirty="0">
                <a:solidFill>
                  <a:schemeClr val="bg2"/>
                </a:solidFill>
              </a:rPr>
              <a:t>位寄存器。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1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9158"/>
                                        </p:tgtEl>
                                        <p:attrNameLst>
                                          <p:attrName>style.visibility</p:attrName>
                                        </p:attrNameLst>
                                      </p:cBhvr>
                                      <p:to>
                                        <p:strVal val="visible"/>
                                      </p:to>
                                    </p:set>
                                    <p:animEffect transition="in" filter="wipe(down)">
                                      <p:cBhvr>
                                        <p:cTn id="20" dur="500"/>
                                        <p:tgtEl>
                                          <p:spTgt spid="49158"/>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49159"/>
                                        </p:tgtEl>
                                        <p:attrNameLst>
                                          <p:attrName>style.visibility</p:attrName>
                                        </p:attrNameLst>
                                      </p:cBhvr>
                                      <p:to>
                                        <p:strVal val="visible"/>
                                      </p:to>
                                    </p:set>
                                    <p:animEffect transition="in" filter="wipe(down)">
                                      <p:cBhvr>
                                        <p:cTn id="23" dur="500"/>
                                        <p:tgtEl>
                                          <p:spTgt spid="4915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down)">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down)">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down)">
                                      <p:cBhvr>
                                        <p:cTn id="43" dur="5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down)">
                                      <p:cBhvr>
                                        <p:cTn id="48" dur="500"/>
                                        <p:tgtEl>
                                          <p:spTgt spid="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wipe(down)">
                                      <p:cBhvr>
                                        <p:cTn id="53" dur="500"/>
                                        <p:tgtEl>
                                          <p:spTgt spid="5"/>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grpId="0" nodeType="click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circle(in)">
                                      <p:cBhvr>
                                        <p:cTn id="58" dur="2000"/>
                                        <p:tgtEl>
                                          <p:spTgt spid="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wipe(down)">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 calcmode="lin" valueType="num">
                                      <p:cBhvr>
                                        <p:cTn id="68" dur="500" fill="hold"/>
                                        <p:tgtEl>
                                          <p:spTgt spid="15"/>
                                        </p:tgtEl>
                                        <p:attrNameLst>
                                          <p:attrName>ppt_w</p:attrName>
                                        </p:attrNameLst>
                                      </p:cBhvr>
                                      <p:tavLst>
                                        <p:tav tm="0">
                                          <p:val>
                                            <p:fltVal val="0"/>
                                          </p:val>
                                        </p:tav>
                                        <p:tav tm="100000">
                                          <p:val>
                                            <p:strVal val="#ppt_w"/>
                                          </p:val>
                                        </p:tav>
                                      </p:tavLst>
                                    </p:anim>
                                    <p:anim calcmode="lin" valueType="num">
                                      <p:cBhvr>
                                        <p:cTn id="69" dur="500" fill="hold"/>
                                        <p:tgtEl>
                                          <p:spTgt spid="15"/>
                                        </p:tgtEl>
                                        <p:attrNameLst>
                                          <p:attrName>ppt_h</p:attrName>
                                        </p:attrNameLst>
                                      </p:cBhvr>
                                      <p:tavLst>
                                        <p:tav tm="0">
                                          <p:val>
                                            <p:fltVal val="0"/>
                                          </p:val>
                                        </p:tav>
                                        <p:tav tm="100000">
                                          <p:val>
                                            <p:strVal val="#ppt_h"/>
                                          </p:val>
                                        </p:tav>
                                      </p:tavLst>
                                    </p:anim>
                                    <p:animEffect transition="in" filter="fade">
                                      <p:cBhvr>
                                        <p:cTn id="70" dur="500"/>
                                        <p:tgtEl>
                                          <p:spTgt spid="1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wipe(down)">
                                      <p:cBhvr>
                                        <p:cTn id="7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p:bldP spid="49156" grpId="0" animBg="1" autoUpdateAnimBg="0"/>
      <p:bldP spid="49158" grpId="0" animBg="1"/>
      <p:bldP spid="49159" grpId="0" animBg="1"/>
      <p:bldP spid="8" grpId="0"/>
      <p:bldP spid="10" grpId="0"/>
      <p:bldP spid="2" grpId="0"/>
      <p:bldP spid="3" grpId="0"/>
      <p:bldP spid="4" grpId="0"/>
      <p:bldP spid="5" grpId="0"/>
      <p:bldP spid="7" grpId="0" animBg="1"/>
      <p:bldP spid="11" grpId="0" animBg="1"/>
      <p:bldP spid="12" grpId="0" animBg="1"/>
      <p:bldP spid="15" grpId="0" animBg="1"/>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528" y="476672"/>
            <a:ext cx="7201593" cy="461665"/>
          </a:xfrm>
          <a:prstGeom prst="rect">
            <a:avLst/>
          </a:prstGeom>
          <a:noFill/>
        </p:spPr>
        <p:txBody>
          <a:bodyPr wrap="square" rtlCol="0">
            <a:spAutoFit/>
          </a:bodyPr>
          <a:lstStyle/>
          <a:p>
            <a:r>
              <a:rPr lang="zh-CN" altLang="en-US" sz="2400" dirty="0">
                <a:solidFill>
                  <a:schemeClr val="bg2"/>
                </a:solidFill>
              </a:rPr>
              <a:t>这种用法：</a:t>
            </a:r>
            <a:r>
              <a:rPr lang="en-US" altLang="zh-CN" sz="2400" dirty="0">
                <a:solidFill>
                  <a:schemeClr val="bg2"/>
                </a:solidFill>
              </a:rPr>
              <a:t>MOV EBP, OFFSET ADDR[ESI]</a:t>
            </a:r>
            <a:r>
              <a:rPr lang="zh-CN" altLang="en-US" sz="2400" dirty="0">
                <a:solidFill>
                  <a:schemeClr val="bg2"/>
                </a:solidFill>
              </a:rPr>
              <a:t>是否正确？</a:t>
            </a:r>
          </a:p>
        </p:txBody>
      </p:sp>
      <p:sp>
        <p:nvSpPr>
          <p:cNvPr id="3" name="爆炸形 1 2"/>
          <p:cNvSpPr/>
          <p:nvPr/>
        </p:nvSpPr>
        <p:spPr bwMode="auto">
          <a:xfrm>
            <a:off x="276179" y="829774"/>
            <a:ext cx="3888432" cy="728012"/>
          </a:xfrm>
          <a:prstGeom prst="irregularSeal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2400" b="1" i="0" u="none" strike="noStrike" cap="none" normalizeH="0" baseline="0" dirty="0">
                <a:ln>
                  <a:noFill/>
                </a:ln>
                <a:solidFill>
                  <a:srgbClr val="FF0000"/>
                </a:solidFill>
                <a:effectLst/>
                <a:latin typeface="Times New Roman" pitchFamily="18" charset="0"/>
                <a:ea typeface="宋体" pitchFamily="2" charset="-122"/>
              </a:rPr>
              <a:t>错误！</a:t>
            </a:r>
            <a:r>
              <a:rPr lang="zh-CN" altLang="en-US" sz="2400" b="1" dirty="0">
                <a:solidFill>
                  <a:srgbClr val="FF0000"/>
                </a:solidFill>
              </a:rPr>
              <a:t>为什么？</a:t>
            </a:r>
            <a:endParaRPr kumimoji="0" lang="zh-CN" altLang="en-US" sz="2400" b="1" i="0" u="none" strike="noStrike" cap="none" normalizeH="0" baseline="0" dirty="0">
              <a:ln>
                <a:noFill/>
              </a:ln>
              <a:solidFill>
                <a:srgbClr val="FF0000"/>
              </a:solidFill>
              <a:effectLst/>
              <a:latin typeface="Times New Roman" pitchFamily="18" charset="0"/>
              <a:ea typeface="宋体" pitchFamily="2" charset="-122"/>
            </a:endParaRPr>
          </a:p>
        </p:txBody>
      </p:sp>
      <p:sp>
        <p:nvSpPr>
          <p:cNvPr id="4" name="文本框 3"/>
          <p:cNvSpPr txBox="1"/>
          <p:nvPr/>
        </p:nvSpPr>
        <p:spPr>
          <a:xfrm>
            <a:off x="4194774" y="1024819"/>
            <a:ext cx="3096344" cy="400110"/>
          </a:xfrm>
          <a:prstGeom prst="rect">
            <a:avLst/>
          </a:prstGeom>
          <a:noFill/>
        </p:spPr>
        <p:txBody>
          <a:bodyPr wrap="square" rtlCol="0">
            <a:spAutoFit/>
          </a:bodyPr>
          <a:lstStyle/>
          <a:p>
            <a:r>
              <a:rPr lang="zh-CN" altLang="en-US" sz="2000" b="1" dirty="0">
                <a:solidFill>
                  <a:srgbClr val="FF0000"/>
                </a:solidFill>
              </a:rPr>
              <a:t>怎样才能取到这个偏移量</a:t>
            </a:r>
            <a:r>
              <a:rPr lang="en-US" altLang="zh-CN" sz="2000" b="1" dirty="0">
                <a:solidFill>
                  <a:srgbClr val="FF0000"/>
                </a:solidFill>
              </a:rPr>
              <a:t>?</a:t>
            </a:r>
            <a:endParaRPr lang="zh-CN" altLang="en-US" sz="2000" b="1" dirty="0">
              <a:solidFill>
                <a:srgbClr val="FF0000"/>
              </a:solidFill>
            </a:endParaRPr>
          </a:p>
        </p:txBody>
      </p:sp>
      <p:sp>
        <p:nvSpPr>
          <p:cNvPr id="5" name="爆炸形 1 4"/>
          <p:cNvSpPr/>
          <p:nvPr/>
        </p:nvSpPr>
        <p:spPr bwMode="auto">
          <a:xfrm>
            <a:off x="7223480" y="854190"/>
            <a:ext cx="1493067" cy="647402"/>
          </a:xfrm>
          <a:prstGeom prst="irregularSeal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2400" b="0" i="0" u="none" strike="noStrike" cap="none" normalizeH="0" baseline="0" dirty="0">
                <a:ln>
                  <a:noFill/>
                </a:ln>
                <a:solidFill>
                  <a:srgbClr val="FF0000"/>
                </a:solidFill>
                <a:effectLst/>
                <a:latin typeface="Times New Roman" pitchFamily="18" charset="0"/>
                <a:ea typeface="宋体" pitchFamily="2" charset="-122"/>
              </a:rPr>
              <a:t>LEA</a:t>
            </a:r>
            <a:endParaRPr kumimoji="0" lang="zh-CN" altLang="en-US" sz="2400" b="0" i="0" u="none" strike="noStrike" cap="none" normalizeH="0" baseline="0" dirty="0">
              <a:ln>
                <a:noFill/>
              </a:ln>
              <a:solidFill>
                <a:srgbClr val="FF0000"/>
              </a:solidFill>
              <a:effectLst/>
              <a:latin typeface="Times New Roman" pitchFamily="18" charset="0"/>
              <a:ea typeface="宋体" pitchFamily="2" charset="-122"/>
            </a:endParaRPr>
          </a:p>
        </p:txBody>
      </p:sp>
      <p:sp>
        <p:nvSpPr>
          <p:cNvPr id="6" name="文本框 5"/>
          <p:cNvSpPr txBox="1"/>
          <p:nvPr/>
        </p:nvSpPr>
        <p:spPr>
          <a:xfrm>
            <a:off x="1320295" y="1655716"/>
            <a:ext cx="5688632" cy="461665"/>
          </a:xfrm>
          <a:prstGeom prst="rect">
            <a:avLst/>
          </a:prstGeom>
          <a:noFill/>
        </p:spPr>
        <p:txBody>
          <a:bodyPr wrap="square" rtlCol="0">
            <a:spAutoFit/>
          </a:bodyPr>
          <a:lstStyle/>
          <a:p>
            <a:r>
              <a:rPr lang="zh-CN" altLang="en-US" sz="2400" b="1" dirty="0">
                <a:solidFill>
                  <a:schemeClr val="bg2"/>
                </a:solidFill>
              </a:rPr>
              <a:t>注意</a:t>
            </a:r>
            <a:r>
              <a:rPr lang="en-US" altLang="zh-CN" sz="2400" b="1" dirty="0">
                <a:solidFill>
                  <a:schemeClr val="bg2"/>
                </a:solidFill>
              </a:rPr>
              <a:t>LEA</a:t>
            </a:r>
            <a:r>
              <a:rPr lang="zh-CN" altLang="en-US" sz="2400" b="1" dirty="0">
                <a:solidFill>
                  <a:schemeClr val="bg2"/>
                </a:solidFill>
              </a:rPr>
              <a:t>和</a:t>
            </a:r>
            <a:r>
              <a:rPr lang="en-US" altLang="zh-CN" sz="2400" b="1" dirty="0">
                <a:solidFill>
                  <a:schemeClr val="bg2"/>
                </a:solidFill>
              </a:rPr>
              <a:t>OFFSET</a:t>
            </a:r>
            <a:r>
              <a:rPr lang="zh-CN" altLang="en-US" sz="2400" b="1" dirty="0">
                <a:solidFill>
                  <a:schemeClr val="bg2"/>
                </a:solidFill>
              </a:rPr>
              <a:t>在使用上的区别！</a:t>
            </a:r>
          </a:p>
        </p:txBody>
      </p:sp>
      <p:sp>
        <p:nvSpPr>
          <p:cNvPr id="7" name="文本框 6"/>
          <p:cNvSpPr txBox="1"/>
          <p:nvPr/>
        </p:nvSpPr>
        <p:spPr>
          <a:xfrm>
            <a:off x="611560" y="2348880"/>
            <a:ext cx="7992888" cy="1569660"/>
          </a:xfrm>
          <a:prstGeom prst="rect">
            <a:avLst/>
          </a:prstGeom>
          <a:noFill/>
        </p:spPr>
        <p:txBody>
          <a:bodyPr wrap="square" rtlCol="0">
            <a:spAutoFit/>
          </a:bodyPr>
          <a:lstStyle/>
          <a:p>
            <a:pPr marL="342900" lvl="0" indent="-342900">
              <a:buClr>
                <a:srgbClr val="C00000"/>
              </a:buClr>
              <a:buFont typeface="Wingdings" panose="05000000000000000000" pitchFamily="2" charset="2"/>
              <a:buChar char="u"/>
            </a:pPr>
            <a:r>
              <a:rPr lang="zh-CN" altLang="en-US" sz="2400" b="1" dirty="0">
                <a:solidFill>
                  <a:schemeClr val="bg2"/>
                </a:solidFill>
              </a:rPr>
              <a:t>指令</a:t>
            </a:r>
            <a:r>
              <a:rPr lang="en-US" altLang="zh-CN" sz="2400" b="1" dirty="0">
                <a:solidFill>
                  <a:schemeClr val="bg2"/>
                </a:solidFill>
              </a:rPr>
              <a:t>MOV EBP, OFFSET ADDR[ESI]</a:t>
            </a:r>
            <a:r>
              <a:rPr lang="zh-CN" altLang="en-US" sz="2400" b="1" dirty="0" smtClean="0">
                <a:solidFill>
                  <a:schemeClr val="bg2"/>
                </a:solidFill>
              </a:rPr>
              <a:t>中</a:t>
            </a:r>
            <a:r>
              <a:rPr lang="en-US" altLang="zh-CN" sz="2400" b="1" dirty="0" smtClean="0">
                <a:solidFill>
                  <a:schemeClr val="bg2"/>
                </a:solidFill>
              </a:rPr>
              <a:t>OFFSET</a:t>
            </a:r>
            <a:r>
              <a:rPr lang="zh-CN" altLang="en-US" sz="2400" b="1" dirty="0" smtClean="0">
                <a:solidFill>
                  <a:schemeClr val="bg2"/>
                </a:solidFill>
              </a:rPr>
              <a:t>运算符</a:t>
            </a:r>
            <a:r>
              <a:rPr lang="zh-CN" altLang="en-US" sz="2400" b="1" dirty="0">
                <a:solidFill>
                  <a:schemeClr val="bg2"/>
                </a:solidFill>
              </a:rPr>
              <a:t>只能取变量的偏移量，无法取到寄存器的值</a:t>
            </a:r>
            <a:r>
              <a:rPr lang="zh-CN" altLang="en-US" sz="2400" b="1" dirty="0" smtClean="0">
                <a:solidFill>
                  <a:schemeClr val="bg2"/>
                </a:solidFill>
              </a:rPr>
              <a:t>。</a:t>
            </a:r>
            <a:endParaRPr lang="en-US" altLang="zh-CN" sz="2400" b="1" dirty="0" smtClean="0">
              <a:solidFill>
                <a:schemeClr val="bg2"/>
              </a:solidFill>
            </a:endParaRPr>
          </a:p>
          <a:p>
            <a:pPr marL="342900" indent="-342900">
              <a:buClr>
                <a:srgbClr val="C00000"/>
              </a:buClr>
              <a:buFont typeface="Wingdings" panose="05000000000000000000" pitchFamily="2" charset="2"/>
              <a:buChar char="u"/>
            </a:pPr>
            <a:r>
              <a:rPr lang="en-US" altLang="zh-CN" sz="2400" b="1" dirty="0">
                <a:solidFill>
                  <a:schemeClr val="bg2"/>
                </a:solidFill>
              </a:rPr>
              <a:t>LEA</a:t>
            </a:r>
            <a:r>
              <a:rPr lang="zh-CN" altLang="en-US" sz="2400" b="1" dirty="0">
                <a:solidFill>
                  <a:schemeClr val="bg2"/>
                </a:solidFill>
              </a:rPr>
              <a:t>指令取出的偏移量可以送到</a:t>
            </a:r>
            <a:r>
              <a:rPr lang="en-US" altLang="zh-CN" sz="2400" b="1" dirty="0">
                <a:solidFill>
                  <a:schemeClr val="bg2"/>
                </a:solidFill>
              </a:rPr>
              <a:t>16</a:t>
            </a:r>
            <a:r>
              <a:rPr lang="zh-CN" altLang="en-US" sz="2400" b="1" dirty="0">
                <a:solidFill>
                  <a:schemeClr val="bg2"/>
                </a:solidFill>
              </a:rPr>
              <a:t>位通用寄存器，但</a:t>
            </a:r>
            <a:r>
              <a:rPr lang="en-US" altLang="zh-CN" sz="2400" b="1" dirty="0">
                <a:solidFill>
                  <a:schemeClr val="bg2"/>
                </a:solidFill>
              </a:rPr>
              <a:t>OFFSET</a:t>
            </a:r>
            <a:r>
              <a:rPr lang="zh-CN" altLang="en-US" sz="2400" b="1" dirty="0">
                <a:solidFill>
                  <a:schemeClr val="bg2"/>
                </a:solidFill>
              </a:rPr>
              <a:t>取出的偏移量不能送</a:t>
            </a:r>
            <a:r>
              <a:rPr lang="en-US" altLang="zh-CN" sz="2400" b="1" dirty="0">
                <a:solidFill>
                  <a:schemeClr val="bg2"/>
                </a:solidFill>
              </a:rPr>
              <a:t>16</a:t>
            </a:r>
            <a:r>
              <a:rPr lang="zh-CN" altLang="en-US" sz="2400" b="1" dirty="0">
                <a:solidFill>
                  <a:schemeClr val="bg2"/>
                </a:solidFill>
              </a:rPr>
              <a:t>位通用寄存器</a:t>
            </a:r>
            <a:r>
              <a:rPr lang="zh-CN" altLang="en-US" sz="2400" b="1" dirty="0" smtClean="0">
                <a:solidFill>
                  <a:schemeClr val="bg2"/>
                </a:solidFill>
              </a:rPr>
              <a:t>。</a:t>
            </a:r>
            <a:endParaRPr lang="zh-CN" altLang="en-US" sz="2400" b="1" dirty="0">
              <a:solidFill>
                <a:schemeClr val="bg2"/>
              </a:solidFill>
            </a:endParaRPr>
          </a:p>
        </p:txBody>
      </p:sp>
      <p:sp>
        <p:nvSpPr>
          <p:cNvPr id="10" name="灯片编号占位符 9"/>
          <p:cNvSpPr>
            <a:spLocks noGrp="1"/>
          </p:cNvSpPr>
          <p:nvPr>
            <p:ph type="sldNum" sz="quarter" idx="12"/>
          </p:nvPr>
        </p:nvSpPr>
        <p:spPr/>
        <p:txBody>
          <a:bodyPr/>
          <a:lstStyle/>
          <a:p>
            <a:fld id="{5B7D2636-8A8C-404A-BF36-25DC15AA5DD0}" type="slidenum">
              <a:rPr lang="en-US" altLang="zh-CN" smtClean="0"/>
              <a:pPr/>
              <a:t>41</a:t>
            </a:fld>
            <a:endParaRPr lang="en-US" altLang="zh-CN"/>
          </a:p>
        </p:txBody>
      </p:sp>
    </p:spTree>
    <p:extLst>
      <p:ext uri="{BB962C8B-B14F-4D97-AF65-F5344CB8AC3E}">
        <p14:creationId xmlns:p14="http://schemas.microsoft.com/office/powerpoint/2010/main" val="28846751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1000" fill="hold"/>
                                        <p:tgtEl>
                                          <p:spTgt spid="5"/>
                                        </p:tgtEl>
                                        <p:attrNameLst>
                                          <p:attrName>ppt_w</p:attrName>
                                        </p:attrNameLst>
                                      </p:cBhvr>
                                      <p:tavLst>
                                        <p:tav tm="0">
                                          <p:val>
                                            <p:fltVal val="0"/>
                                          </p:val>
                                        </p:tav>
                                        <p:tav tm="100000">
                                          <p:val>
                                            <p:strVal val="#ppt_w"/>
                                          </p:val>
                                        </p:tav>
                                      </p:tavLst>
                                    </p:anim>
                                    <p:anim calcmode="lin" valueType="num">
                                      <p:cBhvr>
                                        <p:cTn id="25" dur="1000" fill="hold"/>
                                        <p:tgtEl>
                                          <p:spTgt spid="5"/>
                                        </p:tgtEl>
                                        <p:attrNameLst>
                                          <p:attrName>ppt_h</p:attrName>
                                        </p:attrNameLst>
                                      </p:cBhvr>
                                      <p:tavLst>
                                        <p:tav tm="0">
                                          <p:val>
                                            <p:fltVal val="0"/>
                                          </p:val>
                                        </p:tav>
                                        <p:tav tm="100000">
                                          <p:val>
                                            <p:strVal val="#ppt_h"/>
                                          </p:val>
                                        </p:tav>
                                      </p:tavLst>
                                    </p:anim>
                                    <p:anim calcmode="lin" valueType="num">
                                      <p:cBhvr>
                                        <p:cTn id="26" dur="1000" fill="hold"/>
                                        <p:tgtEl>
                                          <p:spTgt spid="5"/>
                                        </p:tgtEl>
                                        <p:attrNameLst>
                                          <p:attrName>style.rotation</p:attrName>
                                        </p:attrNameLst>
                                      </p:cBhvr>
                                      <p:tavLst>
                                        <p:tav tm="0">
                                          <p:val>
                                            <p:fltVal val="90"/>
                                          </p:val>
                                        </p:tav>
                                        <p:tav tm="100000">
                                          <p:val>
                                            <p:fltVal val="0"/>
                                          </p:val>
                                        </p:tav>
                                      </p:tavLst>
                                    </p:anim>
                                    <p:animEffect transition="in" filter="fade">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Effect transition="in" filter="wipe(down)">
                                      <p:cBhvr>
                                        <p:cTn id="37" dur="500"/>
                                        <p:tgtEl>
                                          <p:spTgt spid="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animEffect transition="in" filter="wipe(down)">
                                      <p:cBhvr>
                                        <p:cTn id="4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p:bldP spid="5" grpId="0" animBg="1"/>
      <p:bldP spid="6" grpId="0"/>
      <p:bldP spid="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D85BA32D-41DF-4D68-8308-DF50E57A689F}" type="slidenum">
              <a:rPr lang="en-US" altLang="zh-CN" sz="1400">
                <a:solidFill>
                  <a:schemeClr val="bg2"/>
                </a:solidFill>
              </a:rPr>
              <a:pPr algn="r" eaLnBrk="1" hangingPunct="1"/>
              <a:t>42</a:t>
            </a:fld>
            <a:endParaRPr lang="en-US" altLang="zh-CN" sz="1400">
              <a:solidFill>
                <a:schemeClr val="bg2"/>
              </a:solidFill>
            </a:endParaRPr>
          </a:p>
        </p:txBody>
      </p:sp>
      <p:sp>
        <p:nvSpPr>
          <p:cNvPr id="50179" name="Rectangle 2"/>
          <p:cNvSpPr>
            <a:spLocks noChangeArrowheads="1"/>
          </p:cNvSpPr>
          <p:nvPr/>
        </p:nvSpPr>
        <p:spPr bwMode="auto">
          <a:xfrm>
            <a:off x="533400" y="990600"/>
            <a:ext cx="8305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rPr>
              <a:t>作用</a:t>
            </a:r>
            <a:r>
              <a:rPr lang="en-US" altLang="zh-CN" sz="2400" b="1" dirty="0">
                <a:solidFill>
                  <a:schemeClr val="hlink"/>
                </a:solidFill>
              </a:rPr>
              <a:t>:</a:t>
            </a:r>
            <a:r>
              <a:rPr lang="zh-CN" altLang="en-US" sz="2400" b="1" dirty="0">
                <a:solidFill>
                  <a:schemeClr val="bg2"/>
                </a:solidFill>
              </a:rPr>
              <a:t>取变量或标号的类型属性，并用数字形式表示。对变量来说就是取它的字节长度。</a:t>
            </a:r>
          </a:p>
        </p:txBody>
      </p:sp>
      <p:sp>
        <p:nvSpPr>
          <p:cNvPr id="50180" name="Rectangle 3"/>
          <p:cNvSpPr>
            <a:spLocks noChangeArrowheads="1"/>
          </p:cNvSpPr>
          <p:nvPr/>
        </p:nvSpPr>
        <p:spPr bwMode="auto">
          <a:xfrm>
            <a:off x="1219200" y="381000"/>
            <a:ext cx="2149475"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3.TYPE</a:t>
            </a:r>
            <a:r>
              <a:rPr lang="zh-CN" altLang="en-US" sz="2400" b="1" dirty="0">
                <a:solidFill>
                  <a:schemeClr val="hlink"/>
                </a:solidFill>
              </a:rPr>
              <a:t>运算符</a:t>
            </a:r>
          </a:p>
        </p:txBody>
      </p:sp>
      <p:grpSp>
        <p:nvGrpSpPr>
          <p:cNvPr id="50181" name="Group 5"/>
          <p:cNvGrpSpPr>
            <a:grpSpLocks/>
          </p:cNvGrpSpPr>
          <p:nvPr/>
        </p:nvGrpSpPr>
        <p:grpSpPr bwMode="auto">
          <a:xfrm>
            <a:off x="900113" y="1844675"/>
            <a:ext cx="3203575" cy="1938338"/>
            <a:chOff x="0" y="0"/>
            <a:chExt cx="2018" cy="1221"/>
          </a:xfrm>
        </p:grpSpPr>
        <p:sp>
          <p:nvSpPr>
            <p:cNvPr id="50182" name="Text Box 4"/>
            <p:cNvSpPr txBox="1">
              <a:spLocks noChangeArrowheads="1"/>
            </p:cNvSpPr>
            <p:nvPr/>
          </p:nvSpPr>
          <p:spPr bwMode="auto">
            <a:xfrm>
              <a:off x="0" y="45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变量</a:t>
              </a:r>
            </a:p>
          </p:txBody>
        </p:sp>
        <p:sp>
          <p:nvSpPr>
            <p:cNvPr id="50183" name="Text Box 5"/>
            <p:cNvSpPr txBox="1">
              <a:spLocks noChangeArrowheads="1"/>
            </p:cNvSpPr>
            <p:nvPr/>
          </p:nvSpPr>
          <p:spPr bwMode="auto">
            <a:xfrm>
              <a:off x="818" y="0"/>
              <a:ext cx="1200" cy="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BYTE        1</a:t>
              </a:r>
              <a:br>
                <a:rPr lang="en-US" altLang="zh-CN" sz="2400" b="1" dirty="0">
                  <a:solidFill>
                    <a:schemeClr val="bg2"/>
                  </a:solidFill>
                </a:rPr>
              </a:br>
              <a:r>
                <a:rPr lang="en-US" altLang="zh-CN" sz="2400" b="1" dirty="0">
                  <a:solidFill>
                    <a:schemeClr val="bg2"/>
                  </a:solidFill>
                </a:rPr>
                <a:t>WORD      2</a:t>
              </a:r>
              <a:br>
                <a:rPr lang="en-US" altLang="zh-CN" sz="2400" b="1" dirty="0">
                  <a:solidFill>
                    <a:schemeClr val="bg2"/>
                  </a:solidFill>
                </a:rPr>
              </a:br>
              <a:r>
                <a:rPr lang="en-US" altLang="zh-CN" sz="2400" b="1" dirty="0">
                  <a:solidFill>
                    <a:schemeClr val="bg2"/>
                  </a:solidFill>
                </a:rPr>
                <a:t>DWORD   4</a:t>
              </a:r>
              <a:br>
                <a:rPr lang="en-US" altLang="zh-CN" sz="2400" b="1" dirty="0">
                  <a:solidFill>
                    <a:schemeClr val="bg2"/>
                  </a:solidFill>
                </a:rPr>
              </a:br>
              <a:r>
                <a:rPr lang="en-US" altLang="zh-CN" sz="2400" b="1" dirty="0">
                  <a:solidFill>
                    <a:schemeClr val="bg2"/>
                  </a:solidFill>
                </a:rPr>
                <a:t>QWORD   8</a:t>
              </a:r>
              <a:br>
                <a:rPr lang="en-US" altLang="zh-CN" sz="2400" b="1" dirty="0">
                  <a:solidFill>
                    <a:schemeClr val="bg2"/>
                  </a:solidFill>
                </a:rPr>
              </a:br>
              <a:r>
                <a:rPr lang="en-US" altLang="zh-CN" sz="2400" b="1" dirty="0">
                  <a:solidFill>
                    <a:schemeClr val="bg2"/>
                  </a:solidFill>
                </a:rPr>
                <a:t>……</a:t>
              </a:r>
            </a:p>
          </p:txBody>
        </p:sp>
        <p:sp>
          <p:nvSpPr>
            <p:cNvPr id="50184" name="AutoShape 6"/>
            <p:cNvSpPr>
              <a:spLocks/>
            </p:cNvSpPr>
            <p:nvPr/>
          </p:nvSpPr>
          <p:spPr bwMode="auto">
            <a:xfrm>
              <a:off x="626" y="144"/>
              <a:ext cx="190" cy="945"/>
            </a:xfrm>
            <a:prstGeom prst="leftBrace">
              <a:avLst>
                <a:gd name="adj1" fmla="val 41447"/>
                <a:gd name="adj2" fmla="val 50000"/>
              </a:avLst>
            </a:prstGeom>
            <a:noFill/>
            <a:ln w="9525"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ctr" eaLnBrk="1" hangingPunct="1"/>
              <a:endParaRPr lang="zh-CN" altLang="en-US" sz="2400">
                <a:solidFill>
                  <a:schemeClr val="bg2"/>
                </a:solidFill>
              </a:endParaRPr>
            </a:p>
          </p:txBody>
        </p:sp>
      </p:grpSp>
      <p:grpSp>
        <p:nvGrpSpPr>
          <p:cNvPr id="50185" name="Group 9"/>
          <p:cNvGrpSpPr>
            <a:grpSpLocks/>
          </p:cNvGrpSpPr>
          <p:nvPr/>
        </p:nvGrpSpPr>
        <p:grpSpPr bwMode="auto">
          <a:xfrm>
            <a:off x="4953000" y="2057400"/>
            <a:ext cx="3048000" cy="822325"/>
            <a:chOff x="0" y="0"/>
            <a:chExt cx="1920" cy="518"/>
          </a:xfrm>
        </p:grpSpPr>
        <p:sp>
          <p:nvSpPr>
            <p:cNvPr id="50186" name="Text Box 7"/>
            <p:cNvSpPr txBox="1">
              <a:spLocks noChangeArrowheads="1"/>
            </p:cNvSpPr>
            <p:nvPr/>
          </p:nvSpPr>
          <p:spPr bwMode="auto">
            <a:xfrm>
              <a:off x="0" y="9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标号</a:t>
              </a:r>
            </a:p>
          </p:txBody>
        </p:sp>
        <p:sp>
          <p:nvSpPr>
            <p:cNvPr id="50187" name="Text Box 8"/>
            <p:cNvSpPr txBox="1">
              <a:spLocks noChangeArrowheads="1"/>
            </p:cNvSpPr>
            <p:nvPr/>
          </p:nvSpPr>
          <p:spPr bwMode="auto">
            <a:xfrm>
              <a:off x="672" y="0"/>
              <a:ext cx="124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a:solidFill>
                    <a:schemeClr val="bg2"/>
                  </a:solidFill>
                </a:rPr>
                <a:t>NEAR     -1</a:t>
              </a:r>
              <a:br>
                <a:rPr lang="en-US" altLang="zh-CN" sz="2400" b="1">
                  <a:solidFill>
                    <a:schemeClr val="bg2"/>
                  </a:solidFill>
                </a:rPr>
              </a:br>
              <a:r>
                <a:rPr lang="en-US" altLang="zh-CN" sz="2400" b="1">
                  <a:solidFill>
                    <a:schemeClr val="bg2"/>
                  </a:solidFill>
                </a:rPr>
                <a:t>FAR        -2</a:t>
              </a:r>
            </a:p>
          </p:txBody>
        </p:sp>
        <p:sp>
          <p:nvSpPr>
            <p:cNvPr id="50188" name="AutoShape 9"/>
            <p:cNvSpPr>
              <a:spLocks/>
            </p:cNvSpPr>
            <p:nvPr/>
          </p:nvSpPr>
          <p:spPr bwMode="auto">
            <a:xfrm>
              <a:off x="576" y="96"/>
              <a:ext cx="48" cy="336"/>
            </a:xfrm>
            <a:prstGeom prst="leftBrace">
              <a:avLst>
                <a:gd name="adj1" fmla="val 58333"/>
                <a:gd name="adj2" fmla="val 50000"/>
              </a:avLst>
            </a:prstGeom>
            <a:noFill/>
            <a:ln w="9525"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endParaRPr lang="zh-CN" altLang="en-US"/>
            </a:p>
          </p:txBody>
        </p:sp>
      </p:grpSp>
      <p:grpSp>
        <p:nvGrpSpPr>
          <p:cNvPr id="50189" name="Group 13"/>
          <p:cNvGrpSpPr>
            <a:grpSpLocks/>
          </p:cNvGrpSpPr>
          <p:nvPr/>
        </p:nvGrpSpPr>
        <p:grpSpPr bwMode="auto">
          <a:xfrm>
            <a:off x="0" y="3860800"/>
            <a:ext cx="5040313" cy="2759075"/>
            <a:chOff x="0" y="0"/>
            <a:chExt cx="3175" cy="1738"/>
          </a:xfrm>
        </p:grpSpPr>
        <p:sp>
          <p:nvSpPr>
            <p:cNvPr id="50190" name="Text Box 10"/>
            <p:cNvSpPr txBox="1">
              <a:spLocks noChangeArrowheads="1"/>
            </p:cNvSpPr>
            <p:nvPr/>
          </p:nvSpPr>
          <p:spPr bwMode="auto">
            <a:xfrm>
              <a:off x="0" y="0"/>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例如：</a:t>
              </a:r>
            </a:p>
          </p:txBody>
        </p:sp>
        <p:sp>
          <p:nvSpPr>
            <p:cNvPr id="50191" name="Text Box 11"/>
            <p:cNvSpPr txBox="1">
              <a:spLocks noChangeArrowheads="1"/>
            </p:cNvSpPr>
            <p:nvPr/>
          </p:nvSpPr>
          <p:spPr bwMode="auto">
            <a:xfrm>
              <a:off x="590" y="46"/>
              <a:ext cx="2585" cy="1692"/>
            </a:xfrm>
            <a:prstGeom prst="rect">
              <a:avLst/>
            </a:prstGeom>
            <a:noFill/>
            <a:ln w="38100"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a:solidFill>
                    <a:schemeClr val="bg2"/>
                  </a:solidFill>
                </a:rPr>
                <a:t>V1    DB    ‘ABCDE’</a:t>
              </a:r>
              <a:br>
                <a:rPr lang="en-US" altLang="zh-CN" sz="2400" b="1">
                  <a:solidFill>
                    <a:schemeClr val="bg2"/>
                  </a:solidFill>
                </a:rPr>
              </a:br>
              <a:r>
                <a:rPr lang="en-US" altLang="zh-CN" sz="2400" b="1">
                  <a:solidFill>
                    <a:schemeClr val="bg2"/>
                  </a:solidFill>
                </a:rPr>
                <a:t>V2    DW   1234H, 5678H</a:t>
              </a:r>
              <a:br>
                <a:rPr lang="en-US" altLang="zh-CN" sz="2400" b="1">
                  <a:solidFill>
                    <a:schemeClr val="bg2"/>
                  </a:solidFill>
                </a:rPr>
              </a:br>
              <a:r>
                <a:rPr lang="en-US" altLang="zh-CN" sz="2400" b="1">
                  <a:solidFill>
                    <a:schemeClr val="bg2"/>
                  </a:solidFill>
                </a:rPr>
                <a:t>V3    DD    V2   </a:t>
              </a:r>
              <a:r>
                <a:rPr lang="zh-CN" altLang="en-US" sz="2400" b="1">
                  <a:solidFill>
                    <a:schemeClr val="bg2"/>
                  </a:solidFill>
                </a:rPr>
                <a:t/>
              </a:r>
              <a:br>
                <a:rPr lang="zh-CN" altLang="en-US" sz="2400" b="1">
                  <a:solidFill>
                    <a:schemeClr val="bg2"/>
                  </a:solidFill>
                </a:rPr>
              </a:br>
              <a:r>
                <a:rPr lang="zh-CN" altLang="en-US" sz="2400" b="1">
                  <a:solidFill>
                    <a:schemeClr val="bg2"/>
                  </a:solidFill>
                </a:rPr>
                <a:t>       </a:t>
              </a:r>
              <a:r>
                <a:rPr lang="en-US" altLang="zh-CN" sz="2400" b="1">
                  <a:solidFill>
                    <a:schemeClr val="bg2"/>
                  </a:solidFill>
                </a:rPr>
                <a:t>……</a:t>
              </a:r>
              <a:br>
                <a:rPr lang="en-US" altLang="zh-CN" sz="2400" b="1">
                  <a:solidFill>
                    <a:schemeClr val="bg2"/>
                  </a:solidFill>
                </a:rPr>
              </a:br>
              <a:r>
                <a:rPr lang="en-US" altLang="zh-CN" sz="2400" b="1">
                  <a:solidFill>
                    <a:schemeClr val="bg2"/>
                  </a:solidFill>
                </a:rPr>
                <a:t>        MOV   AL ,  TYPE  V1</a:t>
              </a:r>
              <a:br>
                <a:rPr lang="en-US" altLang="zh-CN" sz="2400" b="1">
                  <a:solidFill>
                    <a:schemeClr val="bg2"/>
                  </a:solidFill>
                </a:rPr>
              </a:br>
              <a:r>
                <a:rPr lang="en-US" altLang="zh-CN" sz="2400" b="1">
                  <a:solidFill>
                    <a:schemeClr val="bg2"/>
                  </a:solidFill>
                </a:rPr>
                <a:t>        MOV   CL ,  TYPE  V2</a:t>
              </a:r>
              <a:br>
                <a:rPr lang="en-US" altLang="zh-CN" sz="2400" b="1">
                  <a:solidFill>
                    <a:schemeClr val="bg2"/>
                  </a:solidFill>
                </a:rPr>
              </a:br>
              <a:r>
                <a:rPr lang="en-US" altLang="zh-CN" sz="2400" b="1">
                  <a:solidFill>
                    <a:schemeClr val="bg2"/>
                  </a:solidFill>
                </a:rPr>
                <a:t>        MOV   CH ,  TYPE  V3</a:t>
              </a:r>
            </a:p>
          </p:txBody>
        </p:sp>
      </p:grpSp>
      <p:sp>
        <p:nvSpPr>
          <p:cNvPr id="50192" name="Text Box 12"/>
          <p:cNvSpPr txBox="1">
            <a:spLocks noChangeArrowheads="1"/>
          </p:cNvSpPr>
          <p:nvPr/>
        </p:nvSpPr>
        <p:spPr bwMode="auto">
          <a:xfrm>
            <a:off x="5580063" y="3716338"/>
            <a:ext cx="25860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经汇编后的等效指令序列如下：</a:t>
            </a:r>
          </a:p>
        </p:txBody>
      </p:sp>
      <p:sp>
        <p:nvSpPr>
          <p:cNvPr id="50193" name="Rectangle 16"/>
          <p:cNvSpPr>
            <a:spLocks noChangeArrowheads="1"/>
          </p:cNvSpPr>
          <p:nvPr/>
        </p:nvSpPr>
        <p:spPr bwMode="auto">
          <a:xfrm>
            <a:off x="5651500" y="4797425"/>
            <a:ext cx="2009717" cy="1200329"/>
          </a:xfrm>
          <a:prstGeom prst="rect">
            <a:avLst/>
          </a:prstGeom>
          <a:noFill/>
          <a:ln w="38100"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MOV  AL</a:t>
            </a:r>
            <a:r>
              <a:rPr lang="zh-CN" altLang="en-US" sz="2400" b="1" dirty="0">
                <a:solidFill>
                  <a:schemeClr val="bg2"/>
                </a:solidFill>
              </a:rPr>
              <a:t>，</a:t>
            </a:r>
            <a:r>
              <a:rPr lang="en-US" altLang="zh-CN" sz="2400" b="1" dirty="0">
                <a:solidFill>
                  <a:schemeClr val="bg2"/>
                </a:solidFill>
              </a:rPr>
              <a:t>1</a:t>
            </a:r>
          </a:p>
          <a:p>
            <a:pPr eaLnBrk="1" hangingPunct="1"/>
            <a:r>
              <a:rPr lang="en-US" altLang="zh-CN" sz="2400" b="1" dirty="0">
                <a:solidFill>
                  <a:schemeClr val="bg2"/>
                </a:solidFill>
              </a:rPr>
              <a:t>MOV  CL</a:t>
            </a:r>
            <a:r>
              <a:rPr lang="zh-CN" altLang="en-US" sz="2400" b="1" dirty="0">
                <a:solidFill>
                  <a:schemeClr val="bg2"/>
                </a:solidFill>
              </a:rPr>
              <a:t>，</a:t>
            </a:r>
            <a:r>
              <a:rPr lang="en-US" altLang="zh-CN" sz="2400" b="1" dirty="0">
                <a:solidFill>
                  <a:schemeClr val="bg2"/>
                </a:solidFill>
              </a:rPr>
              <a:t>2</a:t>
            </a:r>
          </a:p>
          <a:p>
            <a:pPr eaLnBrk="1" hangingPunct="1"/>
            <a:r>
              <a:rPr lang="en-US" altLang="zh-CN" sz="2400" b="1" dirty="0">
                <a:solidFill>
                  <a:schemeClr val="bg2"/>
                </a:solidFill>
              </a:rPr>
              <a:t>MOV  CH</a:t>
            </a:r>
            <a:r>
              <a:rPr lang="zh-CN" altLang="en-US" sz="2400" b="1" dirty="0">
                <a:solidFill>
                  <a:schemeClr val="bg2"/>
                </a:solidFill>
              </a:rPr>
              <a:t>，</a:t>
            </a:r>
            <a:r>
              <a:rPr lang="en-US" altLang="zh-CN" sz="2400" b="1" dirty="0">
                <a:solidFill>
                  <a:schemeClr val="bg2"/>
                </a:solidFill>
              </a:rPr>
              <a:t>4</a:t>
            </a:r>
          </a:p>
        </p:txBody>
      </p:sp>
      <p:sp>
        <p:nvSpPr>
          <p:cNvPr id="2" name="文本框 1"/>
          <p:cNvSpPr txBox="1"/>
          <p:nvPr/>
        </p:nvSpPr>
        <p:spPr>
          <a:xfrm>
            <a:off x="4355332" y="2922647"/>
            <a:ext cx="4104456" cy="830997"/>
          </a:xfrm>
          <a:prstGeom prst="rect">
            <a:avLst/>
          </a:prstGeom>
          <a:noFill/>
          <a:ln w="28575">
            <a:solidFill>
              <a:srgbClr val="C00000"/>
            </a:solidFill>
          </a:ln>
        </p:spPr>
        <p:txBody>
          <a:bodyPr wrap="square" rtlCol="0">
            <a:spAutoFit/>
          </a:bodyPr>
          <a:lstStyle/>
          <a:p>
            <a:r>
              <a:rPr lang="zh-CN" altLang="en-US" sz="2400" b="1" dirty="0" smtClean="0">
                <a:solidFill>
                  <a:srgbClr val="FF0000"/>
                </a:solidFill>
              </a:rPr>
              <a:t>注意：在保护模式下</a:t>
            </a:r>
            <a:r>
              <a:rPr lang="en-US" altLang="zh-CN" sz="2400" b="1" dirty="0" smtClean="0">
                <a:solidFill>
                  <a:srgbClr val="FF0000"/>
                </a:solidFill>
              </a:rPr>
              <a:t>TYPE</a:t>
            </a:r>
            <a:r>
              <a:rPr lang="zh-CN" altLang="en-US" sz="2400" b="1" dirty="0" smtClean="0">
                <a:solidFill>
                  <a:srgbClr val="FF0000"/>
                </a:solidFill>
              </a:rPr>
              <a:t>运算符不能用于标号！</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01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017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18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018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10" fill="hold" nodeType="clickEffect">
                                  <p:stCondLst>
                                    <p:cond delay="0"/>
                                  </p:stCondLst>
                                  <p:childTnLst>
                                    <p:set>
                                      <p:cBhvr>
                                        <p:cTn id="27" dur="1" fill="hold">
                                          <p:stCondLst>
                                            <p:cond delay="0"/>
                                          </p:stCondLst>
                                        </p:cTn>
                                        <p:tgtEl>
                                          <p:spTgt spid="50189"/>
                                        </p:tgtEl>
                                        <p:attrNameLst>
                                          <p:attrName>style.visibility</p:attrName>
                                        </p:attrNameLst>
                                      </p:cBhvr>
                                      <p:to>
                                        <p:strVal val="visible"/>
                                      </p:to>
                                    </p:set>
                                    <p:anim calcmode="lin" valueType="num">
                                      <p:cBhvr>
                                        <p:cTn id="28" dur="500" fill="hold"/>
                                        <p:tgtEl>
                                          <p:spTgt spid="50189"/>
                                        </p:tgtEl>
                                        <p:attrNameLst>
                                          <p:attrName>ppt_w</p:attrName>
                                        </p:attrNameLst>
                                      </p:cBhvr>
                                      <p:tavLst>
                                        <p:tav tm="0">
                                          <p:val>
                                            <p:fltVal val="0"/>
                                          </p:val>
                                        </p:tav>
                                        <p:tav tm="100000">
                                          <p:val>
                                            <p:strVal val="#ppt_w"/>
                                          </p:val>
                                        </p:tav>
                                      </p:tavLst>
                                    </p:anim>
                                    <p:anim calcmode="lin" valueType="num">
                                      <p:cBhvr>
                                        <p:cTn id="29" dur="500" fill="hold"/>
                                        <p:tgtEl>
                                          <p:spTgt spid="50189"/>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50192"/>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50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autoUpdateAnimBg="0"/>
      <p:bldP spid="50180" grpId="0" animBg="1" autoUpdateAnimBg="0"/>
      <p:bldP spid="50192" grpId="0" autoUpdateAnimBg="0"/>
      <p:bldP spid="50193" grpId="0" animBg="1" autoUpdateAnimBg="0"/>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F012DEBA-F0E4-48C9-8F59-0E259C3E0460}" type="slidenum">
              <a:rPr lang="en-US" altLang="zh-CN" sz="1400">
                <a:solidFill>
                  <a:schemeClr val="bg2"/>
                </a:solidFill>
              </a:rPr>
              <a:pPr algn="r" eaLnBrk="1" hangingPunct="1"/>
              <a:t>43</a:t>
            </a:fld>
            <a:endParaRPr lang="en-US" altLang="zh-CN" sz="1400">
              <a:solidFill>
                <a:schemeClr val="bg2"/>
              </a:solidFill>
            </a:endParaRPr>
          </a:p>
        </p:txBody>
      </p:sp>
      <p:sp>
        <p:nvSpPr>
          <p:cNvPr id="51203" name="Rectangle 3"/>
          <p:cNvSpPr>
            <a:spLocks noChangeArrowheads="1"/>
          </p:cNvSpPr>
          <p:nvPr/>
        </p:nvSpPr>
        <p:spPr bwMode="auto">
          <a:xfrm>
            <a:off x="899592" y="1202830"/>
            <a:ext cx="6672932" cy="461665"/>
          </a:xfrm>
          <a:prstGeom prst="rect">
            <a:avLst/>
          </a:prstGeom>
          <a:noFill/>
          <a:ln w="28575"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这两个运算符用于取变量定义时初始值个数</a:t>
            </a:r>
          </a:p>
        </p:txBody>
      </p:sp>
      <p:sp>
        <p:nvSpPr>
          <p:cNvPr id="51204" name="Rectangle 4"/>
          <p:cNvSpPr>
            <a:spLocks noChangeArrowheads="1"/>
          </p:cNvSpPr>
          <p:nvPr/>
        </p:nvSpPr>
        <p:spPr bwMode="auto">
          <a:xfrm>
            <a:off x="899592" y="415040"/>
            <a:ext cx="4711546" cy="46166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4.LENGTH</a:t>
            </a:r>
            <a:r>
              <a:rPr lang="zh-CN" altLang="en-US" sz="2400" b="1" dirty="0">
                <a:solidFill>
                  <a:schemeClr val="hlink"/>
                </a:solidFill>
              </a:rPr>
              <a:t>与</a:t>
            </a:r>
            <a:r>
              <a:rPr lang="en-US" altLang="zh-CN" sz="2400" b="1" dirty="0">
                <a:solidFill>
                  <a:schemeClr val="hlink"/>
                </a:solidFill>
              </a:rPr>
              <a:t>LENGTHOF</a:t>
            </a:r>
            <a:r>
              <a:rPr lang="zh-CN" altLang="en-US" sz="2400" b="1" dirty="0">
                <a:solidFill>
                  <a:schemeClr val="hlink"/>
                </a:solidFill>
              </a:rPr>
              <a:t>运算符</a:t>
            </a:r>
          </a:p>
        </p:txBody>
      </p:sp>
      <p:sp>
        <p:nvSpPr>
          <p:cNvPr id="51206" name="Rectangle 7"/>
          <p:cNvSpPr>
            <a:spLocks noChangeArrowheads="1"/>
          </p:cNvSpPr>
          <p:nvPr/>
        </p:nvSpPr>
        <p:spPr bwMode="auto">
          <a:xfrm>
            <a:off x="395536" y="1664495"/>
            <a:ext cx="8496944" cy="3416320"/>
          </a:xfrm>
          <a:prstGeom prst="rect">
            <a:avLst/>
          </a:prstGeom>
          <a:noFill/>
          <a:ln w="28575"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457200" indent="-457200"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lnSpc>
                <a:spcPct val="150000"/>
              </a:lnSpc>
              <a:buClr>
                <a:schemeClr val="hlink"/>
              </a:buClr>
              <a:buFont typeface="Wingdings" pitchFamily="2" charset="2"/>
              <a:buChar char="Ø"/>
            </a:pPr>
            <a:r>
              <a:rPr lang="en-US" altLang="zh-CN" sz="2400" b="1" dirty="0">
                <a:solidFill>
                  <a:schemeClr val="bg2"/>
                </a:solidFill>
              </a:rPr>
              <a:t>Length</a:t>
            </a:r>
            <a:r>
              <a:rPr lang="zh-CN" altLang="en-US" sz="2400" b="1" dirty="0">
                <a:solidFill>
                  <a:schemeClr val="bg2"/>
                </a:solidFill>
              </a:rPr>
              <a:t>运算符</a:t>
            </a:r>
            <a:endParaRPr lang="en-US" altLang="zh-CN" sz="2400" b="1" dirty="0">
              <a:solidFill>
                <a:schemeClr val="bg2"/>
              </a:solidFill>
            </a:endParaRPr>
          </a:p>
          <a:p>
            <a:pPr marL="800100" lvl="1" indent="-342900" eaLnBrk="1" hangingPunct="1">
              <a:lnSpc>
                <a:spcPct val="150000"/>
              </a:lnSpc>
              <a:buClr>
                <a:schemeClr val="hlink"/>
              </a:buClr>
              <a:buFont typeface="Arial" panose="020B0604020202020204" pitchFamily="34" charset="0"/>
              <a:buChar char="•"/>
            </a:pPr>
            <a:r>
              <a:rPr lang="zh-CN" altLang="en-US" sz="2400" b="1" dirty="0">
                <a:solidFill>
                  <a:schemeClr val="bg2"/>
                </a:solidFill>
              </a:rPr>
              <a:t>取</a:t>
            </a:r>
            <a:r>
              <a:rPr lang="en-US" altLang="zh-CN" sz="2400" b="1" dirty="0">
                <a:solidFill>
                  <a:schemeClr val="bg2"/>
                </a:solidFill>
              </a:rPr>
              <a:t>DUP</a:t>
            </a:r>
            <a:r>
              <a:rPr lang="zh-CN" altLang="en-US" sz="2400" b="1" dirty="0">
                <a:solidFill>
                  <a:schemeClr val="bg2"/>
                </a:solidFill>
              </a:rPr>
              <a:t>说明的重复次数</a:t>
            </a:r>
            <a:r>
              <a:rPr lang="en-US" altLang="zh-CN" sz="2400" b="1" dirty="0">
                <a:solidFill>
                  <a:schemeClr val="bg2"/>
                </a:solidFill>
              </a:rPr>
              <a:t>,</a:t>
            </a:r>
            <a:r>
              <a:rPr lang="zh-CN" altLang="en-US" sz="2400" b="1" dirty="0">
                <a:solidFill>
                  <a:schemeClr val="bg2"/>
                </a:solidFill>
              </a:rPr>
              <a:t>并且只取最外层</a:t>
            </a:r>
            <a:r>
              <a:rPr lang="en-US" altLang="zh-CN" sz="2400" b="1" dirty="0">
                <a:solidFill>
                  <a:schemeClr val="bg2"/>
                </a:solidFill>
              </a:rPr>
              <a:t>DUP</a:t>
            </a:r>
            <a:r>
              <a:rPr lang="zh-CN" altLang="en-US" sz="2400" b="1" dirty="0">
                <a:solidFill>
                  <a:schemeClr val="bg2"/>
                </a:solidFill>
              </a:rPr>
              <a:t>的重复次数。</a:t>
            </a:r>
          </a:p>
          <a:p>
            <a:pPr lvl="1" eaLnBrk="1" hangingPunct="1">
              <a:lnSpc>
                <a:spcPct val="150000"/>
              </a:lnSpc>
              <a:buClr>
                <a:schemeClr val="hlink"/>
              </a:buClr>
              <a:buFont typeface="Arial" panose="020B0604020202020204" pitchFamily="34" charset="0"/>
              <a:buChar char="•"/>
            </a:pPr>
            <a:r>
              <a:rPr lang="zh-CN" altLang="en-US" sz="2400" b="1" dirty="0">
                <a:solidFill>
                  <a:schemeClr val="bg2"/>
                </a:solidFill>
              </a:rPr>
              <a:t>如果第一个初始值不是</a:t>
            </a:r>
            <a:r>
              <a:rPr lang="en-US" altLang="zh-CN" sz="2400" b="1" dirty="0">
                <a:solidFill>
                  <a:schemeClr val="bg2"/>
                </a:solidFill>
              </a:rPr>
              <a:t>DUP</a:t>
            </a:r>
            <a:r>
              <a:rPr lang="zh-CN" altLang="en-US" sz="2400" b="1" dirty="0">
                <a:solidFill>
                  <a:schemeClr val="bg2"/>
                </a:solidFill>
              </a:rPr>
              <a:t>说明，则</a:t>
            </a:r>
            <a:r>
              <a:rPr lang="en-US" altLang="zh-CN" sz="2400" b="1" dirty="0">
                <a:solidFill>
                  <a:schemeClr val="bg2"/>
                </a:solidFill>
              </a:rPr>
              <a:t>LENGTH</a:t>
            </a:r>
            <a:r>
              <a:rPr lang="zh-CN" altLang="en-US" sz="2400" b="1" dirty="0">
                <a:solidFill>
                  <a:schemeClr val="bg2"/>
                </a:solidFill>
              </a:rPr>
              <a:t>运算符返回值总是</a:t>
            </a:r>
            <a:r>
              <a:rPr lang="en-US" altLang="zh-CN" sz="2400" b="1" dirty="0">
                <a:solidFill>
                  <a:schemeClr val="bg2"/>
                </a:solidFill>
              </a:rPr>
              <a:t>1</a:t>
            </a:r>
            <a:r>
              <a:rPr lang="zh-CN" altLang="en-US" sz="2400" b="1" dirty="0">
                <a:solidFill>
                  <a:schemeClr val="bg2"/>
                </a:solidFill>
              </a:rPr>
              <a:t>。</a:t>
            </a:r>
            <a:endParaRPr lang="en-US" altLang="zh-CN" sz="2400" b="1" dirty="0">
              <a:solidFill>
                <a:schemeClr val="bg2"/>
              </a:solidFill>
            </a:endParaRPr>
          </a:p>
          <a:p>
            <a:pPr eaLnBrk="1" hangingPunct="1">
              <a:lnSpc>
                <a:spcPct val="150000"/>
              </a:lnSpc>
              <a:buClr>
                <a:schemeClr val="hlink"/>
              </a:buClr>
              <a:buFont typeface="Wingdings" panose="05000000000000000000" pitchFamily="2" charset="2"/>
              <a:buChar char="Ø"/>
            </a:pPr>
            <a:r>
              <a:rPr lang="en-US" altLang="zh-CN" sz="2400" b="1" dirty="0" err="1">
                <a:solidFill>
                  <a:schemeClr val="bg2"/>
                </a:solidFill>
              </a:rPr>
              <a:t>Lengthof</a:t>
            </a:r>
            <a:r>
              <a:rPr lang="zh-CN" altLang="en-US" sz="2400" b="1" dirty="0">
                <a:solidFill>
                  <a:schemeClr val="bg2"/>
                </a:solidFill>
              </a:rPr>
              <a:t>运算符</a:t>
            </a:r>
            <a:r>
              <a:rPr lang="en-US" altLang="zh-CN" sz="2400" b="1" dirty="0">
                <a:solidFill>
                  <a:schemeClr val="bg2"/>
                </a:solidFill>
              </a:rPr>
              <a:t>—</a:t>
            </a:r>
            <a:r>
              <a:rPr lang="zh-CN" altLang="en-US" sz="2400" b="1" dirty="0">
                <a:solidFill>
                  <a:srgbClr val="FF0000"/>
                </a:solidFill>
              </a:rPr>
              <a:t>只能用于</a:t>
            </a:r>
            <a:r>
              <a:rPr lang="en-US" altLang="zh-CN" sz="2400" b="1" dirty="0">
                <a:solidFill>
                  <a:srgbClr val="FF0000"/>
                </a:solidFill>
              </a:rPr>
              <a:t>32</a:t>
            </a:r>
            <a:r>
              <a:rPr lang="zh-CN" altLang="en-US" sz="2400" b="1" dirty="0">
                <a:solidFill>
                  <a:srgbClr val="FF0000"/>
                </a:solidFill>
              </a:rPr>
              <a:t>位模式</a:t>
            </a:r>
            <a:endParaRPr lang="en-US" altLang="zh-CN" sz="2400" b="1" dirty="0">
              <a:solidFill>
                <a:srgbClr val="FF0000"/>
              </a:solidFill>
            </a:endParaRPr>
          </a:p>
          <a:p>
            <a:pPr marL="800100" lvl="1" indent="-342900" eaLnBrk="1" hangingPunct="1">
              <a:lnSpc>
                <a:spcPct val="150000"/>
              </a:lnSpc>
              <a:buClr>
                <a:schemeClr val="hlink"/>
              </a:buClr>
              <a:buFont typeface="Arial" panose="020B0604020202020204" pitchFamily="34" charset="0"/>
              <a:buChar char="•"/>
            </a:pPr>
            <a:r>
              <a:rPr lang="zh-CN" altLang="en-US" sz="2400" b="1" dirty="0">
                <a:solidFill>
                  <a:schemeClr val="bg2"/>
                </a:solidFill>
              </a:rPr>
              <a:t>取变量定义行中的初始值个数</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51203"/>
                                        </p:tgtEl>
                                        <p:attrNameLst>
                                          <p:attrName>style.visibility</p:attrName>
                                        </p:attrNameLst>
                                      </p:cBhvr>
                                      <p:to>
                                        <p:strVal val="visible"/>
                                      </p:to>
                                    </p:set>
                                    <p:animEffect transition="in" filter="wipe(down)">
                                      <p:cBhvr>
                                        <p:cTn id="11" dur="500"/>
                                        <p:tgtEl>
                                          <p:spTgt spid="51203"/>
                                        </p:tgtEl>
                                      </p:cBhvr>
                                    </p:animEffect>
                                  </p:childTnLst>
                                </p:cTn>
                              </p:par>
                            </p:childTnLst>
                          </p:cTn>
                        </p:par>
                      </p:childTnLst>
                    </p:cTn>
                  </p:par>
                  <p:par>
                    <p:cTn id="12" fill="hold">
                      <p:stCondLst>
                        <p:cond delay="indefinite"/>
                      </p:stCondLst>
                      <p:childTnLst>
                        <p:par>
                          <p:cTn id="13" fill="hold" nodeType="after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51206">
                                            <p:txEl>
                                              <p:pRg st="0" end="0"/>
                                            </p:txEl>
                                          </p:spTgt>
                                        </p:tgtEl>
                                        <p:attrNameLst>
                                          <p:attrName>style.visibility</p:attrName>
                                        </p:attrNameLst>
                                      </p:cBhvr>
                                      <p:to>
                                        <p:strVal val="visible"/>
                                      </p:to>
                                    </p:set>
                                    <p:animEffect transition="in" filter="wipe(down)">
                                      <p:cBhvr>
                                        <p:cTn id="16" dur="500"/>
                                        <p:tgtEl>
                                          <p:spTgt spid="5120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51206">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51206">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51206">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5120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animBg="1"/>
      <p:bldP spid="51204" grpId="0" animBg="1" autoUpdateAnimBg="0"/>
      <p:bldP spid="51206" grpId="0" uiExpand="1"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1835696" y="980728"/>
            <a:ext cx="5568950" cy="1631216"/>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000" b="1" dirty="0">
                <a:solidFill>
                  <a:schemeClr val="bg2"/>
                </a:solidFill>
              </a:rPr>
              <a:t>K1  DB   10H DUP(0), 20H</a:t>
            </a:r>
            <a:r>
              <a:rPr lang="zh-CN" altLang="en-US" sz="2000" b="1" dirty="0">
                <a:solidFill>
                  <a:schemeClr val="bg2"/>
                </a:solidFill>
              </a:rPr>
              <a:t/>
            </a:r>
            <a:br>
              <a:rPr lang="zh-CN" altLang="en-US" sz="2000" b="1" dirty="0">
                <a:solidFill>
                  <a:schemeClr val="bg2"/>
                </a:solidFill>
              </a:rPr>
            </a:br>
            <a:r>
              <a:rPr lang="en-US" altLang="zh-CN" sz="2000" b="1" dirty="0">
                <a:solidFill>
                  <a:schemeClr val="bg2"/>
                </a:solidFill>
              </a:rPr>
              <a:t>K2  DB    10H</a:t>
            </a:r>
            <a:r>
              <a:rPr lang="zh-CN" altLang="en-US" sz="2000" b="1" dirty="0">
                <a:solidFill>
                  <a:schemeClr val="bg2"/>
                </a:solidFill>
              </a:rPr>
              <a:t>，</a:t>
            </a:r>
            <a:r>
              <a:rPr lang="en-US" altLang="zh-CN" sz="2000" b="1" dirty="0">
                <a:solidFill>
                  <a:schemeClr val="bg2"/>
                </a:solidFill>
              </a:rPr>
              <a:t>20H</a:t>
            </a:r>
            <a:r>
              <a:rPr lang="zh-CN" altLang="en-US" sz="2000" b="1" dirty="0">
                <a:solidFill>
                  <a:schemeClr val="bg2"/>
                </a:solidFill>
              </a:rPr>
              <a:t>，</a:t>
            </a:r>
            <a:r>
              <a:rPr lang="en-US" altLang="zh-CN" sz="2000" b="1" dirty="0">
                <a:solidFill>
                  <a:schemeClr val="bg2"/>
                </a:solidFill>
              </a:rPr>
              <a:t>30H</a:t>
            </a:r>
            <a:r>
              <a:rPr lang="zh-CN" altLang="en-US" sz="2000" b="1" dirty="0">
                <a:solidFill>
                  <a:schemeClr val="bg2"/>
                </a:solidFill>
              </a:rPr>
              <a:t>，</a:t>
            </a:r>
            <a:r>
              <a:rPr lang="en-US" altLang="zh-CN" sz="2000" b="1" dirty="0">
                <a:solidFill>
                  <a:schemeClr val="bg2"/>
                </a:solidFill>
              </a:rPr>
              <a:t>40H</a:t>
            </a:r>
            <a:br>
              <a:rPr lang="en-US" altLang="zh-CN" sz="2000" b="1" dirty="0">
                <a:solidFill>
                  <a:schemeClr val="bg2"/>
                </a:solidFill>
              </a:rPr>
            </a:br>
            <a:r>
              <a:rPr lang="en-US" altLang="zh-CN" sz="2000" b="1" dirty="0">
                <a:solidFill>
                  <a:schemeClr val="bg2"/>
                </a:solidFill>
              </a:rPr>
              <a:t>        DB   50H, 60H</a:t>
            </a:r>
            <a:br>
              <a:rPr lang="en-US" altLang="zh-CN" sz="2000" b="1" dirty="0">
                <a:solidFill>
                  <a:schemeClr val="bg2"/>
                </a:solidFill>
              </a:rPr>
            </a:br>
            <a:r>
              <a:rPr lang="en-US" altLang="zh-CN" sz="2000" b="1" dirty="0">
                <a:solidFill>
                  <a:schemeClr val="bg2"/>
                </a:solidFill>
              </a:rPr>
              <a:t>K3  DW  20H DUP(0,1,2 DUP(0))</a:t>
            </a:r>
            <a:r>
              <a:rPr lang="zh-CN" altLang="en-US" sz="2000" b="1" dirty="0">
                <a:solidFill>
                  <a:schemeClr val="bg2"/>
                </a:solidFill>
              </a:rPr>
              <a:t/>
            </a:r>
            <a:br>
              <a:rPr lang="zh-CN" altLang="en-US" sz="2000" b="1" dirty="0">
                <a:solidFill>
                  <a:schemeClr val="bg2"/>
                </a:solidFill>
              </a:rPr>
            </a:br>
            <a:r>
              <a:rPr lang="en-US" altLang="zh-CN" sz="2000" b="1" dirty="0">
                <a:solidFill>
                  <a:schemeClr val="bg2"/>
                </a:solidFill>
              </a:rPr>
              <a:t>K4  DB   ‘ABCDEFGH’</a:t>
            </a:r>
          </a:p>
        </p:txBody>
      </p:sp>
      <p:sp>
        <p:nvSpPr>
          <p:cNvPr id="3" name="Text Box 8"/>
          <p:cNvSpPr txBox="1">
            <a:spLocks noChangeArrowheads="1"/>
          </p:cNvSpPr>
          <p:nvPr/>
        </p:nvSpPr>
        <p:spPr bwMode="auto">
          <a:xfrm>
            <a:off x="1763689" y="2780928"/>
            <a:ext cx="3528391" cy="2708434"/>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lnSpc>
                <a:spcPts val="1500"/>
              </a:lnSpc>
              <a:spcBef>
                <a:spcPct val="50000"/>
              </a:spcBef>
            </a:pPr>
            <a:r>
              <a:rPr lang="en-US" altLang="zh-CN" sz="2000" b="1" dirty="0">
                <a:solidFill>
                  <a:srgbClr val="0066FF"/>
                </a:solidFill>
              </a:rPr>
              <a:t>MOV   AL,  LENGTH   </a:t>
            </a:r>
            <a:r>
              <a:rPr lang="en-US" altLang="zh-CN" sz="2000" b="1" dirty="0" smtClean="0">
                <a:solidFill>
                  <a:srgbClr val="0066FF"/>
                </a:solidFill>
              </a:rPr>
              <a:t>K1</a:t>
            </a:r>
            <a:endParaRPr lang="en-US" altLang="zh-CN" sz="2000" b="1" dirty="0">
              <a:solidFill>
                <a:srgbClr val="0066FF"/>
              </a:solidFill>
            </a:endParaRPr>
          </a:p>
          <a:p>
            <a:pPr eaLnBrk="1" hangingPunct="1">
              <a:lnSpc>
                <a:spcPts val="1500"/>
              </a:lnSpc>
              <a:spcBef>
                <a:spcPct val="50000"/>
              </a:spcBef>
            </a:pPr>
            <a:r>
              <a:rPr lang="en-US" altLang="zh-CN" sz="2000" b="1" dirty="0">
                <a:solidFill>
                  <a:srgbClr val="0066FF"/>
                </a:solidFill>
              </a:rPr>
              <a:t>MOV   AH, LENGTHOF </a:t>
            </a:r>
            <a:r>
              <a:rPr lang="en-US" altLang="zh-CN" sz="2000" b="1" dirty="0" smtClean="0">
                <a:solidFill>
                  <a:srgbClr val="0066FF"/>
                </a:solidFill>
              </a:rPr>
              <a:t>K1</a:t>
            </a:r>
            <a:endParaRPr lang="en-US" altLang="zh-CN" sz="2000" b="1" dirty="0">
              <a:solidFill>
                <a:srgbClr val="0066FF"/>
              </a:solidFill>
            </a:endParaRPr>
          </a:p>
          <a:p>
            <a:pPr eaLnBrk="1" hangingPunct="1">
              <a:lnSpc>
                <a:spcPts val="1500"/>
              </a:lnSpc>
              <a:spcBef>
                <a:spcPct val="50000"/>
              </a:spcBef>
            </a:pPr>
            <a:r>
              <a:rPr lang="en-US" altLang="zh-CN" sz="2000" b="1" dirty="0">
                <a:solidFill>
                  <a:srgbClr val="0066FF"/>
                </a:solidFill>
              </a:rPr>
              <a:t>MOV   BL,  LENGTH   K2 </a:t>
            </a:r>
            <a:endParaRPr lang="en-US" altLang="zh-CN" sz="2000" b="1" dirty="0" smtClean="0">
              <a:solidFill>
                <a:srgbClr val="0066FF"/>
              </a:solidFill>
            </a:endParaRPr>
          </a:p>
          <a:p>
            <a:pPr eaLnBrk="1" hangingPunct="1">
              <a:lnSpc>
                <a:spcPts val="1500"/>
              </a:lnSpc>
              <a:spcBef>
                <a:spcPct val="50000"/>
              </a:spcBef>
            </a:pPr>
            <a:r>
              <a:rPr lang="en-US" altLang="zh-CN" sz="2000" b="1" dirty="0" smtClean="0">
                <a:solidFill>
                  <a:srgbClr val="0066FF"/>
                </a:solidFill>
              </a:rPr>
              <a:t>MOV   BH, LENGTHOF K2</a:t>
            </a:r>
          </a:p>
          <a:p>
            <a:pPr eaLnBrk="1" hangingPunct="1">
              <a:lnSpc>
                <a:spcPts val="1500"/>
              </a:lnSpc>
              <a:spcBef>
                <a:spcPct val="50000"/>
              </a:spcBef>
            </a:pPr>
            <a:r>
              <a:rPr lang="en-US" altLang="zh-CN" sz="2000" b="1" dirty="0" smtClean="0">
                <a:solidFill>
                  <a:srgbClr val="0066FF"/>
                </a:solidFill>
              </a:rPr>
              <a:t>MOV   </a:t>
            </a:r>
            <a:r>
              <a:rPr lang="en-US" altLang="zh-CN" sz="2000" b="1" dirty="0">
                <a:solidFill>
                  <a:srgbClr val="0066FF"/>
                </a:solidFill>
              </a:rPr>
              <a:t>CL,  LENGTH   </a:t>
            </a:r>
            <a:r>
              <a:rPr lang="en-US" altLang="zh-CN" sz="2000" b="1" dirty="0" smtClean="0">
                <a:solidFill>
                  <a:srgbClr val="0066FF"/>
                </a:solidFill>
              </a:rPr>
              <a:t>K3</a:t>
            </a:r>
            <a:endParaRPr lang="en-US" altLang="zh-CN" sz="2000" b="1" dirty="0">
              <a:solidFill>
                <a:srgbClr val="0066FF"/>
              </a:solidFill>
            </a:endParaRPr>
          </a:p>
          <a:p>
            <a:pPr eaLnBrk="1" hangingPunct="1">
              <a:lnSpc>
                <a:spcPts val="1500"/>
              </a:lnSpc>
              <a:spcBef>
                <a:spcPct val="50000"/>
              </a:spcBef>
            </a:pPr>
            <a:r>
              <a:rPr lang="en-US" altLang="zh-CN" sz="2000" b="1" dirty="0">
                <a:solidFill>
                  <a:srgbClr val="0066FF"/>
                </a:solidFill>
              </a:rPr>
              <a:t>MOV   CH, LENGTHOF </a:t>
            </a:r>
            <a:r>
              <a:rPr lang="en-US" altLang="zh-CN" sz="2000" b="1" dirty="0" smtClean="0">
                <a:solidFill>
                  <a:srgbClr val="0066FF"/>
                </a:solidFill>
              </a:rPr>
              <a:t>K3</a:t>
            </a:r>
            <a:endParaRPr lang="en-US" altLang="zh-CN" sz="2000" b="1" dirty="0">
              <a:solidFill>
                <a:srgbClr val="0066FF"/>
              </a:solidFill>
            </a:endParaRPr>
          </a:p>
          <a:p>
            <a:pPr eaLnBrk="1" hangingPunct="1">
              <a:lnSpc>
                <a:spcPts val="1500"/>
              </a:lnSpc>
              <a:spcBef>
                <a:spcPct val="50000"/>
              </a:spcBef>
            </a:pPr>
            <a:r>
              <a:rPr lang="en-US" altLang="zh-CN" sz="2000" b="1" dirty="0">
                <a:solidFill>
                  <a:srgbClr val="0066FF"/>
                </a:solidFill>
              </a:rPr>
              <a:t>MOV   DL,  LENGTH   K4 </a:t>
            </a:r>
            <a:endParaRPr lang="en-US" altLang="zh-CN" sz="2000" b="1" dirty="0" smtClean="0">
              <a:solidFill>
                <a:srgbClr val="0066FF"/>
              </a:solidFill>
            </a:endParaRPr>
          </a:p>
          <a:p>
            <a:pPr eaLnBrk="1" hangingPunct="1">
              <a:lnSpc>
                <a:spcPts val="1500"/>
              </a:lnSpc>
              <a:spcBef>
                <a:spcPct val="50000"/>
              </a:spcBef>
            </a:pPr>
            <a:r>
              <a:rPr lang="en-US" altLang="zh-CN" sz="2000" b="1" dirty="0" smtClean="0">
                <a:solidFill>
                  <a:srgbClr val="0066FF"/>
                </a:solidFill>
              </a:rPr>
              <a:t>MOV   </a:t>
            </a:r>
            <a:r>
              <a:rPr lang="en-US" altLang="zh-CN" sz="2000" b="1" dirty="0">
                <a:solidFill>
                  <a:srgbClr val="0066FF"/>
                </a:solidFill>
              </a:rPr>
              <a:t>DH, LENGTHOF </a:t>
            </a:r>
            <a:r>
              <a:rPr lang="en-US" altLang="zh-CN" sz="2000" b="1" dirty="0" smtClean="0">
                <a:solidFill>
                  <a:srgbClr val="0066FF"/>
                </a:solidFill>
              </a:rPr>
              <a:t>K4</a:t>
            </a:r>
            <a:endParaRPr lang="en-US" altLang="zh-CN" sz="2000" b="1" dirty="0">
              <a:solidFill>
                <a:srgbClr val="0066FF"/>
              </a:solidFill>
            </a:endParaRPr>
          </a:p>
        </p:txBody>
      </p:sp>
      <p:sp>
        <p:nvSpPr>
          <p:cNvPr id="4" name="TextBox 1"/>
          <p:cNvSpPr txBox="1"/>
          <p:nvPr/>
        </p:nvSpPr>
        <p:spPr>
          <a:xfrm>
            <a:off x="971600" y="980728"/>
            <a:ext cx="1080120" cy="461665"/>
          </a:xfrm>
          <a:prstGeom prst="rect">
            <a:avLst/>
          </a:prstGeom>
          <a:noFill/>
        </p:spPr>
        <p:txBody>
          <a:bodyPr wrap="square" rtlCol="0">
            <a:spAutoFit/>
          </a:bodyPr>
          <a:lstStyle/>
          <a:p>
            <a:r>
              <a:rPr lang="zh-CN" altLang="en-US" sz="2400" b="1" dirty="0">
                <a:solidFill>
                  <a:schemeClr val="bg2"/>
                </a:solidFill>
              </a:rPr>
              <a:t>例如</a:t>
            </a:r>
          </a:p>
        </p:txBody>
      </p:sp>
      <p:sp>
        <p:nvSpPr>
          <p:cNvPr id="5" name="Text Box 8"/>
          <p:cNvSpPr txBox="1">
            <a:spLocks noChangeArrowheads="1"/>
          </p:cNvSpPr>
          <p:nvPr/>
        </p:nvSpPr>
        <p:spPr bwMode="auto">
          <a:xfrm>
            <a:off x="5076056" y="2780928"/>
            <a:ext cx="2664296" cy="272042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lnSpc>
                <a:spcPts val="1500"/>
              </a:lnSpc>
              <a:spcBef>
                <a:spcPct val="50000"/>
              </a:spcBef>
            </a:pPr>
            <a:r>
              <a:rPr lang="en-US" altLang="zh-CN" sz="2000" b="1" dirty="0" smtClean="0">
                <a:solidFill>
                  <a:srgbClr val="FF0000"/>
                </a:solidFill>
              </a:rPr>
              <a:t>; </a:t>
            </a:r>
            <a:r>
              <a:rPr lang="en-US" altLang="zh-CN" sz="2000" b="1" dirty="0">
                <a:solidFill>
                  <a:srgbClr val="FF0000"/>
                </a:solidFill>
              </a:rPr>
              <a:t>(AL)=10H</a:t>
            </a:r>
          </a:p>
          <a:p>
            <a:pPr eaLnBrk="1" hangingPunct="1">
              <a:lnSpc>
                <a:spcPts val="1500"/>
              </a:lnSpc>
              <a:spcBef>
                <a:spcPct val="50000"/>
              </a:spcBef>
            </a:pPr>
            <a:r>
              <a:rPr lang="en-US" altLang="zh-CN" sz="2000" b="1" dirty="0" smtClean="0">
                <a:solidFill>
                  <a:srgbClr val="FF0000"/>
                </a:solidFill>
              </a:rPr>
              <a:t>;(</a:t>
            </a:r>
            <a:r>
              <a:rPr lang="en-US" altLang="zh-CN" sz="2000" b="1" dirty="0">
                <a:solidFill>
                  <a:srgbClr val="FF0000"/>
                </a:solidFill>
              </a:rPr>
              <a:t>AH)=11H</a:t>
            </a:r>
          </a:p>
          <a:p>
            <a:pPr eaLnBrk="1" hangingPunct="1">
              <a:lnSpc>
                <a:spcPts val="1500"/>
              </a:lnSpc>
              <a:spcBef>
                <a:spcPct val="50000"/>
              </a:spcBef>
            </a:pPr>
            <a:r>
              <a:rPr lang="en-US" altLang="zh-CN" sz="2000" b="1" dirty="0" smtClean="0">
                <a:solidFill>
                  <a:srgbClr val="FF0000"/>
                </a:solidFill>
              </a:rPr>
              <a:t>; </a:t>
            </a:r>
            <a:r>
              <a:rPr lang="en-US" altLang="zh-CN" sz="2000" b="1" dirty="0">
                <a:solidFill>
                  <a:srgbClr val="FF0000"/>
                </a:solidFill>
              </a:rPr>
              <a:t>(BL)=1</a:t>
            </a:r>
          </a:p>
          <a:p>
            <a:pPr eaLnBrk="1" hangingPunct="1">
              <a:lnSpc>
                <a:spcPts val="1500"/>
              </a:lnSpc>
              <a:spcBef>
                <a:spcPct val="50000"/>
              </a:spcBef>
            </a:pPr>
            <a:r>
              <a:rPr lang="en-US" altLang="zh-CN" sz="2000" b="1" dirty="0" smtClean="0">
                <a:solidFill>
                  <a:srgbClr val="FF0000"/>
                </a:solidFill>
              </a:rPr>
              <a:t>;(</a:t>
            </a:r>
            <a:r>
              <a:rPr lang="en-US" altLang="zh-CN" sz="2000" b="1" dirty="0">
                <a:solidFill>
                  <a:srgbClr val="FF0000"/>
                </a:solidFill>
              </a:rPr>
              <a:t>BH)=4</a:t>
            </a:r>
          </a:p>
          <a:p>
            <a:pPr eaLnBrk="1" hangingPunct="1">
              <a:lnSpc>
                <a:spcPts val="1500"/>
              </a:lnSpc>
              <a:spcBef>
                <a:spcPct val="50000"/>
              </a:spcBef>
            </a:pPr>
            <a:r>
              <a:rPr lang="en-US" altLang="zh-CN" sz="2000" b="1" dirty="0" smtClean="0">
                <a:solidFill>
                  <a:srgbClr val="FF0000"/>
                </a:solidFill>
              </a:rPr>
              <a:t>;  </a:t>
            </a:r>
            <a:r>
              <a:rPr lang="en-US" altLang="zh-CN" sz="2000" b="1" dirty="0">
                <a:solidFill>
                  <a:srgbClr val="FF0000"/>
                </a:solidFill>
              </a:rPr>
              <a:t>(CL)=20H</a:t>
            </a:r>
          </a:p>
          <a:p>
            <a:pPr eaLnBrk="1" hangingPunct="1">
              <a:lnSpc>
                <a:spcPts val="1500"/>
              </a:lnSpc>
              <a:spcBef>
                <a:spcPct val="50000"/>
              </a:spcBef>
            </a:pPr>
            <a:r>
              <a:rPr lang="en-US" altLang="zh-CN" sz="2000" b="1" dirty="0" smtClean="0">
                <a:solidFill>
                  <a:srgbClr val="FF0000"/>
                </a:solidFill>
              </a:rPr>
              <a:t>; </a:t>
            </a:r>
            <a:r>
              <a:rPr lang="en-US" altLang="zh-CN" sz="2000" b="1" dirty="0">
                <a:solidFill>
                  <a:srgbClr val="FF0000"/>
                </a:solidFill>
              </a:rPr>
              <a:t>(CH)=4*20H=80H</a:t>
            </a:r>
          </a:p>
          <a:p>
            <a:pPr eaLnBrk="1" hangingPunct="1">
              <a:lnSpc>
                <a:spcPts val="1500"/>
              </a:lnSpc>
              <a:spcBef>
                <a:spcPct val="50000"/>
              </a:spcBef>
            </a:pPr>
            <a:r>
              <a:rPr lang="en-US" altLang="zh-CN" sz="2000" b="1" dirty="0" smtClean="0">
                <a:solidFill>
                  <a:srgbClr val="FF0000"/>
                </a:solidFill>
              </a:rPr>
              <a:t>;  </a:t>
            </a:r>
            <a:r>
              <a:rPr lang="en-US" altLang="zh-CN" sz="2000" b="1" dirty="0">
                <a:solidFill>
                  <a:srgbClr val="FF0000"/>
                </a:solidFill>
              </a:rPr>
              <a:t>(DL)=1</a:t>
            </a:r>
          </a:p>
          <a:p>
            <a:pPr eaLnBrk="1" hangingPunct="1">
              <a:lnSpc>
                <a:spcPts val="1500"/>
              </a:lnSpc>
              <a:spcBef>
                <a:spcPct val="50000"/>
              </a:spcBef>
            </a:pPr>
            <a:r>
              <a:rPr lang="en-US" altLang="zh-CN" sz="2000" b="1" dirty="0" smtClean="0">
                <a:solidFill>
                  <a:srgbClr val="FF0000"/>
                </a:solidFill>
              </a:rPr>
              <a:t>;(</a:t>
            </a:r>
            <a:r>
              <a:rPr lang="en-US" altLang="zh-CN" sz="2000" b="1" dirty="0">
                <a:solidFill>
                  <a:srgbClr val="FF0000"/>
                </a:solidFill>
              </a:rPr>
              <a:t>DH)=8</a:t>
            </a:r>
          </a:p>
        </p:txBody>
      </p:sp>
    </p:spTree>
    <p:extLst>
      <p:ext uri="{BB962C8B-B14F-4D97-AF65-F5344CB8AC3E}">
        <p14:creationId xmlns:p14="http://schemas.microsoft.com/office/powerpoint/2010/main" val="209794056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wipe(down)">
                                      <p:cBhvr>
                                        <p:cTn id="15" dur="500"/>
                                        <p:tgtEl>
                                          <p:spTgt spid="3">
                                            <p:txEl>
                                              <p:pRg st="0" end="0"/>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wipe(down)">
                                      <p:cBhvr>
                                        <p:cTn id="18" dur="500"/>
                                        <p:tgtEl>
                                          <p:spTgt spid="3">
                                            <p:txEl>
                                              <p:pRg st="1" end="1"/>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down)">
                                      <p:cBhvr>
                                        <p:cTn id="21" dur="500"/>
                                        <p:tgtEl>
                                          <p:spTgt spid="3">
                                            <p:txEl>
                                              <p:pRg st="2" end="2"/>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down)">
                                      <p:cBhvr>
                                        <p:cTn id="24" dur="500"/>
                                        <p:tgtEl>
                                          <p:spTgt spid="3">
                                            <p:txEl>
                                              <p:pRg st="3" end="3"/>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down)">
                                      <p:cBhvr>
                                        <p:cTn id="30" dur="500"/>
                                        <p:tgtEl>
                                          <p:spTgt spid="3">
                                            <p:txEl>
                                              <p:pRg st="5" end="5"/>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down)">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animEffect transition="in" filter="wipe(down)">
                                      <p:cBhvr>
                                        <p:cTn id="41" dur="500"/>
                                        <p:tgtEl>
                                          <p:spTgt spid="5">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
                                            <p:txEl>
                                              <p:pRg st="1" end="1"/>
                                            </p:txEl>
                                          </p:spTgt>
                                        </p:tgtEl>
                                        <p:attrNameLst>
                                          <p:attrName>style.visibility</p:attrName>
                                        </p:attrNameLst>
                                      </p:cBhvr>
                                      <p:to>
                                        <p:strVal val="visible"/>
                                      </p:to>
                                    </p:set>
                                    <p:animEffect transition="in" filter="wipe(down)">
                                      <p:cBhvr>
                                        <p:cTn id="46" dur="500"/>
                                        <p:tgtEl>
                                          <p:spTgt spid="5">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animEffect transition="in" filter="wipe(down)">
                                      <p:cBhvr>
                                        <p:cTn id="51" dur="500"/>
                                        <p:tgtEl>
                                          <p:spTgt spid="5">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5">
                                            <p:txEl>
                                              <p:pRg st="3" end="3"/>
                                            </p:txEl>
                                          </p:spTgt>
                                        </p:tgtEl>
                                        <p:attrNameLst>
                                          <p:attrName>style.visibility</p:attrName>
                                        </p:attrNameLst>
                                      </p:cBhvr>
                                      <p:to>
                                        <p:strVal val="visible"/>
                                      </p:to>
                                    </p:set>
                                    <p:animEffect transition="in" filter="wipe(down)">
                                      <p:cBhvr>
                                        <p:cTn id="56" dur="500"/>
                                        <p:tgtEl>
                                          <p:spTgt spid="5">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5">
                                            <p:txEl>
                                              <p:pRg st="4" end="4"/>
                                            </p:txEl>
                                          </p:spTgt>
                                        </p:tgtEl>
                                        <p:attrNameLst>
                                          <p:attrName>style.visibility</p:attrName>
                                        </p:attrNameLst>
                                      </p:cBhvr>
                                      <p:to>
                                        <p:strVal val="visible"/>
                                      </p:to>
                                    </p:set>
                                    <p:animEffect transition="in" filter="wipe(down)">
                                      <p:cBhvr>
                                        <p:cTn id="61" dur="500"/>
                                        <p:tgtEl>
                                          <p:spTgt spid="5">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5">
                                            <p:txEl>
                                              <p:pRg st="5" end="5"/>
                                            </p:txEl>
                                          </p:spTgt>
                                        </p:tgtEl>
                                        <p:attrNameLst>
                                          <p:attrName>style.visibility</p:attrName>
                                        </p:attrNameLst>
                                      </p:cBhvr>
                                      <p:to>
                                        <p:strVal val="visible"/>
                                      </p:to>
                                    </p:set>
                                    <p:animEffect transition="in" filter="wipe(down)">
                                      <p:cBhvr>
                                        <p:cTn id="66" dur="500"/>
                                        <p:tgtEl>
                                          <p:spTgt spid="5">
                                            <p:txEl>
                                              <p:pRg st="5" end="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5">
                                            <p:txEl>
                                              <p:pRg st="6" end="6"/>
                                            </p:txEl>
                                          </p:spTgt>
                                        </p:tgtEl>
                                        <p:attrNameLst>
                                          <p:attrName>style.visibility</p:attrName>
                                        </p:attrNameLst>
                                      </p:cBhvr>
                                      <p:to>
                                        <p:strVal val="visible"/>
                                      </p:to>
                                    </p:set>
                                    <p:animEffect transition="in" filter="wipe(down)">
                                      <p:cBhvr>
                                        <p:cTn id="71" dur="500"/>
                                        <p:tgtEl>
                                          <p:spTgt spid="5">
                                            <p:txEl>
                                              <p:pRg st="6" end="6"/>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5">
                                            <p:txEl>
                                              <p:pRg st="7" end="7"/>
                                            </p:txEl>
                                          </p:spTgt>
                                        </p:tgtEl>
                                        <p:attrNameLst>
                                          <p:attrName>style.visibility</p:attrName>
                                        </p:attrNameLst>
                                      </p:cBhvr>
                                      <p:to>
                                        <p:strVal val="visible"/>
                                      </p:to>
                                    </p:set>
                                    <p:animEffect transition="in" filter="wipe(down)">
                                      <p:cBhvr>
                                        <p:cTn id="7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930C859A-C5E8-4579-993B-98DE4540DB24}" type="slidenum">
              <a:rPr lang="en-US" altLang="zh-CN" sz="1400">
                <a:solidFill>
                  <a:schemeClr val="bg2"/>
                </a:solidFill>
              </a:rPr>
              <a:pPr algn="r" eaLnBrk="1" hangingPunct="1"/>
              <a:t>45</a:t>
            </a:fld>
            <a:endParaRPr lang="en-US" altLang="zh-CN" sz="1400">
              <a:solidFill>
                <a:schemeClr val="bg2"/>
              </a:solidFill>
            </a:endParaRPr>
          </a:p>
        </p:txBody>
      </p:sp>
      <p:sp>
        <p:nvSpPr>
          <p:cNvPr id="52227" name="Rectangle 3"/>
          <p:cNvSpPr>
            <a:spLocks noChangeArrowheads="1"/>
          </p:cNvSpPr>
          <p:nvPr/>
        </p:nvSpPr>
        <p:spPr bwMode="auto">
          <a:xfrm>
            <a:off x="409574" y="1323975"/>
            <a:ext cx="8554913" cy="830997"/>
          </a:xfrm>
          <a:prstGeom prst="rect">
            <a:avLst/>
          </a:prstGeom>
          <a:noFill/>
          <a:ln w="28575"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u"/>
            </a:pPr>
            <a:r>
              <a:rPr lang="en-US" altLang="zh-CN" sz="2400" b="1" dirty="0">
                <a:solidFill>
                  <a:schemeClr val="bg2"/>
                </a:solidFill>
              </a:rPr>
              <a:t>SIZE</a:t>
            </a:r>
            <a:r>
              <a:rPr lang="zh-CN" altLang="en-US" sz="2400" b="1" dirty="0">
                <a:solidFill>
                  <a:schemeClr val="bg2"/>
                </a:solidFill>
              </a:rPr>
              <a:t>取值等于</a:t>
            </a:r>
            <a:r>
              <a:rPr lang="en-US" altLang="zh-CN" sz="2400" b="1" dirty="0">
                <a:solidFill>
                  <a:schemeClr val="bg2"/>
                </a:solidFill>
              </a:rPr>
              <a:t>LENGTH</a:t>
            </a:r>
            <a:r>
              <a:rPr lang="zh-CN" altLang="en-US" sz="2400" b="1" dirty="0">
                <a:solidFill>
                  <a:schemeClr val="bg2"/>
                </a:solidFill>
              </a:rPr>
              <a:t>和</a:t>
            </a:r>
            <a:r>
              <a:rPr lang="en-US" altLang="zh-CN" sz="2400" b="1" dirty="0">
                <a:solidFill>
                  <a:schemeClr val="bg2"/>
                </a:solidFill>
              </a:rPr>
              <a:t>TYPE</a:t>
            </a:r>
            <a:r>
              <a:rPr lang="zh-CN" altLang="en-US" sz="2400" b="1" dirty="0">
                <a:solidFill>
                  <a:schemeClr val="bg2"/>
                </a:solidFill>
              </a:rPr>
              <a:t>两个运算符返回值的乘积。</a:t>
            </a:r>
            <a:endParaRPr lang="en-US" altLang="zh-CN" sz="2400" b="1" dirty="0">
              <a:solidFill>
                <a:schemeClr val="bg2"/>
              </a:solidFill>
            </a:endParaRPr>
          </a:p>
          <a:p>
            <a:pPr marL="342900" indent="-342900" eaLnBrk="1" hangingPunct="1">
              <a:buClr>
                <a:srgbClr val="C00000"/>
              </a:buClr>
              <a:buFont typeface="Wingdings" panose="05000000000000000000" pitchFamily="2" charset="2"/>
              <a:buChar char="u"/>
            </a:pPr>
            <a:r>
              <a:rPr lang="en-US" altLang="zh-CN" sz="2400" b="1" dirty="0">
                <a:solidFill>
                  <a:schemeClr val="bg2"/>
                </a:solidFill>
              </a:rPr>
              <a:t>SIZEOF</a:t>
            </a:r>
            <a:r>
              <a:rPr lang="zh-CN" altLang="en-US" sz="2400" b="1" dirty="0">
                <a:solidFill>
                  <a:schemeClr val="bg2"/>
                </a:solidFill>
              </a:rPr>
              <a:t>取值等于</a:t>
            </a:r>
            <a:r>
              <a:rPr lang="en-US" altLang="zh-CN" sz="2400" b="1" dirty="0">
                <a:solidFill>
                  <a:schemeClr val="bg2"/>
                </a:solidFill>
              </a:rPr>
              <a:t>LENGTHOF</a:t>
            </a:r>
            <a:r>
              <a:rPr lang="zh-CN" altLang="en-US" sz="2400" b="1" dirty="0">
                <a:solidFill>
                  <a:schemeClr val="bg2"/>
                </a:solidFill>
              </a:rPr>
              <a:t>和</a:t>
            </a:r>
            <a:r>
              <a:rPr lang="en-US" altLang="zh-CN" sz="2400" b="1" dirty="0">
                <a:solidFill>
                  <a:schemeClr val="bg2"/>
                </a:solidFill>
              </a:rPr>
              <a:t>TYPE</a:t>
            </a:r>
            <a:r>
              <a:rPr lang="zh-CN" altLang="en-US" sz="2400" b="1" dirty="0">
                <a:solidFill>
                  <a:schemeClr val="bg2"/>
                </a:solidFill>
              </a:rPr>
              <a:t>返回值的乘积。</a:t>
            </a:r>
          </a:p>
        </p:txBody>
      </p:sp>
      <p:sp>
        <p:nvSpPr>
          <p:cNvPr id="52228" name="Rectangle 4"/>
          <p:cNvSpPr>
            <a:spLocks noChangeArrowheads="1"/>
          </p:cNvSpPr>
          <p:nvPr/>
        </p:nvSpPr>
        <p:spPr bwMode="auto">
          <a:xfrm>
            <a:off x="409574" y="638175"/>
            <a:ext cx="4162425"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5.SIZE</a:t>
            </a:r>
            <a:r>
              <a:rPr lang="zh-CN" altLang="en-US" sz="2400" b="1" dirty="0">
                <a:solidFill>
                  <a:schemeClr val="hlink"/>
                </a:solidFill>
              </a:rPr>
              <a:t>与</a:t>
            </a:r>
            <a:r>
              <a:rPr lang="en-US" altLang="zh-CN" sz="2400" b="1" dirty="0">
                <a:solidFill>
                  <a:schemeClr val="hlink"/>
                </a:solidFill>
              </a:rPr>
              <a:t>SIZEOF</a:t>
            </a:r>
            <a:r>
              <a:rPr lang="zh-CN" altLang="en-US" sz="2400" b="1" dirty="0">
                <a:solidFill>
                  <a:schemeClr val="hlink"/>
                </a:solidFill>
              </a:rPr>
              <a:t>运算符</a:t>
            </a:r>
          </a:p>
        </p:txBody>
      </p:sp>
      <p:sp>
        <p:nvSpPr>
          <p:cNvPr id="52229" name="Rectangle 5"/>
          <p:cNvSpPr>
            <a:spLocks noChangeArrowheads="1"/>
          </p:cNvSpPr>
          <p:nvPr/>
        </p:nvSpPr>
        <p:spPr bwMode="auto">
          <a:xfrm>
            <a:off x="485775" y="2238375"/>
            <a:ext cx="5392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solidFill>
                  <a:schemeClr val="bg2"/>
                </a:solidFill>
              </a:rPr>
              <a:t>例如，对于上面例子，加上以下指令：</a:t>
            </a:r>
          </a:p>
        </p:txBody>
      </p:sp>
      <p:sp>
        <p:nvSpPr>
          <p:cNvPr id="52230" name="Text Box 6"/>
          <p:cNvSpPr txBox="1">
            <a:spLocks noChangeArrowheads="1"/>
          </p:cNvSpPr>
          <p:nvPr/>
        </p:nvSpPr>
        <p:spPr bwMode="auto">
          <a:xfrm>
            <a:off x="1334230" y="2795259"/>
            <a:ext cx="6705600" cy="3046988"/>
          </a:xfrm>
          <a:prstGeom prst="rect">
            <a:avLst/>
          </a:prstGeom>
          <a:noFill/>
          <a:ln w="38100"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MOV   AL </a:t>
            </a:r>
            <a:r>
              <a:rPr lang="zh-CN" altLang="en-US" sz="2400" b="1" dirty="0">
                <a:solidFill>
                  <a:schemeClr val="bg2"/>
                </a:solidFill>
              </a:rPr>
              <a:t>，</a:t>
            </a:r>
            <a:r>
              <a:rPr lang="en-US" altLang="zh-CN" sz="2400" b="1" dirty="0">
                <a:solidFill>
                  <a:schemeClr val="bg2"/>
                </a:solidFill>
              </a:rPr>
              <a:t>SIZE  K1 </a:t>
            </a:r>
            <a:r>
              <a:rPr lang="zh-CN" altLang="en-US" sz="2400" b="1" dirty="0">
                <a:solidFill>
                  <a:schemeClr val="bg2"/>
                </a:solidFill>
              </a:rPr>
              <a:t>；（</a:t>
            </a:r>
            <a:r>
              <a:rPr lang="en-US" altLang="zh-CN" sz="2400" b="1" dirty="0">
                <a:solidFill>
                  <a:schemeClr val="bg2"/>
                </a:solidFill>
              </a:rPr>
              <a:t>AL</a:t>
            </a:r>
            <a:r>
              <a:rPr lang="zh-CN" altLang="en-US" sz="2400" b="1" dirty="0">
                <a:solidFill>
                  <a:schemeClr val="bg2"/>
                </a:solidFill>
              </a:rPr>
              <a:t>）</a:t>
            </a:r>
            <a:r>
              <a:rPr lang="en-US" altLang="zh-CN" sz="2400" b="1" dirty="0">
                <a:solidFill>
                  <a:schemeClr val="bg2"/>
                </a:solidFill>
              </a:rPr>
              <a:t>=10H</a:t>
            </a:r>
            <a:br>
              <a:rPr lang="en-US" altLang="zh-CN" sz="2400" b="1" dirty="0">
                <a:solidFill>
                  <a:schemeClr val="bg2"/>
                </a:solidFill>
              </a:rPr>
            </a:br>
            <a:r>
              <a:rPr lang="en-US" altLang="zh-CN" sz="2400" b="1" dirty="0">
                <a:solidFill>
                  <a:srgbClr val="0070C0"/>
                </a:solidFill>
              </a:rPr>
              <a:t>MOV   AH,   SIZEOF K1; (AH)=11H</a:t>
            </a:r>
            <a:r>
              <a:rPr lang="en-US" altLang="zh-CN" sz="2400" b="1" dirty="0">
                <a:solidFill>
                  <a:schemeClr val="bg2"/>
                </a:solidFill>
              </a:rPr>
              <a:t/>
            </a:r>
            <a:br>
              <a:rPr lang="en-US" altLang="zh-CN" sz="2400" b="1" dirty="0">
                <a:solidFill>
                  <a:schemeClr val="bg2"/>
                </a:solidFill>
              </a:rPr>
            </a:br>
            <a:r>
              <a:rPr lang="en-US" altLang="zh-CN" sz="2400" b="1" dirty="0">
                <a:solidFill>
                  <a:schemeClr val="bg2"/>
                </a:solidFill>
              </a:rPr>
              <a:t>MOV    BL</a:t>
            </a:r>
            <a:r>
              <a:rPr lang="zh-CN" altLang="en-US" sz="2400" b="1" dirty="0">
                <a:solidFill>
                  <a:schemeClr val="bg2"/>
                </a:solidFill>
              </a:rPr>
              <a:t>，</a:t>
            </a:r>
            <a:r>
              <a:rPr lang="en-US" altLang="zh-CN" sz="2400" b="1" dirty="0">
                <a:solidFill>
                  <a:schemeClr val="bg2"/>
                </a:solidFill>
              </a:rPr>
              <a:t>SIZE  K2 </a:t>
            </a:r>
            <a:r>
              <a:rPr lang="zh-CN" altLang="en-US" sz="2400" b="1" dirty="0">
                <a:solidFill>
                  <a:schemeClr val="bg2"/>
                </a:solidFill>
              </a:rPr>
              <a:t>； （</a:t>
            </a:r>
            <a:r>
              <a:rPr lang="en-US" altLang="zh-CN" sz="2400" b="1" dirty="0">
                <a:solidFill>
                  <a:schemeClr val="bg2"/>
                </a:solidFill>
              </a:rPr>
              <a:t>BL</a:t>
            </a:r>
            <a:r>
              <a:rPr lang="zh-CN" altLang="en-US" sz="2400" b="1" dirty="0">
                <a:solidFill>
                  <a:schemeClr val="bg2"/>
                </a:solidFill>
              </a:rPr>
              <a:t>）</a:t>
            </a:r>
            <a:r>
              <a:rPr lang="en-US" altLang="zh-CN" sz="2400" b="1" dirty="0">
                <a:solidFill>
                  <a:schemeClr val="bg2"/>
                </a:solidFill>
              </a:rPr>
              <a:t>=1</a:t>
            </a:r>
            <a:br>
              <a:rPr lang="en-US" altLang="zh-CN" sz="2400" b="1" dirty="0">
                <a:solidFill>
                  <a:schemeClr val="bg2"/>
                </a:solidFill>
              </a:rPr>
            </a:br>
            <a:r>
              <a:rPr lang="en-US" altLang="zh-CN" sz="2400" b="1" dirty="0">
                <a:solidFill>
                  <a:srgbClr val="0070C0"/>
                </a:solidFill>
              </a:rPr>
              <a:t>MOV    BH,  SIZEOF K2;  (BH)=4</a:t>
            </a:r>
            <a:br>
              <a:rPr lang="en-US" altLang="zh-CN" sz="2400" b="1" dirty="0">
                <a:solidFill>
                  <a:srgbClr val="0070C0"/>
                </a:solidFill>
              </a:rPr>
            </a:br>
            <a:r>
              <a:rPr lang="en-US" altLang="zh-CN" sz="2400" b="1" dirty="0">
                <a:solidFill>
                  <a:schemeClr val="bg2"/>
                </a:solidFill>
              </a:rPr>
              <a:t>MOV    CL</a:t>
            </a:r>
            <a:r>
              <a:rPr lang="zh-CN" altLang="en-US" sz="2400" b="1" dirty="0">
                <a:solidFill>
                  <a:schemeClr val="bg2"/>
                </a:solidFill>
              </a:rPr>
              <a:t>，</a:t>
            </a:r>
            <a:r>
              <a:rPr lang="en-US" altLang="zh-CN" sz="2400" b="1" dirty="0">
                <a:solidFill>
                  <a:schemeClr val="bg2"/>
                </a:solidFill>
              </a:rPr>
              <a:t>SIZE  K3 </a:t>
            </a:r>
            <a:r>
              <a:rPr lang="zh-CN" altLang="en-US" sz="2400" b="1" dirty="0">
                <a:solidFill>
                  <a:schemeClr val="bg2"/>
                </a:solidFill>
              </a:rPr>
              <a:t>； （</a:t>
            </a:r>
            <a:r>
              <a:rPr lang="en-US" altLang="zh-CN" sz="2400" b="1" dirty="0">
                <a:solidFill>
                  <a:schemeClr val="bg2"/>
                </a:solidFill>
              </a:rPr>
              <a:t>CL</a:t>
            </a:r>
            <a:r>
              <a:rPr lang="zh-CN" altLang="en-US" sz="2400" b="1" dirty="0">
                <a:solidFill>
                  <a:schemeClr val="bg2"/>
                </a:solidFill>
              </a:rPr>
              <a:t>）</a:t>
            </a:r>
            <a:r>
              <a:rPr lang="en-US" altLang="zh-CN" sz="2400" b="1" dirty="0">
                <a:solidFill>
                  <a:schemeClr val="bg2"/>
                </a:solidFill>
              </a:rPr>
              <a:t>=2*20H=40H</a:t>
            </a:r>
            <a:br>
              <a:rPr lang="en-US" altLang="zh-CN" sz="2400" b="1" dirty="0">
                <a:solidFill>
                  <a:schemeClr val="bg2"/>
                </a:solidFill>
              </a:rPr>
            </a:br>
            <a:r>
              <a:rPr lang="en-US" altLang="zh-CN" sz="2400" b="1" dirty="0">
                <a:solidFill>
                  <a:srgbClr val="0070C0"/>
                </a:solidFill>
              </a:rPr>
              <a:t>MOV    CH, SIZEOF K3;   (CH)=2*80H=A0H</a:t>
            </a:r>
            <a:r>
              <a:rPr lang="en-US" altLang="zh-CN" sz="2400" b="1" dirty="0">
                <a:solidFill>
                  <a:schemeClr val="bg2"/>
                </a:solidFill>
              </a:rPr>
              <a:t/>
            </a:r>
            <a:br>
              <a:rPr lang="en-US" altLang="zh-CN" sz="2400" b="1" dirty="0">
                <a:solidFill>
                  <a:schemeClr val="bg2"/>
                </a:solidFill>
              </a:rPr>
            </a:br>
            <a:r>
              <a:rPr lang="en-US" altLang="zh-CN" sz="2400" b="1" dirty="0">
                <a:solidFill>
                  <a:schemeClr val="bg2"/>
                </a:solidFill>
              </a:rPr>
              <a:t>MOV    DL</a:t>
            </a:r>
            <a:r>
              <a:rPr lang="zh-CN" altLang="en-US" sz="2400" b="1" dirty="0">
                <a:solidFill>
                  <a:schemeClr val="bg2"/>
                </a:solidFill>
              </a:rPr>
              <a:t>，</a:t>
            </a:r>
            <a:r>
              <a:rPr lang="en-US" altLang="zh-CN" sz="2400" b="1" dirty="0">
                <a:solidFill>
                  <a:schemeClr val="bg2"/>
                </a:solidFill>
              </a:rPr>
              <a:t>SIZE  K4 </a:t>
            </a:r>
            <a:r>
              <a:rPr lang="zh-CN" altLang="en-US" sz="2400" b="1" dirty="0">
                <a:solidFill>
                  <a:schemeClr val="bg2"/>
                </a:solidFill>
              </a:rPr>
              <a:t>； （</a:t>
            </a:r>
            <a:r>
              <a:rPr lang="en-US" altLang="zh-CN" sz="2400" b="1" dirty="0">
                <a:solidFill>
                  <a:schemeClr val="bg2"/>
                </a:solidFill>
              </a:rPr>
              <a:t>DL</a:t>
            </a:r>
            <a:r>
              <a:rPr lang="zh-CN" altLang="en-US" sz="2400" b="1" dirty="0">
                <a:solidFill>
                  <a:schemeClr val="bg2"/>
                </a:solidFill>
              </a:rPr>
              <a:t>）</a:t>
            </a:r>
            <a:r>
              <a:rPr lang="en-US" altLang="zh-CN" sz="2400" b="1" dirty="0">
                <a:solidFill>
                  <a:schemeClr val="bg2"/>
                </a:solidFill>
              </a:rPr>
              <a:t>=1</a:t>
            </a:r>
            <a:br>
              <a:rPr lang="en-US" altLang="zh-CN" sz="2400" b="1" dirty="0">
                <a:solidFill>
                  <a:schemeClr val="bg2"/>
                </a:solidFill>
              </a:rPr>
            </a:br>
            <a:r>
              <a:rPr lang="en-US" altLang="zh-CN" sz="2400" b="1" dirty="0">
                <a:solidFill>
                  <a:srgbClr val="0070C0"/>
                </a:solidFill>
              </a:rPr>
              <a:t>MOV    DH,  SIZEOF K4;  (DH)=8</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2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52227">
                                            <p:txEl>
                                              <p:pRg st="0" end="0"/>
                                            </p:txEl>
                                          </p:spTgt>
                                        </p:tgtEl>
                                        <p:attrNameLst>
                                          <p:attrName>style.visibility</p:attrName>
                                        </p:attrNameLst>
                                      </p:cBhvr>
                                      <p:to>
                                        <p:strVal val="visible"/>
                                      </p:to>
                                    </p:set>
                                    <p:animEffect transition="in" filter="wipe(down)">
                                      <p:cBhvr>
                                        <p:cTn id="11" dur="500"/>
                                        <p:tgtEl>
                                          <p:spTgt spid="5222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52227">
                                            <p:txEl>
                                              <p:pRg st="1" end="1"/>
                                            </p:txEl>
                                          </p:spTgt>
                                        </p:tgtEl>
                                        <p:attrNameLst>
                                          <p:attrName>style.visibility</p:attrName>
                                        </p:attrNameLst>
                                      </p:cBhvr>
                                      <p:to>
                                        <p:strVal val="visible"/>
                                      </p:to>
                                    </p:set>
                                    <p:animEffect transition="in" filter="wipe(down)">
                                      <p:cBhvr>
                                        <p:cTn id="16" dur="500"/>
                                        <p:tgtEl>
                                          <p:spTgt spid="52227">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5222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52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uiExpand="1" build="p" autoUpdateAnimBg="0"/>
      <p:bldP spid="52228" grpId="0" animBg="1" autoUpdateAnimBg="0"/>
      <p:bldP spid="52229" grpId="0" autoUpdateAnimBg="0"/>
      <p:bldP spid="52230"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93292F4B-E794-4488-9763-AE086CC4104C}" type="slidenum">
              <a:rPr lang="en-US" altLang="zh-CN" sz="1400">
                <a:solidFill>
                  <a:schemeClr val="bg2"/>
                </a:solidFill>
              </a:rPr>
              <a:pPr algn="r" eaLnBrk="1" hangingPunct="1"/>
              <a:t>46</a:t>
            </a:fld>
            <a:endParaRPr lang="en-US" altLang="zh-CN" sz="1400">
              <a:solidFill>
                <a:schemeClr val="bg2"/>
              </a:solidFill>
            </a:endParaRPr>
          </a:p>
        </p:txBody>
      </p:sp>
      <p:sp>
        <p:nvSpPr>
          <p:cNvPr id="53251" name="Rectangle 2"/>
          <p:cNvSpPr>
            <a:spLocks noChangeArrowheads="1"/>
          </p:cNvSpPr>
          <p:nvPr/>
        </p:nvSpPr>
        <p:spPr bwMode="auto">
          <a:xfrm>
            <a:off x="2514600" y="609600"/>
            <a:ext cx="3405188" cy="5191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b="1" dirty="0">
                <a:solidFill>
                  <a:schemeClr val="hlink"/>
                </a:solidFill>
              </a:rPr>
              <a:t>五、属性修改运算符</a:t>
            </a:r>
          </a:p>
        </p:txBody>
      </p:sp>
      <p:sp>
        <p:nvSpPr>
          <p:cNvPr id="53252" name="Rectangle 3"/>
          <p:cNvSpPr>
            <a:spLocks noChangeArrowheads="1"/>
          </p:cNvSpPr>
          <p:nvPr/>
        </p:nvSpPr>
        <p:spPr bwMode="auto">
          <a:xfrm>
            <a:off x="762000" y="1295400"/>
            <a:ext cx="7924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 </a:t>
            </a:r>
            <a:r>
              <a:rPr lang="zh-CN" altLang="en-US" sz="2400" b="1" dirty="0">
                <a:solidFill>
                  <a:schemeClr val="bg2"/>
                </a:solidFill>
              </a:rPr>
              <a:t>这一类运算符用来对变量、标号或存储器操作数的类型属性进行修改或指定。</a:t>
            </a:r>
          </a:p>
        </p:txBody>
      </p:sp>
      <p:sp>
        <p:nvSpPr>
          <p:cNvPr id="53253" name="Rectangle 4"/>
          <p:cNvSpPr>
            <a:spLocks noChangeArrowheads="1"/>
          </p:cNvSpPr>
          <p:nvPr/>
        </p:nvSpPr>
        <p:spPr bwMode="auto">
          <a:xfrm>
            <a:off x="914400" y="2362200"/>
            <a:ext cx="2022475"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 1.PTR</a:t>
            </a:r>
            <a:r>
              <a:rPr lang="zh-CN" altLang="en-US" sz="2400" b="1" dirty="0">
                <a:solidFill>
                  <a:schemeClr val="hlink"/>
                </a:solidFill>
              </a:rPr>
              <a:t>运算符</a:t>
            </a:r>
          </a:p>
        </p:txBody>
      </p:sp>
      <p:sp>
        <p:nvSpPr>
          <p:cNvPr id="53254" name="Rectangle 5"/>
          <p:cNvSpPr>
            <a:spLocks noChangeArrowheads="1"/>
          </p:cNvSpPr>
          <p:nvPr/>
        </p:nvSpPr>
        <p:spPr bwMode="auto">
          <a:xfrm>
            <a:off x="1925637" y="3048000"/>
            <a:ext cx="3406775" cy="4572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类型   </a:t>
            </a:r>
            <a:r>
              <a:rPr lang="en-US" altLang="zh-CN" sz="2400" b="1" dirty="0">
                <a:solidFill>
                  <a:schemeClr val="bg2"/>
                </a:solidFill>
              </a:rPr>
              <a:t>PTR   </a:t>
            </a:r>
            <a:r>
              <a:rPr lang="zh-CN" altLang="en-US" sz="2400" b="1" dirty="0">
                <a:solidFill>
                  <a:schemeClr val="bg2"/>
                </a:solidFill>
              </a:rPr>
              <a:t>地址表达式</a:t>
            </a:r>
          </a:p>
        </p:txBody>
      </p:sp>
      <p:sp>
        <p:nvSpPr>
          <p:cNvPr id="53255" name="Rectangle 6"/>
          <p:cNvSpPr>
            <a:spLocks noChangeArrowheads="1"/>
          </p:cNvSpPr>
          <p:nvPr/>
        </p:nvSpPr>
        <p:spPr bwMode="auto">
          <a:xfrm>
            <a:off x="827088" y="3048000"/>
            <a:ext cx="1871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格式：</a:t>
            </a:r>
          </a:p>
        </p:txBody>
      </p:sp>
      <p:sp>
        <p:nvSpPr>
          <p:cNvPr id="53256" name="Rectangle 7"/>
          <p:cNvSpPr>
            <a:spLocks noChangeArrowheads="1"/>
          </p:cNvSpPr>
          <p:nvPr/>
        </p:nvSpPr>
        <p:spPr bwMode="auto">
          <a:xfrm>
            <a:off x="684213" y="3860800"/>
            <a:ext cx="7935912" cy="850900"/>
          </a:xfrm>
          <a:prstGeom prst="rect">
            <a:avLst/>
          </a:prstGeom>
          <a:noFill/>
          <a:ln w="28575"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hlink"/>
                </a:solidFill>
              </a:rPr>
              <a:t>作用</a:t>
            </a:r>
            <a:r>
              <a:rPr lang="en-US" altLang="zh-CN" sz="2400" b="1" dirty="0">
                <a:solidFill>
                  <a:schemeClr val="bg2"/>
                </a:solidFill>
              </a:rPr>
              <a:t>: </a:t>
            </a:r>
            <a:r>
              <a:rPr lang="zh-CN" altLang="en-US" sz="2400" b="1" dirty="0">
                <a:solidFill>
                  <a:schemeClr val="bg2"/>
                </a:solidFill>
              </a:rPr>
              <a:t>将地址表达式所指定的</a:t>
            </a:r>
            <a:r>
              <a:rPr lang="zh-CN" altLang="en-US" sz="2400" b="1" dirty="0">
                <a:solidFill>
                  <a:srgbClr val="FF0000"/>
                </a:solidFill>
              </a:rPr>
              <a:t>标号</a:t>
            </a:r>
            <a:r>
              <a:rPr lang="zh-CN" altLang="en-US" sz="2400" b="1" dirty="0">
                <a:solidFill>
                  <a:schemeClr val="bg2"/>
                </a:solidFill>
              </a:rPr>
              <a:t>、</a:t>
            </a:r>
            <a:r>
              <a:rPr lang="zh-CN" altLang="en-US" sz="2400" b="1" dirty="0">
                <a:solidFill>
                  <a:srgbClr val="FF0000"/>
                </a:solidFill>
              </a:rPr>
              <a:t>变量</a:t>
            </a:r>
            <a:r>
              <a:rPr lang="zh-CN" altLang="en-US" sz="2400" b="1" dirty="0">
                <a:solidFill>
                  <a:schemeClr val="bg2"/>
                </a:solidFill>
              </a:rPr>
              <a:t>或用其它形式表示的</a:t>
            </a:r>
            <a:r>
              <a:rPr lang="zh-CN" altLang="en-US" sz="2400" b="1" dirty="0">
                <a:solidFill>
                  <a:srgbClr val="FF0000"/>
                </a:solidFill>
              </a:rPr>
              <a:t>存储器地址</a:t>
            </a:r>
            <a:r>
              <a:rPr lang="zh-CN" altLang="en-US" sz="2400" b="1" dirty="0">
                <a:solidFill>
                  <a:schemeClr val="bg2"/>
                </a:solidFill>
              </a:rPr>
              <a:t>的类型属性修改为 “类型”所指的值。</a:t>
            </a:r>
          </a:p>
        </p:txBody>
      </p:sp>
      <p:sp>
        <p:nvSpPr>
          <p:cNvPr id="53257" name="Text Box 8"/>
          <p:cNvSpPr txBox="1">
            <a:spLocks noChangeArrowheads="1"/>
          </p:cNvSpPr>
          <p:nvPr/>
        </p:nvSpPr>
        <p:spPr bwMode="auto">
          <a:xfrm>
            <a:off x="684213" y="5013325"/>
            <a:ext cx="79216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u"/>
            </a:pPr>
            <a:r>
              <a:rPr lang="zh-CN" altLang="en-US" sz="2400" b="1" dirty="0">
                <a:solidFill>
                  <a:srgbClr val="FF0000"/>
                </a:solidFill>
              </a:rPr>
              <a:t>类型</a:t>
            </a:r>
            <a:r>
              <a:rPr lang="zh-CN" altLang="en-US" sz="2400" b="1" dirty="0">
                <a:solidFill>
                  <a:schemeClr val="bg2"/>
                </a:solidFill>
              </a:rPr>
              <a:t>可以是</a:t>
            </a:r>
            <a:r>
              <a:rPr lang="en-US" altLang="zh-CN" sz="2400" b="1" dirty="0">
                <a:solidFill>
                  <a:schemeClr val="bg2"/>
                </a:solidFill>
              </a:rPr>
              <a:t>BYTE</a:t>
            </a:r>
            <a:r>
              <a:rPr lang="zh-CN" altLang="en-US" sz="2400" b="1" dirty="0">
                <a:solidFill>
                  <a:schemeClr val="bg2"/>
                </a:solidFill>
              </a:rPr>
              <a:t>、</a:t>
            </a:r>
            <a:r>
              <a:rPr lang="en-US" altLang="zh-CN" sz="2400" b="1" dirty="0">
                <a:solidFill>
                  <a:schemeClr val="bg2"/>
                </a:solidFill>
              </a:rPr>
              <a:t>WORD</a:t>
            </a:r>
            <a:r>
              <a:rPr lang="zh-CN" altLang="en-US" sz="2400" b="1" dirty="0">
                <a:solidFill>
                  <a:schemeClr val="bg2"/>
                </a:solidFill>
              </a:rPr>
              <a:t>、</a:t>
            </a:r>
            <a:r>
              <a:rPr lang="en-US" altLang="zh-CN" sz="2400" b="1" dirty="0">
                <a:solidFill>
                  <a:schemeClr val="bg2"/>
                </a:solidFill>
              </a:rPr>
              <a:t>DWORD</a:t>
            </a:r>
            <a:r>
              <a:rPr lang="zh-CN" altLang="en-US" sz="2400" b="1" dirty="0">
                <a:solidFill>
                  <a:schemeClr val="bg2"/>
                </a:solidFill>
              </a:rPr>
              <a:t>、</a:t>
            </a:r>
            <a:r>
              <a:rPr lang="en-US" altLang="zh-CN" sz="2400" b="1" dirty="0">
                <a:solidFill>
                  <a:schemeClr val="bg2"/>
                </a:solidFill>
              </a:rPr>
              <a:t>NEAR</a:t>
            </a:r>
            <a:r>
              <a:rPr lang="zh-CN" altLang="en-US" sz="2400" b="1" dirty="0">
                <a:solidFill>
                  <a:schemeClr val="bg2"/>
                </a:solidFill>
              </a:rPr>
              <a:t>和</a:t>
            </a:r>
            <a:r>
              <a:rPr lang="en-US" altLang="zh-CN" sz="2400" b="1" dirty="0">
                <a:solidFill>
                  <a:schemeClr val="bg2"/>
                </a:solidFill>
              </a:rPr>
              <a:t>FAR</a:t>
            </a:r>
            <a:r>
              <a:rPr lang="zh-CN" altLang="en-US" sz="2400" b="1" dirty="0">
                <a:solidFill>
                  <a:schemeClr val="bg2"/>
                </a:solidFill>
              </a:rPr>
              <a:t>等等。</a:t>
            </a:r>
            <a:endParaRPr lang="en-US" altLang="zh-CN" sz="2400" b="1" dirty="0">
              <a:solidFill>
                <a:schemeClr val="bg2"/>
              </a:solidFill>
            </a:endParaRPr>
          </a:p>
          <a:p>
            <a:pPr marL="342900" indent="-342900" eaLnBrk="1" hangingPunct="1">
              <a:buClr>
                <a:srgbClr val="C00000"/>
              </a:buClr>
              <a:buFont typeface="Wingdings" panose="05000000000000000000" pitchFamily="2" charset="2"/>
              <a:buChar char="u"/>
            </a:pPr>
            <a:r>
              <a:rPr lang="zh-CN" altLang="en-US" sz="2400" b="1" dirty="0">
                <a:solidFill>
                  <a:schemeClr val="bg2"/>
                </a:solidFill>
              </a:rPr>
              <a:t>这种修改是临时的，</a:t>
            </a:r>
            <a:r>
              <a:rPr lang="zh-CN" altLang="en-US" sz="2400" b="1" dirty="0">
                <a:solidFill>
                  <a:srgbClr val="FF0000"/>
                </a:solidFill>
              </a:rPr>
              <a:t>只在该运算符所在的语句内有效</a:t>
            </a:r>
            <a:r>
              <a:rPr lang="zh-CN" altLang="en-US" sz="2400" b="1" dirty="0">
                <a:solidFill>
                  <a:schemeClr val="bg2"/>
                </a:solidFill>
              </a:rPr>
              <a:t>。</a:t>
            </a:r>
            <a:endParaRPr lang="zh-CN" altLang="en-US" sz="24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32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25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325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3255"/>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5325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53256"/>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53257">
                                            <p:txEl>
                                              <p:pRg st="0" end="0"/>
                                            </p:txEl>
                                          </p:spTgt>
                                        </p:tgtEl>
                                        <p:attrNameLst>
                                          <p:attrName>style.visibility</p:attrName>
                                        </p:attrNameLst>
                                      </p:cBhvr>
                                      <p:to>
                                        <p:strVal val="visible"/>
                                      </p:to>
                                    </p:set>
                                    <p:anim calcmode="lin" valueType="num">
                                      <p:cBhvr additive="base">
                                        <p:cTn id="30" dur="500" fill="hold"/>
                                        <p:tgtEl>
                                          <p:spTgt spid="53257">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5325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53257">
                                            <p:txEl>
                                              <p:pRg st="1" end="1"/>
                                            </p:txEl>
                                          </p:spTgt>
                                        </p:tgtEl>
                                        <p:attrNameLst>
                                          <p:attrName>style.visibility</p:attrName>
                                        </p:attrNameLst>
                                      </p:cBhvr>
                                      <p:to>
                                        <p:strVal val="visible"/>
                                      </p:to>
                                    </p:set>
                                    <p:anim calcmode="lin" valueType="num">
                                      <p:cBhvr additive="base">
                                        <p:cTn id="36" dur="500" fill="hold"/>
                                        <p:tgtEl>
                                          <p:spTgt spid="53257">
                                            <p:txEl>
                                              <p:pRg st="1" end="1"/>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5325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nimBg="1" autoUpdateAnimBg="0"/>
      <p:bldP spid="53252" grpId="0" autoUpdateAnimBg="0"/>
      <p:bldP spid="53253" grpId="0" animBg="1" autoUpdateAnimBg="0"/>
      <p:bldP spid="53254" grpId="0" animBg="1" autoUpdateAnimBg="0"/>
      <p:bldP spid="53255" grpId="0" autoUpdateAnimBg="0"/>
      <p:bldP spid="53256" grpId="0" animBg="1" autoUpdateAnimBg="0"/>
      <p:bldP spid="53257"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017340D9-F2B7-426D-B360-ADC55830FDC1}" type="slidenum">
              <a:rPr lang="en-US" altLang="zh-CN" sz="1400">
                <a:solidFill>
                  <a:schemeClr val="bg2"/>
                </a:solidFill>
              </a:rPr>
              <a:pPr algn="r" eaLnBrk="1" hangingPunct="1"/>
              <a:t>47</a:t>
            </a:fld>
            <a:endParaRPr lang="en-US" altLang="zh-CN" sz="1400">
              <a:solidFill>
                <a:schemeClr val="bg2"/>
              </a:solidFill>
            </a:endParaRPr>
          </a:p>
        </p:txBody>
      </p:sp>
      <p:grpSp>
        <p:nvGrpSpPr>
          <p:cNvPr id="54275" name="Group 3"/>
          <p:cNvGrpSpPr>
            <a:grpSpLocks/>
          </p:cNvGrpSpPr>
          <p:nvPr/>
        </p:nvGrpSpPr>
        <p:grpSpPr bwMode="auto">
          <a:xfrm>
            <a:off x="457200" y="228600"/>
            <a:ext cx="8458200" cy="3051175"/>
            <a:chOff x="0" y="0"/>
            <a:chExt cx="5328" cy="1922"/>
          </a:xfrm>
        </p:grpSpPr>
        <p:sp>
          <p:nvSpPr>
            <p:cNvPr id="54276" name="Text Box 2"/>
            <p:cNvSpPr txBox="1">
              <a:spLocks noChangeArrowheads="1"/>
            </p:cNvSpPr>
            <p:nvPr/>
          </p:nvSpPr>
          <p:spPr bwMode="auto">
            <a:xfrm>
              <a:off x="0" y="0"/>
              <a:ext cx="720" cy="28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例如：</a:t>
              </a:r>
            </a:p>
          </p:txBody>
        </p:sp>
        <p:sp>
          <p:nvSpPr>
            <p:cNvPr id="54277" name="Text Box 3"/>
            <p:cNvSpPr txBox="1">
              <a:spLocks noChangeArrowheads="1"/>
            </p:cNvSpPr>
            <p:nvPr/>
          </p:nvSpPr>
          <p:spPr bwMode="auto">
            <a:xfrm>
              <a:off x="528" y="0"/>
              <a:ext cx="4800" cy="1922"/>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DA_BYTE    DB   20H  DUP(0)</a:t>
              </a:r>
              <a:br>
                <a:rPr lang="en-US" altLang="zh-CN" sz="2400" b="1" dirty="0">
                  <a:solidFill>
                    <a:schemeClr val="bg2"/>
                  </a:solidFill>
                </a:rPr>
              </a:br>
              <a:r>
                <a:rPr lang="en-US" altLang="zh-CN" sz="2400" b="1" dirty="0">
                  <a:solidFill>
                    <a:schemeClr val="bg2"/>
                  </a:solidFill>
                </a:rPr>
                <a:t>DA_WORD  DW   30H  DUP(0)</a:t>
              </a:r>
              <a:br>
                <a:rPr lang="en-US" altLang="zh-CN" sz="2400" b="1" dirty="0">
                  <a:solidFill>
                    <a:schemeClr val="bg2"/>
                  </a:solidFill>
                </a:rPr>
              </a:br>
              <a:r>
                <a:rPr lang="en-US" altLang="zh-CN" sz="2400" b="1" dirty="0">
                  <a:solidFill>
                    <a:schemeClr val="bg2"/>
                  </a:solidFill>
                </a:rPr>
                <a:t>      …….</a:t>
              </a:r>
              <a:br>
                <a:rPr lang="en-US" altLang="zh-CN" sz="2400" b="1" dirty="0">
                  <a:solidFill>
                    <a:schemeClr val="bg2"/>
                  </a:solidFill>
                </a:rPr>
              </a:br>
              <a:r>
                <a:rPr lang="en-US" altLang="zh-CN" sz="2400" b="1" dirty="0">
                  <a:solidFill>
                    <a:schemeClr val="bg2"/>
                  </a:solidFill>
                </a:rPr>
                <a:t>MOV   AX ,  WORD  PTR  DA_BYTE[10]</a:t>
              </a:r>
              <a:br>
                <a:rPr lang="en-US" altLang="zh-CN" sz="2400" b="1" dirty="0">
                  <a:solidFill>
                    <a:schemeClr val="bg2"/>
                  </a:solidFill>
                </a:rPr>
              </a:br>
              <a:r>
                <a:rPr lang="en-US" altLang="zh-CN" sz="2400" b="1" dirty="0">
                  <a:solidFill>
                    <a:schemeClr val="bg2"/>
                  </a:solidFill>
                </a:rPr>
                <a:t>ADD    BYTE   PTR   DA_WORD[20], BL</a:t>
              </a:r>
              <a:br>
                <a:rPr lang="en-US" altLang="zh-CN" sz="2400" b="1" dirty="0">
                  <a:solidFill>
                    <a:schemeClr val="bg2"/>
                  </a:solidFill>
                </a:rPr>
              </a:br>
              <a:r>
                <a:rPr lang="en-US" altLang="zh-CN" sz="2400" b="1" dirty="0">
                  <a:solidFill>
                    <a:schemeClr val="bg2"/>
                  </a:solidFill>
                </a:rPr>
                <a:t>INC    BYTE  PTR  [EBX] </a:t>
              </a:r>
              <a:br>
                <a:rPr lang="en-US" altLang="zh-CN" sz="2400" b="1" dirty="0">
                  <a:solidFill>
                    <a:schemeClr val="bg2"/>
                  </a:solidFill>
                </a:rPr>
              </a:br>
              <a:r>
                <a:rPr lang="en-US" altLang="zh-CN" sz="2400" b="1" dirty="0">
                  <a:solidFill>
                    <a:schemeClr val="bg2"/>
                  </a:solidFill>
                </a:rPr>
                <a:t>SUB    WORD  PTR  [ESI], 100</a:t>
              </a:r>
              <a:br>
                <a:rPr lang="en-US" altLang="zh-CN" sz="2400" b="1" dirty="0">
                  <a:solidFill>
                    <a:schemeClr val="bg2"/>
                  </a:solidFill>
                </a:rPr>
              </a:br>
              <a:r>
                <a:rPr lang="en-US" altLang="zh-CN" sz="2400" b="1" dirty="0">
                  <a:solidFill>
                    <a:schemeClr val="bg2"/>
                  </a:solidFill>
                </a:rPr>
                <a:t>JMP    FAR   PTR  SUB1</a:t>
              </a:r>
              <a:r>
                <a:rPr lang="en-US" altLang="zh-CN" sz="2400" b="1" dirty="0">
                  <a:solidFill>
                    <a:schemeClr val="hlink"/>
                  </a:solidFill>
                </a:rPr>
                <a:t>;</a:t>
              </a:r>
              <a:r>
                <a:rPr lang="zh-CN" altLang="en-US" sz="2400" b="1" dirty="0">
                  <a:solidFill>
                    <a:schemeClr val="hlink"/>
                  </a:solidFill>
                </a:rPr>
                <a:t>指明</a:t>
              </a:r>
              <a:r>
                <a:rPr lang="en-US" altLang="zh-CN" sz="2400" b="1" dirty="0">
                  <a:solidFill>
                    <a:schemeClr val="hlink"/>
                  </a:solidFill>
                </a:rPr>
                <a:t>SUB1</a:t>
              </a:r>
              <a:r>
                <a:rPr lang="zh-CN" altLang="en-US" sz="2400" b="1" dirty="0">
                  <a:solidFill>
                    <a:schemeClr val="hlink"/>
                  </a:solidFill>
                </a:rPr>
                <a:t>不是本段中的地址</a:t>
              </a:r>
            </a:p>
          </p:txBody>
        </p:sp>
      </p:grpSp>
      <p:sp>
        <p:nvSpPr>
          <p:cNvPr id="54278" name="Rectangle 4"/>
          <p:cNvSpPr>
            <a:spLocks noChangeArrowheads="1"/>
          </p:cNvSpPr>
          <p:nvPr/>
        </p:nvSpPr>
        <p:spPr bwMode="auto">
          <a:xfrm>
            <a:off x="533400" y="3505200"/>
            <a:ext cx="2994025"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2.HIGH/LOW</a:t>
            </a:r>
            <a:r>
              <a:rPr lang="zh-CN" altLang="en-US" sz="2400" b="1" dirty="0">
                <a:solidFill>
                  <a:schemeClr val="hlink"/>
                </a:solidFill>
              </a:rPr>
              <a:t>运算符</a:t>
            </a:r>
          </a:p>
        </p:txBody>
      </p:sp>
      <p:sp>
        <p:nvSpPr>
          <p:cNvPr id="54280" name="Rectangle 5"/>
          <p:cNvSpPr>
            <a:spLocks noChangeArrowheads="1"/>
          </p:cNvSpPr>
          <p:nvPr/>
        </p:nvSpPr>
        <p:spPr bwMode="auto">
          <a:xfrm>
            <a:off x="1763688" y="4191000"/>
            <a:ext cx="2103461" cy="83099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LOW  </a:t>
            </a:r>
            <a:r>
              <a:rPr lang="zh-CN" altLang="en-US" sz="2400" b="1" dirty="0">
                <a:solidFill>
                  <a:schemeClr val="bg2"/>
                </a:solidFill>
              </a:rPr>
              <a:t>表达式</a:t>
            </a:r>
          </a:p>
          <a:p>
            <a:pPr eaLnBrk="1" hangingPunct="1"/>
            <a:r>
              <a:rPr lang="en-US" altLang="zh-CN" sz="2400" b="1" dirty="0">
                <a:solidFill>
                  <a:schemeClr val="bg2"/>
                </a:solidFill>
              </a:rPr>
              <a:t>HIGH  </a:t>
            </a:r>
            <a:r>
              <a:rPr lang="zh-CN" altLang="en-US" sz="2400" b="1" dirty="0">
                <a:solidFill>
                  <a:schemeClr val="bg2"/>
                </a:solidFill>
              </a:rPr>
              <a:t>表达式</a:t>
            </a:r>
          </a:p>
        </p:txBody>
      </p:sp>
      <p:sp>
        <p:nvSpPr>
          <p:cNvPr id="54281" name="Rectangle 6"/>
          <p:cNvSpPr>
            <a:spLocks noChangeArrowheads="1"/>
          </p:cNvSpPr>
          <p:nvPr/>
        </p:nvSpPr>
        <p:spPr bwMode="auto">
          <a:xfrm>
            <a:off x="633827" y="41910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chemeClr val="bg2"/>
                </a:solidFill>
              </a:rPr>
              <a:t>格式：</a:t>
            </a:r>
          </a:p>
        </p:txBody>
      </p:sp>
      <p:sp>
        <p:nvSpPr>
          <p:cNvPr id="10" name="Text Box 2"/>
          <p:cNvSpPr txBox="1">
            <a:spLocks noChangeArrowheads="1"/>
          </p:cNvSpPr>
          <p:nvPr/>
        </p:nvSpPr>
        <p:spPr bwMode="auto">
          <a:xfrm>
            <a:off x="453685" y="5250597"/>
            <a:ext cx="7850188" cy="830997"/>
          </a:xfrm>
          <a:prstGeom prst="rect">
            <a:avLst/>
          </a:prstGeom>
          <a:noFill/>
          <a:ln w="28575"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spcBef>
                <a:spcPct val="50000"/>
              </a:spcBef>
              <a:buClr>
                <a:srgbClr val="C00000"/>
              </a:buClr>
              <a:buFont typeface="Wingdings" panose="05000000000000000000" pitchFamily="2" charset="2"/>
              <a:buChar char="n"/>
            </a:pPr>
            <a:r>
              <a:rPr lang="zh-CN" altLang="en-US" sz="2400" b="1" dirty="0">
                <a:solidFill>
                  <a:schemeClr val="bg2"/>
                </a:solidFill>
              </a:rPr>
              <a:t>表达式被汇编计算为一个常数，这两个运算符分别取常数的最低</a:t>
            </a:r>
            <a:r>
              <a:rPr lang="en-US" altLang="zh-CN" sz="2400" b="1" dirty="0">
                <a:solidFill>
                  <a:schemeClr val="bg2"/>
                </a:solidFill>
              </a:rPr>
              <a:t>8</a:t>
            </a:r>
            <a:r>
              <a:rPr lang="zh-CN" altLang="en-US" sz="2400" b="1" dirty="0">
                <a:solidFill>
                  <a:schemeClr val="bg2"/>
                </a:solidFill>
              </a:rPr>
              <a:t>位和其后的</a:t>
            </a:r>
            <a:r>
              <a:rPr lang="en-US" altLang="zh-CN" sz="2400" b="1" dirty="0">
                <a:solidFill>
                  <a:schemeClr val="bg2"/>
                </a:solidFill>
              </a:rPr>
              <a:t>8</a:t>
            </a:r>
            <a:r>
              <a:rPr lang="zh-CN" altLang="en-US" sz="2400" b="1" dirty="0">
                <a:solidFill>
                  <a:schemeClr val="bg2"/>
                </a:solidFill>
              </a:rPr>
              <a:t>位。</a:t>
            </a:r>
            <a:endParaRPr lang="en-US" altLang="zh-CN" sz="2400" b="1" dirty="0">
              <a:solidFill>
                <a:schemeClr val="bg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542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2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4281"/>
                                        </p:tgtEl>
                                        <p:attrNameLst>
                                          <p:attrName>style.visibility</p:attrName>
                                        </p:attrNameLst>
                                      </p:cBhvr>
                                      <p:to>
                                        <p:strVal val="visible"/>
                                      </p:to>
                                    </p:set>
                                    <p:animEffect transition="in" filter="barn(inVertical)">
                                      <p:cBhvr>
                                        <p:cTn id="15" dur="500"/>
                                        <p:tgtEl>
                                          <p:spTgt spid="5428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4280"/>
                                        </p:tgtEl>
                                        <p:attrNameLst>
                                          <p:attrName>style.visibility</p:attrName>
                                        </p:attrNameLst>
                                      </p:cBhvr>
                                      <p:to>
                                        <p:strVal val="visible"/>
                                      </p:to>
                                    </p:set>
                                    <p:animEffect transition="in" filter="wipe(down)">
                                      <p:cBhvr>
                                        <p:cTn id="20" dur="500"/>
                                        <p:tgtEl>
                                          <p:spTgt spid="54280"/>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8" grpId="0" animBg="1" autoUpdateAnimBg="0"/>
      <p:bldP spid="54280" grpId="0" animBg="1"/>
      <p:bldP spid="54281" grpId="0"/>
      <p:bldP spid="10"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D1AAE5F4-8C30-4354-9814-15D3E6388E02}" type="slidenum">
              <a:rPr lang="en-US" altLang="zh-CN" sz="1400">
                <a:solidFill>
                  <a:schemeClr val="bg2"/>
                </a:solidFill>
              </a:rPr>
              <a:pPr algn="r" eaLnBrk="1" hangingPunct="1"/>
              <a:t>48</a:t>
            </a:fld>
            <a:endParaRPr lang="en-US" altLang="zh-CN" sz="1400">
              <a:solidFill>
                <a:schemeClr val="bg2"/>
              </a:solidFill>
            </a:endParaRPr>
          </a:p>
        </p:txBody>
      </p:sp>
      <p:sp>
        <p:nvSpPr>
          <p:cNvPr id="55300" name="Text Box 3"/>
          <p:cNvSpPr txBox="1">
            <a:spLocks noChangeArrowheads="1"/>
          </p:cNvSpPr>
          <p:nvPr/>
        </p:nvSpPr>
        <p:spPr bwMode="auto">
          <a:xfrm>
            <a:off x="0" y="766465"/>
            <a:ext cx="1223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例如：</a:t>
            </a:r>
          </a:p>
        </p:txBody>
      </p:sp>
      <p:sp>
        <p:nvSpPr>
          <p:cNvPr id="55301" name="Text Box 4"/>
          <p:cNvSpPr txBox="1">
            <a:spLocks noChangeArrowheads="1"/>
          </p:cNvSpPr>
          <p:nvPr/>
        </p:nvSpPr>
        <p:spPr bwMode="auto">
          <a:xfrm>
            <a:off x="971600" y="766465"/>
            <a:ext cx="3528392" cy="2862322"/>
          </a:xfrm>
          <a:prstGeom prst="rect">
            <a:avLst/>
          </a:prstGeom>
          <a:noFill/>
          <a:ln w="28575"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000" b="1" dirty="0" smtClean="0">
                <a:solidFill>
                  <a:schemeClr val="bg2"/>
                </a:solidFill>
              </a:rPr>
              <a:t>DATA   </a:t>
            </a:r>
            <a:r>
              <a:rPr lang="en-US" altLang="zh-CN" sz="2000" b="1" dirty="0">
                <a:solidFill>
                  <a:schemeClr val="bg2"/>
                </a:solidFill>
              </a:rPr>
              <a:t>SEGMENT</a:t>
            </a:r>
            <a:br>
              <a:rPr lang="en-US" altLang="zh-CN" sz="2000" b="1" dirty="0">
                <a:solidFill>
                  <a:schemeClr val="bg2"/>
                </a:solidFill>
              </a:rPr>
            </a:br>
            <a:r>
              <a:rPr lang="en-US" altLang="zh-CN" sz="2000" b="1" dirty="0">
                <a:solidFill>
                  <a:schemeClr val="bg2"/>
                </a:solidFill>
              </a:rPr>
              <a:t>CONST  EQU   </a:t>
            </a:r>
            <a:r>
              <a:rPr lang="en-US" altLang="zh-CN" sz="2000" b="1" dirty="0" smtClean="0">
                <a:solidFill>
                  <a:schemeClr val="bg2"/>
                </a:solidFill>
              </a:rPr>
              <a:t>0ABCDH</a:t>
            </a:r>
            <a:br>
              <a:rPr lang="en-US" altLang="zh-CN" sz="2000" b="1" dirty="0" smtClean="0">
                <a:solidFill>
                  <a:schemeClr val="bg2"/>
                </a:solidFill>
              </a:rPr>
            </a:br>
            <a:r>
              <a:rPr lang="en-US" altLang="zh-CN" sz="2000" b="1" dirty="0" smtClean="0">
                <a:solidFill>
                  <a:schemeClr val="bg2"/>
                </a:solidFill>
              </a:rPr>
              <a:t>VAR1 </a:t>
            </a:r>
            <a:r>
              <a:rPr lang="en-US" altLang="zh-CN" sz="2000" b="1" dirty="0">
                <a:solidFill>
                  <a:schemeClr val="bg2"/>
                </a:solidFill>
              </a:rPr>
              <a:t>WORD </a:t>
            </a:r>
            <a:r>
              <a:rPr lang="en-US" altLang="zh-CN" sz="2000" b="1" dirty="0" smtClean="0">
                <a:solidFill>
                  <a:schemeClr val="bg2"/>
                </a:solidFill>
              </a:rPr>
              <a:t>1234H</a:t>
            </a:r>
            <a:br>
              <a:rPr lang="en-US" altLang="zh-CN" sz="2000" b="1" dirty="0" smtClean="0">
                <a:solidFill>
                  <a:schemeClr val="bg2"/>
                </a:solidFill>
              </a:rPr>
            </a:br>
            <a:r>
              <a:rPr lang="en-US" altLang="zh-CN" sz="2000" b="1" dirty="0" smtClean="0">
                <a:solidFill>
                  <a:schemeClr val="bg2"/>
                </a:solidFill>
              </a:rPr>
              <a:t>DATA    </a:t>
            </a:r>
            <a:r>
              <a:rPr lang="en-US" altLang="zh-CN" sz="2000" b="1" dirty="0">
                <a:solidFill>
                  <a:schemeClr val="bg2"/>
                </a:solidFill>
              </a:rPr>
              <a:t>ENDS</a:t>
            </a:r>
            <a:br>
              <a:rPr lang="en-US" altLang="zh-CN" sz="2000" b="1" dirty="0">
                <a:solidFill>
                  <a:schemeClr val="bg2"/>
                </a:solidFill>
              </a:rPr>
            </a:br>
            <a:r>
              <a:rPr lang="en-US" altLang="zh-CN" sz="2000" b="1" dirty="0">
                <a:solidFill>
                  <a:schemeClr val="bg2"/>
                </a:solidFill>
              </a:rPr>
              <a:t>       …….</a:t>
            </a:r>
            <a:br>
              <a:rPr lang="en-US" altLang="zh-CN" sz="2000" b="1" dirty="0">
                <a:solidFill>
                  <a:schemeClr val="bg2"/>
                </a:solidFill>
              </a:rPr>
            </a:br>
            <a:r>
              <a:rPr lang="en-US" altLang="zh-CN" sz="2000" b="1" dirty="0">
                <a:solidFill>
                  <a:schemeClr val="bg2"/>
                </a:solidFill>
              </a:rPr>
              <a:t>MOV   AH ,HIGH  CONST</a:t>
            </a:r>
            <a:br>
              <a:rPr lang="en-US" altLang="zh-CN" sz="2000" b="1" dirty="0">
                <a:solidFill>
                  <a:schemeClr val="bg2"/>
                </a:solidFill>
              </a:rPr>
            </a:br>
            <a:r>
              <a:rPr lang="en-US" altLang="zh-CN" sz="2000" b="1" dirty="0">
                <a:solidFill>
                  <a:schemeClr val="bg2"/>
                </a:solidFill>
              </a:rPr>
              <a:t>MOV   AL, LOW  </a:t>
            </a:r>
            <a:r>
              <a:rPr lang="en-US" altLang="zh-CN" sz="2000" b="1" dirty="0" smtClean="0">
                <a:solidFill>
                  <a:schemeClr val="bg2"/>
                </a:solidFill>
              </a:rPr>
              <a:t>CONST</a:t>
            </a:r>
            <a:r>
              <a:rPr lang="en-US" altLang="zh-CN" sz="2000" b="1" dirty="0">
                <a:solidFill>
                  <a:schemeClr val="bg2"/>
                </a:solidFill>
              </a:rPr>
              <a:t/>
            </a:r>
            <a:br>
              <a:rPr lang="en-US" altLang="zh-CN" sz="2000" b="1" dirty="0">
                <a:solidFill>
                  <a:schemeClr val="bg2"/>
                </a:solidFill>
              </a:rPr>
            </a:br>
            <a:r>
              <a:rPr lang="en-US" altLang="zh-CN" sz="2000" b="1" dirty="0">
                <a:solidFill>
                  <a:srgbClr val="FF0000"/>
                </a:solidFill>
              </a:rPr>
              <a:t>MOV   AH</a:t>
            </a:r>
            <a:r>
              <a:rPr lang="zh-CN" altLang="en-US" sz="2000" b="1" dirty="0">
                <a:solidFill>
                  <a:srgbClr val="FF0000"/>
                </a:solidFill>
              </a:rPr>
              <a:t>，</a:t>
            </a:r>
            <a:r>
              <a:rPr lang="en-US" altLang="zh-CN" sz="2000" b="1" dirty="0">
                <a:solidFill>
                  <a:srgbClr val="FF0000"/>
                </a:solidFill>
              </a:rPr>
              <a:t>HIGH  VAR1</a:t>
            </a:r>
            <a:br>
              <a:rPr lang="en-US" altLang="zh-CN" sz="2000" b="1" dirty="0">
                <a:solidFill>
                  <a:srgbClr val="FF0000"/>
                </a:solidFill>
              </a:rPr>
            </a:br>
            <a:r>
              <a:rPr lang="en-US" altLang="zh-CN" sz="2000" b="1" dirty="0">
                <a:solidFill>
                  <a:srgbClr val="FF0000"/>
                </a:solidFill>
              </a:rPr>
              <a:t>MOV   BH</a:t>
            </a:r>
            <a:r>
              <a:rPr lang="zh-CN" altLang="en-US" sz="2000" b="1" dirty="0">
                <a:solidFill>
                  <a:srgbClr val="FF0000"/>
                </a:solidFill>
              </a:rPr>
              <a:t>， </a:t>
            </a:r>
            <a:r>
              <a:rPr lang="en-US" altLang="zh-CN" sz="2000" b="1" dirty="0">
                <a:solidFill>
                  <a:srgbClr val="FF0000"/>
                </a:solidFill>
              </a:rPr>
              <a:t>LOW  </a:t>
            </a:r>
            <a:r>
              <a:rPr lang="en-US" altLang="zh-CN" sz="2000" b="1" dirty="0" smtClean="0">
                <a:solidFill>
                  <a:srgbClr val="FF0000"/>
                </a:solidFill>
              </a:rPr>
              <a:t>AX</a:t>
            </a:r>
            <a:endParaRPr lang="en-US" altLang="zh-CN" sz="2000" b="1" dirty="0">
              <a:solidFill>
                <a:srgbClr val="FF0000"/>
              </a:solidFill>
            </a:endParaRPr>
          </a:p>
        </p:txBody>
      </p:sp>
      <p:sp>
        <p:nvSpPr>
          <p:cNvPr id="55303" name="Text Box 6"/>
          <p:cNvSpPr txBox="1">
            <a:spLocks noChangeArrowheads="1"/>
          </p:cNvSpPr>
          <p:nvPr/>
        </p:nvSpPr>
        <p:spPr bwMode="auto">
          <a:xfrm>
            <a:off x="4890542" y="2204432"/>
            <a:ext cx="2736850" cy="707886"/>
          </a:xfrm>
          <a:prstGeom prst="rect">
            <a:avLst/>
          </a:prstGeom>
          <a:noFill/>
          <a:ln w="28575"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000" b="1" dirty="0">
                <a:solidFill>
                  <a:schemeClr val="bg2"/>
                </a:solidFill>
              </a:rPr>
              <a:t>MOV   AH </a:t>
            </a:r>
            <a:r>
              <a:rPr lang="zh-CN" altLang="en-US" sz="2000" b="1" dirty="0">
                <a:solidFill>
                  <a:schemeClr val="bg2"/>
                </a:solidFill>
              </a:rPr>
              <a:t>， </a:t>
            </a:r>
            <a:r>
              <a:rPr lang="en-US" altLang="zh-CN" sz="2000" b="1" dirty="0">
                <a:solidFill>
                  <a:schemeClr val="bg2"/>
                </a:solidFill>
              </a:rPr>
              <a:t>0ABH</a:t>
            </a:r>
            <a:br>
              <a:rPr lang="en-US" altLang="zh-CN" sz="2000" b="1" dirty="0">
                <a:solidFill>
                  <a:schemeClr val="bg2"/>
                </a:solidFill>
              </a:rPr>
            </a:br>
            <a:r>
              <a:rPr lang="en-US" altLang="zh-CN" sz="2000" b="1" dirty="0">
                <a:solidFill>
                  <a:schemeClr val="bg2"/>
                </a:solidFill>
              </a:rPr>
              <a:t>MOV   AL </a:t>
            </a:r>
            <a:r>
              <a:rPr lang="zh-CN" altLang="en-US" sz="2000" b="1" dirty="0">
                <a:solidFill>
                  <a:schemeClr val="bg2"/>
                </a:solidFill>
              </a:rPr>
              <a:t>， </a:t>
            </a:r>
            <a:r>
              <a:rPr lang="en-US" altLang="zh-CN" sz="2000" b="1" dirty="0">
                <a:solidFill>
                  <a:schemeClr val="bg2"/>
                </a:solidFill>
              </a:rPr>
              <a:t>0CDH</a:t>
            </a:r>
          </a:p>
        </p:txBody>
      </p:sp>
      <p:sp>
        <p:nvSpPr>
          <p:cNvPr id="8" name="Text Box 4"/>
          <p:cNvSpPr txBox="1">
            <a:spLocks noChangeArrowheads="1"/>
          </p:cNvSpPr>
          <p:nvPr/>
        </p:nvSpPr>
        <p:spPr bwMode="auto">
          <a:xfrm>
            <a:off x="934165" y="4354750"/>
            <a:ext cx="7391400" cy="850900"/>
          </a:xfrm>
          <a:prstGeom prst="rect">
            <a:avLst/>
          </a:prstGeom>
          <a:noFill/>
          <a:ln w="28575"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hlink"/>
                </a:solidFill>
              </a:rPr>
              <a:t>注意</a:t>
            </a:r>
            <a:r>
              <a:rPr lang="zh-CN" altLang="en-US" sz="2400" b="1" dirty="0">
                <a:solidFill>
                  <a:schemeClr val="bg2"/>
                </a:solidFill>
              </a:rPr>
              <a:t>：</a:t>
            </a:r>
            <a:r>
              <a:rPr lang="en-US" altLang="zh-CN" sz="2400" b="1" dirty="0">
                <a:solidFill>
                  <a:schemeClr val="bg2"/>
                </a:solidFill>
              </a:rPr>
              <a:t>HIGH/LOW</a:t>
            </a:r>
            <a:r>
              <a:rPr lang="zh-CN" altLang="en-US" sz="2400" b="1" dirty="0">
                <a:solidFill>
                  <a:schemeClr val="bg2"/>
                </a:solidFill>
              </a:rPr>
              <a:t>运算符不能用来分离一个变量、寄存器或存储器单元的内容。</a:t>
            </a:r>
          </a:p>
        </p:txBody>
      </p:sp>
      <p:sp>
        <p:nvSpPr>
          <p:cNvPr id="2" name="文本框 1"/>
          <p:cNvSpPr txBox="1"/>
          <p:nvPr/>
        </p:nvSpPr>
        <p:spPr>
          <a:xfrm>
            <a:off x="4716016" y="1742767"/>
            <a:ext cx="2982838" cy="461665"/>
          </a:xfrm>
          <a:prstGeom prst="rect">
            <a:avLst/>
          </a:prstGeom>
          <a:noFill/>
        </p:spPr>
        <p:txBody>
          <a:bodyPr wrap="square" rtlCol="0">
            <a:spAutoFit/>
          </a:bodyPr>
          <a:lstStyle/>
          <a:p>
            <a:r>
              <a:rPr lang="zh-CN" altLang="en-US" sz="2400" b="1" dirty="0">
                <a:solidFill>
                  <a:schemeClr val="bg2"/>
                </a:solidFill>
              </a:rPr>
              <a:t>两条传送语句等效为：</a:t>
            </a:r>
          </a:p>
        </p:txBody>
      </p:sp>
      <p:cxnSp>
        <p:nvCxnSpPr>
          <p:cNvPr id="4" name="直接箭头连接符 3"/>
          <p:cNvCxnSpPr/>
          <p:nvPr/>
        </p:nvCxnSpPr>
        <p:spPr bwMode="auto">
          <a:xfrm flipV="1">
            <a:off x="4098454" y="2407950"/>
            <a:ext cx="792088" cy="72008"/>
          </a:xfrm>
          <a:prstGeom prst="straightConnector1">
            <a:avLst/>
          </a:prstGeom>
          <a:solidFill>
            <a:schemeClr val="accent1"/>
          </a:solidFill>
          <a:ln w="38100"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箭头连接符 11"/>
          <p:cNvCxnSpPr/>
          <p:nvPr/>
        </p:nvCxnSpPr>
        <p:spPr bwMode="auto">
          <a:xfrm flipV="1">
            <a:off x="4092751" y="2695982"/>
            <a:ext cx="792088" cy="72008"/>
          </a:xfrm>
          <a:prstGeom prst="straightConnector1">
            <a:avLst/>
          </a:prstGeom>
          <a:solidFill>
            <a:schemeClr val="accent1"/>
          </a:solidFill>
          <a:ln w="38100"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椭圆形标注 4"/>
          <p:cNvSpPr/>
          <p:nvPr/>
        </p:nvSpPr>
        <p:spPr bwMode="auto">
          <a:xfrm>
            <a:off x="5004048" y="2972030"/>
            <a:ext cx="1799654" cy="576064"/>
          </a:xfrm>
          <a:prstGeom prst="wedgeEllipseCallout">
            <a:avLst>
              <a:gd name="adj1" fmla="val -103239"/>
              <a:gd name="adj2" fmla="val 1141"/>
            </a:avLst>
          </a:prstGeom>
          <a:solidFill>
            <a:schemeClr val="bg1"/>
          </a:solidFill>
          <a:ln w="3810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lang="zh-CN" altLang="en-US" sz="2000" b="1" dirty="0" smtClean="0">
                <a:solidFill>
                  <a:srgbClr val="FF0000"/>
                </a:solidFill>
              </a:rPr>
              <a:t>错误用法</a:t>
            </a:r>
            <a:endParaRPr kumimoji="0" lang="zh-CN" altLang="en-US" sz="2000" b="1" i="0" u="none" strike="noStrike" cap="none" normalizeH="0" baseline="0" dirty="0" smtClean="0">
              <a:ln>
                <a:noFill/>
              </a:ln>
              <a:solidFill>
                <a:srgbClr val="FF0000"/>
              </a:solidFill>
              <a:effectLs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3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530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par>
                                <p:cTn id="16" presetID="22" presetClass="entr" presetSubtype="4"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down)">
                                      <p:cBhvr>
                                        <p:cTn id="18" dur="500"/>
                                        <p:tgtEl>
                                          <p:spTgt spid="12"/>
                                        </p:tgtEl>
                                      </p:cBhvr>
                                    </p:animEffect>
                                  </p:childTnLst>
                                </p:cTn>
                              </p:par>
                            </p:childTnLst>
                          </p:cTn>
                        </p:par>
                        <p:par>
                          <p:cTn id="19" fill="hold">
                            <p:stCondLst>
                              <p:cond delay="500"/>
                            </p:stCondLst>
                            <p:childTnLst>
                              <p:par>
                                <p:cTn id="20" presetID="22" presetClass="entr" presetSubtype="4"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par>
                          <p:cTn id="23" fill="hold">
                            <p:stCondLst>
                              <p:cond delay="1000"/>
                            </p:stCondLst>
                            <p:childTnLst>
                              <p:par>
                                <p:cTn id="24" presetID="1" presetClass="entr" presetSubtype="0" fill="hold" grpId="0" nodeType="afterEffect">
                                  <p:stCondLst>
                                    <p:cond delay="0"/>
                                  </p:stCondLst>
                                  <p:childTnLst>
                                    <p:set>
                                      <p:cBhvr>
                                        <p:cTn id="25" dur="1" fill="hold">
                                          <p:stCondLst>
                                            <p:cond delay="499"/>
                                          </p:stCondLst>
                                        </p:cTn>
                                        <p:tgtEl>
                                          <p:spTgt spid="5530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right)">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utoUpdateAnimBg="0"/>
      <p:bldP spid="55301" grpId="0" animBg="1" autoUpdateAnimBg="0"/>
      <p:bldP spid="55303" grpId="0" animBg="1" autoUpdateAnimBg="0"/>
      <p:bldP spid="8" grpId="0" animBg="1" autoUpdateAnimBg="0"/>
      <p:bldP spid="2" grpId="0"/>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AB5934A7-1C01-4320-88DC-E2F0F0EA346E}" type="slidenum">
              <a:rPr lang="en-US" altLang="zh-CN" sz="1400">
                <a:solidFill>
                  <a:schemeClr val="bg2"/>
                </a:solidFill>
              </a:rPr>
              <a:pPr algn="r" eaLnBrk="1" hangingPunct="1"/>
              <a:t>49</a:t>
            </a:fld>
            <a:endParaRPr lang="en-US" altLang="zh-CN" sz="1400">
              <a:solidFill>
                <a:schemeClr val="bg2"/>
              </a:solidFill>
            </a:endParaRPr>
          </a:p>
        </p:txBody>
      </p:sp>
      <p:sp>
        <p:nvSpPr>
          <p:cNvPr id="58371" name="Text Box 2"/>
          <p:cNvSpPr txBox="1">
            <a:spLocks noChangeArrowheads="1"/>
          </p:cNvSpPr>
          <p:nvPr/>
        </p:nvSpPr>
        <p:spPr bwMode="auto">
          <a:xfrm>
            <a:off x="2286000" y="457200"/>
            <a:ext cx="3886200" cy="5191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b="1" dirty="0">
                <a:solidFill>
                  <a:schemeClr val="hlink"/>
                </a:solidFill>
              </a:rPr>
              <a:t>六、运算符的优先级</a:t>
            </a:r>
          </a:p>
        </p:txBody>
      </p:sp>
      <p:grpSp>
        <p:nvGrpSpPr>
          <p:cNvPr id="58373" name="Group 5"/>
          <p:cNvGrpSpPr>
            <a:grpSpLocks/>
          </p:cNvGrpSpPr>
          <p:nvPr/>
        </p:nvGrpSpPr>
        <p:grpSpPr bwMode="auto">
          <a:xfrm>
            <a:off x="1089642" y="1700808"/>
            <a:ext cx="7315200" cy="3324226"/>
            <a:chOff x="0" y="0"/>
            <a:chExt cx="4608" cy="2094"/>
          </a:xfrm>
        </p:grpSpPr>
        <p:sp>
          <p:nvSpPr>
            <p:cNvPr id="58374" name="Text Box 4"/>
            <p:cNvSpPr txBox="1">
              <a:spLocks noChangeArrowheads="1"/>
            </p:cNvSpPr>
            <p:nvPr/>
          </p:nvSpPr>
          <p:spPr bwMode="auto">
            <a:xfrm>
              <a:off x="0" y="0"/>
              <a:ext cx="4608" cy="2094"/>
            </a:xfrm>
            <a:prstGeom prst="rect">
              <a:avLst/>
            </a:prstGeom>
            <a:noFill/>
            <a:ln w="28575"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000" b="1" dirty="0">
                  <a:solidFill>
                    <a:schemeClr val="bg2"/>
                  </a:solidFill>
                </a:rPr>
                <a:t>  </a:t>
              </a:r>
              <a:r>
                <a:rPr lang="zh-CN" altLang="en-US" sz="2000" b="1" dirty="0">
                  <a:solidFill>
                    <a:schemeClr val="bg2"/>
                  </a:solidFill>
                </a:rPr>
                <a:t>优先级别                    运算符</a:t>
              </a:r>
            </a:p>
            <a:p>
              <a:pPr eaLnBrk="1" hangingPunct="1">
                <a:spcBef>
                  <a:spcPct val="50000"/>
                </a:spcBef>
              </a:pPr>
              <a:r>
                <a:rPr lang="zh-CN" altLang="en-US" sz="2000" b="1" dirty="0">
                  <a:solidFill>
                    <a:schemeClr val="bg2"/>
                  </a:solidFill>
                </a:rPr>
                <a:t>（最高）</a:t>
              </a:r>
              <a:r>
                <a:rPr lang="en-US" altLang="zh-CN" sz="2000" b="1" dirty="0">
                  <a:solidFill>
                    <a:schemeClr val="bg2"/>
                  </a:solidFill>
                </a:rPr>
                <a:t>1      LENGTH,LENGTHOF,SIZE,SIZEOF, </a:t>
              </a:r>
              <a:r>
                <a:rPr lang="zh-CN" altLang="en-US" sz="2000" b="1" dirty="0">
                  <a:solidFill>
                    <a:schemeClr val="bg2"/>
                  </a:solidFill>
                </a:rPr>
                <a:t>圆括号</a:t>
              </a:r>
              <a:br>
                <a:rPr lang="zh-CN" altLang="en-US" sz="2000" b="1" dirty="0">
                  <a:solidFill>
                    <a:schemeClr val="bg2"/>
                  </a:solidFill>
                </a:rPr>
              </a:br>
              <a:r>
                <a:rPr lang="zh-CN" altLang="en-US" sz="2000" b="1" dirty="0">
                  <a:solidFill>
                    <a:schemeClr val="bg2"/>
                  </a:solidFill>
                </a:rPr>
                <a:t>                </a:t>
              </a:r>
              <a:r>
                <a:rPr lang="en-US" altLang="zh-CN" sz="2000" b="1" dirty="0">
                  <a:solidFill>
                    <a:schemeClr val="bg2"/>
                  </a:solidFill>
                </a:rPr>
                <a:t>2      PTR</a:t>
              </a:r>
              <a:r>
                <a:rPr lang="zh-CN" altLang="en-US" sz="2000" b="1" dirty="0">
                  <a:solidFill>
                    <a:schemeClr val="bg2"/>
                  </a:solidFill>
                </a:rPr>
                <a:t>，</a:t>
              </a:r>
              <a:r>
                <a:rPr lang="en-US" altLang="zh-CN" sz="2000" b="1" dirty="0">
                  <a:solidFill>
                    <a:schemeClr val="bg2"/>
                  </a:solidFill>
                </a:rPr>
                <a:t>OFFSET</a:t>
              </a:r>
              <a:r>
                <a:rPr lang="zh-CN" altLang="en-US" sz="2000" b="1" dirty="0">
                  <a:solidFill>
                    <a:schemeClr val="bg2"/>
                  </a:solidFill>
                </a:rPr>
                <a:t>，</a:t>
              </a:r>
              <a:r>
                <a:rPr lang="en-US" altLang="zh-CN" sz="2000" b="1" dirty="0">
                  <a:solidFill>
                    <a:schemeClr val="bg2"/>
                  </a:solidFill>
                </a:rPr>
                <a:t>TYPE</a:t>
              </a:r>
              <a:r>
                <a:rPr lang="zh-CN" altLang="en-US" sz="2000" b="1" dirty="0">
                  <a:solidFill>
                    <a:schemeClr val="bg2"/>
                  </a:solidFill>
                </a:rPr>
                <a:t>，</a:t>
              </a:r>
              <a:r>
                <a:rPr lang="en-US" altLang="zh-CN" sz="2000" b="1" dirty="0">
                  <a:solidFill>
                    <a:schemeClr val="bg2"/>
                  </a:solidFill>
                </a:rPr>
                <a:t>THIS</a:t>
              </a:r>
              <a:br>
                <a:rPr lang="en-US" altLang="zh-CN" sz="2000" b="1" dirty="0">
                  <a:solidFill>
                    <a:schemeClr val="bg2"/>
                  </a:solidFill>
                </a:rPr>
              </a:br>
              <a:r>
                <a:rPr lang="en-US" altLang="zh-CN" sz="2000" b="1" dirty="0">
                  <a:solidFill>
                    <a:schemeClr val="bg2"/>
                  </a:solidFill>
                </a:rPr>
                <a:t>                3      HIGH</a:t>
              </a:r>
              <a:r>
                <a:rPr lang="zh-CN" altLang="en-US" sz="2000" b="1" dirty="0">
                  <a:solidFill>
                    <a:schemeClr val="bg2"/>
                  </a:solidFill>
                </a:rPr>
                <a:t>，</a:t>
              </a:r>
              <a:r>
                <a:rPr lang="en-US" altLang="zh-CN" sz="2000" b="1" dirty="0">
                  <a:solidFill>
                    <a:schemeClr val="bg2"/>
                  </a:solidFill>
                </a:rPr>
                <a:t>LOW</a:t>
              </a:r>
              <a:br>
                <a:rPr lang="en-US" altLang="zh-CN" sz="2000" b="1" dirty="0">
                  <a:solidFill>
                    <a:schemeClr val="bg2"/>
                  </a:solidFill>
                </a:rPr>
              </a:br>
              <a:r>
                <a:rPr lang="en-US" altLang="zh-CN" sz="2000" b="1" dirty="0">
                  <a:solidFill>
                    <a:schemeClr val="bg2"/>
                  </a:solidFill>
                </a:rPr>
                <a:t>                4      *</a:t>
              </a:r>
              <a:r>
                <a:rPr lang="zh-CN" altLang="en-US" sz="2000" b="1" dirty="0">
                  <a:solidFill>
                    <a:schemeClr val="bg2"/>
                  </a:solidFill>
                </a:rPr>
                <a:t>，</a:t>
              </a:r>
              <a:r>
                <a:rPr lang="en-US" altLang="zh-CN" sz="2000" b="1" dirty="0">
                  <a:solidFill>
                    <a:schemeClr val="bg2"/>
                  </a:solidFill>
                </a:rPr>
                <a:t>/</a:t>
              </a:r>
              <a:r>
                <a:rPr lang="zh-CN" altLang="en-US" sz="2000" b="1" dirty="0">
                  <a:solidFill>
                    <a:schemeClr val="bg2"/>
                  </a:solidFill>
                </a:rPr>
                <a:t>，</a:t>
              </a:r>
              <a:r>
                <a:rPr lang="en-US" altLang="zh-CN" sz="2000" b="1" dirty="0">
                  <a:solidFill>
                    <a:schemeClr val="bg2"/>
                  </a:solidFill>
                </a:rPr>
                <a:t>MOD</a:t>
              </a:r>
              <a:r>
                <a:rPr lang="zh-CN" altLang="en-US" sz="2000" b="1" dirty="0">
                  <a:solidFill>
                    <a:schemeClr val="bg2"/>
                  </a:solidFill>
                </a:rPr>
                <a:t>，</a:t>
              </a:r>
              <a:r>
                <a:rPr lang="en-US" altLang="zh-CN" sz="2000" b="1" dirty="0">
                  <a:solidFill>
                    <a:schemeClr val="bg2"/>
                  </a:solidFill>
                </a:rPr>
                <a:t>SHR</a:t>
              </a:r>
              <a:r>
                <a:rPr lang="zh-CN" altLang="en-US" sz="2000" b="1" dirty="0">
                  <a:solidFill>
                    <a:schemeClr val="bg2"/>
                  </a:solidFill>
                </a:rPr>
                <a:t>，</a:t>
              </a:r>
              <a:r>
                <a:rPr lang="en-US" altLang="zh-CN" sz="2000" b="1" dirty="0">
                  <a:solidFill>
                    <a:schemeClr val="bg2"/>
                  </a:solidFill>
                </a:rPr>
                <a:t>SHL</a:t>
              </a:r>
              <a:br>
                <a:rPr lang="en-US" altLang="zh-CN" sz="2000" b="1" dirty="0">
                  <a:solidFill>
                    <a:schemeClr val="bg2"/>
                  </a:solidFill>
                </a:rPr>
              </a:br>
              <a:r>
                <a:rPr lang="en-US" altLang="zh-CN" sz="2000" b="1" dirty="0">
                  <a:solidFill>
                    <a:schemeClr val="bg2"/>
                  </a:solidFill>
                </a:rPr>
                <a:t>                5      +</a:t>
              </a:r>
              <a:r>
                <a:rPr lang="zh-CN" altLang="en-US" sz="2000" b="1" dirty="0">
                  <a:solidFill>
                    <a:schemeClr val="bg2"/>
                  </a:solidFill>
                </a:rPr>
                <a:t>，</a:t>
              </a:r>
              <a:r>
                <a:rPr lang="en-US" altLang="zh-CN" sz="2000" b="1" dirty="0">
                  <a:solidFill>
                    <a:schemeClr val="bg2"/>
                  </a:solidFill>
                </a:rPr>
                <a:t>-</a:t>
              </a:r>
              <a:br>
                <a:rPr lang="en-US" altLang="zh-CN" sz="2000" b="1" dirty="0">
                  <a:solidFill>
                    <a:schemeClr val="bg2"/>
                  </a:solidFill>
                </a:rPr>
              </a:br>
              <a:r>
                <a:rPr lang="en-US" altLang="zh-CN" sz="2000" b="1" dirty="0">
                  <a:solidFill>
                    <a:schemeClr val="bg2"/>
                  </a:solidFill>
                </a:rPr>
                <a:t>                6      EQ</a:t>
              </a:r>
              <a:r>
                <a:rPr lang="zh-CN" altLang="en-US" sz="2000" b="1" dirty="0">
                  <a:solidFill>
                    <a:schemeClr val="bg2"/>
                  </a:solidFill>
                </a:rPr>
                <a:t>，</a:t>
              </a:r>
              <a:r>
                <a:rPr lang="en-US" altLang="zh-CN" sz="2000" b="1" dirty="0">
                  <a:solidFill>
                    <a:schemeClr val="bg2"/>
                  </a:solidFill>
                </a:rPr>
                <a:t>NE</a:t>
              </a:r>
              <a:r>
                <a:rPr lang="zh-CN" altLang="en-US" sz="2000" b="1" dirty="0">
                  <a:solidFill>
                    <a:schemeClr val="bg2"/>
                  </a:solidFill>
                </a:rPr>
                <a:t>，</a:t>
              </a:r>
              <a:r>
                <a:rPr lang="en-US" altLang="zh-CN" sz="2000" b="1" dirty="0">
                  <a:solidFill>
                    <a:schemeClr val="bg2"/>
                  </a:solidFill>
                </a:rPr>
                <a:t>LT</a:t>
              </a:r>
              <a:r>
                <a:rPr lang="zh-CN" altLang="en-US" sz="2000" b="1" dirty="0">
                  <a:solidFill>
                    <a:schemeClr val="bg2"/>
                  </a:solidFill>
                </a:rPr>
                <a:t>，</a:t>
              </a:r>
              <a:r>
                <a:rPr lang="en-US" altLang="zh-CN" sz="2000" b="1" dirty="0">
                  <a:solidFill>
                    <a:schemeClr val="bg2"/>
                  </a:solidFill>
                </a:rPr>
                <a:t>LE</a:t>
              </a:r>
              <a:r>
                <a:rPr lang="zh-CN" altLang="en-US" sz="2000" b="1" dirty="0">
                  <a:solidFill>
                    <a:schemeClr val="bg2"/>
                  </a:solidFill>
                </a:rPr>
                <a:t>，</a:t>
              </a:r>
              <a:r>
                <a:rPr lang="en-US" altLang="zh-CN" sz="2000" b="1" dirty="0">
                  <a:solidFill>
                    <a:schemeClr val="bg2"/>
                  </a:solidFill>
                </a:rPr>
                <a:t>GT</a:t>
              </a:r>
              <a:r>
                <a:rPr lang="zh-CN" altLang="en-US" sz="2000" b="1" dirty="0">
                  <a:solidFill>
                    <a:schemeClr val="bg2"/>
                  </a:solidFill>
                </a:rPr>
                <a:t>，</a:t>
              </a:r>
              <a:r>
                <a:rPr lang="en-US" altLang="zh-CN" sz="2000" b="1" dirty="0">
                  <a:solidFill>
                    <a:schemeClr val="bg2"/>
                  </a:solidFill>
                </a:rPr>
                <a:t>GE</a:t>
              </a:r>
              <a:br>
                <a:rPr lang="en-US" altLang="zh-CN" sz="2000" b="1" dirty="0">
                  <a:solidFill>
                    <a:schemeClr val="bg2"/>
                  </a:solidFill>
                </a:rPr>
              </a:br>
              <a:r>
                <a:rPr lang="en-US" altLang="zh-CN" sz="2000" b="1" dirty="0">
                  <a:solidFill>
                    <a:schemeClr val="bg2"/>
                  </a:solidFill>
                </a:rPr>
                <a:t>                7      NOT</a:t>
              </a:r>
              <a:br>
                <a:rPr lang="en-US" altLang="zh-CN" sz="2000" b="1" dirty="0">
                  <a:solidFill>
                    <a:schemeClr val="bg2"/>
                  </a:solidFill>
                </a:rPr>
              </a:br>
              <a:r>
                <a:rPr lang="en-US" altLang="zh-CN" sz="2000" b="1" dirty="0">
                  <a:solidFill>
                    <a:schemeClr val="bg2"/>
                  </a:solidFill>
                </a:rPr>
                <a:t>                8      AND</a:t>
              </a:r>
              <a:br>
                <a:rPr lang="en-US" altLang="zh-CN" sz="2000" b="1" dirty="0">
                  <a:solidFill>
                    <a:schemeClr val="bg2"/>
                  </a:solidFill>
                </a:rPr>
              </a:br>
              <a:r>
                <a:rPr lang="zh-CN" altLang="en-US" sz="2000" b="1" dirty="0">
                  <a:solidFill>
                    <a:schemeClr val="bg2"/>
                  </a:solidFill>
                </a:rPr>
                <a:t>（最低）</a:t>
              </a:r>
              <a:r>
                <a:rPr lang="en-US" altLang="zh-CN" sz="2000" b="1" dirty="0">
                  <a:solidFill>
                    <a:schemeClr val="bg2"/>
                  </a:solidFill>
                </a:rPr>
                <a:t>9      OR</a:t>
              </a:r>
              <a:r>
                <a:rPr lang="zh-CN" altLang="en-US" sz="2000" b="1" dirty="0">
                  <a:solidFill>
                    <a:schemeClr val="bg2"/>
                  </a:solidFill>
                </a:rPr>
                <a:t>，</a:t>
              </a:r>
              <a:r>
                <a:rPr lang="en-US" altLang="zh-CN" sz="2000" b="1" dirty="0">
                  <a:solidFill>
                    <a:schemeClr val="bg2"/>
                  </a:solidFill>
                </a:rPr>
                <a:t>XOR</a:t>
              </a:r>
            </a:p>
          </p:txBody>
        </p:sp>
        <p:sp>
          <p:nvSpPr>
            <p:cNvPr id="58375" name="Line 5"/>
            <p:cNvSpPr>
              <a:spLocks noChangeShapeType="1"/>
            </p:cNvSpPr>
            <p:nvPr/>
          </p:nvSpPr>
          <p:spPr bwMode="auto">
            <a:xfrm>
              <a:off x="0" y="336"/>
              <a:ext cx="4608" cy="0"/>
            </a:xfrm>
            <a:prstGeom prst="line">
              <a:avLst/>
            </a:prstGeom>
            <a:noFill/>
            <a:ln w="28575" cmpd="sng">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58376" name="Line 6"/>
            <p:cNvSpPr>
              <a:spLocks noChangeShapeType="1"/>
            </p:cNvSpPr>
            <p:nvPr/>
          </p:nvSpPr>
          <p:spPr bwMode="auto">
            <a:xfrm>
              <a:off x="969" y="0"/>
              <a:ext cx="0" cy="2094"/>
            </a:xfrm>
            <a:prstGeom prst="line">
              <a:avLst/>
            </a:prstGeom>
            <a:noFill/>
            <a:ln w="28575" cmpd="sng">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83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8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353D8715-8C3C-457D-901A-BDA27467F710}" type="slidenum">
              <a:rPr lang="en-US" altLang="zh-CN" sz="1400">
                <a:solidFill>
                  <a:schemeClr val="bg2"/>
                </a:solidFill>
              </a:rPr>
              <a:pPr algn="r" eaLnBrk="1" hangingPunct="1"/>
              <a:t>50</a:t>
            </a:fld>
            <a:endParaRPr lang="en-US" altLang="zh-CN" sz="1400">
              <a:solidFill>
                <a:schemeClr val="bg2"/>
              </a:solidFill>
            </a:endParaRPr>
          </a:p>
        </p:txBody>
      </p:sp>
      <p:sp>
        <p:nvSpPr>
          <p:cNvPr id="59395" name="Text Box 3"/>
          <p:cNvSpPr txBox="1">
            <a:spLocks noChangeArrowheads="1"/>
          </p:cNvSpPr>
          <p:nvPr/>
        </p:nvSpPr>
        <p:spPr bwMode="auto">
          <a:xfrm>
            <a:off x="914400" y="38100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汇编程序在计算表达式时的处理规则：</a:t>
            </a:r>
          </a:p>
        </p:txBody>
      </p:sp>
      <p:sp>
        <p:nvSpPr>
          <p:cNvPr id="59396" name="Text Box 4"/>
          <p:cNvSpPr txBox="1">
            <a:spLocks noChangeArrowheads="1"/>
          </p:cNvSpPr>
          <p:nvPr/>
        </p:nvSpPr>
        <p:spPr bwMode="auto">
          <a:xfrm>
            <a:off x="990600" y="980728"/>
            <a:ext cx="73152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buClr>
                <a:schemeClr val="hlink"/>
              </a:buClr>
              <a:buFont typeface="Wingdings" pitchFamily="2" charset="2"/>
              <a:buChar char="Ø"/>
            </a:pPr>
            <a:r>
              <a:rPr lang="zh-CN" altLang="en-US" sz="2400" b="1" dirty="0">
                <a:solidFill>
                  <a:srgbClr val="0066FF"/>
                </a:solidFill>
              </a:rPr>
              <a:t>先执行优先级别高的运算，再算较低级别运算；</a:t>
            </a:r>
            <a:endParaRPr lang="en-US" altLang="zh-CN" sz="2400" b="1" dirty="0">
              <a:solidFill>
                <a:srgbClr val="0066FF"/>
              </a:solidFill>
            </a:endParaRPr>
          </a:p>
          <a:p>
            <a:pPr eaLnBrk="1" hangingPunct="1">
              <a:spcBef>
                <a:spcPct val="50000"/>
              </a:spcBef>
              <a:buClr>
                <a:schemeClr val="hlink"/>
              </a:buClr>
              <a:buFont typeface="Wingdings" pitchFamily="2" charset="2"/>
              <a:buChar char="Ø"/>
            </a:pPr>
            <a:r>
              <a:rPr lang="zh-CN" altLang="en-US" sz="2400" b="1" dirty="0">
                <a:solidFill>
                  <a:srgbClr val="0066FF"/>
                </a:solidFill>
              </a:rPr>
              <a:t>相同优先级别的操作，按照在表达式中的顺序，从左到右进行；</a:t>
            </a:r>
          </a:p>
          <a:p>
            <a:pPr eaLnBrk="1" hangingPunct="1">
              <a:spcBef>
                <a:spcPct val="50000"/>
              </a:spcBef>
              <a:buClr>
                <a:schemeClr val="hlink"/>
              </a:buClr>
              <a:buFont typeface="Wingdings" pitchFamily="2" charset="2"/>
              <a:buChar char="Ø"/>
            </a:pPr>
            <a:r>
              <a:rPr lang="zh-CN" altLang="en-US" sz="2400" b="1" dirty="0">
                <a:solidFill>
                  <a:srgbClr val="0066FF"/>
                </a:solidFill>
              </a:rPr>
              <a:t>可以用圆括号改变运算的顺序</a:t>
            </a:r>
            <a:r>
              <a:rPr lang="zh-CN" altLang="en-US" sz="2400" dirty="0">
                <a:solidFill>
                  <a:srgbClr val="0066FF"/>
                </a:solidFill>
              </a:rPr>
              <a:t>。</a:t>
            </a:r>
          </a:p>
        </p:txBody>
      </p:sp>
      <p:sp>
        <p:nvSpPr>
          <p:cNvPr id="59400" name="Text Box 7"/>
          <p:cNvSpPr txBox="1">
            <a:spLocks noChangeArrowheads="1"/>
          </p:cNvSpPr>
          <p:nvPr/>
        </p:nvSpPr>
        <p:spPr bwMode="auto">
          <a:xfrm>
            <a:off x="674948" y="3169815"/>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a:solidFill>
                  <a:schemeClr val="bg2"/>
                </a:solidFill>
              </a:rPr>
              <a:t>例如：</a:t>
            </a:r>
          </a:p>
        </p:txBody>
      </p:sp>
      <p:sp>
        <p:nvSpPr>
          <p:cNvPr id="59401" name="Text Box 8"/>
          <p:cNvSpPr txBox="1">
            <a:spLocks noChangeArrowheads="1"/>
          </p:cNvSpPr>
          <p:nvPr/>
        </p:nvSpPr>
        <p:spPr bwMode="auto">
          <a:xfrm>
            <a:off x="1665548" y="3246015"/>
            <a:ext cx="3543672" cy="86042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en-US" altLang="zh-CN" sz="2400" b="1" dirty="0">
                <a:solidFill>
                  <a:schemeClr val="bg2"/>
                </a:solidFill>
              </a:rPr>
              <a:t>K1=  10  OR  5   AND  1</a:t>
            </a:r>
            <a:br>
              <a:rPr lang="en-US" altLang="zh-CN" sz="2400" b="1" dirty="0">
                <a:solidFill>
                  <a:schemeClr val="bg2"/>
                </a:solidFill>
              </a:rPr>
            </a:br>
            <a:r>
              <a:rPr lang="en-US" altLang="zh-CN" sz="2400" b="1" dirty="0">
                <a:solidFill>
                  <a:schemeClr val="bg2"/>
                </a:solidFill>
              </a:rPr>
              <a:t>K2=</a:t>
            </a:r>
            <a:r>
              <a:rPr lang="zh-CN" altLang="en-US" sz="2400" b="1" dirty="0">
                <a:solidFill>
                  <a:schemeClr val="bg2"/>
                </a:solidFill>
              </a:rPr>
              <a:t>（</a:t>
            </a:r>
            <a:r>
              <a:rPr lang="en-US" altLang="zh-CN" sz="2400" b="1" dirty="0">
                <a:solidFill>
                  <a:schemeClr val="bg2"/>
                </a:solidFill>
              </a:rPr>
              <a:t>10 OR 5</a:t>
            </a:r>
            <a:r>
              <a:rPr lang="zh-CN" altLang="en-US" sz="2400" b="1" dirty="0">
                <a:solidFill>
                  <a:schemeClr val="bg2"/>
                </a:solidFill>
              </a:rPr>
              <a:t>） </a:t>
            </a:r>
            <a:r>
              <a:rPr lang="en-US" altLang="zh-CN" sz="2400" b="1" dirty="0">
                <a:solidFill>
                  <a:schemeClr val="bg2"/>
                </a:solidFill>
              </a:rPr>
              <a:t>AND 1</a:t>
            </a:r>
          </a:p>
        </p:txBody>
      </p:sp>
      <p:sp>
        <p:nvSpPr>
          <p:cNvPr id="8" name="Text Box 8"/>
          <p:cNvSpPr txBox="1">
            <a:spLocks noChangeArrowheads="1"/>
          </p:cNvSpPr>
          <p:nvPr/>
        </p:nvSpPr>
        <p:spPr bwMode="auto">
          <a:xfrm>
            <a:off x="5004048" y="3212976"/>
            <a:ext cx="2391544" cy="46166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；结果为</a:t>
            </a:r>
            <a:r>
              <a:rPr lang="en-US" altLang="zh-CN" sz="2400" b="1" dirty="0">
                <a:solidFill>
                  <a:schemeClr val="bg2"/>
                </a:solidFill>
              </a:rPr>
              <a:t>K1=11</a:t>
            </a:r>
          </a:p>
        </p:txBody>
      </p:sp>
      <p:sp>
        <p:nvSpPr>
          <p:cNvPr id="9" name="Text Box 8"/>
          <p:cNvSpPr txBox="1">
            <a:spLocks noChangeArrowheads="1"/>
          </p:cNvSpPr>
          <p:nvPr/>
        </p:nvSpPr>
        <p:spPr bwMode="auto">
          <a:xfrm>
            <a:off x="5004048" y="3627015"/>
            <a:ext cx="2226568" cy="461665"/>
          </a:xfrm>
          <a:prstGeom prst="rect">
            <a:avLst/>
          </a:prstGeom>
          <a:noFill/>
          <a:ln w="38100"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spcBef>
                <a:spcPct val="50000"/>
              </a:spcBef>
            </a:pPr>
            <a:r>
              <a:rPr lang="zh-CN" altLang="en-US" sz="2400" b="1" dirty="0">
                <a:solidFill>
                  <a:schemeClr val="bg2"/>
                </a:solidFill>
              </a:rPr>
              <a:t>；结果为</a:t>
            </a:r>
            <a:r>
              <a:rPr lang="en-US" altLang="zh-CN" sz="2400" b="1" dirty="0">
                <a:solidFill>
                  <a:schemeClr val="bg2"/>
                </a:solidFill>
              </a:rPr>
              <a:t>K2=1</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93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939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9400"/>
                                        </p:tgtEl>
                                        <p:attrNameLst>
                                          <p:attrName>style.visibility</p:attrName>
                                        </p:attrNameLst>
                                      </p:cBhvr>
                                      <p:to>
                                        <p:strVal val="visible"/>
                                      </p:to>
                                    </p:set>
                                    <p:animEffect transition="in" filter="wipe(down)">
                                      <p:cBhvr>
                                        <p:cTn id="15" dur="500"/>
                                        <p:tgtEl>
                                          <p:spTgt spid="5940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9401"/>
                                        </p:tgtEl>
                                        <p:attrNameLst>
                                          <p:attrName>style.visibility</p:attrName>
                                        </p:attrNameLst>
                                      </p:cBhvr>
                                      <p:to>
                                        <p:strVal val="visible"/>
                                      </p:to>
                                    </p:set>
                                    <p:animEffect transition="in" filter="wipe(down)">
                                      <p:cBhvr>
                                        <p:cTn id="20" dur="500"/>
                                        <p:tgtEl>
                                          <p:spTgt spid="5940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autoUpdateAnimBg="0"/>
      <p:bldP spid="59396" grpId="0" autoUpdateAnimBg="0"/>
      <p:bldP spid="59400" grpId="0"/>
      <p:bldP spid="59401" grpId="0" animBg="1"/>
      <p:bldP spid="8" grpId="0" animBg="1"/>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D30371C3-CE33-4DF0-8312-A1E213E87436}" type="slidenum">
              <a:rPr lang="en-US" altLang="zh-CN" sz="1400">
                <a:solidFill>
                  <a:schemeClr val="bg2"/>
                </a:solidFill>
              </a:rPr>
              <a:pPr algn="r" eaLnBrk="1" hangingPunct="1"/>
              <a:t>51</a:t>
            </a:fld>
            <a:endParaRPr lang="en-US" altLang="zh-CN" sz="1400">
              <a:solidFill>
                <a:schemeClr val="bg2"/>
              </a:solidFill>
            </a:endParaRPr>
          </a:p>
        </p:txBody>
      </p:sp>
      <p:sp>
        <p:nvSpPr>
          <p:cNvPr id="81923" name="Rectangle 2"/>
          <p:cNvSpPr>
            <a:spLocks noChangeArrowheads="1"/>
          </p:cNvSpPr>
          <p:nvPr/>
        </p:nvSpPr>
        <p:spPr bwMode="auto">
          <a:xfrm>
            <a:off x="611560" y="1001867"/>
            <a:ext cx="8280920" cy="1785104"/>
          </a:xfrm>
          <a:prstGeom prst="rect">
            <a:avLst/>
          </a:prstGeom>
          <a:noFill/>
          <a:ln w="28575"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n"/>
            </a:pPr>
            <a:r>
              <a:rPr lang="zh-CN" altLang="en-US" sz="2200" b="1" dirty="0">
                <a:solidFill>
                  <a:schemeClr val="bg2"/>
                </a:solidFill>
              </a:rPr>
              <a:t>在程序设计过程中，常常将具有一定功能的程序段设计成一个</a:t>
            </a:r>
            <a:r>
              <a:rPr lang="zh-CN" altLang="en-US" sz="2200" b="1" dirty="0">
                <a:solidFill>
                  <a:srgbClr val="FF0000"/>
                </a:solidFill>
              </a:rPr>
              <a:t>过程</a:t>
            </a:r>
            <a:r>
              <a:rPr lang="zh-CN" altLang="en-US" sz="2200" b="1" dirty="0">
                <a:solidFill>
                  <a:schemeClr val="bg2"/>
                </a:solidFill>
              </a:rPr>
              <a:t>，过程也称为</a:t>
            </a:r>
            <a:r>
              <a:rPr lang="zh-CN" altLang="en-US" sz="2200" b="1" dirty="0">
                <a:solidFill>
                  <a:srgbClr val="FF0000"/>
                </a:solidFill>
              </a:rPr>
              <a:t>子程序</a:t>
            </a:r>
            <a:r>
              <a:rPr lang="zh-CN" altLang="en-US" sz="2200" b="1" dirty="0">
                <a:solidFill>
                  <a:schemeClr val="bg2"/>
                </a:solidFill>
              </a:rPr>
              <a:t>。</a:t>
            </a:r>
            <a:endParaRPr lang="en-US" altLang="zh-CN" sz="2200" b="1" dirty="0">
              <a:solidFill>
                <a:schemeClr val="bg2"/>
              </a:solidFill>
            </a:endParaRPr>
          </a:p>
          <a:p>
            <a:pPr marL="342900" indent="-342900" eaLnBrk="1" hangingPunct="1">
              <a:buClr>
                <a:srgbClr val="C00000"/>
              </a:buClr>
              <a:buFont typeface="Wingdings" panose="05000000000000000000" pitchFamily="2" charset="2"/>
              <a:buChar char="n"/>
            </a:pPr>
            <a:r>
              <a:rPr lang="zh-CN" altLang="en-US" sz="2200" b="1" dirty="0">
                <a:solidFill>
                  <a:schemeClr val="bg2"/>
                </a:solidFill>
              </a:rPr>
              <a:t>汇编语言程序的主程序也要定义为过程，程序运行时操作系统调用这个过程。</a:t>
            </a:r>
            <a:endParaRPr lang="en-US" altLang="zh-CN" sz="2200" b="1" dirty="0">
              <a:solidFill>
                <a:schemeClr val="bg2"/>
              </a:solidFill>
            </a:endParaRPr>
          </a:p>
          <a:p>
            <a:pPr marL="342900" indent="-342900" eaLnBrk="1" hangingPunct="1">
              <a:buClr>
                <a:srgbClr val="C00000"/>
              </a:buClr>
              <a:buFont typeface="Wingdings" panose="05000000000000000000" pitchFamily="2" charset="2"/>
              <a:buChar char="n"/>
            </a:pPr>
            <a:r>
              <a:rPr lang="zh-CN" altLang="en-US" sz="2200" b="1" dirty="0">
                <a:solidFill>
                  <a:schemeClr val="bg2"/>
                </a:solidFill>
              </a:rPr>
              <a:t>在</a:t>
            </a:r>
            <a:r>
              <a:rPr lang="en-US" altLang="zh-CN" sz="2200" b="1" dirty="0">
                <a:solidFill>
                  <a:schemeClr val="bg2"/>
                </a:solidFill>
              </a:rPr>
              <a:t>MASM</a:t>
            </a:r>
            <a:r>
              <a:rPr lang="zh-CN" altLang="en-US" sz="2200" b="1" dirty="0">
                <a:solidFill>
                  <a:schemeClr val="bg2"/>
                </a:solidFill>
              </a:rPr>
              <a:t>宏汇编语言中，</a:t>
            </a:r>
            <a:r>
              <a:rPr lang="zh-CN" altLang="en-US" sz="2200" b="1" dirty="0" smtClean="0">
                <a:solidFill>
                  <a:schemeClr val="bg2"/>
                </a:solidFill>
              </a:rPr>
              <a:t>用伪指令</a:t>
            </a:r>
            <a:r>
              <a:rPr lang="en-US" altLang="zh-CN" sz="2200" b="1" dirty="0" smtClean="0">
                <a:solidFill>
                  <a:srgbClr val="FF0000"/>
                </a:solidFill>
              </a:rPr>
              <a:t>PROC/ENDP</a:t>
            </a:r>
            <a:r>
              <a:rPr lang="zh-CN" altLang="en-US" sz="2200" b="1" dirty="0" smtClean="0">
                <a:solidFill>
                  <a:schemeClr val="bg2"/>
                </a:solidFill>
              </a:rPr>
              <a:t>来</a:t>
            </a:r>
            <a:r>
              <a:rPr lang="zh-CN" altLang="en-US" sz="2200" b="1" dirty="0">
                <a:solidFill>
                  <a:schemeClr val="bg2"/>
                </a:solidFill>
              </a:rPr>
              <a:t>构造子程序。</a:t>
            </a:r>
          </a:p>
        </p:txBody>
      </p:sp>
      <p:sp>
        <p:nvSpPr>
          <p:cNvPr id="81924" name="Rectangle 3"/>
          <p:cNvSpPr>
            <a:spLocks noChangeArrowheads="1"/>
          </p:cNvSpPr>
          <p:nvPr/>
        </p:nvSpPr>
        <p:spPr bwMode="auto">
          <a:xfrm>
            <a:off x="1371600" y="381000"/>
            <a:ext cx="6770688" cy="5794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3200" b="1" dirty="0">
                <a:solidFill>
                  <a:schemeClr val="hlink"/>
                </a:solidFill>
              </a:rPr>
              <a:t>4.5   </a:t>
            </a:r>
            <a:r>
              <a:rPr lang="zh-CN" altLang="en-US" sz="3200" b="1" dirty="0">
                <a:solidFill>
                  <a:schemeClr val="hlink"/>
                </a:solidFill>
              </a:rPr>
              <a:t>过程定义伪指令（</a:t>
            </a:r>
            <a:r>
              <a:rPr lang="en-US" altLang="zh-CN" sz="3200" b="1" dirty="0">
                <a:solidFill>
                  <a:schemeClr val="hlink"/>
                </a:solidFill>
              </a:rPr>
              <a:t>PROC/ENDP)</a:t>
            </a:r>
          </a:p>
        </p:txBody>
      </p:sp>
      <p:sp>
        <p:nvSpPr>
          <p:cNvPr id="81926" name="Rectangle 5"/>
          <p:cNvSpPr>
            <a:spLocks noChangeArrowheads="1"/>
          </p:cNvSpPr>
          <p:nvPr/>
        </p:nvSpPr>
        <p:spPr bwMode="auto">
          <a:xfrm>
            <a:off x="541907" y="2854097"/>
            <a:ext cx="302198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200" b="1" dirty="0">
                <a:solidFill>
                  <a:srgbClr val="002060"/>
                </a:solidFill>
              </a:rPr>
              <a:t>过程定义伪指令格式：</a:t>
            </a:r>
          </a:p>
        </p:txBody>
      </p:sp>
      <p:sp>
        <p:nvSpPr>
          <p:cNvPr id="2" name="矩形 1"/>
          <p:cNvSpPr/>
          <p:nvPr/>
        </p:nvSpPr>
        <p:spPr>
          <a:xfrm>
            <a:off x="521618" y="3302496"/>
            <a:ext cx="8622382" cy="2246769"/>
          </a:xfrm>
          <a:prstGeom prst="rect">
            <a:avLst/>
          </a:prstGeom>
        </p:spPr>
        <p:txBody>
          <a:bodyPr wrap="square">
            <a:spAutoFit/>
          </a:bodyPr>
          <a:lstStyle/>
          <a:p>
            <a:r>
              <a:rPr lang="zh-CN" altLang="en-US" sz="2000" b="1" dirty="0">
                <a:solidFill>
                  <a:schemeClr val="bg2"/>
                </a:solidFill>
              </a:rPr>
              <a:t>过程名</a:t>
            </a:r>
            <a:r>
              <a:rPr lang="zh-CN" altLang="en-US" sz="2000" b="1" dirty="0">
                <a:solidFill>
                  <a:srgbClr val="0070C0"/>
                </a:solidFill>
              </a:rPr>
              <a:t>  </a:t>
            </a:r>
            <a:r>
              <a:rPr lang="en-US" altLang="zh-CN" sz="2000" b="1" dirty="0">
                <a:solidFill>
                  <a:srgbClr val="FF0000"/>
                </a:solidFill>
              </a:rPr>
              <a:t>PROC</a:t>
            </a:r>
            <a:r>
              <a:rPr lang="en-US" altLang="zh-CN" sz="2000" b="1" dirty="0">
                <a:solidFill>
                  <a:srgbClr val="0070C0"/>
                </a:solidFill>
              </a:rPr>
              <a:t> [</a:t>
            </a:r>
            <a:r>
              <a:rPr lang="zh-CN" altLang="en-US" sz="2000" b="1" dirty="0">
                <a:solidFill>
                  <a:srgbClr val="0070C0"/>
                </a:solidFill>
              </a:rPr>
              <a:t>距离</a:t>
            </a:r>
            <a:r>
              <a:rPr lang="en-US" altLang="zh-CN" sz="2000" b="1" dirty="0">
                <a:solidFill>
                  <a:srgbClr val="0070C0"/>
                </a:solidFill>
              </a:rPr>
              <a:t>][</a:t>
            </a:r>
            <a:r>
              <a:rPr lang="zh-CN" altLang="en-US" sz="2000" b="1" dirty="0">
                <a:solidFill>
                  <a:srgbClr val="0070C0"/>
                </a:solidFill>
              </a:rPr>
              <a:t>语言类型</a:t>
            </a:r>
            <a:r>
              <a:rPr lang="en-US" altLang="zh-CN" sz="2000" b="1" dirty="0">
                <a:solidFill>
                  <a:srgbClr val="0070C0"/>
                </a:solidFill>
              </a:rPr>
              <a:t>][</a:t>
            </a:r>
            <a:r>
              <a:rPr lang="zh-CN" altLang="en-US" sz="2000" b="1" dirty="0">
                <a:solidFill>
                  <a:srgbClr val="0070C0"/>
                </a:solidFill>
              </a:rPr>
              <a:t>可视区域</a:t>
            </a:r>
            <a:r>
              <a:rPr lang="en-US" altLang="zh-CN" sz="2000" b="1" dirty="0">
                <a:solidFill>
                  <a:srgbClr val="0070C0"/>
                </a:solidFill>
              </a:rPr>
              <a:t>][USES </a:t>
            </a:r>
            <a:r>
              <a:rPr lang="zh-CN" altLang="en-US" sz="2000" b="1" dirty="0">
                <a:solidFill>
                  <a:srgbClr val="0070C0"/>
                </a:solidFill>
              </a:rPr>
              <a:t>寄存器列表</a:t>
            </a:r>
            <a:r>
              <a:rPr lang="en-US" altLang="zh-CN" sz="2000" b="1" dirty="0">
                <a:solidFill>
                  <a:srgbClr val="0070C0"/>
                </a:solidFill>
              </a:rPr>
              <a:t>][,</a:t>
            </a:r>
            <a:r>
              <a:rPr lang="zh-CN" altLang="en-US" sz="2000" b="1" dirty="0">
                <a:solidFill>
                  <a:srgbClr val="0070C0"/>
                </a:solidFill>
              </a:rPr>
              <a:t>参数列表</a:t>
            </a:r>
            <a:r>
              <a:rPr lang="en-US" altLang="zh-CN" sz="2000" b="1" dirty="0">
                <a:solidFill>
                  <a:srgbClr val="0070C0"/>
                </a:solidFill>
              </a:rPr>
              <a:t>]...</a:t>
            </a:r>
          </a:p>
          <a:p>
            <a:r>
              <a:rPr lang="en-US" altLang="zh-CN" sz="2000" b="1" dirty="0">
                <a:solidFill>
                  <a:srgbClr val="0070C0"/>
                </a:solidFill>
              </a:rPr>
              <a:t>        </a:t>
            </a:r>
          </a:p>
          <a:p>
            <a:r>
              <a:rPr lang="en-US" altLang="zh-CN" sz="2000" b="1" dirty="0">
                <a:solidFill>
                  <a:srgbClr val="0070C0"/>
                </a:solidFill>
              </a:rPr>
              <a:t>          </a:t>
            </a:r>
            <a:r>
              <a:rPr lang="en-US" altLang="zh-CN" sz="2000" b="1" dirty="0" smtClean="0">
                <a:solidFill>
                  <a:srgbClr val="0070C0"/>
                </a:solidFill>
              </a:rPr>
              <a:t>    </a:t>
            </a:r>
            <a:r>
              <a:rPr lang="en-US" altLang="zh-CN" sz="2000" b="1" dirty="0" smtClean="0">
                <a:solidFill>
                  <a:srgbClr val="FF0000"/>
                </a:solidFill>
              </a:rPr>
              <a:t>LOCAL </a:t>
            </a:r>
            <a:r>
              <a:rPr lang="zh-CN" altLang="en-US" sz="2000" b="1" dirty="0">
                <a:solidFill>
                  <a:srgbClr val="0070C0"/>
                </a:solidFill>
              </a:rPr>
              <a:t>局部变量列表</a:t>
            </a:r>
          </a:p>
          <a:p>
            <a:endParaRPr lang="zh-CN" altLang="en-US" sz="2000" b="1" dirty="0">
              <a:solidFill>
                <a:srgbClr val="0070C0"/>
              </a:solidFill>
            </a:endParaRPr>
          </a:p>
          <a:p>
            <a:r>
              <a:rPr lang="zh-CN" altLang="en-US" sz="2000" b="1" dirty="0">
                <a:solidFill>
                  <a:srgbClr val="0070C0"/>
                </a:solidFill>
              </a:rPr>
              <a:t>         </a:t>
            </a:r>
            <a:r>
              <a:rPr lang="zh-CN" altLang="en-US" sz="2000" b="1" dirty="0" smtClean="0">
                <a:solidFill>
                  <a:srgbClr val="0070C0"/>
                </a:solidFill>
              </a:rPr>
              <a:t>     指令语句</a:t>
            </a:r>
            <a:r>
              <a:rPr lang="zh-CN" altLang="en-US" sz="2000" b="1" dirty="0">
                <a:solidFill>
                  <a:srgbClr val="0070C0"/>
                </a:solidFill>
              </a:rPr>
              <a:t>序列</a:t>
            </a:r>
          </a:p>
          <a:p>
            <a:r>
              <a:rPr lang="en-US" altLang="zh-CN" sz="2000" b="1" dirty="0">
                <a:solidFill>
                  <a:srgbClr val="0070C0"/>
                </a:solidFill>
              </a:rPr>
              <a:t>         </a:t>
            </a:r>
            <a:r>
              <a:rPr lang="en-US" altLang="zh-CN" sz="2000" b="1" dirty="0" smtClean="0">
                <a:solidFill>
                  <a:srgbClr val="0070C0"/>
                </a:solidFill>
              </a:rPr>
              <a:t>      </a:t>
            </a:r>
            <a:r>
              <a:rPr lang="en-US" altLang="zh-CN" sz="2000" b="1" dirty="0">
                <a:solidFill>
                  <a:srgbClr val="FF0000"/>
                </a:solidFill>
              </a:rPr>
              <a:t>ret</a:t>
            </a:r>
            <a:endParaRPr lang="zh-CN" altLang="en-US" sz="2000" b="1" dirty="0">
              <a:solidFill>
                <a:srgbClr val="FF0000"/>
              </a:solidFill>
            </a:endParaRPr>
          </a:p>
          <a:p>
            <a:r>
              <a:rPr lang="zh-CN" altLang="en-US" sz="2000" b="1" dirty="0">
                <a:solidFill>
                  <a:schemeClr val="bg2"/>
                </a:solidFill>
              </a:rPr>
              <a:t>过程名</a:t>
            </a:r>
            <a:r>
              <a:rPr lang="zh-CN" altLang="en-US" sz="2000" b="1" dirty="0">
                <a:solidFill>
                  <a:srgbClr val="0070C0"/>
                </a:solidFill>
              </a:rPr>
              <a:t>  </a:t>
            </a:r>
            <a:r>
              <a:rPr lang="en-US" altLang="zh-CN" sz="2000" b="1" dirty="0">
                <a:solidFill>
                  <a:srgbClr val="FF0000"/>
                </a:solidFill>
              </a:rPr>
              <a:t>ENDP</a:t>
            </a:r>
          </a:p>
        </p:txBody>
      </p:sp>
      <p:sp>
        <p:nvSpPr>
          <p:cNvPr id="3" name="文本框 2"/>
          <p:cNvSpPr txBox="1"/>
          <p:nvPr/>
        </p:nvSpPr>
        <p:spPr>
          <a:xfrm>
            <a:off x="611560" y="5649291"/>
            <a:ext cx="8352928" cy="769441"/>
          </a:xfrm>
          <a:prstGeom prst="rect">
            <a:avLst/>
          </a:prstGeom>
          <a:noFill/>
        </p:spPr>
        <p:txBody>
          <a:bodyPr wrap="square" rtlCol="0">
            <a:spAutoFit/>
          </a:bodyPr>
          <a:lstStyle/>
          <a:p>
            <a:r>
              <a:rPr lang="en-US" altLang="zh-CN" sz="2200" b="1" dirty="0">
                <a:solidFill>
                  <a:srgbClr val="FF0000"/>
                </a:solidFill>
              </a:rPr>
              <a:t>PROC</a:t>
            </a:r>
            <a:r>
              <a:rPr lang="zh-CN" altLang="en-US" sz="2200" b="1" dirty="0">
                <a:solidFill>
                  <a:srgbClr val="000000"/>
                </a:solidFill>
                <a:latin typeface="宋体" panose="02010600030101010101" pitchFamily="2" charset="-122"/>
              </a:rPr>
              <a:t>和</a:t>
            </a:r>
            <a:r>
              <a:rPr lang="en-US" altLang="zh-CN" sz="2200" b="1" dirty="0">
                <a:solidFill>
                  <a:srgbClr val="FF0000"/>
                </a:solidFill>
              </a:rPr>
              <a:t>ENDP</a:t>
            </a:r>
            <a:r>
              <a:rPr lang="zh-CN" altLang="en-US" sz="2200" b="1" dirty="0">
                <a:solidFill>
                  <a:srgbClr val="000000"/>
                </a:solidFill>
                <a:latin typeface="宋体" panose="02010600030101010101" pitchFamily="2" charset="-122"/>
              </a:rPr>
              <a:t>伪指令定义了过程开始和结束的位置，</a:t>
            </a:r>
            <a:r>
              <a:rPr lang="zh-CN" altLang="en-US" sz="2200" b="1" dirty="0">
                <a:solidFill>
                  <a:srgbClr val="000000"/>
                </a:solidFill>
              </a:rPr>
              <a:t> </a:t>
            </a:r>
            <a:r>
              <a:rPr lang="en-US" altLang="zh-CN" sz="2200" b="1" dirty="0">
                <a:solidFill>
                  <a:srgbClr val="FF0000"/>
                </a:solidFill>
              </a:rPr>
              <a:t>PROC</a:t>
            </a:r>
            <a:r>
              <a:rPr lang="zh-CN" altLang="en-US" sz="2200" b="1" dirty="0">
                <a:solidFill>
                  <a:srgbClr val="000000"/>
                </a:solidFill>
                <a:latin typeface="宋体" panose="02010600030101010101" pitchFamily="2" charset="-122"/>
              </a:rPr>
              <a:t>后面跟的参数是过程的属性和输入参数。</a:t>
            </a:r>
            <a:endParaRPr lang="zh-CN" altLang="en-US" sz="2200" b="1" dirty="0">
              <a:solidFill>
                <a:schemeClr val="bg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1923">
                                            <p:bg/>
                                          </p:spTgt>
                                        </p:tgtEl>
                                        <p:attrNameLst>
                                          <p:attrName>style.visibility</p:attrName>
                                        </p:attrNameLst>
                                      </p:cBhvr>
                                      <p:to>
                                        <p:strVal val="visible"/>
                                      </p:to>
                                    </p:set>
                                    <p:animEffect transition="in" filter="box(out)">
                                      <p:cBhvr>
                                        <p:cTn id="7" dur="500"/>
                                        <p:tgtEl>
                                          <p:spTgt spid="81923">
                                            <p:bg/>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81923">
                                            <p:txEl>
                                              <p:pRg st="0" end="0"/>
                                            </p:txEl>
                                          </p:spTgt>
                                        </p:tgtEl>
                                        <p:attrNameLst>
                                          <p:attrName>style.visibility</p:attrName>
                                        </p:attrNameLst>
                                      </p:cBhvr>
                                      <p:to>
                                        <p:strVal val="visible"/>
                                      </p:to>
                                    </p:set>
                                    <p:animEffect transition="in" filter="box(out)">
                                      <p:cBhvr>
                                        <p:cTn id="11" dur="500"/>
                                        <p:tgtEl>
                                          <p:spTgt spid="8192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81923">
                                            <p:txEl>
                                              <p:pRg st="1" end="1"/>
                                            </p:txEl>
                                          </p:spTgt>
                                        </p:tgtEl>
                                        <p:attrNameLst>
                                          <p:attrName>style.visibility</p:attrName>
                                        </p:attrNameLst>
                                      </p:cBhvr>
                                      <p:to>
                                        <p:strVal val="visible"/>
                                      </p:to>
                                    </p:set>
                                    <p:animEffect transition="in" filter="box(out)">
                                      <p:cBhvr>
                                        <p:cTn id="16" dur="500"/>
                                        <p:tgtEl>
                                          <p:spTgt spid="8192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81923">
                                            <p:txEl>
                                              <p:pRg st="2" end="2"/>
                                            </p:txEl>
                                          </p:spTgt>
                                        </p:tgtEl>
                                        <p:attrNameLst>
                                          <p:attrName>style.visibility</p:attrName>
                                        </p:attrNameLst>
                                      </p:cBhvr>
                                      <p:to>
                                        <p:strVal val="visible"/>
                                      </p:to>
                                    </p:set>
                                    <p:animEffect transition="in" filter="box(out)">
                                      <p:cBhvr>
                                        <p:cTn id="21" dur="500"/>
                                        <p:tgtEl>
                                          <p:spTgt spid="81923">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81926"/>
                                        </p:tgtEl>
                                        <p:attrNameLst>
                                          <p:attrName>style.visibility</p:attrName>
                                        </p:attrNameLst>
                                      </p:cBhvr>
                                      <p:to>
                                        <p:strVal val="visible"/>
                                      </p:to>
                                    </p:set>
                                    <p:anim calcmode="lin" valueType="num">
                                      <p:cBhvr additive="base">
                                        <p:cTn id="26" dur="500" fill="hold"/>
                                        <p:tgtEl>
                                          <p:spTgt spid="81926"/>
                                        </p:tgtEl>
                                        <p:attrNameLst>
                                          <p:attrName>ppt_x</p:attrName>
                                        </p:attrNameLst>
                                      </p:cBhvr>
                                      <p:tavLst>
                                        <p:tav tm="0">
                                          <p:val>
                                            <p:strVal val="0-#ppt_w/2"/>
                                          </p:val>
                                        </p:tav>
                                        <p:tav tm="100000">
                                          <p:val>
                                            <p:strVal val="#ppt_x"/>
                                          </p:val>
                                        </p:tav>
                                      </p:tavLst>
                                    </p:anim>
                                    <p:anim calcmode="lin" valueType="num">
                                      <p:cBhvr additive="base">
                                        <p:cTn id="27" dur="500" fill="hold"/>
                                        <p:tgtEl>
                                          <p:spTgt spid="81926"/>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uiExpand="1" build="p" animBg="1" autoUpdateAnimBg="0"/>
      <p:bldP spid="81926" grpId="0" autoUpdateAnimBg="0"/>
      <p:bldP spid="2" grpId="0"/>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p:cNvSpPr txBox="1">
            <a:spLocks noGrp="1" noChangeArrowheads="1"/>
          </p:cNvSpPr>
          <p:nvPr/>
        </p:nvSpPr>
        <p:spPr bwMode="auto">
          <a:xfrm>
            <a:off x="8453798" y="6331015"/>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E76A587E-BC78-449C-A072-180A847113FD}" type="slidenum">
              <a:rPr lang="en-US" altLang="zh-CN" sz="1400">
                <a:solidFill>
                  <a:schemeClr val="bg2"/>
                </a:solidFill>
              </a:rPr>
              <a:pPr algn="r" eaLnBrk="1" hangingPunct="1"/>
              <a:t>52</a:t>
            </a:fld>
            <a:endParaRPr lang="en-US" altLang="zh-CN" sz="1400" dirty="0">
              <a:solidFill>
                <a:schemeClr val="bg2"/>
              </a:solidFill>
            </a:endParaRPr>
          </a:p>
        </p:txBody>
      </p:sp>
      <p:sp>
        <p:nvSpPr>
          <p:cNvPr id="82947" name="Rectangle 2"/>
          <p:cNvSpPr>
            <a:spLocks noChangeArrowheads="1"/>
          </p:cNvSpPr>
          <p:nvPr/>
        </p:nvSpPr>
        <p:spPr bwMode="auto">
          <a:xfrm>
            <a:off x="323528" y="116632"/>
            <a:ext cx="8646132" cy="6247864"/>
          </a:xfrm>
          <a:prstGeom prst="rect">
            <a:avLst/>
          </a:prstGeom>
          <a:noFill/>
          <a:ln w="28575"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lnSpc>
                <a:spcPts val="3000"/>
              </a:lnSpc>
              <a:buClr>
                <a:srgbClr val="C00000"/>
              </a:buClr>
              <a:buFont typeface="Wingdings" panose="05000000000000000000" pitchFamily="2" charset="2"/>
              <a:buChar char="u"/>
            </a:pPr>
            <a:r>
              <a:rPr lang="zh-CN" altLang="en-US" sz="2200" b="1" dirty="0">
                <a:solidFill>
                  <a:schemeClr val="hlink"/>
                </a:solidFill>
              </a:rPr>
              <a:t>过程名</a:t>
            </a:r>
            <a:r>
              <a:rPr lang="zh-CN" altLang="en-US" sz="2200" b="1" dirty="0">
                <a:solidFill>
                  <a:schemeClr val="bg2"/>
                </a:solidFill>
              </a:rPr>
              <a:t>是子程序的名称</a:t>
            </a:r>
            <a:r>
              <a:rPr lang="zh-CN" altLang="en-US" sz="2200" b="1" dirty="0" smtClean="0">
                <a:solidFill>
                  <a:schemeClr val="bg2"/>
                </a:solidFill>
              </a:rPr>
              <a:t>，</a:t>
            </a:r>
            <a:r>
              <a:rPr lang="zh-CN" altLang="en-US" sz="2200" b="1" dirty="0">
                <a:solidFill>
                  <a:schemeClr val="bg2"/>
                </a:solidFill>
              </a:rPr>
              <a:t>可以</a:t>
            </a:r>
            <a:r>
              <a:rPr lang="zh-CN" altLang="en-US" sz="2200" b="1" dirty="0" smtClean="0">
                <a:solidFill>
                  <a:schemeClr val="bg2"/>
                </a:solidFill>
              </a:rPr>
              <a:t>用</a:t>
            </a:r>
            <a:r>
              <a:rPr lang="en-US" altLang="zh-CN" sz="2200" b="1" dirty="0">
                <a:solidFill>
                  <a:schemeClr val="bg2"/>
                </a:solidFill>
              </a:rPr>
              <a:t>CALL</a:t>
            </a:r>
            <a:r>
              <a:rPr lang="zh-CN" altLang="en-US" sz="2200" b="1" dirty="0">
                <a:solidFill>
                  <a:schemeClr val="bg2"/>
                </a:solidFill>
              </a:rPr>
              <a:t>指令或</a:t>
            </a:r>
            <a:r>
              <a:rPr lang="en-US" altLang="zh-CN" sz="2400" b="1" dirty="0">
                <a:solidFill>
                  <a:srgbClr val="000000"/>
                </a:solidFill>
              </a:rPr>
              <a:t>INVOKE</a:t>
            </a:r>
            <a:r>
              <a:rPr lang="zh-CN" altLang="en-US" sz="2400" b="1" dirty="0">
                <a:solidFill>
                  <a:srgbClr val="000000"/>
                </a:solidFill>
                <a:latin typeface="宋体" panose="02010600030101010101" pitchFamily="2" charset="-122"/>
              </a:rPr>
              <a:t>伪指令来调用该过程。</a:t>
            </a:r>
            <a:endParaRPr lang="en-US" altLang="zh-CN" sz="2200" b="1" dirty="0">
              <a:solidFill>
                <a:schemeClr val="bg2"/>
              </a:solidFill>
            </a:endParaRPr>
          </a:p>
          <a:p>
            <a:pPr marL="342900" indent="-342900" eaLnBrk="1" hangingPunct="1">
              <a:lnSpc>
                <a:spcPts val="3000"/>
              </a:lnSpc>
              <a:buClr>
                <a:srgbClr val="C00000"/>
              </a:buClr>
              <a:buFont typeface="Wingdings" panose="05000000000000000000" pitchFamily="2" charset="2"/>
              <a:buChar char="u"/>
            </a:pPr>
            <a:r>
              <a:rPr lang="zh-CN" altLang="en-US" sz="2200" b="1" dirty="0">
                <a:solidFill>
                  <a:srgbClr val="FF0000"/>
                </a:solidFill>
                <a:latin typeface="宋体" panose="02010600030101010101" pitchFamily="2" charset="-122"/>
              </a:rPr>
              <a:t>距离</a:t>
            </a:r>
            <a:r>
              <a:rPr lang="zh-CN" altLang="en-US" sz="2200" b="1" dirty="0">
                <a:solidFill>
                  <a:srgbClr val="000000"/>
                </a:solidFill>
                <a:latin typeface="宋体" panose="02010600030101010101" pitchFamily="2" charset="-122"/>
              </a:rPr>
              <a:t>可以是</a:t>
            </a:r>
            <a:r>
              <a:rPr lang="en-US" altLang="zh-CN" sz="2200" b="1" dirty="0">
                <a:solidFill>
                  <a:srgbClr val="000000"/>
                </a:solidFill>
              </a:rPr>
              <a:t>NEAR</a:t>
            </a:r>
            <a:r>
              <a:rPr lang="zh-CN" altLang="en-US" sz="2200" b="1" dirty="0">
                <a:solidFill>
                  <a:srgbClr val="000000"/>
                </a:solidFill>
                <a:latin typeface="宋体" panose="02010600030101010101" pitchFamily="2" charset="-122"/>
              </a:rPr>
              <a:t>、</a:t>
            </a:r>
            <a:r>
              <a:rPr lang="en-US" altLang="zh-CN" sz="2200" b="1" dirty="0">
                <a:solidFill>
                  <a:srgbClr val="000000"/>
                </a:solidFill>
              </a:rPr>
              <a:t>FAR</a:t>
            </a:r>
            <a:r>
              <a:rPr lang="zh-CN" altLang="en-US" sz="2200" b="1" dirty="0">
                <a:solidFill>
                  <a:srgbClr val="000000"/>
                </a:solidFill>
                <a:latin typeface="宋体" panose="02010600030101010101" pitchFamily="2" charset="-122"/>
              </a:rPr>
              <a:t>、</a:t>
            </a:r>
            <a:r>
              <a:rPr lang="en-US" altLang="zh-CN" sz="2200" b="1" dirty="0">
                <a:solidFill>
                  <a:srgbClr val="000000"/>
                </a:solidFill>
              </a:rPr>
              <a:t>NEAR16</a:t>
            </a:r>
            <a:r>
              <a:rPr lang="zh-CN" altLang="en-US" sz="2200" b="1" dirty="0">
                <a:solidFill>
                  <a:srgbClr val="000000"/>
                </a:solidFill>
                <a:latin typeface="宋体" panose="02010600030101010101" pitchFamily="2" charset="-122"/>
              </a:rPr>
              <a:t>、</a:t>
            </a:r>
            <a:r>
              <a:rPr lang="en-US" altLang="zh-CN" sz="2200" b="1" dirty="0">
                <a:solidFill>
                  <a:srgbClr val="000000"/>
                </a:solidFill>
              </a:rPr>
              <a:t>NEAR32</a:t>
            </a:r>
            <a:r>
              <a:rPr lang="zh-CN" altLang="en-US" sz="2200" b="1" dirty="0">
                <a:solidFill>
                  <a:srgbClr val="000000"/>
                </a:solidFill>
              </a:rPr>
              <a:t>、</a:t>
            </a:r>
            <a:r>
              <a:rPr lang="en-US" altLang="zh-CN" sz="2200" b="1" dirty="0">
                <a:solidFill>
                  <a:srgbClr val="000000"/>
                </a:solidFill>
              </a:rPr>
              <a:t>FAR16</a:t>
            </a:r>
            <a:r>
              <a:rPr lang="zh-CN" altLang="en-US" sz="2200" b="1" dirty="0">
                <a:solidFill>
                  <a:srgbClr val="000000"/>
                </a:solidFill>
                <a:latin typeface="宋体" panose="02010600030101010101" pitchFamily="2" charset="-122"/>
              </a:rPr>
              <a:t>或</a:t>
            </a:r>
            <a:r>
              <a:rPr lang="en-US" altLang="zh-CN" sz="2200" b="1" dirty="0">
                <a:solidFill>
                  <a:srgbClr val="000000"/>
                </a:solidFill>
              </a:rPr>
              <a:t>FAR32</a:t>
            </a:r>
            <a:r>
              <a:rPr lang="zh-CN" altLang="en-US" sz="2200" b="1" dirty="0" smtClean="0">
                <a:solidFill>
                  <a:srgbClr val="000000"/>
                </a:solidFill>
              </a:rPr>
              <a:t>。</a:t>
            </a:r>
            <a:r>
              <a:rPr lang="zh-CN" altLang="en-US" sz="2200" b="1" dirty="0">
                <a:solidFill>
                  <a:srgbClr val="000000"/>
                </a:solidFill>
              </a:rPr>
              <a:t>由于</a:t>
            </a:r>
            <a:r>
              <a:rPr lang="en-US" altLang="zh-CN" sz="2200" b="1" dirty="0" smtClean="0">
                <a:solidFill>
                  <a:srgbClr val="000000"/>
                </a:solidFill>
              </a:rPr>
              <a:t>Win32</a:t>
            </a:r>
            <a:r>
              <a:rPr lang="zh-CN" altLang="en-US" sz="2200" b="1" dirty="0">
                <a:solidFill>
                  <a:srgbClr val="000000"/>
                </a:solidFill>
                <a:latin typeface="宋体" panose="02010600030101010101" pitchFamily="2" charset="-122"/>
              </a:rPr>
              <a:t>中只有一个平坦的段，段基地址都相同，可忽略该项。</a:t>
            </a:r>
            <a:endParaRPr lang="en-US" altLang="zh-CN" sz="2200" b="1" dirty="0">
              <a:solidFill>
                <a:srgbClr val="000000"/>
              </a:solidFill>
              <a:latin typeface="宋体" panose="02010600030101010101" pitchFamily="2" charset="-122"/>
            </a:endParaRPr>
          </a:p>
          <a:p>
            <a:pPr marL="342900" indent="-342900" eaLnBrk="1" hangingPunct="1">
              <a:lnSpc>
                <a:spcPts val="3000"/>
              </a:lnSpc>
              <a:buClr>
                <a:srgbClr val="C00000"/>
              </a:buClr>
              <a:buFont typeface="Wingdings" panose="05000000000000000000" pitchFamily="2" charset="2"/>
              <a:buChar char="u"/>
            </a:pPr>
            <a:r>
              <a:rPr lang="zh-CN" altLang="en-US" sz="2200" b="1" dirty="0">
                <a:solidFill>
                  <a:srgbClr val="FF0000"/>
                </a:solidFill>
                <a:latin typeface="宋体" panose="02010600030101010101" pitchFamily="2" charset="-122"/>
              </a:rPr>
              <a:t>语言类型</a:t>
            </a:r>
            <a:r>
              <a:rPr lang="zh-CN" altLang="en-US" sz="2200" b="1" dirty="0">
                <a:solidFill>
                  <a:srgbClr val="000000"/>
                </a:solidFill>
                <a:latin typeface="宋体" panose="02010600030101010101" pitchFamily="2" charset="-122"/>
              </a:rPr>
              <a:t>表示参数的进栈顺序和堆栈恢复的方式，可以是</a:t>
            </a:r>
            <a:r>
              <a:rPr lang="en-US" altLang="zh-CN" sz="2200" b="1" dirty="0" err="1" smtClean="0">
                <a:solidFill>
                  <a:srgbClr val="000000"/>
                </a:solidFill>
              </a:rPr>
              <a:t>StdCall</a:t>
            </a:r>
            <a:r>
              <a:rPr lang="zh-CN" altLang="en-US" sz="2200" b="1" dirty="0" smtClean="0">
                <a:solidFill>
                  <a:srgbClr val="000000"/>
                </a:solidFill>
                <a:latin typeface="宋体" panose="02010600030101010101" pitchFamily="2" charset="-122"/>
              </a:rPr>
              <a:t>、</a:t>
            </a:r>
            <a:r>
              <a:rPr lang="en-US" altLang="zh-CN" sz="2200" b="1" dirty="0" smtClean="0">
                <a:solidFill>
                  <a:srgbClr val="000000"/>
                </a:solidFill>
              </a:rPr>
              <a:t>C</a:t>
            </a:r>
            <a:r>
              <a:rPr lang="zh-CN" altLang="en-US" sz="2200" b="1" dirty="0" smtClean="0">
                <a:solidFill>
                  <a:srgbClr val="000000"/>
                </a:solidFill>
                <a:latin typeface="宋体" panose="02010600030101010101" pitchFamily="2" charset="-122"/>
              </a:rPr>
              <a:t>、</a:t>
            </a:r>
            <a:r>
              <a:rPr lang="en-US" altLang="zh-CN" sz="2200" b="1" dirty="0" err="1" smtClean="0">
                <a:solidFill>
                  <a:srgbClr val="000000"/>
                </a:solidFill>
              </a:rPr>
              <a:t>SysCall</a:t>
            </a:r>
            <a:r>
              <a:rPr lang="zh-CN" altLang="en-US" sz="2200" b="1" dirty="0" smtClean="0">
                <a:solidFill>
                  <a:srgbClr val="000000"/>
                </a:solidFill>
                <a:latin typeface="宋体" panose="02010600030101010101" pitchFamily="2" charset="-122"/>
              </a:rPr>
              <a:t>、</a:t>
            </a:r>
            <a:r>
              <a:rPr lang="en-US" altLang="zh-CN" sz="2200" b="1" dirty="0" smtClean="0">
                <a:solidFill>
                  <a:srgbClr val="000000"/>
                </a:solidFill>
              </a:rPr>
              <a:t>BASIC</a:t>
            </a:r>
            <a:r>
              <a:rPr lang="zh-CN" altLang="en-US" sz="2200" b="1" dirty="0">
                <a:solidFill>
                  <a:srgbClr val="000000"/>
                </a:solidFill>
                <a:latin typeface="宋体" panose="02010600030101010101" pitchFamily="2" charset="-122"/>
              </a:rPr>
              <a:t>、</a:t>
            </a:r>
            <a:r>
              <a:rPr lang="en-US" altLang="zh-CN" sz="2200" b="1" dirty="0">
                <a:solidFill>
                  <a:srgbClr val="000000"/>
                </a:solidFill>
              </a:rPr>
              <a:t>FORTRAN</a:t>
            </a:r>
            <a:r>
              <a:rPr lang="zh-CN" altLang="en-US" sz="2200" b="1" dirty="0">
                <a:solidFill>
                  <a:srgbClr val="000000"/>
                </a:solidFill>
                <a:latin typeface="宋体" panose="02010600030101010101" pitchFamily="2" charset="-122"/>
              </a:rPr>
              <a:t>和</a:t>
            </a:r>
            <a:r>
              <a:rPr lang="en-US" altLang="zh-CN" sz="2200" b="1" dirty="0">
                <a:solidFill>
                  <a:srgbClr val="000000"/>
                </a:solidFill>
              </a:rPr>
              <a:t>PASCAL</a:t>
            </a:r>
            <a:r>
              <a:rPr lang="zh-CN" altLang="en-US" sz="2200" b="1" dirty="0">
                <a:solidFill>
                  <a:srgbClr val="000000"/>
                </a:solidFill>
                <a:latin typeface="宋体" panose="02010600030101010101" pitchFamily="2" charset="-122"/>
              </a:rPr>
              <a:t>，如果忽略，则使用程序头部</a:t>
            </a:r>
            <a:r>
              <a:rPr lang="zh-CN" altLang="en-US" sz="2200" b="1" dirty="0">
                <a:solidFill>
                  <a:srgbClr val="000000"/>
                </a:solidFill>
              </a:rPr>
              <a:t> </a:t>
            </a:r>
            <a:r>
              <a:rPr lang="en-US" altLang="zh-CN" sz="2200" b="1" dirty="0">
                <a:solidFill>
                  <a:srgbClr val="000000"/>
                </a:solidFill>
              </a:rPr>
              <a:t>.model</a:t>
            </a:r>
            <a:r>
              <a:rPr lang="zh-CN" altLang="en-US" sz="2200" b="1" dirty="0">
                <a:solidFill>
                  <a:srgbClr val="000000"/>
                </a:solidFill>
                <a:latin typeface="宋体" panose="02010600030101010101" pitchFamily="2" charset="-122"/>
              </a:rPr>
              <a:t>定义的值。</a:t>
            </a:r>
            <a:endParaRPr lang="en-US" altLang="zh-CN" sz="2200" b="1" dirty="0">
              <a:solidFill>
                <a:srgbClr val="000000"/>
              </a:solidFill>
              <a:latin typeface="宋体" panose="02010600030101010101" pitchFamily="2" charset="-122"/>
            </a:endParaRPr>
          </a:p>
          <a:p>
            <a:pPr marL="342900" indent="-342900" eaLnBrk="1" hangingPunct="1">
              <a:lnSpc>
                <a:spcPts val="3000"/>
              </a:lnSpc>
              <a:buClr>
                <a:srgbClr val="C00000"/>
              </a:buClr>
              <a:buFont typeface="Wingdings" panose="05000000000000000000" pitchFamily="2" charset="2"/>
              <a:buChar char="u"/>
            </a:pPr>
            <a:r>
              <a:rPr lang="zh-CN" altLang="en-US" sz="2200" b="1" dirty="0">
                <a:solidFill>
                  <a:srgbClr val="FF0000"/>
                </a:solidFill>
                <a:latin typeface="宋体" panose="02010600030101010101" pitchFamily="2" charset="-122"/>
              </a:rPr>
              <a:t>可视区域</a:t>
            </a:r>
            <a:r>
              <a:rPr lang="zh-CN" altLang="en-US" sz="2200" b="1" dirty="0">
                <a:solidFill>
                  <a:srgbClr val="000000"/>
                </a:solidFill>
                <a:latin typeface="宋体" panose="02010600030101010101" pitchFamily="2" charset="-122"/>
              </a:rPr>
              <a:t>可以是</a:t>
            </a:r>
            <a:r>
              <a:rPr lang="en-US" altLang="zh-CN" sz="2200" b="1" dirty="0">
                <a:solidFill>
                  <a:srgbClr val="000000"/>
                </a:solidFill>
              </a:rPr>
              <a:t>PRIVATE</a:t>
            </a:r>
            <a:r>
              <a:rPr lang="zh-CN" altLang="en-US" sz="2200" b="1" dirty="0">
                <a:solidFill>
                  <a:srgbClr val="000000"/>
                </a:solidFill>
                <a:latin typeface="宋体" panose="02010600030101010101" pitchFamily="2" charset="-122"/>
              </a:rPr>
              <a:t>、</a:t>
            </a:r>
            <a:r>
              <a:rPr lang="en-US" altLang="zh-CN" sz="2200" b="1" dirty="0">
                <a:solidFill>
                  <a:srgbClr val="000000"/>
                </a:solidFill>
              </a:rPr>
              <a:t>PUBLIC</a:t>
            </a:r>
            <a:r>
              <a:rPr lang="zh-CN" altLang="en-US" sz="2200" b="1" dirty="0">
                <a:solidFill>
                  <a:srgbClr val="000000"/>
                </a:solidFill>
                <a:latin typeface="宋体" panose="02010600030101010101" pitchFamily="2" charset="-122"/>
              </a:rPr>
              <a:t>和</a:t>
            </a:r>
            <a:r>
              <a:rPr lang="en-US" altLang="zh-CN" sz="2200" b="1" dirty="0">
                <a:solidFill>
                  <a:srgbClr val="000000"/>
                </a:solidFill>
              </a:rPr>
              <a:t>EXPORT</a:t>
            </a:r>
            <a:r>
              <a:rPr lang="zh-CN" altLang="en-US" sz="2200" b="1" dirty="0">
                <a:solidFill>
                  <a:srgbClr val="000000"/>
                </a:solidFill>
                <a:latin typeface="宋体" panose="02010600030101010101" pitchFamily="2" charset="-122"/>
              </a:rPr>
              <a:t>。</a:t>
            </a:r>
            <a:endParaRPr lang="en-US" altLang="zh-CN" sz="2200" b="1" dirty="0">
              <a:solidFill>
                <a:srgbClr val="000000"/>
              </a:solidFill>
              <a:latin typeface="宋体" panose="02010600030101010101" pitchFamily="2" charset="-122"/>
            </a:endParaRPr>
          </a:p>
          <a:p>
            <a:pPr marL="1085850" lvl="1" indent="-342900" eaLnBrk="1" hangingPunct="1">
              <a:lnSpc>
                <a:spcPts val="3000"/>
              </a:lnSpc>
              <a:buClr>
                <a:srgbClr val="C00000"/>
              </a:buClr>
              <a:buFont typeface="Wingdings" panose="05000000000000000000" pitchFamily="2" charset="2"/>
              <a:buChar char="Ø"/>
            </a:pPr>
            <a:r>
              <a:rPr lang="en-US" altLang="zh-CN" sz="2000" b="1" dirty="0">
                <a:solidFill>
                  <a:srgbClr val="000000"/>
                </a:solidFill>
              </a:rPr>
              <a:t>PRIVATE</a:t>
            </a:r>
            <a:r>
              <a:rPr lang="zh-CN" altLang="en-US" sz="2000" b="1" dirty="0">
                <a:solidFill>
                  <a:srgbClr val="000000"/>
                </a:solidFill>
                <a:latin typeface="宋体" panose="02010600030101010101" pitchFamily="2" charset="-122"/>
              </a:rPr>
              <a:t>表示过程只对本模块可见</a:t>
            </a:r>
            <a:endParaRPr lang="en-US" altLang="zh-CN" sz="2000" b="1" dirty="0">
              <a:solidFill>
                <a:srgbClr val="000000"/>
              </a:solidFill>
              <a:latin typeface="宋体" panose="02010600030101010101" pitchFamily="2" charset="-122"/>
            </a:endParaRPr>
          </a:p>
          <a:p>
            <a:pPr marL="1085850" lvl="1" indent="-342900" eaLnBrk="1" hangingPunct="1">
              <a:lnSpc>
                <a:spcPts val="3000"/>
              </a:lnSpc>
              <a:buClr>
                <a:srgbClr val="C00000"/>
              </a:buClr>
              <a:buFont typeface="Wingdings" panose="05000000000000000000" pitchFamily="2" charset="2"/>
              <a:buChar char="Ø"/>
            </a:pPr>
            <a:r>
              <a:rPr lang="en-US" altLang="zh-CN" sz="2000" b="1" dirty="0">
                <a:solidFill>
                  <a:srgbClr val="000000"/>
                </a:solidFill>
              </a:rPr>
              <a:t>PUBLIC</a:t>
            </a:r>
            <a:r>
              <a:rPr lang="zh-CN" altLang="en-US" sz="2000" b="1" dirty="0">
                <a:solidFill>
                  <a:srgbClr val="000000"/>
                </a:solidFill>
                <a:latin typeface="宋体" panose="02010600030101010101" pitchFamily="2" charset="-122"/>
              </a:rPr>
              <a:t>表示对所有的模块可见</a:t>
            </a:r>
            <a:endParaRPr lang="en-US" altLang="zh-CN" sz="2000" b="1" dirty="0">
              <a:solidFill>
                <a:srgbClr val="000000"/>
              </a:solidFill>
              <a:latin typeface="宋体" panose="02010600030101010101" pitchFamily="2" charset="-122"/>
            </a:endParaRPr>
          </a:p>
          <a:p>
            <a:pPr marL="1085850" lvl="1" indent="-342900" eaLnBrk="1" hangingPunct="1">
              <a:lnSpc>
                <a:spcPts val="3000"/>
              </a:lnSpc>
              <a:buClr>
                <a:srgbClr val="C00000"/>
              </a:buClr>
              <a:buFont typeface="Wingdings" panose="05000000000000000000" pitchFamily="2" charset="2"/>
              <a:buChar char="Ø"/>
            </a:pPr>
            <a:r>
              <a:rPr lang="en-US" altLang="zh-CN" sz="2000" b="1" dirty="0">
                <a:solidFill>
                  <a:srgbClr val="000000"/>
                </a:solidFill>
              </a:rPr>
              <a:t>EXPORT</a:t>
            </a:r>
            <a:r>
              <a:rPr lang="zh-CN" altLang="en-US" sz="2000" b="1" dirty="0">
                <a:solidFill>
                  <a:srgbClr val="000000"/>
                </a:solidFill>
                <a:latin typeface="宋体" panose="02010600030101010101" pitchFamily="2" charset="-122"/>
              </a:rPr>
              <a:t>表示是导出的函数，当编写</a:t>
            </a:r>
            <a:r>
              <a:rPr lang="en-US" altLang="zh-CN" sz="2000" b="1" dirty="0">
                <a:solidFill>
                  <a:srgbClr val="000000"/>
                </a:solidFill>
              </a:rPr>
              <a:t>DLL</a:t>
            </a:r>
            <a:r>
              <a:rPr lang="zh-CN" altLang="en-US" sz="2000" b="1" dirty="0">
                <a:solidFill>
                  <a:srgbClr val="000000"/>
                </a:solidFill>
                <a:latin typeface="宋体" panose="02010600030101010101" pitchFamily="2" charset="-122"/>
              </a:rPr>
              <a:t>的时候要将某个函数导出的时候可以这样使用。</a:t>
            </a:r>
            <a:endParaRPr lang="en-US" altLang="zh-CN" sz="2000" b="1" dirty="0">
              <a:solidFill>
                <a:srgbClr val="000000"/>
              </a:solidFill>
              <a:latin typeface="宋体" panose="02010600030101010101" pitchFamily="2" charset="-122"/>
            </a:endParaRPr>
          </a:p>
          <a:p>
            <a:pPr marL="1085850" lvl="1" indent="-342900" eaLnBrk="1" hangingPunct="1">
              <a:lnSpc>
                <a:spcPts val="3000"/>
              </a:lnSpc>
              <a:buClr>
                <a:srgbClr val="C00000"/>
              </a:buClr>
              <a:buFont typeface="Wingdings" panose="05000000000000000000" pitchFamily="2" charset="2"/>
              <a:buChar char="Ø"/>
            </a:pPr>
            <a:r>
              <a:rPr lang="zh-CN" altLang="en-US" sz="2000" b="1" dirty="0">
                <a:solidFill>
                  <a:srgbClr val="000000"/>
                </a:solidFill>
                <a:latin typeface="宋体" panose="02010600030101010101" pitchFamily="2" charset="-122"/>
              </a:rPr>
              <a:t>默认设置是</a:t>
            </a:r>
            <a:r>
              <a:rPr lang="en-US" altLang="zh-CN" sz="2000" b="1" dirty="0">
                <a:solidFill>
                  <a:srgbClr val="000000"/>
                </a:solidFill>
              </a:rPr>
              <a:t>PUBLIC</a:t>
            </a:r>
          </a:p>
          <a:p>
            <a:pPr marL="342900" indent="-342900" eaLnBrk="1" hangingPunct="1">
              <a:lnSpc>
                <a:spcPts val="3000"/>
              </a:lnSpc>
              <a:buClr>
                <a:srgbClr val="C00000"/>
              </a:buClr>
              <a:buFont typeface="Wingdings" panose="05000000000000000000" pitchFamily="2" charset="2"/>
              <a:buChar char="u"/>
            </a:pPr>
            <a:r>
              <a:rPr lang="en-US" altLang="zh-CN" sz="2200" b="1" dirty="0">
                <a:solidFill>
                  <a:srgbClr val="FF0000"/>
                </a:solidFill>
              </a:rPr>
              <a:t>USES</a:t>
            </a:r>
            <a:r>
              <a:rPr lang="zh-CN" altLang="en-US" sz="2200" b="1" dirty="0">
                <a:solidFill>
                  <a:srgbClr val="FF0000"/>
                </a:solidFill>
                <a:latin typeface="宋体" panose="02010600030101010101" pitchFamily="2" charset="-122"/>
              </a:rPr>
              <a:t>寄存器列表</a:t>
            </a:r>
            <a:r>
              <a:rPr lang="en-US" altLang="zh-CN" sz="2200" b="1" dirty="0">
                <a:solidFill>
                  <a:srgbClr val="FF0000"/>
                </a:solidFill>
                <a:latin typeface="宋体" panose="02010600030101010101" pitchFamily="2" charset="-122"/>
              </a:rPr>
              <a:t>--</a:t>
            </a:r>
            <a:r>
              <a:rPr lang="zh-CN" altLang="en-US" sz="2200" b="1" dirty="0">
                <a:solidFill>
                  <a:srgbClr val="000000"/>
                </a:solidFill>
                <a:latin typeface="宋体" panose="02010600030101010101" pitchFamily="2" charset="-122"/>
              </a:rPr>
              <a:t>用于保存执行环境，寄存器间用空格分隔。</a:t>
            </a:r>
            <a:endParaRPr lang="en-US" altLang="zh-CN" sz="2200" b="1" dirty="0">
              <a:solidFill>
                <a:srgbClr val="000000"/>
              </a:solidFill>
              <a:latin typeface="宋体" panose="02010600030101010101" pitchFamily="2" charset="-122"/>
            </a:endParaRPr>
          </a:p>
          <a:p>
            <a:pPr marL="800100" lvl="1" indent="-342900">
              <a:lnSpc>
                <a:spcPts val="3000"/>
              </a:lnSpc>
              <a:buClr>
                <a:srgbClr val="C00000"/>
              </a:buClr>
              <a:buFont typeface="Wingdings" panose="05000000000000000000" pitchFamily="2" charset="2"/>
              <a:buChar char="l"/>
            </a:pPr>
            <a:r>
              <a:rPr lang="zh-CN" altLang="en-US" sz="2200" b="1" dirty="0">
                <a:solidFill>
                  <a:srgbClr val="000000"/>
                </a:solidFill>
                <a:latin typeface="宋体" panose="02010600030101010101" pitchFamily="2" charset="-122"/>
              </a:rPr>
              <a:t>编译器在过程的功能语句开始前自动安排</a:t>
            </a:r>
            <a:r>
              <a:rPr lang="en-US" altLang="zh-CN" sz="2200" b="1" dirty="0">
                <a:solidFill>
                  <a:srgbClr val="000000"/>
                </a:solidFill>
              </a:rPr>
              <a:t>push</a:t>
            </a:r>
            <a:r>
              <a:rPr lang="zh-CN" altLang="en-US" sz="2200" b="1" dirty="0">
                <a:solidFill>
                  <a:srgbClr val="000000"/>
                </a:solidFill>
                <a:latin typeface="宋体" panose="02010600030101010101" pitchFamily="2" charset="-122"/>
              </a:rPr>
              <a:t>指令将这些寄存器压栈，并且在</a:t>
            </a:r>
            <a:r>
              <a:rPr lang="en-US" altLang="zh-CN" sz="2200" b="1" dirty="0">
                <a:solidFill>
                  <a:srgbClr val="000000"/>
                </a:solidFill>
              </a:rPr>
              <a:t>ret</a:t>
            </a:r>
            <a:r>
              <a:rPr lang="zh-CN" altLang="en-US" sz="2200" b="1" dirty="0">
                <a:solidFill>
                  <a:srgbClr val="000000"/>
                </a:solidFill>
              </a:rPr>
              <a:t>指令</a:t>
            </a:r>
            <a:r>
              <a:rPr lang="zh-CN" altLang="en-US" sz="2200" b="1" dirty="0">
                <a:solidFill>
                  <a:srgbClr val="000000"/>
                </a:solidFill>
                <a:latin typeface="宋体" panose="02010600030101010101" pitchFamily="2" charset="-122"/>
              </a:rPr>
              <a:t>前自动安排</a:t>
            </a:r>
            <a:r>
              <a:rPr lang="en-US" altLang="zh-CN" sz="2200" b="1" dirty="0">
                <a:solidFill>
                  <a:srgbClr val="000000"/>
                </a:solidFill>
              </a:rPr>
              <a:t>pop</a:t>
            </a:r>
            <a:r>
              <a:rPr lang="zh-CN" altLang="en-US" sz="2200" b="1" dirty="0">
                <a:solidFill>
                  <a:srgbClr val="000000"/>
                </a:solidFill>
                <a:latin typeface="宋体" panose="02010600030101010101" pitchFamily="2" charset="-122"/>
              </a:rPr>
              <a:t>指令出栈。</a:t>
            </a:r>
            <a:endParaRPr lang="en-US" altLang="zh-CN" sz="2200" b="1" dirty="0">
              <a:solidFill>
                <a:srgbClr val="000000"/>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Effect transition="in" filter="blinds(horizontal)">
                                      <p:cBhvr>
                                        <p:cTn id="7" dur="500"/>
                                        <p:tgtEl>
                                          <p:spTgt spid="829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2947">
                                            <p:txEl>
                                              <p:pRg st="1" end="1"/>
                                            </p:txEl>
                                          </p:spTgt>
                                        </p:tgtEl>
                                        <p:attrNameLst>
                                          <p:attrName>style.visibility</p:attrName>
                                        </p:attrNameLst>
                                      </p:cBhvr>
                                      <p:to>
                                        <p:strVal val="visible"/>
                                      </p:to>
                                    </p:set>
                                    <p:animEffect transition="in" filter="blinds(horizontal)">
                                      <p:cBhvr>
                                        <p:cTn id="12" dur="500"/>
                                        <p:tgtEl>
                                          <p:spTgt spid="829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2947">
                                            <p:txEl>
                                              <p:pRg st="2" end="2"/>
                                            </p:txEl>
                                          </p:spTgt>
                                        </p:tgtEl>
                                        <p:attrNameLst>
                                          <p:attrName>style.visibility</p:attrName>
                                        </p:attrNameLst>
                                      </p:cBhvr>
                                      <p:to>
                                        <p:strVal val="visible"/>
                                      </p:to>
                                    </p:set>
                                    <p:animEffect transition="in" filter="blinds(horizontal)">
                                      <p:cBhvr>
                                        <p:cTn id="17" dur="500"/>
                                        <p:tgtEl>
                                          <p:spTgt spid="829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2947">
                                            <p:txEl>
                                              <p:pRg st="3" end="3"/>
                                            </p:txEl>
                                          </p:spTgt>
                                        </p:tgtEl>
                                        <p:attrNameLst>
                                          <p:attrName>style.visibility</p:attrName>
                                        </p:attrNameLst>
                                      </p:cBhvr>
                                      <p:to>
                                        <p:strVal val="visible"/>
                                      </p:to>
                                    </p:set>
                                    <p:animEffect transition="in" filter="blinds(horizontal)">
                                      <p:cBhvr>
                                        <p:cTn id="22" dur="500"/>
                                        <p:tgtEl>
                                          <p:spTgt spid="829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2947">
                                            <p:txEl>
                                              <p:pRg st="4" end="4"/>
                                            </p:txEl>
                                          </p:spTgt>
                                        </p:tgtEl>
                                        <p:attrNameLst>
                                          <p:attrName>style.visibility</p:attrName>
                                        </p:attrNameLst>
                                      </p:cBhvr>
                                      <p:to>
                                        <p:strVal val="visible"/>
                                      </p:to>
                                    </p:set>
                                    <p:animEffect transition="in" filter="blinds(horizontal)">
                                      <p:cBhvr>
                                        <p:cTn id="27" dur="500"/>
                                        <p:tgtEl>
                                          <p:spTgt spid="829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2947">
                                            <p:txEl>
                                              <p:pRg st="5" end="5"/>
                                            </p:txEl>
                                          </p:spTgt>
                                        </p:tgtEl>
                                        <p:attrNameLst>
                                          <p:attrName>style.visibility</p:attrName>
                                        </p:attrNameLst>
                                      </p:cBhvr>
                                      <p:to>
                                        <p:strVal val="visible"/>
                                      </p:to>
                                    </p:set>
                                    <p:animEffect transition="in" filter="blinds(horizontal)">
                                      <p:cBhvr>
                                        <p:cTn id="32" dur="500"/>
                                        <p:tgtEl>
                                          <p:spTgt spid="829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2947">
                                            <p:txEl>
                                              <p:pRg st="6" end="6"/>
                                            </p:txEl>
                                          </p:spTgt>
                                        </p:tgtEl>
                                        <p:attrNameLst>
                                          <p:attrName>style.visibility</p:attrName>
                                        </p:attrNameLst>
                                      </p:cBhvr>
                                      <p:to>
                                        <p:strVal val="visible"/>
                                      </p:to>
                                    </p:set>
                                    <p:animEffect transition="in" filter="blinds(horizontal)">
                                      <p:cBhvr>
                                        <p:cTn id="37" dur="500"/>
                                        <p:tgtEl>
                                          <p:spTgt spid="829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2947">
                                            <p:txEl>
                                              <p:pRg st="7" end="7"/>
                                            </p:txEl>
                                          </p:spTgt>
                                        </p:tgtEl>
                                        <p:attrNameLst>
                                          <p:attrName>style.visibility</p:attrName>
                                        </p:attrNameLst>
                                      </p:cBhvr>
                                      <p:to>
                                        <p:strVal val="visible"/>
                                      </p:to>
                                    </p:set>
                                    <p:animEffect transition="in" filter="blinds(horizontal)">
                                      <p:cBhvr>
                                        <p:cTn id="42" dur="500"/>
                                        <p:tgtEl>
                                          <p:spTgt spid="829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2947">
                                            <p:txEl>
                                              <p:pRg st="8" end="8"/>
                                            </p:txEl>
                                          </p:spTgt>
                                        </p:tgtEl>
                                        <p:attrNameLst>
                                          <p:attrName>style.visibility</p:attrName>
                                        </p:attrNameLst>
                                      </p:cBhvr>
                                      <p:to>
                                        <p:strVal val="visible"/>
                                      </p:to>
                                    </p:set>
                                    <p:animEffect transition="in" filter="blinds(horizontal)">
                                      <p:cBhvr>
                                        <p:cTn id="47" dur="500"/>
                                        <p:tgtEl>
                                          <p:spTgt spid="8294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2947">
                                            <p:txEl>
                                              <p:pRg st="9" end="9"/>
                                            </p:txEl>
                                          </p:spTgt>
                                        </p:tgtEl>
                                        <p:attrNameLst>
                                          <p:attrName>style.visibility</p:attrName>
                                        </p:attrNameLst>
                                      </p:cBhvr>
                                      <p:to>
                                        <p:strVal val="visible"/>
                                      </p:to>
                                    </p:set>
                                    <p:animEffect transition="in" filter="blinds(horizontal)">
                                      <p:cBhvr>
                                        <p:cTn id="52" dur="500"/>
                                        <p:tgtEl>
                                          <p:spTgt spid="8294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uiExpand="1"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5536" y="116632"/>
            <a:ext cx="8280920" cy="6632585"/>
          </a:xfrm>
          <a:prstGeom prst="rect">
            <a:avLst/>
          </a:prstGeom>
          <a:noFill/>
        </p:spPr>
        <p:txBody>
          <a:bodyPr wrap="square" rtlCol="0">
            <a:spAutoFit/>
          </a:bodyPr>
          <a:lstStyle/>
          <a:p>
            <a:pPr lvl="1">
              <a:lnSpc>
                <a:spcPts val="3000"/>
              </a:lnSpc>
              <a:buClr>
                <a:srgbClr val="C00000"/>
              </a:buClr>
            </a:pPr>
            <a:r>
              <a:rPr lang="zh-CN" altLang="en-US" sz="2000" b="1" dirty="0">
                <a:solidFill>
                  <a:srgbClr val="000000"/>
                </a:solidFill>
                <a:latin typeface="宋体" panose="02010600030101010101" pitchFamily="2" charset="-122"/>
              </a:rPr>
              <a:t>例如：</a:t>
            </a:r>
            <a:r>
              <a:rPr lang="en-US" altLang="zh-CN" sz="2000" b="1" dirty="0">
                <a:solidFill>
                  <a:srgbClr val="000000"/>
                </a:solidFill>
                <a:latin typeface="宋体" panose="02010600030101010101" pitchFamily="2" charset="-122"/>
              </a:rPr>
              <a:t>Exam1 PROC USES EAX ECX</a:t>
            </a:r>
            <a:br>
              <a:rPr lang="en-US" altLang="zh-CN" sz="2000" b="1" dirty="0">
                <a:solidFill>
                  <a:srgbClr val="000000"/>
                </a:solidFill>
                <a:latin typeface="宋体" panose="02010600030101010101" pitchFamily="2" charset="-122"/>
              </a:rPr>
            </a:br>
            <a:r>
              <a:rPr lang="en-US" altLang="zh-CN" sz="2000" b="1" dirty="0">
                <a:solidFill>
                  <a:srgbClr val="000000"/>
                </a:solidFill>
                <a:latin typeface="宋体" panose="02010600030101010101" pitchFamily="2" charset="-122"/>
              </a:rPr>
              <a:t>         	 ;</a:t>
            </a:r>
            <a:r>
              <a:rPr lang="zh-CN" altLang="en-US" sz="2000" b="1" dirty="0">
                <a:solidFill>
                  <a:srgbClr val="000000"/>
                </a:solidFill>
                <a:latin typeface="宋体" panose="02010600030101010101" pitchFamily="2" charset="-122"/>
              </a:rPr>
              <a:t>过程的功能语句</a:t>
            </a:r>
            <a:endParaRPr lang="en-US" altLang="zh-CN" sz="2000" b="1" dirty="0">
              <a:solidFill>
                <a:srgbClr val="000000"/>
              </a:solidFill>
              <a:latin typeface="宋体" panose="02010600030101010101" pitchFamily="2" charset="-122"/>
            </a:endParaRPr>
          </a:p>
          <a:p>
            <a:pPr lvl="1">
              <a:lnSpc>
                <a:spcPts val="3000"/>
              </a:lnSpc>
              <a:buClr>
                <a:srgbClr val="C00000"/>
              </a:buClr>
            </a:pPr>
            <a:r>
              <a:rPr lang="en-US" altLang="zh-CN" sz="2000" b="1" dirty="0">
                <a:solidFill>
                  <a:srgbClr val="000000"/>
                </a:solidFill>
                <a:latin typeface="宋体" panose="02010600030101010101" pitchFamily="2" charset="-122"/>
              </a:rPr>
              <a:t>            ret</a:t>
            </a:r>
            <a:br>
              <a:rPr lang="en-US" altLang="zh-CN" sz="2000" b="1" dirty="0">
                <a:solidFill>
                  <a:srgbClr val="000000"/>
                </a:solidFill>
                <a:latin typeface="宋体" panose="02010600030101010101" pitchFamily="2" charset="-122"/>
              </a:rPr>
            </a:br>
            <a:r>
              <a:rPr lang="en-US" altLang="zh-CN" sz="2000" b="1" dirty="0">
                <a:solidFill>
                  <a:srgbClr val="000000"/>
                </a:solidFill>
                <a:latin typeface="宋体" panose="02010600030101010101" pitchFamily="2" charset="-122"/>
              </a:rPr>
              <a:t>	  </a:t>
            </a:r>
            <a:r>
              <a:rPr lang="en-US" altLang="zh-CN" sz="2000" b="1" dirty="0" err="1">
                <a:solidFill>
                  <a:srgbClr val="000000"/>
                </a:solidFill>
                <a:latin typeface="宋体" panose="02010600030101010101" pitchFamily="2" charset="-122"/>
              </a:rPr>
              <a:t>Examl</a:t>
            </a:r>
            <a:r>
              <a:rPr lang="en-US" altLang="zh-CN" sz="2000" b="1" dirty="0">
                <a:solidFill>
                  <a:srgbClr val="000000"/>
                </a:solidFill>
                <a:latin typeface="宋体" panose="02010600030101010101" pitchFamily="2" charset="-122"/>
              </a:rPr>
              <a:t> ENDP</a:t>
            </a:r>
          </a:p>
          <a:p>
            <a:pPr lvl="1">
              <a:lnSpc>
                <a:spcPts val="3000"/>
              </a:lnSpc>
              <a:buClr>
                <a:srgbClr val="C00000"/>
              </a:buClr>
            </a:pPr>
            <a:r>
              <a:rPr lang="zh-CN" altLang="en-US" sz="2000" b="1" dirty="0">
                <a:solidFill>
                  <a:srgbClr val="000000"/>
                </a:solidFill>
                <a:latin typeface="宋体" panose="02010600030101010101" pitchFamily="2" charset="-122"/>
              </a:rPr>
              <a:t>编译器生成代码：</a:t>
            </a:r>
            <a:r>
              <a:rPr lang="en-US" altLang="zh-CN" sz="2000" b="1">
                <a:solidFill>
                  <a:srgbClr val="0066FF"/>
                </a:solidFill>
                <a:latin typeface="宋体" panose="02010600030101010101" pitchFamily="2" charset="-122"/>
              </a:rPr>
              <a:t>Exam1 </a:t>
            </a:r>
            <a:r>
              <a:rPr lang="en-US" altLang="zh-CN" sz="2000" b="1" smtClean="0">
                <a:solidFill>
                  <a:srgbClr val="0066FF"/>
                </a:solidFill>
                <a:latin typeface="宋体" panose="02010600030101010101" pitchFamily="2" charset="-122"/>
              </a:rPr>
              <a:t>PROC</a:t>
            </a:r>
            <a:r>
              <a:rPr lang="en-US" altLang="zh-CN" sz="2000" b="1" dirty="0">
                <a:solidFill>
                  <a:srgbClr val="0066FF"/>
                </a:solidFill>
                <a:latin typeface="宋体" panose="02010600030101010101" pitchFamily="2" charset="-122"/>
              </a:rPr>
              <a:t/>
            </a:r>
            <a:br>
              <a:rPr lang="en-US" altLang="zh-CN" sz="2000" b="1" dirty="0">
                <a:solidFill>
                  <a:srgbClr val="0066FF"/>
                </a:solidFill>
                <a:latin typeface="宋体" panose="02010600030101010101" pitchFamily="2" charset="-122"/>
              </a:rPr>
            </a:br>
            <a:r>
              <a:rPr lang="en-US" altLang="zh-CN" sz="2000" b="1" dirty="0">
                <a:solidFill>
                  <a:srgbClr val="0066FF"/>
                </a:solidFill>
                <a:latin typeface="宋体" panose="02010600030101010101" pitchFamily="2" charset="-122"/>
              </a:rPr>
              <a:t>         	       </a:t>
            </a:r>
            <a:r>
              <a:rPr lang="en-US" altLang="zh-CN" sz="2000" b="1" dirty="0">
                <a:solidFill>
                  <a:srgbClr val="FF0000"/>
                </a:solidFill>
                <a:latin typeface="宋体" panose="02010600030101010101" pitchFamily="2" charset="-122"/>
              </a:rPr>
              <a:t>PUSH EAX</a:t>
            </a:r>
            <a:br>
              <a:rPr lang="en-US" altLang="zh-CN" sz="2000" b="1" dirty="0">
                <a:solidFill>
                  <a:srgbClr val="FF0000"/>
                </a:solidFill>
                <a:latin typeface="宋体" panose="02010600030101010101" pitchFamily="2" charset="-122"/>
              </a:rPr>
            </a:br>
            <a:r>
              <a:rPr lang="en-US" altLang="zh-CN" sz="2000" b="1" dirty="0">
                <a:solidFill>
                  <a:srgbClr val="FF0000"/>
                </a:solidFill>
                <a:latin typeface="宋体" panose="02010600030101010101" pitchFamily="2" charset="-122"/>
              </a:rPr>
              <a:t>			PUSH ECX</a:t>
            </a:r>
            <a:br>
              <a:rPr lang="en-US" altLang="zh-CN" sz="2000" b="1" dirty="0">
                <a:solidFill>
                  <a:srgbClr val="FF0000"/>
                </a:solidFill>
                <a:latin typeface="宋体" panose="02010600030101010101" pitchFamily="2" charset="-122"/>
              </a:rPr>
            </a:br>
            <a:r>
              <a:rPr lang="en-US" altLang="zh-CN" sz="2000" b="1" dirty="0">
                <a:solidFill>
                  <a:srgbClr val="0066FF"/>
                </a:solidFill>
                <a:latin typeface="宋体" panose="02010600030101010101" pitchFamily="2" charset="-122"/>
              </a:rPr>
              <a:t>          		;</a:t>
            </a:r>
            <a:r>
              <a:rPr lang="zh-CN" altLang="en-US" sz="2000" b="1" dirty="0">
                <a:solidFill>
                  <a:srgbClr val="0066FF"/>
                </a:solidFill>
                <a:latin typeface="宋体" panose="02010600030101010101" pitchFamily="2" charset="-122"/>
              </a:rPr>
              <a:t>过程的功能语句</a:t>
            </a:r>
            <a:endParaRPr lang="en-US" altLang="zh-CN" sz="2000" b="1" dirty="0">
              <a:solidFill>
                <a:srgbClr val="0066FF"/>
              </a:solidFill>
              <a:latin typeface="宋体" panose="02010600030101010101" pitchFamily="2" charset="-122"/>
            </a:endParaRPr>
          </a:p>
          <a:p>
            <a:pPr lvl="1">
              <a:lnSpc>
                <a:spcPts val="3000"/>
              </a:lnSpc>
              <a:buClr>
                <a:srgbClr val="C00000"/>
              </a:buClr>
            </a:pPr>
            <a:r>
              <a:rPr lang="en-US" altLang="zh-CN" sz="2000" b="1" dirty="0">
                <a:solidFill>
                  <a:srgbClr val="0066FF"/>
                </a:solidFill>
                <a:latin typeface="宋体" panose="02010600030101010101" pitchFamily="2" charset="-122"/>
              </a:rPr>
              <a:t>          		</a:t>
            </a:r>
            <a:r>
              <a:rPr lang="en-US" altLang="zh-CN" sz="2000" b="1" dirty="0">
                <a:solidFill>
                  <a:srgbClr val="FF0000"/>
                </a:solidFill>
                <a:latin typeface="宋体" panose="02010600030101010101" pitchFamily="2" charset="-122"/>
              </a:rPr>
              <a:t>POP ECX</a:t>
            </a:r>
            <a:br>
              <a:rPr lang="en-US" altLang="zh-CN" sz="2000" b="1" dirty="0">
                <a:solidFill>
                  <a:srgbClr val="FF0000"/>
                </a:solidFill>
                <a:latin typeface="宋体" panose="02010600030101010101" pitchFamily="2" charset="-122"/>
              </a:rPr>
            </a:br>
            <a:r>
              <a:rPr lang="en-US" altLang="zh-CN" sz="2000" b="1" dirty="0">
                <a:solidFill>
                  <a:srgbClr val="FF0000"/>
                </a:solidFill>
                <a:latin typeface="宋体" panose="02010600030101010101" pitchFamily="2" charset="-122"/>
              </a:rPr>
              <a:t>   			POP EAX</a:t>
            </a:r>
          </a:p>
          <a:p>
            <a:pPr lvl="1">
              <a:lnSpc>
                <a:spcPts val="3000"/>
              </a:lnSpc>
              <a:buClr>
                <a:srgbClr val="C00000"/>
              </a:buClr>
            </a:pPr>
            <a:r>
              <a:rPr lang="en-US" altLang="zh-CN" sz="2000" b="1" dirty="0">
                <a:solidFill>
                  <a:srgbClr val="0066FF"/>
                </a:solidFill>
                <a:latin typeface="宋体" panose="02010600030101010101" pitchFamily="2" charset="-122"/>
              </a:rPr>
              <a:t>			ret</a:t>
            </a:r>
            <a:br>
              <a:rPr lang="en-US" altLang="zh-CN" sz="2000" b="1" dirty="0">
                <a:solidFill>
                  <a:srgbClr val="0066FF"/>
                </a:solidFill>
                <a:latin typeface="宋体" panose="02010600030101010101" pitchFamily="2" charset="-122"/>
              </a:rPr>
            </a:br>
            <a:r>
              <a:rPr lang="en-US" altLang="zh-CN" sz="2000" b="1" dirty="0">
                <a:solidFill>
                  <a:srgbClr val="0066FF"/>
                </a:solidFill>
                <a:latin typeface="宋体" panose="02010600030101010101" pitchFamily="2" charset="-122"/>
              </a:rPr>
              <a:t>	  	     </a:t>
            </a:r>
            <a:r>
              <a:rPr lang="en-US" altLang="zh-CN" sz="2000" b="1" dirty="0" err="1">
                <a:solidFill>
                  <a:srgbClr val="0066FF"/>
                </a:solidFill>
                <a:latin typeface="宋体" panose="02010600030101010101" pitchFamily="2" charset="-122"/>
              </a:rPr>
              <a:t>Examl</a:t>
            </a:r>
            <a:r>
              <a:rPr lang="en-US" altLang="zh-CN" sz="2000" b="1" dirty="0">
                <a:solidFill>
                  <a:srgbClr val="0066FF"/>
                </a:solidFill>
                <a:latin typeface="宋体" panose="02010600030101010101" pitchFamily="2" charset="-122"/>
              </a:rPr>
              <a:t> ENDP</a:t>
            </a:r>
          </a:p>
          <a:p>
            <a:pPr marL="628650" indent="-342900">
              <a:lnSpc>
                <a:spcPts val="3000"/>
              </a:lnSpc>
              <a:buClr>
                <a:srgbClr val="C00000"/>
              </a:buClr>
              <a:buFont typeface="Wingdings" panose="05000000000000000000" pitchFamily="2" charset="2"/>
              <a:buChar char="l"/>
            </a:pPr>
            <a:r>
              <a:rPr lang="zh-CN" altLang="en-US" sz="2200" b="1" dirty="0">
                <a:solidFill>
                  <a:srgbClr val="000000"/>
                </a:solidFill>
                <a:latin typeface="宋体" panose="02010600030101010101" pitchFamily="2" charset="-122"/>
              </a:rPr>
              <a:t>若过程使用寄存器返回参数，则</a:t>
            </a:r>
            <a:r>
              <a:rPr lang="en-US" altLang="zh-CN" sz="2200" b="1" dirty="0">
                <a:solidFill>
                  <a:srgbClr val="000000"/>
                </a:solidFill>
                <a:latin typeface="宋体" panose="02010600030101010101" pitchFamily="2" charset="-122"/>
              </a:rPr>
              <a:t>USES</a:t>
            </a:r>
            <a:r>
              <a:rPr lang="zh-CN" altLang="en-US" sz="2200" b="1" dirty="0">
                <a:solidFill>
                  <a:srgbClr val="000000"/>
                </a:solidFill>
                <a:latin typeface="宋体" panose="02010600030101010101" pitchFamily="2" charset="-122"/>
              </a:rPr>
              <a:t>后寄存器列表中不能包含返回参数的寄存器，否则会破坏返回值。</a:t>
            </a:r>
            <a:endParaRPr lang="en-US" altLang="zh-CN" sz="2200" b="1" dirty="0">
              <a:solidFill>
                <a:srgbClr val="000000"/>
              </a:solidFill>
              <a:latin typeface="宋体" panose="02010600030101010101" pitchFamily="2" charset="-122"/>
            </a:endParaRPr>
          </a:p>
          <a:p>
            <a:pPr marL="628650" indent="-342900">
              <a:lnSpc>
                <a:spcPts val="3000"/>
              </a:lnSpc>
              <a:buClr>
                <a:srgbClr val="C00000"/>
              </a:buClr>
              <a:buFont typeface="Wingdings" panose="05000000000000000000" pitchFamily="2" charset="2"/>
              <a:buChar char="l"/>
            </a:pPr>
            <a:r>
              <a:rPr lang="zh-CN" altLang="en-US" sz="2200" b="1" dirty="0">
                <a:solidFill>
                  <a:srgbClr val="000000"/>
                </a:solidFill>
                <a:latin typeface="宋体" panose="02010600030101010101" pitchFamily="2" charset="-122"/>
              </a:rPr>
              <a:t>也可以在过程开头和结尾用</a:t>
            </a:r>
            <a:r>
              <a:rPr lang="en-US" altLang="zh-CN" sz="2200" b="1" dirty="0" err="1">
                <a:solidFill>
                  <a:srgbClr val="000000"/>
                </a:solidFill>
                <a:latin typeface="宋体" panose="02010600030101010101" pitchFamily="2" charset="-122"/>
              </a:rPr>
              <a:t>pushad</a:t>
            </a:r>
            <a:r>
              <a:rPr lang="zh-CN" altLang="en-US" sz="2200" b="1" dirty="0">
                <a:solidFill>
                  <a:srgbClr val="000000"/>
                </a:solidFill>
                <a:latin typeface="宋体" panose="02010600030101010101" pitchFamily="2" charset="-122"/>
              </a:rPr>
              <a:t>和</a:t>
            </a:r>
            <a:r>
              <a:rPr lang="en-US" altLang="zh-CN" sz="2200" b="1" dirty="0" err="1">
                <a:solidFill>
                  <a:srgbClr val="000000"/>
                </a:solidFill>
                <a:latin typeface="宋体" panose="02010600030101010101" pitchFamily="2" charset="-122"/>
              </a:rPr>
              <a:t>popad</a:t>
            </a:r>
            <a:r>
              <a:rPr lang="zh-CN" altLang="en-US" sz="2200" b="1" dirty="0">
                <a:solidFill>
                  <a:srgbClr val="000000"/>
                </a:solidFill>
                <a:latin typeface="宋体" panose="02010600030101010101" pitchFamily="2" charset="-122"/>
              </a:rPr>
              <a:t>指令一次保存和恢复</a:t>
            </a:r>
            <a:r>
              <a:rPr lang="zh-CN" altLang="en-US" sz="2200" b="1" dirty="0" smtClean="0">
                <a:solidFill>
                  <a:srgbClr val="000000"/>
                </a:solidFill>
                <a:latin typeface="宋体" panose="02010600030101010101" pitchFamily="2" charset="-122"/>
              </a:rPr>
              <a:t>所有通用寄存器</a:t>
            </a:r>
            <a:r>
              <a:rPr lang="zh-CN" altLang="en-US" sz="2200" b="1" dirty="0">
                <a:solidFill>
                  <a:srgbClr val="000000"/>
                </a:solidFill>
                <a:latin typeface="宋体" panose="02010600030101010101" pitchFamily="2" charset="-122"/>
              </a:rPr>
              <a:t>，来代替此属性功能。</a:t>
            </a:r>
            <a:endParaRPr lang="en-US" altLang="zh-CN" sz="2200" b="1" dirty="0">
              <a:solidFill>
                <a:srgbClr val="000000"/>
              </a:solidFill>
              <a:latin typeface="宋体" panose="02010600030101010101" pitchFamily="2" charset="-122"/>
            </a:endParaRPr>
          </a:p>
          <a:p>
            <a:pPr marL="342900" indent="-342900">
              <a:lnSpc>
                <a:spcPts val="3000"/>
              </a:lnSpc>
              <a:buClr>
                <a:srgbClr val="C00000"/>
              </a:buClr>
              <a:buFont typeface="Wingdings" panose="05000000000000000000" pitchFamily="2" charset="2"/>
              <a:buChar char="n"/>
            </a:pPr>
            <a:endParaRPr lang="zh-CN" altLang="en-US" sz="2200" b="1" dirty="0">
              <a:solidFill>
                <a:srgbClr val="000000"/>
              </a:solidFill>
              <a:latin typeface="宋体" panose="02010600030101010101" pitchFamily="2" charset="-122"/>
            </a:endParaRPr>
          </a:p>
        </p:txBody>
      </p:sp>
      <p:sp>
        <p:nvSpPr>
          <p:cNvPr id="3" name="灯片编号占位符 3"/>
          <p:cNvSpPr txBox="1">
            <a:spLocks noGrp="1" noChangeArrowheads="1"/>
          </p:cNvSpPr>
          <p:nvPr/>
        </p:nvSpPr>
        <p:spPr bwMode="auto">
          <a:xfrm>
            <a:off x="8453798" y="6331015"/>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E76A587E-BC78-449C-A072-180A847113FD}" type="slidenum">
              <a:rPr lang="en-US" altLang="zh-CN" sz="1400">
                <a:solidFill>
                  <a:schemeClr val="bg2"/>
                </a:solidFill>
              </a:rPr>
              <a:pPr algn="r" eaLnBrk="1" hangingPunct="1"/>
              <a:t>53</a:t>
            </a:fld>
            <a:endParaRPr lang="en-US" altLang="zh-CN" sz="1400" dirty="0">
              <a:solidFill>
                <a:schemeClr val="bg2"/>
              </a:solidFill>
            </a:endParaRPr>
          </a:p>
        </p:txBody>
      </p:sp>
    </p:spTree>
    <p:extLst>
      <p:ext uri="{BB962C8B-B14F-4D97-AF65-F5344CB8AC3E}">
        <p14:creationId xmlns:p14="http://schemas.microsoft.com/office/powerpoint/2010/main" val="136662199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down)">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down)">
                                      <p:cBhvr>
                                        <p:cTn id="15" dur="500"/>
                                        <p:tgtEl>
                                          <p:spTgt spid="2">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ipe(down)">
                                      <p:cBhvr>
                                        <p:cTn id="18" dur="500"/>
                                        <p:tgtEl>
                                          <p:spTgt spid="2">
                                            <p:txEl>
                                              <p:pRg st="3" end="3"/>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wipe(down)">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wipe(down)">
                                      <p:cBhvr>
                                        <p:cTn id="26" dur="500"/>
                                        <p:tgtEl>
                                          <p:spTgt spid="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wipe(down)">
                                      <p:cBhvr>
                                        <p:cTn id="31"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552" y="620688"/>
            <a:ext cx="8136904" cy="5478423"/>
          </a:xfrm>
          <a:prstGeom prst="rect">
            <a:avLst/>
          </a:prstGeom>
          <a:noFill/>
        </p:spPr>
        <p:txBody>
          <a:bodyPr wrap="square" rtlCol="0">
            <a:spAutoFit/>
          </a:bodyPr>
          <a:lstStyle/>
          <a:p>
            <a:pPr marL="342900" indent="-342900">
              <a:lnSpc>
                <a:spcPts val="3000"/>
              </a:lnSpc>
              <a:buClr>
                <a:srgbClr val="C00000"/>
              </a:buClr>
              <a:buFont typeface="Wingdings" panose="05000000000000000000" pitchFamily="2" charset="2"/>
              <a:buChar char="n"/>
            </a:pPr>
            <a:r>
              <a:rPr lang="zh-CN" altLang="en-US" sz="2200" b="1" dirty="0">
                <a:solidFill>
                  <a:srgbClr val="FF0000"/>
                </a:solidFill>
                <a:latin typeface="宋体" panose="02010600030101010101" pitchFamily="2" charset="-122"/>
              </a:rPr>
              <a:t>参数列表</a:t>
            </a:r>
            <a:r>
              <a:rPr lang="en-US" altLang="zh-CN" sz="2200" b="1" dirty="0">
                <a:solidFill>
                  <a:srgbClr val="000000"/>
                </a:solidFill>
                <a:latin typeface="宋体" panose="02010600030101010101" pitchFamily="2" charset="-122"/>
              </a:rPr>
              <a:t>——</a:t>
            </a:r>
            <a:r>
              <a:rPr lang="zh-CN" altLang="en-US" sz="2200" b="1" dirty="0">
                <a:solidFill>
                  <a:srgbClr val="000000"/>
                </a:solidFill>
                <a:latin typeface="宋体" panose="02010600030101010101" pitchFamily="2" charset="-122"/>
              </a:rPr>
              <a:t>用来定义过程使用的参数名和类型。</a:t>
            </a:r>
            <a:endParaRPr lang="en-US" altLang="zh-CN" sz="2200" b="1" dirty="0">
              <a:solidFill>
                <a:srgbClr val="000000"/>
              </a:solidFill>
              <a:latin typeface="宋体" panose="02010600030101010101" pitchFamily="2" charset="-122"/>
            </a:endParaRPr>
          </a:p>
          <a:p>
            <a:pPr marL="800100" lvl="1" indent="-342900">
              <a:lnSpc>
                <a:spcPts val="3000"/>
              </a:lnSpc>
              <a:buClr>
                <a:srgbClr val="C00000"/>
              </a:buClr>
              <a:buFont typeface="Wingdings" panose="05000000000000000000" pitchFamily="2" charset="2"/>
              <a:buChar char="Ø"/>
            </a:pPr>
            <a:r>
              <a:rPr lang="zh-CN" altLang="en-US" sz="2000" b="1" dirty="0">
                <a:solidFill>
                  <a:srgbClr val="000000"/>
                </a:solidFill>
                <a:latin typeface="宋体" panose="02010600030101010101" pitchFamily="2" charset="-122"/>
              </a:rPr>
              <a:t>格式：</a:t>
            </a:r>
            <a:r>
              <a:rPr lang="zh-CN" altLang="en-US" sz="2000" b="1" dirty="0">
                <a:solidFill>
                  <a:srgbClr val="FF0000"/>
                </a:solidFill>
                <a:latin typeface="宋体" panose="02010600030101010101" pitchFamily="2" charset="-122"/>
              </a:rPr>
              <a:t>参数</a:t>
            </a:r>
            <a:r>
              <a:rPr lang="en-US" altLang="zh-CN" sz="2000" b="1" dirty="0">
                <a:solidFill>
                  <a:srgbClr val="FF0000"/>
                </a:solidFill>
                <a:latin typeface="宋体" panose="02010600030101010101" pitchFamily="2" charset="-122"/>
              </a:rPr>
              <a:t>1:</a:t>
            </a:r>
            <a:r>
              <a:rPr lang="zh-CN" altLang="en-US" sz="2000" b="1" dirty="0">
                <a:solidFill>
                  <a:srgbClr val="FF0000"/>
                </a:solidFill>
                <a:latin typeface="宋体" panose="02010600030101010101" pitchFamily="2" charset="-122"/>
              </a:rPr>
              <a:t>类型</a:t>
            </a:r>
            <a:r>
              <a:rPr lang="en-US" altLang="zh-CN" sz="2000" b="1" dirty="0">
                <a:solidFill>
                  <a:srgbClr val="FF0000"/>
                </a:solidFill>
                <a:latin typeface="宋体" panose="02010600030101010101" pitchFamily="2" charset="-122"/>
              </a:rPr>
              <a:t>,</a:t>
            </a:r>
            <a:r>
              <a:rPr lang="zh-CN" altLang="en-US" sz="2000" b="1" dirty="0">
                <a:solidFill>
                  <a:srgbClr val="FF0000"/>
                </a:solidFill>
                <a:latin typeface="宋体" panose="02010600030101010101" pitchFamily="2" charset="-122"/>
              </a:rPr>
              <a:t>参数</a:t>
            </a:r>
            <a:r>
              <a:rPr lang="en-US" altLang="zh-CN" sz="2000" b="1" dirty="0">
                <a:solidFill>
                  <a:srgbClr val="FF0000"/>
                </a:solidFill>
                <a:latin typeface="宋体" panose="02010600030101010101" pitchFamily="2" charset="-122"/>
              </a:rPr>
              <a:t>2:</a:t>
            </a:r>
            <a:r>
              <a:rPr lang="zh-CN" altLang="en-US" sz="2000" b="1" dirty="0">
                <a:solidFill>
                  <a:srgbClr val="FF0000"/>
                </a:solidFill>
                <a:latin typeface="宋体" panose="02010600030101010101" pitchFamily="2" charset="-122"/>
              </a:rPr>
              <a:t>类型</a:t>
            </a:r>
            <a:r>
              <a:rPr lang="en-US" altLang="zh-CN" sz="2000" b="1" dirty="0">
                <a:solidFill>
                  <a:srgbClr val="FF0000"/>
                </a:solidFill>
                <a:latin typeface="宋体" panose="02010600030101010101" pitchFamily="2" charset="-122"/>
              </a:rPr>
              <a:t>,…</a:t>
            </a:r>
          </a:p>
          <a:p>
            <a:pPr marL="800100" lvl="1" indent="-342900">
              <a:lnSpc>
                <a:spcPts val="3000"/>
              </a:lnSpc>
              <a:buClr>
                <a:srgbClr val="C00000"/>
              </a:buClr>
              <a:buFont typeface="Wingdings" panose="05000000000000000000" pitchFamily="2" charset="2"/>
              <a:buChar char="Ø"/>
            </a:pPr>
            <a:r>
              <a:rPr lang="zh-CN" altLang="en-US" sz="2000" b="1" dirty="0">
                <a:solidFill>
                  <a:srgbClr val="000000"/>
                </a:solidFill>
                <a:latin typeface="宋体" panose="02010600030101010101" pitchFamily="2" charset="-122"/>
              </a:rPr>
              <a:t>若指定了参数，则过程要用</a:t>
            </a:r>
            <a:r>
              <a:rPr lang="en-US" altLang="zh-CN" sz="2000" b="1" dirty="0">
                <a:solidFill>
                  <a:srgbClr val="000000"/>
                </a:solidFill>
                <a:latin typeface="宋体" panose="02010600030101010101" pitchFamily="2" charset="-122"/>
              </a:rPr>
              <a:t>invoke</a:t>
            </a:r>
            <a:r>
              <a:rPr lang="zh-CN" altLang="en-US" sz="2000" b="1" dirty="0">
                <a:solidFill>
                  <a:srgbClr val="000000"/>
                </a:solidFill>
                <a:latin typeface="宋体" panose="02010600030101010101" pitchFamily="2" charset="-122"/>
              </a:rPr>
              <a:t>伪指令调用，否则应在</a:t>
            </a:r>
            <a:r>
              <a:rPr lang="en-US" altLang="zh-CN" sz="2000" b="1" dirty="0">
                <a:solidFill>
                  <a:srgbClr val="000000"/>
                </a:solidFill>
                <a:latin typeface="宋体" panose="02010600030101010101" pitchFamily="2" charset="-122"/>
              </a:rPr>
              <a:t>CALL</a:t>
            </a:r>
            <a:r>
              <a:rPr lang="zh-CN" altLang="en-US" sz="2000" b="1" dirty="0">
                <a:solidFill>
                  <a:srgbClr val="000000"/>
                </a:solidFill>
                <a:latin typeface="宋体" panose="02010600030101010101" pitchFamily="2" charset="-122"/>
              </a:rPr>
              <a:t>指令调用之前将参数按照规定的顺序压栈；</a:t>
            </a:r>
            <a:endParaRPr lang="en-US" altLang="zh-CN" sz="2000" b="1" dirty="0">
              <a:solidFill>
                <a:srgbClr val="000000"/>
              </a:solidFill>
              <a:latin typeface="宋体" panose="02010600030101010101" pitchFamily="2" charset="-122"/>
            </a:endParaRPr>
          </a:p>
          <a:p>
            <a:pPr marL="800100" lvl="1" indent="-342900">
              <a:lnSpc>
                <a:spcPts val="3000"/>
              </a:lnSpc>
              <a:buClr>
                <a:srgbClr val="C00000"/>
              </a:buClr>
              <a:buFont typeface="Wingdings" panose="05000000000000000000" pitchFamily="2" charset="2"/>
              <a:buChar char="Ø"/>
            </a:pPr>
            <a:r>
              <a:rPr lang="zh-CN" altLang="en-US" sz="2000" b="1" dirty="0">
                <a:solidFill>
                  <a:srgbClr val="000000"/>
                </a:solidFill>
                <a:latin typeface="宋体" panose="02010600030101010101" pitchFamily="2" charset="-122"/>
              </a:rPr>
              <a:t>若过程未指定参数则可用</a:t>
            </a:r>
            <a:r>
              <a:rPr lang="en-US" altLang="zh-CN" sz="2000" b="1" dirty="0">
                <a:solidFill>
                  <a:srgbClr val="C00000"/>
                </a:solidFill>
                <a:latin typeface="宋体" panose="02010600030101010101" pitchFamily="2" charset="-122"/>
              </a:rPr>
              <a:t>CALL</a:t>
            </a:r>
            <a:r>
              <a:rPr lang="zh-CN" altLang="en-US" sz="2000" b="1" dirty="0">
                <a:solidFill>
                  <a:srgbClr val="000000"/>
                </a:solidFill>
                <a:latin typeface="宋体" panose="02010600030101010101" pitchFamily="2" charset="-122"/>
              </a:rPr>
              <a:t>指令，也可以用</a:t>
            </a:r>
            <a:r>
              <a:rPr lang="en-US" altLang="zh-CN" sz="2000" b="1" dirty="0">
                <a:solidFill>
                  <a:srgbClr val="C00000"/>
                </a:solidFill>
                <a:latin typeface="宋体" panose="02010600030101010101" pitchFamily="2" charset="-122"/>
              </a:rPr>
              <a:t>invoke</a:t>
            </a:r>
            <a:r>
              <a:rPr lang="zh-CN" altLang="en-US" sz="2000" b="1" dirty="0">
                <a:solidFill>
                  <a:srgbClr val="000000"/>
                </a:solidFill>
                <a:latin typeface="宋体" panose="02010600030101010101" pitchFamily="2" charset="-122"/>
              </a:rPr>
              <a:t>调用。</a:t>
            </a:r>
            <a:endParaRPr lang="en-US" altLang="zh-CN" sz="2000" b="1" dirty="0">
              <a:solidFill>
                <a:srgbClr val="000000"/>
              </a:solidFill>
              <a:latin typeface="宋体" panose="02010600030101010101" pitchFamily="2" charset="-122"/>
            </a:endParaRPr>
          </a:p>
          <a:p>
            <a:pPr marL="800100" lvl="1" indent="-342900">
              <a:lnSpc>
                <a:spcPts val="3000"/>
              </a:lnSpc>
              <a:buClr>
                <a:srgbClr val="C00000"/>
              </a:buClr>
              <a:buFont typeface="Wingdings" panose="05000000000000000000" pitchFamily="2" charset="2"/>
              <a:buChar char="Ø"/>
            </a:pPr>
            <a:r>
              <a:rPr lang="zh-CN" altLang="en-US" sz="2000" b="1" dirty="0">
                <a:solidFill>
                  <a:srgbClr val="C00000"/>
                </a:solidFill>
                <a:latin typeface="宋体" panose="02010600030101010101" pitchFamily="2" charset="-122"/>
              </a:rPr>
              <a:t>参数名</a:t>
            </a:r>
            <a:r>
              <a:rPr lang="zh-CN" altLang="en-US" sz="2000" b="1" dirty="0">
                <a:solidFill>
                  <a:srgbClr val="000000"/>
                </a:solidFill>
                <a:latin typeface="宋体" panose="02010600030101010101" pitchFamily="2" charset="-122"/>
              </a:rPr>
              <a:t>不能与</a:t>
            </a:r>
            <a:r>
              <a:rPr lang="zh-CN" altLang="en-US" sz="2000" b="1" dirty="0">
                <a:solidFill>
                  <a:srgbClr val="C00000"/>
                </a:solidFill>
                <a:latin typeface="宋体" panose="02010600030101010101" pitchFamily="2" charset="-122"/>
              </a:rPr>
              <a:t>全局变量</a:t>
            </a:r>
            <a:r>
              <a:rPr lang="zh-CN" altLang="en-US" sz="2000" b="1" dirty="0">
                <a:solidFill>
                  <a:srgbClr val="000000"/>
                </a:solidFill>
                <a:latin typeface="宋体" panose="02010600030101010101" pitchFamily="2" charset="-122"/>
              </a:rPr>
              <a:t>和过程中的</a:t>
            </a:r>
            <a:r>
              <a:rPr lang="zh-CN" altLang="en-US" sz="2000" b="1" dirty="0">
                <a:solidFill>
                  <a:srgbClr val="C00000"/>
                </a:solidFill>
                <a:latin typeface="宋体" panose="02010600030101010101" pitchFamily="2" charset="-122"/>
              </a:rPr>
              <a:t>局部变量</a:t>
            </a:r>
            <a:r>
              <a:rPr lang="zh-CN" altLang="en-US" sz="2000" b="1" dirty="0">
                <a:solidFill>
                  <a:srgbClr val="000000"/>
                </a:solidFill>
                <a:latin typeface="宋体" panose="02010600030101010101" pitchFamily="2" charset="-122"/>
              </a:rPr>
              <a:t>重名。</a:t>
            </a:r>
            <a:endParaRPr lang="en-US" altLang="zh-CN" sz="2000" b="1" dirty="0">
              <a:solidFill>
                <a:srgbClr val="000000"/>
              </a:solidFill>
              <a:latin typeface="宋体" panose="02010600030101010101" pitchFamily="2" charset="-122"/>
            </a:endParaRPr>
          </a:p>
          <a:p>
            <a:pPr marL="800100" lvl="1" indent="-342900">
              <a:lnSpc>
                <a:spcPts val="3000"/>
              </a:lnSpc>
              <a:buClr>
                <a:srgbClr val="C00000"/>
              </a:buClr>
              <a:buFont typeface="Wingdings" panose="05000000000000000000" pitchFamily="2" charset="2"/>
              <a:buChar char="Ø"/>
            </a:pPr>
            <a:r>
              <a:rPr lang="zh-CN" altLang="en-US" sz="2000" b="1" dirty="0">
                <a:solidFill>
                  <a:srgbClr val="000000"/>
                </a:solidFill>
                <a:latin typeface="宋体" panose="02010600030101010101" pitchFamily="2" charset="-122"/>
              </a:rPr>
              <a:t>对于</a:t>
            </a:r>
            <a:r>
              <a:rPr lang="zh-CN" altLang="en-US" sz="2000" b="1" dirty="0">
                <a:solidFill>
                  <a:srgbClr val="C00000"/>
                </a:solidFill>
                <a:latin typeface="宋体" panose="02010600030101010101" pitchFamily="2" charset="-122"/>
              </a:rPr>
              <a:t>类型</a:t>
            </a:r>
            <a:r>
              <a:rPr lang="zh-CN" altLang="en-US" sz="2000" b="1" dirty="0">
                <a:solidFill>
                  <a:srgbClr val="000000"/>
                </a:solidFill>
                <a:latin typeface="宋体" panose="02010600030101010101" pitchFamily="2" charset="-122"/>
              </a:rPr>
              <a:t>，由于</a:t>
            </a:r>
            <a:r>
              <a:rPr lang="en-US" altLang="zh-CN" sz="2000" b="1" dirty="0">
                <a:solidFill>
                  <a:srgbClr val="000000"/>
                </a:solidFill>
              </a:rPr>
              <a:t>Win32</a:t>
            </a:r>
            <a:r>
              <a:rPr lang="zh-CN" altLang="en-US" sz="2000" b="1" dirty="0">
                <a:solidFill>
                  <a:srgbClr val="000000"/>
                </a:solidFill>
                <a:latin typeface="宋体" panose="02010600030101010101" pitchFamily="2" charset="-122"/>
              </a:rPr>
              <a:t>中的参数类型只有</a:t>
            </a:r>
            <a:r>
              <a:rPr lang="en-US" altLang="zh-CN" sz="2000" b="1" dirty="0">
                <a:solidFill>
                  <a:srgbClr val="000000"/>
                </a:solidFill>
              </a:rPr>
              <a:t>32</a:t>
            </a:r>
            <a:r>
              <a:rPr lang="zh-CN" altLang="en-US" sz="2000" b="1" dirty="0">
                <a:solidFill>
                  <a:srgbClr val="000000"/>
                </a:solidFill>
                <a:latin typeface="宋体" panose="02010600030101010101" pitchFamily="2" charset="-122"/>
              </a:rPr>
              <a:t>位（</a:t>
            </a:r>
            <a:r>
              <a:rPr lang="en-US" altLang="zh-CN" sz="2000" b="1" dirty="0" err="1">
                <a:solidFill>
                  <a:srgbClr val="000000"/>
                </a:solidFill>
              </a:rPr>
              <a:t>dword</a:t>
            </a:r>
            <a:r>
              <a:rPr lang="zh-CN" altLang="en-US" sz="2000" b="1" dirty="0">
                <a:solidFill>
                  <a:srgbClr val="000000"/>
                </a:solidFill>
                <a:latin typeface="宋体" panose="02010600030101010101" pitchFamily="2" charset="-122"/>
              </a:rPr>
              <a:t>）一种类型</a:t>
            </a:r>
            <a:r>
              <a:rPr lang="zh-CN" altLang="en-US" sz="2000" b="1" dirty="0" smtClean="0">
                <a:solidFill>
                  <a:srgbClr val="000000"/>
                </a:solidFill>
                <a:latin typeface="宋体" panose="02010600030101010101" pitchFamily="2" charset="-122"/>
              </a:rPr>
              <a:t>，只能使用</a:t>
            </a:r>
            <a:r>
              <a:rPr lang="en-US" altLang="zh-CN" sz="2000" b="1" dirty="0" err="1" smtClean="0">
                <a:solidFill>
                  <a:srgbClr val="000000"/>
                </a:solidFill>
                <a:latin typeface="宋体" panose="02010600030101010101" pitchFamily="2" charset="-122"/>
              </a:rPr>
              <a:t>dword</a:t>
            </a:r>
            <a:r>
              <a:rPr lang="zh-CN" altLang="en-US" sz="2000" b="1" dirty="0" smtClean="0">
                <a:solidFill>
                  <a:srgbClr val="000000"/>
                </a:solidFill>
                <a:latin typeface="宋体" panose="02010600030101010101" pitchFamily="2" charset="-122"/>
              </a:rPr>
              <a:t>类型，所以</a:t>
            </a:r>
            <a:r>
              <a:rPr lang="zh-CN" altLang="en-US" sz="2000" b="1" dirty="0">
                <a:solidFill>
                  <a:srgbClr val="000000"/>
                </a:solidFill>
                <a:latin typeface="宋体" panose="02010600030101010101" pitchFamily="2" charset="-122"/>
              </a:rPr>
              <a:t>可以省略。</a:t>
            </a:r>
            <a:endParaRPr lang="en-US" altLang="zh-CN" sz="2000" b="1" dirty="0">
              <a:solidFill>
                <a:srgbClr val="000000"/>
              </a:solidFill>
              <a:latin typeface="宋体" panose="02010600030101010101" pitchFamily="2" charset="-122"/>
            </a:endParaRPr>
          </a:p>
          <a:p>
            <a:pPr marL="800100" lvl="1" indent="-342900">
              <a:lnSpc>
                <a:spcPts val="3000"/>
              </a:lnSpc>
              <a:buClr>
                <a:srgbClr val="C00000"/>
              </a:buClr>
              <a:buFont typeface="Wingdings" panose="05000000000000000000" pitchFamily="2" charset="2"/>
              <a:buChar char="Ø"/>
            </a:pPr>
            <a:r>
              <a:rPr lang="zh-CN" altLang="en-US" sz="2000" b="1" dirty="0">
                <a:solidFill>
                  <a:srgbClr val="000000"/>
                </a:solidFill>
                <a:latin typeface="宋体" panose="02010600030101010101" pitchFamily="2" charset="-122"/>
              </a:rPr>
              <a:t>在参数定义的最后还可以跟</a:t>
            </a:r>
            <a:r>
              <a:rPr lang="en-US" altLang="zh-CN" sz="2000" b="1" dirty="0">
                <a:solidFill>
                  <a:srgbClr val="000000"/>
                </a:solidFill>
              </a:rPr>
              <a:t>VARARG</a:t>
            </a:r>
            <a:r>
              <a:rPr lang="zh-CN" altLang="en-US" sz="2000" b="1" dirty="0">
                <a:solidFill>
                  <a:srgbClr val="000000"/>
                </a:solidFill>
                <a:latin typeface="宋体" panose="02010600030101010101" pitchFamily="2" charset="-122"/>
              </a:rPr>
              <a:t>，表示在已确定的参数后还可以跟多个数量不确定的参数。</a:t>
            </a:r>
            <a:endParaRPr lang="en-US" altLang="zh-CN" sz="2000" b="1" dirty="0">
              <a:solidFill>
                <a:srgbClr val="000000"/>
              </a:solidFill>
              <a:latin typeface="宋体" panose="02010600030101010101" pitchFamily="2" charset="-122"/>
            </a:endParaRPr>
          </a:p>
          <a:p>
            <a:pPr marL="342900" indent="-342900">
              <a:lnSpc>
                <a:spcPts val="3000"/>
              </a:lnSpc>
              <a:buClr>
                <a:srgbClr val="C00000"/>
              </a:buClr>
              <a:buFont typeface="Wingdings" panose="05000000000000000000" pitchFamily="2" charset="2"/>
              <a:buChar char="n"/>
            </a:pPr>
            <a:r>
              <a:rPr lang="zh-CN" altLang="en-US" sz="2200" b="1" dirty="0">
                <a:solidFill>
                  <a:srgbClr val="000000"/>
                </a:solidFill>
                <a:latin typeface="宋体" panose="02010600030101010101" pitchFamily="2" charset="-122"/>
              </a:rPr>
              <a:t>在过程中一般最后执行的是</a:t>
            </a:r>
            <a:r>
              <a:rPr lang="en-US" altLang="zh-CN" sz="2200" b="1" dirty="0">
                <a:solidFill>
                  <a:srgbClr val="FF0000"/>
                </a:solidFill>
                <a:latin typeface="宋体" panose="02010600030101010101" pitchFamily="2" charset="-122"/>
              </a:rPr>
              <a:t>ret</a:t>
            </a:r>
            <a:r>
              <a:rPr lang="zh-CN" altLang="en-US" sz="2200" b="1" dirty="0">
                <a:solidFill>
                  <a:srgbClr val="000000"/>
                </a:solidFill>
                <a:latin typeface="宋体" panose="02010600030101010101" pitchFamily="2" charset="-122"/>
              </a:rPr>
              <a:t>指令，它控制程序返回调用该过程的上一级程序。</a:t>
            </a:r>
            <a:endParaRPr lang="en-US" altLang="zh-CN" sz="2200" b="1" dirty="0">
              <a:solidFill>
                <a:srgbClr val="000000"/>
              </a:solidFill>
              <a:latin typeface="宋体" panose="02010600030101010101" pitchFamily="2" charset="-122"/>
            </a:endParaRPr>
          </a:p>
          <a:p>
            <a:pPr marL="342900" indent="-342900">
              <a:lnSpc>
                <a:spcPts val="3000"/>
              </a:lnSpc>
              <a:buClr>
                <a:srgbClr val="C00000"/>
              </a:buClr>
              <a:buFont typeface="Wingdings" panose="05000000000000000000" pitchFamily="2" charset="2"/>
              <a:buChar char="n"/>
            </a:pPr>
            <a:r>
              <a:rPr lang="zh-CN" altLang="en-US" sz="2200" b="1" dirty="0">
                <a:solidFill>
                  <a:srgbClr val="000000"/>
                </a:solidFill>
                <a:latin typeface="宋体" panose="02010600030101010101" pitchFamily="2" charset="-122"/>
              </a:rPr>
              <a:t>如果是用户主程序，由于最后要执行返回操作系统的</a:t>
            </a:r>
            <a:r>
              <a:rPr lang="en-US" altLang="zh-CN" sz="2200" b="1" dirty="0">
                <a:solidFill>
                  <a:srgbClr val="000000"/>
                </a:solidFill>
                <a:latin typeface="宋体" panose="02010600030101010101" pitchFamily="2" charset="-122"/>
              </a:rPr>
              <a:t>API</a:t>
            </a:r>
            <a:r>
              <a:rPr lang="zh-CN" altLang="en-US" sz="2200" b="1" dirty="0">
                <a:solidFill>
                  <a:srgbClr val="000000"/>
                </a:solidFill>
                <a:latin typeface="宋体" panose="02010600030101010101" pitchFamily="2" charset="-122"/>
              </a:rPr>
              <a:t>函数</a:t>
            </a:r>
            <a:r>
              <a:rPr lang="en-US" altLang="zh-CN" sz="2200" b="1" dirty="0" err="1">
                <a:solidFill>
                  <a:srgbClr val="000000"/>
                </a:solidFill>
                <a:latin typeface="宋体" panose="02010600030101010101" pitchFamily="2" charset="-122"/>
              </a:rPr>
              <a:t>ExitProcess</a:t>
            </a:r>
            <a:r>
              <a:rPr lang="zh-CN" altLang="en-US" sz="2200" b="1" dirty="0">
                <a:solidFill>
                  <a:srgbClr val="000000"/>
                </a:solidFill>
                <a:latin typeface="宋体" panose="02010600030101010101" pitchFamily="2" charset="-122"/>
              </a:rPr>
              <a:t>，故不需要</a:t>
            </a:r>
            <a:r>
              <a:rPr lang="en-US" altLang="zh-CN" sz="2200" b="1" dirty="0">
                <a:solidFill>
                  <a:srgbClr val="000000"/>
                </a:solidFill>
                <a:latin typeface="宋体" panose="02010600030101010101" pitchFamily="2" charset="-122"/>
              </a:rPr>
              <a:t>ret</a:t>
            </a:r>
            <a:r>
              <a:rPr lang="zh-CN" altLang="en-US" sz="2200" b="1" dirty="0">
                <a:solidFill>
                  <a:srgbClr val="000000"/>
                </a:solidFill>
                <a:latin typeface="宋体" panose="02010600030101010101" pitchFamily="2" charset="-122"/>
              </a:rPr>
              <a:t>指令。</a:t>
            </a:r>
            <a:endParaRPr lang="zh-CN" altLang="en-US" sz="2200" b="1" dirty="0">
              <a:solidFill>
                <a:schemeClr val="bg2"/>
              </a:solidFill>
            </a:endParaRPr>
          </a:p>
        </p:txBody>
      </p:sp>
      <p:sp>
        <p:nvSpPr>
          <p:cNvPr id="3" name="灯片编号占位符 3"/>
          <p:cNvSpPr txBox="1">
            <a:spLocks noGrp="1" noChangeArrowheads="1"/>
          </p:cNvSpPr>
          <p:nvPr/>
        </p:nvSpPr>
        <p:spPr bwMode="auto">
          <a:xfrm>
            <a:off x="8453798" y="6331015"/>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E76A587E-BC78-449C-A072-180A847113FD}" type="slidenum">
              <a:rPr lang="en-US" altLang="zh-CN" sz="1400">
                <a:solidFill>
                  <a:schemeClr val="bg2"/>
                </a:solidFill>
              </a:rPr>
              <a:pPr algn="r" eaLnBrk="1" hangingPunct="1"/>
              <a:t>54</a:t>
            </a:fld>
            <a:endParaRPr lang="en-US" altLang="zh-CN" sz="1400" dirty="0">
              <a:solidFill>
                <a:schemeClr val="bg2"/>
              </a:solidFill>
            </a:endParaRPr>
          </a:p>
        </p:txBody>
      </p:sp>
    </p:spTree>
    <p:extLst>
      <p:ext uri="{BB962C8B-B14F-4D97-AF65-F5344CB8AC3E}">
        <p14:creationId xmlns:p14="http://schemas.microsoft.com/office/powerpoint/2010/main" val="19670620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down)">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down)">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down)">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down)">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wipe(down)">
                                      <p:cBhvr>
                                        <p:cTn id="4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fld id="{0699987E-584F-45D1-B460-8989DE53CBDE}"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t>55</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0419" name="Rectangle 2"/>
          <p:cNvSpPr>
            <a:spLocks noChangeArrowheads="1"/>
          </p:cNvSpPr>
          <p:nvPr/>
        </p:nvSpPr>
        <p:spPr bwMode="auto">
          <a:xfrm>
            <a:off x="1547664" y="620688"/>
            <a:ext cx="6070893" cy="5847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32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4.6  win32</a:t>
            </a:r>
            <a:r>
              <a:rPr kumimoji="0" lang="zh-CN" altLang="en-US" sz="32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汇编语言源程序的结构</a:t>
            </a:r>
          </a:p>
        </p:txBody>
      </p:sp>
      <p:sp>
        <p:nvSpPr>
          <p:cNvPr id="60420" name="Rectangle 3"/>
          <p:cNvSpPr>
            <a:spLocks noChangeArrowheads="1"/>
          </p:cNvSpPr>
          <p:nvPr/>
        </p:nvSpPr>
        <p:spPr bwMode="auto">
          <a:xfrm>
            <a:off x="899592" y="1417638"/>
            <a:ext cx="7736971" cy="5078313"/>
          </a:xfrm>
          <a:prstGeom prst="rect">
            <a:avLst/>
          </a:prstGeom>
          <a:noFill/>
          <a:ln w="28575" cmpd="sng">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marR="0" lvl="0" indent="-342900" algn="l" defTabSz="914400" rtl="0" eaLnBrk="1" fontAlgn="base" latinLnBrk="0" hangingPunct="1">
              <a:lnSpc>
                <a:spcPct val="150000"/>
              </a:lnSpc>
              <a:spcBef>
                <a:spcPct val="0"/>
              </a:spcBef>
              <a:spcAft>
                <a:spcPct val="0"/>
              </a:spcAft>
              <a:buClr>
                <a:srgbClr val="C00000"/>
              </a:buClr>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早期的</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8086/8088</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为了实现数据和代码的安全，将内存按逻辑段进行管理和使用，不同的逻辑段用来存放不同目的的内容。</a:t>
            </a:r>
            <a:endPar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1" fontAlgn="base" latinLnBrk="0" hangingPunct="1">
              <a:lnSpc>
                <a:spcPct val="150000"/>
              </a:lnSpc>
              <a:spcBef>
                <a:spcPct val="0"/>
              </a:spcBef>
              <a:spcAft>
                <a:spcPct val="0"/>
              </a:spcAft>
              <a:buClr>
                <a:srgbClr val="C00000"/>
              </a:buClr>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在</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IA-32</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中提供了保护模式，数据和代码的安全性得到了保障，在程序设计时仍然延续了分段思想，但是对逻辑段的管理和使用有了很大的变化。段的定义也大大简化。</a:t>
            </a:r>
            <a:endPar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1" fontAlgn="base" latinLnBrk="0" hangingPunct="1">
              <a:lnSpc>
                <a:spcPct val="150000"/>
              </a:lnSpc>
              <a:spcBef>
                <a:spcPct val="0"/>
              </a:spcBef>
              <a:spcAft>
                <a:spcPct val="0"/>
              </a:spcAft>
              <a:buClr>
                <a:srgbClr val="C00000"/>
              </a:buClr>
              <a:buSzTx/>
              <a:buFont typeface="Wingdings" panose="05000000000000000000" pitchFamily="2" charset="2"/>
              <a:buChar char="n"/>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我们将只介绍</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位模式下的段结构定义，有关</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16</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位模式的介绍请参考相应的</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PPT</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资料。</a:t>
            </a:r>
          </a:p>
        </p:txBody>
      </p:sp>
    </p:spTree>
    <p:extLst>
      <p:ext uri="{BB962C8B-B14F-4D97-AF65-F5344CB8AC3E}">
        <p14:creationId xmlns:p14="http://schemas.microsoft.com/office/powerpoint/2010/main" val="227276056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0419"/>
                                        </p:tgtEl>
                                        <p:attrNameLst>
                                          <p:attrName>style.visibility</p:attrName>
                                        </p:attrNameLst>
                                      </p:cBhvr>
                                      <p:to>
                                        <p:strVal val="visible"/>
                                      </p:to>
                                    </p:set>
                                    <p:anim calcmode="lin" valueType="num">
                                      <p:cBhvr additive="base">
                                        <p:cTn id="7" dur="500" fill="hold"/>
                                        <p:tgtEl>
                                          <p:spTgt spid="60419"/>
                                        </p:tgtEl>
                                        <p:attrNameLst>
                                          <p:attrName>ppt_x</p:attrName>
                                        </p:attrNameLst>
                                      </p:cBhvr>
                                      <p:tavLst>
                                        <p:tav tm="0">
                                          <p:val>
                                            <p:strVal val="0-#ppt_w/2"/>
                                          </p:val>
                                        </p:tav>
                                        <p:tav tm="100000">
                                          <p:val>
                                            <p:strVal val="#ppt_x"/>
                                          </p:val>
                                        </p:tav>
                                      </p:tavLst>
                                    </p:anim>
                                    <p:anim calcmode="lin" valueType="num">
                                      <p:cBhvr additive="base">
                                        <p:cTn id="8" dur="500" fill="hold"/>
                                        <p:tgtEl>
                                          <p:spTgt spid="604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2000"/>
                                  </p:stCondLst>
                                  <p:childTnLst>
                                    <p:set>
                                      <p:cBhvr>
                                        <p:cTn id="12" dur="1" fill="hold">
                                          <p:stCondLst>
                                            <p:cond delay="0"/>
                                          </p:stCondLst>
                                        </p:cTn>
                                        <p:tgtEl>
                                          <p:spTgt spid="60420">
                                            <p:txEl>
                                              <p:pRg st="0" end="0"/>
                                            </p:txEl>
                                          </p:spTgt>
                                        </p:tgtEl>
                                        <p:attrNameLst>
                                          <p:attrName>style.visibility</p:attrName>
                                        </p:attrNameLst>
                                      </p:cBhvr>
                                      <p:to>
                                        <p:strVal val="visible"/>
                                      </p:to>
                                    </p:set>
                                    <p:animEffect transition="in" filter="blinds(vertical)">
                                      <p:cBhvr>
                                        <p:cTn id="13" dur="500"/>
                                        <p:tgtEl>
                                          <p:spTgt spid="6042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2000"/>
                                  </p:stCondLst>
                                  <p:childTnLst>
                                    <p:set>
                                      <p:cBhvr>
                                        <p:cTn id="17" dur="1" fill="hold">
                                          <p:stCondLst>
                                            <p:cond delay="0"/>
                                          </p:stCondLst>
                                        </p:cTn>
                                        <p:tgtEl>
                                          <p:spTgt spid="60420">
                                            <p:txEl>
                                              <p:pRg st="1" end="1"/>
                                            </p:txEl>
                                          </p:spTgt>
                                        </p:tgtEl>
                                        <p:attrNameLst>
                                          <p:attrName>style.visibility</p:attrName>
                                        </p:attrNameLst>
                                      </p:cBhvr>
                                      <p:to>
                                        <p:strVal val="visible"/>
                                      </p:to>
                                    </p:set>
                                    <p:animEffect transition="in" filter="blinds(vertical)">
                                      <p:cBhvr>
                                        <p:cTn id="18" dur="500"/>
                                        <p:tgtEl>
                                          <p:spTgt spid="60420">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5" fill="hold" grpId="0" nodeType="clickEffect">
                                  <p:stCondLst>
                                    <p:cond delay="2000"/>
                                  </p:stCondLst>
                                  <p:childTnLst>
                                    <p:set>
                                      <p:cBhvr>
                                        <p:cTn id="22" dur="1" fill="hold">
                                          <p:stCondLst>
                                            <p:cond delay="0"/>
                                          </p:stCondLst>
                                        </p:cTn>
                                        <p:tgtEl>
                                          <p:spTgt spid="60420">
                                            <p:txEl>
                                              <p:pRg st="2" end="2"/>
                                            </p:txEl>
                                          </p:spTgt>
                                        </p:tgtEl>
                                        <p:attrNameLst>
                                          <p:attrName>style.visibility</p:attrName>
                                        </p:attrNameLst>
                                      </p:cBhvr>
                                      <p:to>
                                        <p:strVal val="visible"/>
                                      </p:to>
                                    </p:set>
                                    <p:animEffect transition="in" filter="blinds(vertical)">
                                      <p:cBhvr>
                                        <p:cTn id="23" dur="500"/>
                                        <p:tgtEl>
                                          <p:spTgt spid="604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animBg="1" autoUpdateAnimBg="0"/>
      <p:bldP spid="60420" grpId="0" uiExpand="1"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5576" y="116632"/>
            <a:ext cx="3888432"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先来看一个加法</a:t>
            </a:r>
            <a:r>
              <a:rPr kumimoji="0" lang="zh-CN" altLang="en-US" sz="2400" b="1" i="0" u="none" strike="noStrike" kern="1200" cap="none" spc="0" normalizeH="0" baseline="0" noProof="0" dirty="0" smtClean="0">
                <a:ln>
                  <a:noFill/>
                </a:ln>
                <a:solidFill>
                  <a:srgbClr val="000000"/>
                </a:solidFill>
                <a:effectLst/>
                <a:uLnTx/>
                <a:uFillTx/>
                <a:latin typeface="Times New Roman" pitchFamily="18" charset="0"/>
                <a:ea typeface="宋体" pitchFamily="2" charset="-122"/>
                <a:cs typeface="+mn-cs"/>
              </a:rPr>
              <a:t>程序例子</a:t>
            </a:r>
            <a:endPar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3" name="文本框 2"/>
          <p:cNvSpPr txBox="1"/>
          <p:nvPr/>
        </p:nvSpPr>
        <p:spPr>
          <a:xfrm>
            <a:off x="611560" y="578297"/>
            <a:ext cx="8208912" cy="563231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三个数据相加程序</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.386</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.model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flat,stdcall</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ExitProcess</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PROTO,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dwExitCode:DWORD</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.data</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firstval</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DWORD 20002000h</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secondval</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DWORD 11111111h</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thirdval</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DWORD 22222222h</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sum	    DWORD 0</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.code</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main PROC</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eax</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firstval</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add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eax,secondval</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add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eax,thirdval</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sum,eax</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INVOKE ExitProcess,0</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main   ENDP</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END   main</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 name="文本框 3"/>
          <p:cNvSpPr txBox="1"/>
          <p:nvPr/>
        </p:nvSpPr>
        <p:spPr>
          <a:xfrm>
            <a:off x="467544" y="6210608"/>
            <a:ext cx="8568952" cy="45875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400" b="1" i="0" u="none" strike="noStrike" kern="1200" cap="none" spc="0" normalizeH="0" baseline="0" noProof="0" dirty="0">
                <a:ln>
                  <a:noFill/>
                </a:ln>
                <a:solidFill>
                  <a:srgbClr val="0066FF"/>
                </a:solidFill>
                <a:effectLst/>
                <a:uLnTx/>
                <a:uFillTx/>
                <a:latin typeface="Times New Roman" pitchFamily="18" charset="0"/>
                <a:ea typeface="宋体" pitchFamily="2" charset="-122"/>
                <a:cs typeface="+mn-cs"/>
              </a:rPr>
              <a:t>该程序实现对内存中三个数据相加，然后再存入内存。</a:t>
            </a:r>
          </a:p>
        </p:txBody>
      </p:sp>
      <p:sp>
        <p:nvSpPr>
          <p:cNvPr id="5"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fld id="{0699987E-584F-45D1-B460-8989DE53CBDE}"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t>56</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743218168"/>
      </p:ext>
    </p:extLst>
  </p:cSld>
  <p:clrMapOvr>
    <a:masterClrMapping/>
  </p:clrMapOvr>
  <p:transition>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59632" y="116632"/>
            <a:ext cx="4824536" cy="461665"/>
          </a:xfrm>
          <a:prstGeom prst="rect">
            <a:avLst/>
          </a:prstGeom>
          <a:solidFill>
            <a:srgbClr val="FFFF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Win32</a:t>
            </a:r>
            <a:r>
              <a:rPr kumimoji="0" lang="zh-CN" altLang="en-US"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汇编语言源程序一般框架</a:t>
            </a:r>
          </a:p>
        </p:txBody>
      </p:sp>
      <p:sp>
        <p:nvSpPr>
          <p:cNvPr id="3" name="矩形 2"/>
          <p:cNvSpPr/>
          <p:nvPr/>
        </p:nvSpPr>
        <p:spPr>
          <a:xfrm>
            <a:off x="971600" y="578297"/>
            <a:ext cx="4572000" cy="6247864"/>
          </a:xfrm>
          <a:prstGeom prst="rect">
            <a:avLst/>
          </a:prstGeom>
        </p:spPr>
        <p:txBody>
          <a:bodyPr>
            <a:spAutoFit/>
          </a:bodyPr>
          <a:lstStyle/>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.386</a:t>
            </a:r>
            <a:endPar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.MODEL </a:t>
            </a:r>
            <a:r>
              <a:rPr kumimoji="0" lang="en-US" altLang="zh-CN" sz="2000" b="1" i="0" u="none" strike="noStrike" kern="1200" cap="none" spc="0" normalizeH="0" baseline="0" noProof="0" dirty="0" err="1">
                <a:ln>
                  <a:noFill/>
                </a:ln>
                <a:solidFill>
                  <a:srgbClr val="000000"/>
                </a:solidFill>
                <a:effectLst/>
                <a:uLnTx/>
                <a:uFillTx/>
                <a:latin typeface="Courier"/>
                <a:ea typeface="宋体" pitchFamily="2" charset="-122"/>
                <a:cs typeface="+mn-cs"/>
              </a:rPr>
              <a:t>flat,stdcall</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OPTION</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uLnTx/>
                <a:uFillTx/>
                <a:latin typeface="Courier"/>
                <a:ea typeface="宋体" pitchFamily="2" charset="-122"/>
                <a:cs typeface="+mn-cs"/>
              </a:rPr>
              <a:t>casemap:none</a:t>
            </a:r>
            <a:endPar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&lt;</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一些</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include</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语句</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&gt;</a:t>
            </a: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tab pos="1308100" algn="l"/>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INCLUDE</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user32.inc</a:t>
            </a: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tab pos="1308100" algn="l"/>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INCLUDE</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kernel32.inc</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tab pos="1308100" algn="l"/>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INCLUDELIB</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user32.lib</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tab pos="1308100" algn="l"/>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INCLUDELIB</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kernel32.lib</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.STACK </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堆栈段的大小</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.DATA</a:t>
            </a:r>
            <a:endPar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&lt;</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一些初始化过的变量定义</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&gt;</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.DATA?</a:t>
            </a:r>
            <a:endPar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&lt;</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一些没有初始化过的变量定义</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&gt;</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.CONST</a:t>
            </a:r>
            <a:endPar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&lt;</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一些常量定义</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&gt;</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.CODE</a:t>
            </a:r>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0070C0"/>
                </a:solidFill>
                <a:effectLst/>
                <a:uLnTx/>
                <a:uFillTx/>
                <a:latin typeface="Courier"/>
                <a:ea typeface="宋体" pitchFamily="2" charset="-122"/>
                <a:cs typeface="+mn-cs"/>
              </a:rPr>
              <a:t>main</a:t>
            </a:r>
            <a:r>
              <a:rPr kumimoji="0" lang="zh-CN" altLang="en-US" sz="2000" b="1" i="0" u="none" strike="noStrike" kern="1200" cap="none" spc="0" normalizeH="0" baseline="0" noProof="0" dirty="0">
                <a:ln>
                  <a:noFill/>
                </a:ln>
                <a:solidFill>
                  <a:srgbClr val="000000"/>
                </a:solidFill>
                <a:effectLst/>
                <a:uLnTx/>
                <a:uFillTx/>
                <a:latin typeface="Courier"/>
                <a:ea typeface="宋体" pitchFamily="2" charset="-122"/>
                <a:cs typeface="+mn-cs"/>
              </a:rPr>
              <a:t> </a:t>
            </a: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PROC</a:t>
            </a:r>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a:t>
            </a:r>
            <a:r>
              <a:rPr kumimoji="0" lang="zh-CN" altLang="en-US" sz="2000" b="1" i="0" u="none" strike="noStrike" kern="1200" cap="none" spc="0" normalizeH="0" baseline="0" noProof="0" dirty="0">
                <a:ln>
                  <a:noFill/>
                </a:ln>
                <a:solidFill>
                  <a:srgbClr val="000000"/>
                </a:solidFill>
                <a:effectLst/>
                <a:uLnTx/>
                <a:uFillTx/>
                <a:latin typeface="Courier"/>
                <a:ea typeface="宋体" pitchFamily="2" charset="-122"/>
                <a:cs typeface="+mn-cs"/>
              </a:rPr>
              <a:t>     </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&lt;</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其他语句</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&gt;</a:t>
            </a: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mian</a:t>
            </a: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ENDP</a:t>
            </a:r>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ts val="0"/>
              </a:spcAft>
              <a:buClrTx/>
              <a:buSzTx/>
              <a:buFont typeface="Arial" pitchFamily="34" charset="0"/>
              <a:buNone/>
              <a:tabLst/>
              <a:defRPr/>
            </a:pPr>
            <a:r>
              <a:rPr kumimoji="0" lang="en-US" altLang="zh-CN" sz="2000" b="1" i="0" u="none" strike="noStrike" kern="1200" cap="none" spc="0" normalizeH="0" baseline="0" noProof="0" dirty="0">
                <a:ln>
                  <a:noFill/>
                </a:ln>
                <a:solidFill>
                  <a:srgbClr val="FF0000"/>
                </a:solidFill>
                <a:effectLst/>
                <a:uLnTx/>
                <a:uFillTx/>
                <a:latin typeface="Courier"/>
                <a:ea typeface="宋体" pitchFamily="2" charset="-122"/>
                <a:cs typeface="+mn-cs"/>
              </a:rPr>
              <a:t>END</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 </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itchFamily="2" charset="-122"/>
                <a:cs typeface="+mn-cs"/>
              </a:rPr>
              <a:t>main</a:t>
            </a:r>
            <a:endParaRPr kumimoji="0" lang="zh-CN" altLang="en-US" sz="2000" b="1" i="0" u="none" strike="noStrike" kern="1200" cap="none" spc="0" normalizeH="0" baseline="0" noProof="0" dirty="0">
              <a:ln>
                <a:noFill/>
              </a:ln>
              <a:solidFill>
                <a:srgbClr val="0070C0"/>
              </a:solidFill>
              <a:effectLst/>
              <a:uLnTx/>
              <a:uFillTx/>
              <a:latin typeface="Times New Roman" pitchFamily="18" charset="0"/>
              <a:ea typeface="宋体" pitchFamily="2" charset="-122"/>
              <a:cs typeface="+mn-cs"/>
            </a:endParaRPr>
          </a:p>
        </p:txBody>
      </p:sp>
      <p:sp>
        <p:nvSpPr>
          <p:cNvPr id="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fld id="{0699987E-584F-45D1-B460-8989DE53CBDE}"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t>57</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2793855817"/>
      </p:ext>
    </p:extLst>
  </p:cSld>
  <p:clrMapOvr>
    <a:masterClrMapping/>
  </p:clrMapOvr>
  <p:transition>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8948" y="534846"/>
            <a:ext cx="7920880" cy="1646605"/>
          </a:xfrm>
          <a:prstGeom prst="rect">
            <a:avLst/>
          </a:prstGeom>
        </p:spPr>
        <p:txBody>
          <a:bodyPr wrap="square">
            <a:spAutoFit/>
          </a:bodyPr>
          <a:lstStyle/>
          <a:p>
            <a:pPr marL="0" marR="0" lvl="0" indent="266700" algn="l" defTabSz="914400" rtl="0" eaLnBrk="0" fontAlgn="auto" latinLnBrk="0" hangingPunct="0">
              <a:lnSpc>
                <a:spcPct val="100000"/>
              </a:lnSpc>
              <a:spcBef>
                <a:spcPts val="0"/>
              </a:spcBef>
              <a:spcAft>
                <a:spcPts val="60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程序的开始部分是模式和源程序格式的定义语句：</a:t>
            </a:r>
            <a:endPar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Courier"/>
                <a:ea typeface="宋体" pitchFamily="2" charset="-122"/>
                <a:cs typeface="+mn-cs"/>
              </a:rPr>
              <a:t>	</a:t>
            </a:r>
            <a:r>
              <a:rPr kumimoji="0" lang="en-US" altLang="zh-CN" sz="2400" b="1" i="0" u="none" strike="noStrike" kern="0" cap="none" spc="0" normalizeH="0" baseline="0" noProof="0" dirty="0">
                <a:ln>
                  <a:noFill/>
                </a:ln>
                <a:solidFill>
                  <a:srgbClr val="000000"/>
                </a:solidFill>
                <a:effectLst/>
                <a:uLnTx/>
                <a:uFillTx/>
                <a:latin typeface="Courier"/>
                <a:ea typeface="宋体" pitchFamily="2" charset="-122"/>
                <a:cs typeface="+mn-cs"/>
              </a:rPr>
              <a:t>.386</a:t>
            </a:r>
            <a:endPar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Courier"/>
                <a:ea typeface="宋体" pitchFamily="2" charset="-122"/>
                <a:cs typeface="+mn-cs"/>
              </a:rPr>
              <a:t>	</a:t>
            </a:r>
            <a:r>
              <a:rPr kumimoji="0" lang="en-US" altLang="zh-CN" sz="2400" b="1" i="0" u="none" strike="noStrike" kern="0" cap="none" spc="0" normalizeH="0" baseline="0" noProof="0" dirty="0">
                <a:ln>
                  <a:noFill/>
                </a:ln>
                <a:solidFill>
                  <a:srgbClr val="000000"/>
                </a:solidFill>
                <a:effectLst/>
                <a:uLnTx/>
                <a:uFillTx/>
                <a:latin typeface="Courier"/>
                <a:ea typeface="宋体" pitchFamily="2" charset="-122"/>
                <a:cs typeface="+mn-cs"/>
              </a:rPr>
              <a:t>.MODEL </a:t>
            </a:r>
            <a:r>
              <a:rPr kumimoji="0" lang="en-US" altLang="zh-CN" sz="2400" b="1" i="0" u="none" strike="noStrike" kern="0" cap="none" spc="0" normalizeH="0" baseline="0" noProof="0" dirty="0" err="1">
                <a:ln>
                  <a:noFill/>
                </a:ln>
                <a:solidFill>
                  <a:srgbClr val="000000"/>
                </a:solidFill>
                <a:effectLst/>
                <a:uLnTx/>
                <a:uFillTx/>
                <a:latin typeface="Courier"/>
                <a:ea typeface="宋体" pitchFamily="2" charset="-122"/>
                <a:cs typeface="+mn-cs"/>
              </a:rPr>
              <a:t>flat,stdcall</a:t>
            </a:r>
            <a:endPar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000000"/>
                </a:solidFill>
                <a:effectLst/>
                <a:uLnTx/>
                <a:uFillTx/>
                <a:latin typeface="Courier"/>
                <a:ea typeface="宋体" pitchFamily="2" charset="-122"/>
                <a:cs typeface="+mn-cs"/>
              </a:rPr>
              <a:t>	OPTION </a:t>
            </a:r>
            <a:r>
              <a:rPr kumimoji="0" lang="en-US" altLang="zh-CN" sz="2400" b="1" i="0" u="none" strike="noStrike" kern="0" cap="none" spc="0" normalizeH="0" baseline="0" noProof="0" dirty="0" err="1">
                <a:ln>
                  <a:noFill/>
                </a:ln>
                <a:solidFill>
                  <a:srgbClr val="000000"/>
                </a:solidFill>
                <a:effectLst/>
                <a:uLnTx/>
                <a:uFillTx/>
                <a:latin typeface="Courier"/>
                <a:ea typeface="宋体" pitchFamily="2" charset="-122"/>
                <a:cs typeface="+mn-cs"/>
              </a:rPr>
              <a:t>casemap:none</a:t>
            </a:r>
            <a:endPar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7" name="Text Box 2"/>
          <p:cNvSpPr txBox="1">
            <a:spLocks noChangeArrowheads="1"/>
          </p:cNvSpPr>
          <p:nvPr/>
        </p:nvSpPr>
        <p:spPr bwMode="auto">
          <a:xfrm>
            <a:off x="107504" y="3068960"/>
            <a:ext cx="9036496" cy="368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auto" latinLnBrk="0" hangingPunct="0">
              <a:lnSpc>
                <a:spcPts val="3500"/>
              </a:lnSpc>
              <a:spcBef>
                <a:spcPct val="0"/>
              </a:spcBef>
              <a:spcAft>
                <a:spcPts val="0"/>
              </a:spcAft>
              <a:buClrTx/>
              <a:buSzTx/>
              <a:buFontTx/>
              <a:buNone/>
              <a:tabLst/>
              <a:defRPr/>
            </a:pPr>
            <a:r>
              <a:rPr kumimoji="0" lang="pt-BR"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.8086</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只允许</a:t>
            </a:r>
            <a:r>
              <a:rPr kumimoji="0" lang="pt-BR"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8086/8088</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指令集。</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现在的</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VS</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环境下已不支持</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0" fontAlgn="auto" latinLnBrk="0" hangingPunct="0">
              <a:lnSpc>
                <a:spcPts val="3500"/>
              </a:lnSpc>
              <a:spcBef>
                <a:spcPct val="0"/>
              </a:spcBef>
              <a:spcAft>
                <a:spcPts val="0"/>
              </a:spcAft>
              <a:buClrTx/>
              <a:buSzTx/>
              <a:buFontTx/>
              <a:buNone/>
              <a:tabLst/>
              <a:defRPr/>
            </a:pPr>
            <a:r>
              <a:rPr kumimoji="0" lang="pt-BR"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.386</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允许</a:t>
            </a:r>
            <a:r>
              <a:rPr kumimoji="0" lang="pt-BR"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80386</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及之前的非特权指令集，不支持之后新增的指令</a:t>
            </a:r>
          </a:p>
          <a:p>
            <a:pPr marL="0" marR="0" lvl="0" indent="0" algn="l" defTabSz="914400" rtl="0" eaLnBrk="0" fontAlgn="auto" latinLnBrk="0" hangingPunct="0">
              <a:lnSpc>
                <a:spcPts val="3500"/>
              </a:lnSpc>
              <a:spcBef>
                <a:spcPct val="0"/>
              </a:spcBef>
              <a:spcAft>
                <a:spcPts val="0"/>
              </a:spcAft>
              <a:buClrTx/>
              <a:buSzTx/>
              <a:buFontTx/>
              <a:buNone/>
              <a:tabLst/>
              <a:defRPr/>
            </a:pPr>
            <a:r>
              <a:rPr kumimoji="0" lang="pt-BR"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.386P</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允许</a:t>
            </a:r>
            <a:r>
              <a:rPr kumimoji="0" lang="pt-BR"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80386</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及之前的全部指令（含特权指令），不支持之后新增的指令。</a:t>
            </a: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auto" latinLnBrk="0" hangingPunct="0">
              <a:lnSpc>
                <a:spcPts val="3500"/>
              </a:lnSpc>
              <a:spcBef>
                <a:spcPct val="0"/>
              </a:spcBef>
              <a:spcAft>
                <a:spcPts val="0"/>
              </a:spcAft>
              <a:buClrTx/>
              <a:buSzTx/>
              <a:buFontTx/>
              <a:buNone/>
              <a:tabLst/>
              <a:defRPr/>
            </a:pPr>
            <a:r>
              <a:rPr kumimoji="0"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.586:</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允许</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Pentium</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及之前的非特权指令集，不支持之后新增的指令</a:t>
            </a: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auto" latinLnBrk="0" hangingPunct="0">
              <a:lnSpc>
                <a:spcPts val="3500"/>
              </a:lnSpc>
              <a:spcBef>
                <a:spcPct val="0"/>
              </a:spcBef>
              <a:spcAft>
                <a:spcPts val="0"/>
              </a:spcAft>
              <a:buClrTx/>
              <a:buSzTx/>
              <a:buFontTx/>
              <a:buNone/>
              <a:tabLst/>
              <a:defRPr/>
            </a:pPr>
            <a:r>
              <a:rPr kumimoji="0"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.586P:</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允许</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Pentium</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及之前的全部指令集，不支持之后新增的指令</a:t>
            </a: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auto" latinLnBrk="0" hangingPunct="0">
              <a:lnSpc>
                <a:spcPts val="3500"/>
              </a:lnSpc>
              <a:spcBef>
                <a:spcPct val="0"/>
              </a:spcBef>
              <a:spcAft>
                <a:spcPts val="0"/>
              </a:spcAft>
              <a:buClrTx/>
              <a:buSzTx/>
              <a:buFontTx/>
              <a:buNone/>
              <a:tabLst/>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mmx:</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扩充了</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MMX</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指令集</a:t>
            </a: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auto" latinLnBrk="0" hangingPunct="0">
              <a:lnSpc>
                <a:spcPts val="3500"/>
              </a:lnSpc>
              <a:spcBef>
                <a:spcPct val="0"/>
              </a:spcBef>
              <a:spcAft>
                <a:spcPts val="0"/>
              </a:spcAft>
              <a:buClrTx/>
              <a:buSzTx/>
              <a:buFontTx/>
              <a:buNone/>
              <a:tabLst/>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8" name="矩形 7"/>
          <p:cNvSpPr/>
          <p:nvPr/>
        </p:nvSpPr>
        <p:spPr>
          <a:xfrm>
            <a:off x="52614" y="2163540"/>
            <a:ext cx="5990743" cy="461665"/>
          </a:xfrm>
          <a:prstGeom prst="rect">
            <a:avLst/>
          </a:prstGeom>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uLnTx/>
                <a:uFillTx/>
                <a:latin typeface="Courier"/>
                <a:ea typeface="宋体" pitchFamily="2" charset="-122"/>
                <a:cs typeface="+mn-cs"/>
              </a:rPr>
              <a:t>.386----</a:t>
            </a:r>
            <a:r>
              <a:rPr kumimoji="0" lang="zh-CN" altLang="en-US" sz="2400" b="1" i="0" u="none" strike="noStrike" kern="0" cap="none" spc="0" normalizeH="0" baseline="0" noProof="0" dirty="0">
                <a:ln>
                  <a:noFill/>
                </a:ln>
                <a:solidFill>
                  <a:srgbClr val="C00000"/>
                </a:solidFill>
                <a:effectLst/>
                <a:uLnTx/>
                <a:uFillTx/>
                <a:latin typeface="Courier"/>
                <a:ea typeface="宋体" pitchFamily="2" charset="-122"/>
                <a:cs typeface="+mn-cs"/>
              </a:rPr>
              <a:t>该伪指令用来指定允许的指令集</a:t>
            </a:r>
            <a:endParaRPr kumimoji="0" lang="zh-CN" altLang="en-US"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endParaRPr>
          </a:p>
        </p:txBody>
      </p:sp>
      <p:sp>
        <p:nvSpPr>
          <p:cNvPr id="9" name="文本框 8"/>
          <p:cNvSpPr txBox="1"/>
          <p:nvPr/>
        </p:nvSpPr>
        <p:spPr>
          <a:xfrm>
            <a:off x="125254" y="2625205"/>
            <a:ext cx="5814897" cy="461665"/>
          </a:xfrm>
          <a:prstGeom prst="rect">
            <a:avLst/>
          </a:prstGeom>
          <a:noFill/>
        </p:spPr>
        <p:txBody>
          <a:bodyPr wrap="square" rtlCol="0">
            <a:spAutoFit/>
          </a:bodyPr>
          <a:lstStyle/>
          <a:p>
            <a:pPr marL="0" marR="0" lvl="0" indent="0" algn="l" defTabSz="914400" rtl="0" eaLnBrk="0" fontAlgn="auto" latinLnBrk="0" hangingPunct="0">
              <a:lnSpc>
                <a:spcPct val="100000"/>
              </a:lnSpc>
              <a:spcBef>
                <a:spcPts val="0"/>
              </a:spcBef>
              <a:spcAft>
                <a:spcPts val="0"/>
              </a:spcAft>
              <a:buClr>
                <a:srgbClr val="C00000"/>
              </a:buClr>
              <a:buSzTx/>
              <a:buFontTx/>
              <a:buNone/>
              <a:tabLst/>
              <a:defRPr/>
            </a:pP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可以是指定的指令集定义伪指令有：</a:t>
            </a:r>
          </a:p>
        </p:txBody>
      </p:sp>
      <p:sp>
        <p:nvSpPr>
          <p:cNvPr id="1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fld id="{0699987E-584F-45D1-B460-8989DE53CBDE}"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t>58</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1" name="文本框 10"/>
          <p:cNvSpPr txBox="1"/>
          <p:nvPr/>
        </p:nvSpPr>
        <p:spPr>
          <a:xfrm>
            <a:off x="827584" y="44624"/>
            <a:ext cx="3312368" cy="461665"/>
          </a:xfrm>
          <a:prstGeom prst="rect">
            <a:avLst/>
          </a:prstGeom>
          <a:solidFill>
            <a:srgbClr val="FFFF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一、模式与格式定义</a:t>
            </a:r>
          </a:p>
        </p:txBody>
      </p:sp>
    </p:spTree>
    <p:extLst>
      <p:ext uri="{BB962C8B-B14F-4D97-AF65-F5344CB8AC3E}">
        <p14:creationId xmlns:p14="http://schemas.microsoft.com/office/powerpoint/2010/main" val="219134652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utoUpdateAnimBg="0"/>
      <p:bldP spid="8" grpId="0"/>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extLst>
              <p:ext uri="{D42A27DB-BD31-4B8C-83A1-F6EECF244321}">
                <p14:modId xmlns:p14="http://schemas.microsoft.com/office/powerpoint/2010/main" val="1035574163"/>
              </p:ext>
            </p:extLst>
          </p:nvPr>
        </p:nvGraphicFramePr>
        <p:xfrm>
          <a:off x="107504" y="1063289"/>
          <a:ext cx="9036496" cy="2743200"/>
        </p:xfrm>
        <a:graphic>
          <a:graphicData uri="http://schemas.openxmlformats.org/drawingml/2006/table">
            <a:tbl>
              <a:tblPr/>
              <a:tblGrid>
                <a:gridCol w="1296144">
                  <a:extLst>
                    <a:ext uri="{9D8B030D-6E8A-4147-A177-3AD203B41FA5}">
                      <a16:colId xmlns:a16="http://schemas.microsoft.com/office/drawing/2014/main" val="1228647523"/>
                    </a:ext>
                  </a:extLst>
                </a:gridCol>
                <a:gridCol w="7740352">
                  <a:extLst>
                    <a:ext uri="{9D8B030D-6E8A-4147-A177-3AD203B41FA5}">
                      <a16:colId xmlns:a16="http://schemas.microsoft.com/office/drawing/2014/main" val="1033901028"/>
                    </a:ext>
                  </a:extLst>
                </a:gridCol>
              </a:tblGrid>
              <a:tr h="0">
                <a:tc gridSpan="2">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endParaRPr lang="zh-CN" altLang="en-US" sz="2000" b="1">
                        <a:solidFill>
                          <a:srgbClr val="002060"/>
                        </a:solidFill>
                      </a:endParaRPr>
                    </a:p>
                  </a:txBody>
                  <a:tcPr marL="0" marR="0" marT="0" marB="0">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3F3F3"/>
                    </a:solidFill>
                  </a:tcPr>
                </a:tc>
                <a:tc hMerge="1">
                  <a:txBody>
                    <a:bodyPr/>
                    <a:lstStyle/>
                    <a:p>
                      <a:endParaRPr lang="zh-CN" altLang="en-US"/>
                    </a:p>
                  </a:txBody>
                  <a:tcPr/>
                </a:tc>
                <a:extLst>
                  <a:ext uri="{0D108BD9-81ED-4DB2-BD59-A6C34878D82A}">
                    <a16:rowId xmlns:a16="http://schemas.microsoft.com/office/drawing/2014/main" val="1861759654"/>
                  </a:ext>
                </a:extLst>
              </a:tr>
              <a:tr h="0">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spcAft>
                          <a:spcPts val="0"/>
                        </a:spcAft>
                      </a:pPr>
                      <a:r>
                        <a:rPr lang="zh-CN" altLang="en-US" sz="2000" b="1" dirty="0">
                          <a:solidFill>
                            <a:srgbClr val="002060"/>
                          </a:solidFill>
                          <a:effectLst/>
                          <a:latin typeface="宋体" panose="02010600030101010101" pitchFamily="2" charset="-122"/>
                          <a:ea typeface="宋体" panose="02010600030101010101" pitchFamily="2" charset="-122"/>
                        </a:rPr>
                        <a:t>内存模式</a:t>
                      </a:r>
                      <a:endParaRPr lang="zh-CN" altLang="en-US" sz="2000" b="1" dirty="0">
                        <a:solidFill>
                          <a:srgbClr val="002060"/>
                        </a:solidFill>
                        <a:effectLst/>
                      </a:endParaRPr>
                    </a:p>
                  </a:txBody>
                  <a:tcPr marL="0" marR="0" marT="0"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spcAft>
                          <a:spcPts val="0"/>
                        </a:spcAft>
                      </a:pPr>
                      <a:r>
                        <a:rPr lang="zh-CN" altLang="en-US" sz="2000" b="1" dirty="0">
                          <a:solidFill>
                            <a:srgbClr val="002060"/>
                          </a:solidFill>
                          <a:effectLst/>
                          <a:latin typeface="宋体" panose="02010600030101010101" pitchFamily="2" charset="-122"/>
                          <a:ea typeface="宋体" panose="02010600030101010101" pitchFamily="2" charset="-122"/>
                        </a:rPr>
                        <a:t>内</a:t>
                      </a:r>
                      <a:r>
                        <a:rPr lang="zh-CN" altLang="en-US" sz="2000" b="1" dirty="0">
                          <a:solidFill>
                            <a:srgbClr val="002060"/>
                          </a:solidFill>
                          <a:effectLst/>
                        </a:rPr>
                        <a:t> </a:t>
                      </a:r>
                      <a:r>
                        <a:rPr lang="zh-CN" altLang="en-US" sz="2000" b="1" dirty="0">
                          <a:solidFill>
                            <a:srgbClr val="002060"/>
                          </a:solidFill>
                          <a:effectLst/>
                          <a:latin typeface="宋体" panose="02010600030101010101" pitchFamily="2" charset="-122"/>
                          <a:ea typeface="宋体" panose="02010600030101010101" pitchFamily="2" charset="-122"/>
                        </a:rPr>
                        <a:t>存</a:t>
                      </a:r>
                      <a:r>
                        <a:rPr lang="zh-CN" altLang="en-US" sz="2000" b="1" dirty="0">
                          <a:solidFill>
                            <a:srgbClr val="002060"/>
                          </a:solidFill>
                          <a:effectLst/>
                        </a:rPr>
                        <a:t> </a:t>
                      </a:r>
                      <a:r>
                        <a:rPr lang="zh-CN" altLang="en-US" sz="2000" b="1" dirty="0">
                          <a:solidFill>
                            <a:srgbClr val="002060"/>
                          </a:solidFill>
                          <a:effectLst/>
                          <a:latin typeface="宋体" panose="02010600030101010101" pitchFamily="2" charset="-122"/>
                          <a:ea typeface="宋体" panose="02010600030101010101" pitchFamily="2" charset="-122"/>
                        </a:rPr>
                        <a:t>使</a:t>
                      </a:r>
                      <a:r>
                        <a:rPr lang="zh-CN" altLang="en-US" sz="2000" b="1" dirty="0">
                          <a:solidFill>
                            <a:srgbClr val="002060"/>
                          </a:solidFill>
                          <a:effectLst/>
                        </a:rPr>
                        <a:t> </a:t>
                      </a:r>
                      <a:r>
                        <a:rPr lang="zh-CN" altLang="en-US" sz="2000" b="1" dirty="0">
                          <a:solidFill>
                            <a:srgbClr val="002060"/>
                          </a:solidFill>
                          <a:effectLst/>
                          <a:latin typeface="宋体" panose="02010600030101010101" pitchFamily="2" charset="-122"/>
                          <a:ea typeface="宋体" panose="02010600030101010101" pitchFamily="2" charset="-122"/>
                        </a:rPr>
                        <a:t>用</a:t>
                      </a:r>
                      <a:r>
                        <a:rPr lang="zh-CN" altLang="en-US" sz="2000" b="1" dirty="0">
                          <a:solidFill>
                            <a:srgbClr val="002060"/>
                          </a:solidFill>
                          <a:effectLst/>
                        </a:rPr>
                        <a:t> </a:t>
                      </a:r>
                      <a:r>
                        <a:rPr lang="zh-CN" altLang="en-US" sz="2000" b="1" dirty="0">
                          <a:solidFill>
                            <a:srgbClr val="002060"/>
                          </a:solidFill>
                          <a:effectLst/>
                          <a:latin typeface="宋体" panose="02010600030101010101" pitchFamily="2" charset="-122"/>
                          <a:ea typeface="宋体" panose="02010600030101010101" pitchFamily="2" charset="-122"/>
                        </a:rPr>
                        <a:t>方</a:t>
                      </a:r>
                      <a:r>
                        <a:rPr lang="zh-CN" altLang="en-US" sz="2000" b="1" dirty="0">
                          <a:solidFill>
                            <a:srgbClr val="002060"/>
                          </a:solidFill>
                          <a:effectLst/>
                        </a:rPr>
                        <a:t> </a:t>
                      </a:r>
                      <a:r>
                        <a:rPr lang="zh-CN" altLang="en-US" sz="2000" b="1" dirty="0">
                          <a:solidFill>
                            <a:srgbClr val="002060"/>
                          </a:solidFill>
                          <a:effectLst/>
                          <a:latin typeface="宋体" panose="02010600030101010101" pitchFamily="2" charset="-122"/>
                          <a:ea typeface="宋体" panose="02010600030101010101" pitchFamily="2" charset="-122"/>
                        </a:rPr>
                        <a:t>式</a:t>
                      </a:r>
                      <a:endParaRPr lang="zh-CN" altLang="en-US" sz="2000" b="1" dirty="0">
                        <a:solidFill>
                          <a:srgbClr val="002060"/>
                        </a:solidFill>
                        <a:effectLst/>
                      </a:endParaRPr>
                    </a:p>
                  </a:txBody>
                  <a:tcPr marL="0" marR="0" marT="0"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680301923"/>
                  </a:ext>
                </a:extLst>
              </a:tr>
              <a:tr h="1250950">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spcAft>
                          <a:spcPts val="0"/>
                        </a:spcAft>
                      </a:pPr>
                      <a:r>
                        <a:rPr lang="en-US" sz="2000" b="1" dirty="0">
                          <a:solidFill>
                            <a:srgbClr val="002060"/>
                          </a:solidFill>
                          <a:effectLst/>
                        </a:rPr>
                        <a:t>tiny</a:t>
                      </a:r>
                    </a:p>
                    <a:p>
                      <a:pPr>
                        <a:spcAft>
                          <a:spcPts val="0"/>
                        </a:spcAft>
                      </a:pPr>
                      <a:r>
                        <a:rPr lang="en-US" sz="2000" b="1" dirty="0">
                          <a:solidFill>
                            <a:srgbClr val="002060"/>
                          </a:solidFill>
                          <a:effectLst/>
                        </a:rPr>
                        <a:t>small</a:t>
                      </a:r>
                    </a:p>
                    <a:p>
                      <a:pPr>
                        <a:spcAft>
                          <a:spcPts val="0"/>
                        </a:spcAft>
                      </a:pPr>
                      <a:r>
                        <a:rPr lang="en-US" sz="2000" b="1" dirty="0">
                          <a:solidFill>
                            <a:srgbClr val="002060"/>
                          </a:solidFill>
                          <a:effectLst/>
                        </a:rPr>
                        <a:t>medium</a:t>
                      </a:r>
                    </a:p>
                    <a:p>
                      <a:pPr>
                        <a:spcAft>
                          <a:spcPts val="0"/>
                        </a:spcAft>
                      </a:pPr>
                      <a:r>
                        <a:rPr lang="en-US" sz="2000" b="1" dirty="0">
                          <a:solidFill>
                            <a:srgbClr val="002060"/>
                          </a:solidFill>
                          <a:effectLst/>
                        </a:rPr>
                        <a:t>compact</a:t>
                      </a:r>
                    </a:p>
                    <a:p>
                      <a:pPr>
                        <a:spcAft>
                          <a:spcPts val="0"/>
                        </a:spcAft>
                      </a:pPr>
                      <a:r>
                        <a:rPr lang="en-US" sz="2000" b="1" dirty="0">
                          <a:solidFill>
                            <a:srgbClr val="002060"/>
                          </a:solidFill>
                          <a:effectLst/>
                        </a:rPr>
                        <a:t>large</a:t>
                      </a:r>
                    </a:p>
                    <a:p>
                      <a:pPr>
                        <a:spcAft>
                          <a:spcPts val="0"/>
                        </a:spcAft>
                      </a:pPr>
                      <a:r>
                        <a:rPr lang="en-US" sz="2000" b="1" dirty="0">
                          <a:solidFill>
                            <a:srgbClr val="002060"/>
                          </a:solidFill>
                          <a:effectLst/>
                        </a:rPr>
                        <a:t>huge</a:t>
                      </a:r>
                    </a:p>
                    <a:p>
                      <a:pPr>
                        <a:spcAft>
                          <a:spcPts val="0"/>
                        </a:spcAft>
                      </a:pPr>
                      <a:r>
                        <a:rPr lang="en-US" sz="2000" b="1" dirty="0">
                          <a:solidFill>
                            <a:srgbClr val="002060"/>
                          </a:solidFill>
                          <a:effectLst/>
                        </a:rPr>
                        <a:t>flat</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spcAft>
                          <a:spcPts val="0"/>
                        </a:spcAft>
                      </a:pPr>
                      <a:r>
                        <a:rPr lang="zh-CN" altLang="en-US" sz="2000" b="1" dirty="0">
                          <a:solidFill>
                            <a:srgbClr val="002060"/>
                          </a:solidFill>
                          <a:effectLst/>
                          <a:latin typeface="宋体" panose="02010600030101010101" pitchFamily="2" charset="-122"/>
                          <a:ea typeface="宋体" panose="02010600030101010101" pitchFamily="2" charset="-122"/>
                        </a:rPr>
                        <a:t>用来建立</a:t>
                      </a:r>
                      <a:r>
                        <a:rPr lang="zh-CN" altLang="en-US" sz="2000" b="1" dirty="0">
                          <a:solidFill>
                            <a:srgbClr val="002060"/>
                          </a:solidFill>
                          <a:effectLst/>
                        </a:rPr>
                        <a:t> </a:t>
                      </a:r>
                      <a:r>
                        <a:rPr lang="en-US" altLang="zh-CN" sz="2000" b="1" dirty="0">
                          <a:solidFill>
                            <a:srgbClr val="002060"/>
                          </a:solidFill>
                          <a:effectLst/>
                        </a:rPr>
                        <a:t>.com</a:t>
                      </a:r>
                      <a:r>
                        <a:rPr lang="zh-CN" altLang="en-US" sz="2000" b="1" dirty="0">
                          <a:solidFill>
                            <a:srgbClr val="002060"/>
                          </a:solidFill>
                          <a:effectLst/>
                          <a:latin typeface="宋体" panose="02010600030101010101" pitchFamily="2" charset="-122"/>
                          <a:ea typeface="宋体" panose="02010600030101010101" pitchFamily="2" charset="-122"/>
                        </a:rPr>
                        <a:t>文件，所有的代码、数据和堆栈都在同一个</a:t>
                      </a:r>
                      <a:r>
                        <a:rPr lang="en-US" altLang="zh-CN" sz="2000" b="1" dirty="0">
                          <a:solidFill>
                            <a:srgbClr val="002060"/>
                          </a:solidFill>
                          <a:effectLst/>
                        </a:rPr>
                        <a:t>64 KB</a:t>
                      </a:r>
                      <a:r>
                        <a:rPr lang="zh-CN" altLang="en-US" sz="2000" b="1" dirty="0">
                          <a:solidFill>
                            <a:srgbClr val="002060"/>
                          </a:solidFill>
                          <a:effectLst/>
                          <a:latin typeface="宋体" panose="02010600030101010101" pitchFamily="2" charset="-122"/>
                          <a:ea typeface="宋体" panose="02010600030101010101" pitchFamily="2" charset="-122"/>
                        </a:rPr>
                        <a:t>段内</a:t>
                      </a:r>
                      <a:endParaRPr lang="zh-CN" altLang="en-US" sz="2000" b="1" dirty="0">
                        <a:solidFill>
                          <a:srgbClr val="002060"/>
                        </a:solidFill>
                        <a:effectLst/>
                      </a:endParaRPr>
                    </a:p>
                    <a:p>
                      <a:pPr>
                        <a:spcAft>
                          <a:spcPts val="0"/>
                        </a:spcAft>
                      </a:pPr>
                      <a:r>
                        <a:rPr lang="zh-CN" altLang="en-US" sz="2000" b="1" dirty="0">
                          <a:solidFill>
                            <a:srgbClr val="002060"/>
                          </a:solidFill>
                          <a:effectLst/>
                          <a:latin typeface="宋体" panose="02010600030101010101" pitchFamily="2" charset="-122"/>
                          <a:ea typeface="宋体" panose="02010600030101010101" pitchFamily="2" charset="-122"/>
                        </a:rPr>
                        <a:t>建立代码和数据分别用一个</a:t>
                      </a:r>
                      <a:r>
                        <a:rPr lang="en-US" altLang="zh-CN" sz="2000" b="1" dirty="0">
                          <a:solidFill>
                            <a:srgbClr val="002060"/>
                          </a:solidFill>
                          <a:effectLst/>
                        </a:rPr>
                        <a:t>64 KB</a:t>
                      </a:r>
                      <a:r>
                        <a:rPr lang="zh-CN" altLang="en-US" sz="2000" b="1" dirty="0">
                          <a:solidFill>
                            <a:srgbClr val="002060"/>
                          </a:solidFill>
                          <a:effectLst/>
                          <a:latin typeface="宋体" panose="02010600030101010101" pitchFamily="2" charset="-122"/>
                          <a:ea typeface="宋体" panose="02010600030101010101" pitchFamily="2" charset="-122"/>
                        </a:rPr>
                        <a:t>段的</a:t>
                      </a:r>
                      <a:r>
                        <a:rPr lang="zh-CN" altLang="en-US" sz="2000" b="1" dirty="0">
                          <a:solidFill>
                            <a:srgbClr val="002060"/>
                          </a:solidFill>
                          <a:effectLst/>
                        </a:rPr>
                        <a:t> </a:t>
                      </a:r>
                      <a:r>
                        <a:rPr lang="en-US" altLang="zh-CN" sz="2000" b="1" dirty="0">
                          <a:solidFill>
                            <a:srgbClr val="002060"/>
                          </a:solidFill>
                          <a:effectLst/>
                        </a:rPr>
                        <a:t>.exe</a:t>
                      </a:r>
                      <a:r>
                        <a:rPr lang="zh-CN" altLang="en-US" sz="2000" b="1" dirty="0">
                          <a:solidFill>
                            <a:srgbClr val="002060"/>
                          </a:solidFill>
                          <a:effectLst/>
                          <a:latin typeface="宋体" panose="02010600030101010101" pitchFamily="2" charset="-122"/>
                          <a:ea typeface="宋体" panose="02010600030101010101" pitchFamily="2" charset="-122"/>
                        </a:rPr>
                        <a:t>文件</a:t>
                      </a:r>
                      <a:endParaRPr lang="zh-CN" altLang="en-US" sz="2000" b="1" dirty="0">
                        <a:solidFill>
                          <a:srgbClr val="002060"/>
                        </a:solidFill>
                        <a:effectLst/>
                      </a:endParaRPr>
                    </a:p>
                    <a:p>
                      <a:pPr>
                        <a:spcAft>
                          <a:spcPts val="0"/>
                        </a:spcAft>
                      </a:pPr>
                      <a:r>
                        <a:rPr lang="zh-CN" altLang="en-US" sz="2000" b="1" dirty="0">
                          <a:solidFill>
                            <a:srgbClr val="002060"/>
                          </a:solidFill>
                          <a:effectLst/>
                          <a:latin typeface="宋体" panose="02010600030101010101" pitchFamily="2" charset="-122"/>
                          <a:ea typeface="宋体" panose="02010600030101010101" pitchFamily="2" charset="-122"/>
                        </a:rPr>
                        <a:t>代码段可以有多个</a:t>
                      </a:r>
                      <a:r>
                        <a:rPr lang="en-US" altLang="zh-CN" sz="2000" b="1" dirty="0">
                          <a:solidFill>
                            <a:srgbClr val="002060"/>
                          </a:solidFill>
                          <a:effectLst/>
                        </a:rPr>
                        <a:t>64 KB</a:t>
                      </a:r>
                      <a:r>
                        <a:rPr lang="zh-CN" altLang="en-US" sz="2000" b="1" dirty="0">
                          <a:solidFill>
                            <a:srgbClr val="002060"/>
                          </a:solidFill>
                          <a:effectLst/>
                          <a:latin typeface="宋体" panose="02010600030101010101" pitchFamily="2" charset="-122"/>
                          <a:ea typeface="宋体" panose="02010600030101010101" pitchFamily="2" charset="-122"/>
                        </a:rPr>
                        <a:t>段，数据段只有一个</a:t>
                      </a:r>
                      <a:r>
                        <a:rPr lang="en-US" altLang="zh-CN" sz="2000" b="1" dirty="0">
                          <a:solidFill>
                            <a:srgbClr val="002060"/>
                          </a:solidFill>
                          <a:effectLst/>
                        </a:rPr>
                        <a:t>64 KB</a:t>
                      </a:r>
                      <a:r>
                        <a:rPr lang="zh-CN" altLang="en-US" sz="2000" b="1" dirty="0">
                          <a:solidFill>
                            <a:srgbClr val="002060"/>
                          </a:solidFill>
                          <a:effectLst/>
                          <a:latin typeface="宋体" panose="02010600030101010101" pitchFamily="2" charset="-122"/>
                          <a:ea typeface="宋体" panose="02010600030101010101" pitchFamily="2" charset="-122"/>
                        </a:rPr>
                        <a:t>段</a:t>
                      </a:r>
                      <a:endParaRPr lang="zh-CN" altLang="en-US" sz="2000" b="1" dirty="0">
                        <a:solidFill>
                          <a:srgbClr val="002060"/>
                        </a:solidFill>
                        <a:effectLst/>
                      </a:endParaRPr>
                    </a:p>
                    <a:p>
                      <a:pPr>
                        <a:spcAft>
                          <a:spcPts val="0"/>
                        </a:spcAft>
                      </a:pPr>
                      <a:r>
                        <a:rPr lang="zh-CN" altLang="en-US" sz="2000" b="1" dirty="0">
                          <a:solidFill>
                            <a:srgbClr val="002060"/>
                          </a:solidFill>
                          <a:effectLst/>
                          <a:latin typeface="宋体" panose="02010600030101010101" pitchFamily="2" charset="-122"/>
                          <a:ea typeface="宋体" panose="02010600030101010101" pitchFamily="2" charset="-122"/>
                        </a:rPr>
                        <a:t>代码段只有一个</a:t>
                      </a:r>
                      <a:r>
                        <a:rPr lang="en-US" altLang="zh-CN" sz="2000" b="1" dirty="0">
                          <a:solidFill>
                            <a:srgbClr val="002060"/>
                          </a:solidFill>
                          <a:effectLst/>
                        </a:rPr>
                        <a:t>64 KB</a:t>
                      </a:r>
                      <a:r>
                        <a:rPr lang="zh-CN" altLang="en-US" sz="2000" b="1" dirty="0">
                          <a:solidFill>
                            <a:srgbClr val="002060"/>
                          </a:solidFill>
                          <a:effectLst/>
                          <a:latin typeface="宋体" panose="02010600030101010101" pitchFamily="2" charset="-122"/>
                          <a:ea typeface="宋体" panose="02010600030101010101" pitchFamily="2" charset="-122"/>
                        </a:rPr>
                        <a:t>段，数据段可以有多个</a:t>
                      </a:r>
                      <a:r>
                        <a:rPr lang="en-US" altLang="zh-CN" sz="2000" b="1" dirty="0">
                          <a:solidFill>
                            <a:srgbClr val="002060"/>
                          </a:solidFill>
                          <a:effectLst/>
                        </a:rPr>
                        <a:t>64 KB</a:t>
                      </a:r>
                      <a:r>
                        <a:rPr lang="zh-CN" altLang="en-US" sz="2000" b="1" dirty="0">
                          <a:solidFill>
                            <a:srgbClr val="002060"/>
                          </a:solidFill>
                          <a:effectLst/>
                          <a:latin typeface="宋体" panose="02010600030101010101" pitchFamily="2" charset="-122"/>
                          <a:ea typeface="宋体" panose="02010600030101010101" pitchFamily="2" charset="-122"/>
                        </a:rPr>
                        <a:t>段</a:t>
                      </a:r>
                      <a:endParaRPr lang="zh-CN" altLang="en-US" sz="2000" b="1" dirty="0">
                        <a:solidFill>
                          <a:srgbClr val="002060"/>
                        </a:solidFill>
                        <a:effectLst/>
                      </a:endParaRPr>
                    </a:p>
                    <a:p>
                      <a:pPr>
                        <a:spcAft>
                          <a:spcPts val="0"/>
                        </a:spcAft>
                      </a:pPr>
                      <a:r>
                        <a:rPr lang="zh-CN" altLang="en-US" sz="2000" b="1" dirty="0">
                          <a:solidFill>
                            <a:srgbClr val="002060"/>
                          </a:solidFill>
                          <a:effectLst/>
                          <a:latin typeface="宋体" panose="02010600030101010101" pitchFamily="2" charset="-122"/>
                          <a:ea typeface="宋体" panose="02010600030101010101" pitchFamily="2" charset="-122"/>
                        </a:rPr>
                        <a:t>代码段和数据段都可以有多个</a:t>
                      </a:r>
                      <a:r>
                        <a:rPr lang="en-US" altLang="zh-CN" sz="2000" b="1" dirty="0">
                          <a:solidFill>
                            <a:srgbClr val="002060"/>
                          </a:solidFill>
                          <a:effectLst/>
                        </a:rPr>
                        <a:t>64 KB</a:t>
                      </a:r>
                      <a:r>
                        <a:rPr lang="zh-CN" altLang="en-US" sz="2000" b="1" dirty="0">
                          <a:solidFill>
                            <a:srgbClr val="002060"/>
                          </a:solidFill>
                          <a:effectLst/>
                          <a:latin typeface="宋体" panose="02010600030101010101" pitchFamily="2" charset="-122"/>
                          <a:ea typeface="宋体" panose="02010600030101010101" pitchFamily="2" charset="-122"/>
                        </a:rPr>
                        <a:t>段</a:t>
                      </a:r>
                      <a:endParaRPr lang="zh-CN" altLang="en-US" sz="2000" b="1" dirty="0">
                        <a:solidFill>
                          <a:srgbClr val="002060"/>
                        </a:solidFill>
                        <a:effectLst/>
                      </a:endParaRPr>
                    </a:p>
                    <a:p>
                      <a:pPr>
                        <a:spcAft>
                          <a:spcPts val="0"/>
                        </a:spcAft>
                      </a:pPr>
                      <a:r>
                        <a:rPr lang="zh-CN" altLang="en-US" sz="2000" b="1" dirty="0">
                          <a:solidFill>
                            <a:srgbClr val="002060"/>
                          </a:solidFill>
                          <a:effectLst/>
                          <a:latin typeface="宋体" panose="02010600030101010101" pitchFamily="2" charset="-122"/>
                          <a:ea typeface="宋体" panose="02010600030101010101" pitchFamily="2" charset="-122"/>
                        </a:rPr>
                        <a:t>同</a:t>
                      </a:r>
                      <a:r>
                        <a:rPr lang="en-US" altLang="zh-CN" sz="2000" b="1" dirty="0">
                          <a:solidFill>
                            <a:srgbClr val="002060"/>
                          </a:solidFill>
                          <a:effectLst/>
                        </a:rPr>
                        <a:t>large</a:t>
                      </a:r>
                      <a:r>
                        <a:rPr lang="zh-CN" altLang="en-US" sz="2000" b="1" dirty="0">
                          <a:solidFill>
                            <a:srgbClr val="002060"/>
                          </a:solidFill>
                          <a:effectLst/>
                          <a:latin typeface="宋体" panose="02010600030101010101" pitchFamily="2" charset="-122"/>
                          <a:ea typeface="宋体" panose="02010600030101010101" pitchFamily="2" charset="-122"/>
                        </a:rPr>
                        <a:t>，并且数据段中的一个数组也可以超过</a:t>
                      </a:r>
                      <a:r>
                        <a:rPr lang="en-US" altLang="zh-CN" sz="2000" b="1" dirty="0">
                          <a:solidFill>
                            <a:srgbClr val="002060"/>
                          </a:solidFill>
                          <a:effectLst/>
                        </a:rPr>
                        <a:t>64 KB</a:t>
                      </a:r>
                      <a:r>
                        <a:rPr lang="zh-CN" altLang="en-US" sz="2000" b="1" dirty="0">
                          <a:solidFill>
                            <a:srgbClr val="002060"/>
                          </a:solidFill>
                          <a:effectLst/>
                        </a:rPr>
                        <a:t>。</a:t>
                      </a:r>
                    </a:p>
                    <a:p>
                      <a:pPr>
                        <a:spcAft>
                          <a:spcPts val="0"/>
                        </a:spcAft>
                      </a:pPr>
                      <a:r>
                        <a:rPr lang="en-US" altLang="zh-CN" sz="2000" b="1" dirty="0">
                          <a:solidFill>
                            <a:srgbClr val="002060"/>
                          </a:solidFill>
                          <a:effectLst/>
                        </a:rPr>
                        <a:t>Win32</a:t>
                      </a:r>
                      <a:r>
                        <a:rPr lang="zh-CN" altLang="en-US" sz="2000" b="1" dirty="0">
                          <a:solidFill>
                            <a:srgbClr val="002060"/>
                          </a:solidFill>
                          <a:effectLst/>
                          <a:latin typeface="宋体" panose="02010600030101010101" pitchFamily="2" charset="-122"/>
                          <a:ea typeface="宋体" panose="02010600030101010101" pitchFamily="2" charset="-122"/>
                        </a:rPr>
                        <a:t>使用的模式，代码和数据段使用同一个</a:t>
                      </a:r>
                      <a:r>
                        <a:rPr lang="en-US" altLang="zh-CN" sz="2000" b="1" dirty="0">
                          <a:solidFill>
                            <a:srgbClr val="002060"/>
                          </a:solidFill>
                          <a:effectLst/>
                        </a:rPr>
                        <a:t>4 GB</a:t>
                      </a:r>
                      <a:r>
                        <a:rPr lang="zh-CN" altLang="en-US" sz="2000" b="1" dirty="0">
                          <a:solidFill>
                            <a:srgbClr val="002060"/>
                          </a:solidFill>
                          <a:effectLst/>
                          <a:latin typeface="宋体" panose="02010600030101010101" pitchFamily="2" charset="-122"/>
                          <a:ea typeface="宋体" panose="02010600030101010101" pitchFamily="2" charset="-122"/>
                        </a:rPr>
                        <a:t>段。</a:t>
                      </a:r>
                      <a:r>
                        <a:rPr lang="en-US" altLang="zh-CN" sz="2000" b="1" dirty="0">
                          <a:solidFill>
                            <a:srgbClr val="002060"/>
                          </a:solidFill>
                          <a:effectLst/>
                          <a:latin typeface="宋体" panose="02010600030101010101" pitchFamily="2" charset="-122"/>
                          <a:ea typeface="宋体" panose="02010600030101010101" pitchFamily="2" charset="-122"/>
                        </a:rPr>
                        <a:t>32</a:t>
                      </a:r>
                      <a:r>
                        <a:rPr lang="zh-CN" altLang="en-US" sz="2000" b="1" dirty="0">
                          <a:solidFill>
                            <a:srgbClr val="002060"/>
                          </a:solidFill>
                          <a:effectLst/>
                          <a:latin typeface="宋体" panose="02010600030101010101" pitchFamily="2" charset="-122"/>
                          <a:ea typeface="宋体" panose="02010600030101010101" pitchFamily="2" charset="-122"/>
                        </a:rPr>
                        <a:t>位偏移地址。</a:t>
                      </a:r>
                      <a:endParaRPr lang="zh-CN" altLang="en-US" sz="2000" b="1" dirty="0">
                        <a:solidFill>
                          <a:srgbClr val="002060"/>
                        </a:solidFill>
                        <a:effectLst/>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9947102"/>
                  </a:ext>
                </a:extLst>
              </a:tr>
            </a:tbl>
          </a:graphicData>
        </a:graphic>
      </p:graphicFrame>
      <p:sp>
        <p:nvSpPr>
          <p:cNvPr id="10" name="文本框 9"/>
          <p:cNvSpPr txBox="1"/>
          <p:nvPr/>
        </p:nvSpPr>
        <p:spPr>
          <a:xfrm>
            <a:off x="359313" y="188640"/>
            <a:ext cx="4104456" cy="461665"/>
          </a:xfrm>
          <a:prstGeom prst="rect">
            <a:avLst/>
          </a:prstGeom>
          <a:noFill/>
        </p:spPr>
        <p:txBody>
          <a:bodyPr wrap="square" rtlCol="0">
            <a:spAutoFit/>
          </a:bodyPr>
          <a:lstStyle/>
          <a:p>
            <a:pPr marL="342900" marR="0" lvl="0" indent="-342900" algn="l" defTabSz="914400" rtl="0" eaLnBrk="0" fontAlgn="auto" latinLnBrk="0" hangingPunct="0">
              <a:lnSpc>
                <a:spcPct val="100000"/>
              </a:lnSpc>
              <a:spcBef>
                <a:spcPts val="0"/>
              </a:spcBef>
              <a:spcAft>
                <a:spcPts val="0"/>
              </a:spcAft>
              <a:buClr>
                <a:srgbClr val="C00000"/>
              </a:buClr>
              <a:buSzTx/>
              <a:buFont typeface="Wingdings" panose="05000000000000000000" pitchFamily="2" charset="2"/>
              <a:buChar char="u"/>
              <a:tabLst/>
              <a:defRPr/>
            </a:pP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模式定义语句</a:t>
            </a:r>
          </a:p>
        </p:txBody>
      </p:sp>
      <p:sp>
        <p:nvSpPr>
          <p:cNvPr id="11" name="矩形 10"/>
          <p:cNvSpPr/>
          <p:nvPr/>
        </p:nvSpPr>
        <p:spPr>
          <a:xfrm>
            <a:off x="238260" y="671039"/>
            <a:ext cx="7344816" cy="461665"/>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uLnTx/>
                <a:uFillTx/>
                <a:latin typeface="Courier"/>
                <a:ea typeface="宋体" pitchFamily="2" charset="-122"/>
                <a:cs typeface="+mn-cs"/>
              </a:rPr>
              <a:t>.MODEL </a:t>
            </a:r>
            <a:r>
              <a:rPr kumimoji="0" lang="zh-CN" altLang="en-US" sz="2400" b="1" i="0" u="none" strike="noStrike" kern="0" cap="none" spc="0" normalizeH="0" baseline="0" noProof="0" dirty="0">
                <a:ln>
                  <a:noFill/>
                </a:ln>
                <a:solidFill>
                  <a:srgbClr val="C00000"/>
                </a:solidFill>
                <a:effectLst/>
                <a:uLnTx/>
                <a:uFillTx/>
                <a:latin typeface="宋体" panose="02010600030101010101" pitchFamily="2" charset="-122"/>
                <a:ea typeface="宋体" pitchFamily="2" charset="-122"/>
                <a:cs typeface="+mn-cs"/>
              </a:rPr>
              <a:t>内存模式</a:t>
            </a:r>
            <a:r>
              <a:rPr kumimoji="0" lang="en-US" altLang="zh-CN" sz="2400" b="1" i="0" u="none" strike="noStrike" kern="0" cap="none" spc="0" normalizeH="0" baseline="0" noProof="0" dirty="0">
                <a:ln>
                  <a:noFill/>
                </a:ln>
                <a:solidFill>
                  <a:srgbClr val="C00000"/>
                </a:solidFill>
                <a:effectLst/>
                <a:uLnTx/>
                <a:uFillTx/>
                <a:latin typeface="Courier"/>
                <a:ea typeface="宋体" pitchFamily="2" charset="-122"/>
                <a:cs typeface="+mn-cs"/>
              </a:rPr>
              <a:t>[</a:t>
            </a:r>
            <a:r>
              <a:rPr kumimoji="0" lang="zh-CN" altLang="en-US" sz="2400" b="1" i="0" u="none" strike="noStrike" kern="0" cap="none" spc="0" normalizeH="0" baseline="0" noProof="0" dirty="0">
                <a:ln>
                  <a:noFill/>
                </a:ln>
                <a:solidFill>
                  <a:srgbClr val="C00000"/>
                </a:solidFill>
                <a:effectLst/>
                <a:uLnTx/>
                <a:uFillTx/>
                <a:latin typeface="宋体" panose="02010600030101010101" pitchFamily="2" charset="-122"/>
                <a:ea typeface="宋体" pitchFamily="2" charset="-122"/>
                <a:cs typeface="+mn-cs"/>
              </a:rPr>
              <a:t>，语言模式</a:t>
            </a:r>
            <a:r>
              <a:rPr kumimoji="0" lang="en-US" altLang="zh-CN" sz="2400" b="1" i="0" u="none" strike="noStrike" kern="0" cap="none" spc="0" normalizeH="0" baseline="0" noProof="0" dirty="0">
                <a:ln>
                  <a:noFill/>
                </a:ln>
                <a:solidFill>
                  <a:srgbClr val="C00000"/>
                </a:solidFill>
                <a:effectLst/>
                <a:uLnTx/>
                <a:uFillTx/>
                <a:latin typeface="Courier"/>
                <a:ea typeface="宋体" pitchFamily="2" charset="-122"/>
                <a:cs typeface="+mn-cs"/>
              </a:rPr>
              <a:t>][</a:t>
            </a:r>
            <a:r>
              <a:rPr kumimoji="0" lang="zh-CN" altLang="en-US" sz="2400" b="1" i="0" u="none" strike="noStrike" kern="0" cap="none" spc="0" normalizeH="0" baseline="0" noProof="0" dirty="0">
                <a:ln>
                  <a:noFill/>
                </a:ln>
                <a:solidFill>
                  <a:srgbClr val="C00000"/>
                </a:solidFill>
                <a:effectLst/>
                <a:uLnTx/>
                <a:uFillTx/>
                <a:latin typeface="宋体" panose="02010600030101010101" pitchFamily="2" charset="-122"/>
                <a:ea typeface="宋体" pitchFamily="2" charset="-122"/>
                <a:cs typeface="+mn-cs"/>
              </a:rPr>
              <a:t>，其他模式</a:t>
            </a:r>
            <a:r>
              <a:rPr kumimoji="0" lang="en-US" altLang="zh-CN" sz="2400" b="1" i="0" u="none" strike="noStrike" kern="0" cap="none" spc="0" normalizeH="0" baseline="0" noProof="0" dirty="0">
                <a:ln>
                  <a:noFill/>
                </a:ln>
                <a:solidFill>
                  <a:srgbClr val="C00000"/>
                </a:solidFill>
                <a:effectLst/>
                <a:uLnTx/>
                <a:uFillTx/>
                <a:latin typeface="Courier"/>
                <a:ea typeface="宋体" pitchFamily="2" charset="-122"/>
                <a:cs typeface="+mn-cs"/>
              </a:rPr>
              <a:t>]</a:t>
            </a:r>
            <a:endParaRPr kumimoji="0" lang="zh-CN" altLang="en-US"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endParaRPr>
          </a:p>
        </p:txBody>
      </p:sp>
      <p:sp>
        <p:nvSpPr>
          <p:cNvPr id="18" name="矩形 17"/>
          <p:cNvSpPr/>
          <p:nvPr/>
        </p:nvSpPr>
        <p:spPr>
          <a:xfrm>
            <a:off x="1187624" y="4509120"/>
            <a:ext cx="3687228" cy="461665"/>
          </a:xfrm>
          <a:prstGeom prst="rect">
            <a:avLst/>
          </a:prstGeom>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uLnTx/>
                <a:uFillTx/>
                <a:latin typeface="Courier"/>
                <a:ea typeface="宋体" pitchFamily="2" charset="-122"/>
                <a:cs typeface="+mn-cs"/>
              </a:rPr>
              <a:t>.model </a:t>
            </a:r>
            <a:r>
              <a:rPr kumimoji="0" lang="en-US" altLang="zh-CN" sz="2400" b="1" i="0" u="none" strike="noStrike" kern="0" cap="none" spc="0" normalizeH="0" baseline="0" noProof="0" dirty="0" err="1">
                <a:ln>
                  <a:noFill/>
                </a:ln>
                <a:solidFill>
                  <a:srgbClr val="C00000"/>
                </a:solidFill>
                <a:effectLst/>
                <a:uLnTx/>
                <a:uFillTx/>
                <a:latin typeface="Courier"/>
                <a:ea typeface="宋体" pitchFamily="2" charset="-122"/>
                <a:cs typeface="+mn-cs"/>
              </a:rPr>
              <a:t>flat,stdcall</a:t>
            </a:r>
            <a:endParaRPr kumimoji="0" lang="en-US" altLang="zh-CN"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endParaRPr>
          </a:p>
        </p:txBody>
      </p:sp>
      <p:sp>
        <p:nvSpPr>
          <p:cNvPr id="19" name="矩形 18"/>
          <p:cNvSpPr/>
          <p:nvPr/>
        </p:nvSpPr>
        <p:spPr>
          <a:xfrm>
            <a:off x="181809" y="4916809"/>
            <a:ext cx="8911852" cy="1887696"/>
          </a:xfrm>
          <a:prstGeom prst="rect">
            <a:avLst/>
          </a:prstGeom>
        </p:spPr>
        <p:txBody>
          <a:bodyPr wrap="square">
            <a:spAutoFit/>
          </a:bodyPr>
          <a:lstStyle/>
          <a:p>
            <a:pPr marL="342900" marR="0" lvl="0" indent="-342900" algn="l" defTabSz="914400" rtl="0" eaLnBrk="0" fontAlgn="auto" latinLnBrk="0" hangingPunct="0">
              <a:lnSpc>
                <a:spcPts val="3500"/>
              </a:lnSpc>
              <a:spcBef>
                <a:spcPts val="0"/>
              </a:spcBef>
              <a:spcAft>
                <a:spcPts val="0"/>
              </a:spcAft>
              <a:buClr>
                <a:srgbClr val="C00000"/>
              </a:buClr>
              <a:buSzTx/>
              <a:buFont typeface="Wingdings" panose="05000000000000000000" pitchFamily="2" charset="2"/>
              <a:buChar char="l"/>
              <a:tabLst/>
              <a:defRPr/>
            </a:pP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将编程模式设为</a:t>
            </a:r>
            <a:r>
              <a:rPr kumimoji="0" lang="zh-CN" altLang="en-US" sz="2200" b="1" i="0" u="none" strike="noStrike" kern="0" cap="none" spc="0" normalizeH="0" baseline="0" noProof="0" dirty="0">
                <a:ln>
                  <a:noFill/>
                </a:ln>
                <a:solidFill>
                  <a:srgbClr val="0033CC"/>
                </a:solidFill>
                <a:effectLst/>
                <a:uLnTx/>
                <a:uFillTx/>
                <a:latin typeface="Times New Roman" pitchFamily="18" charset="0"/>
                <a:ea typeface="宋体" pitchFamily="2" charset="-122"/>
                <a:cs typeface="+mn-cs"/>
              </a:rPr>
              <a:t>平面存储模式</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，所有的段都使用同一个</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4GB</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内存，即各个段都从</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0</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开始，程序中将不出现段寄存器。</a:t>
            </a:r>
            <a:endPar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auto" latinLnBrk="0" hangingPunct="0">
              <a:lnSpc>
                <a:spcPts val="3500"/>
              </a:lnSpc>
              <a:spcBef>
                <a:spcPts val="0"/>
              </a:spcBef>
              <a:spcAft>
                <a:spcPts val="0"/>
              </a:spcAft>
              <a:buClr>
                <a:srgbClr val="C00000"/>
              </a:buClr>
              <a:buSzTx/>
              <a:buFont typeface="Wingdings" panose="05000000000000000000" pitchFamily="2" charset="2"/>
              <a:buChar char="l"/>
              <a:tabLst/>
              <a:defRPr/>
            </a:pP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指定语言模式，即子程序的调用方式，</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Windows</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的</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API</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调用使用的是</a:t>
            </a:r>
            <a:r>
              <a:rPr kumimoji="0" lang="en-US" altLang="zh-CN" sz="2200" b="1" i="0" u="none" strike="noStrike" kern="0" cap="none" spc="0" normalizeH="0" baseline="0" noProof="0" dirty="0" err="1">
                <a:ln>
                  <a:noFill/>
                </a:ln>
                <a:solidFill>
                  <a:srgbClr val="000000"/>
                </a:solidFill>
                <a:effectLst/>
                <a:uLnTx/>
                <a:uFillTx/>
                <a:latin typeface="Times New Roman" pitchFamily="18" charset="0"/>
                <a:ea typeface="宋体" pitchFamily="2" charset="-122"/>
                <a:cs typeface="+mn-cs"/>
              </a:rPr>
              <a:t>stdcall</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格式，所以在</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Win32</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汇编中必须在 </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.model</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中加上</a:t>
            </a:r>
            <a:r>
              <a:rPr kumimoji="0" lang="en-US" altLang="zh-CN" sz="2200" b="1" i="0" u="none" strike="noStrike" kern="0" cap="none" spc="0" normalizeH="0" baseline="0" noProof="0" dirty="0" err="1">
                <a:ln>
                  <a:noFill/>
                </a:ln>
                <a:solidFill>
                  <a:srgbClr val="000000"/>
                </a:solidFill>
                <a:effectLst/>
                <a:uLnTx/>
                <a:uFillTx/>
                <a:latin typeface="Times New Roman" pitchFamily="18" charset="0"/>
                <a:ea typeface="宋体" pitchFamily="2" charset="-122"/>
                <a:cs typeface="+mn-cs"/>
              </a:rPr>
              <a:t>stdcall</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参数。</a:t>
            </a:r>
          </a:p>
        </p:txBody>
      </p:sp>
      <p:sp>
        <p:nvSpPr>
          <p:cNvPr id="20" name="文本框 19"/>
          <p:cNvSpPr txBox="1"/>
          <p:nvPr/>
        </p:nvSpPr>
        <p:spPr>
          <a:xfrm>
            <a:off x="238260" y="4509120"/>
            <a:ext cx="1208666" cy="461665"/>
          </a:xfrm>
          <a:prstGeom prst="rect">
            <a:avLst/>
          </a:prstGeom>
          <a:noFill/>
        </p:spPr>
        <p:txBody>
          <a:bodyPr wrap="square" rtlCol="0">
            <a:spAutoFit/>
          </a:bodyPr>
          <a:lstStyle/>
          <a:p>
            <a:pPr marL="0" marR="0" lvl="0" indent="0" algn="l" defTabSz="914400" rtl="0" eaLnBrk="0" fontAlgn="auto" latinLnBrk="0" hangingPunct="0">
              <a:lnSpc>
                <a:spcPct val="100000"/>
              </a:lnSpc>
              <a:spcBef>
                <a:spcPts val="0"/>
              </a:spcBef>
              <a:spcAft>
                <a:spcPts val="0"/>
              </a:spcAft>
              <a:buClr>
                <a:srgbClr val="C00000"/>
              </a:buClr>
              <a:buSzTx/>
              <a:buFontTx/>
              <a:buNone/>
              <a:tabLst/>
              <a:defRPr/>
            </a:pP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21"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fld id="{0699987E-584F-45D1-B460-8989DE53CBDE}"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t>59</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 name="文本框 1"/>
          <p:cNvSpPr txBox="1"/>
          <p:nvPr/>
        </p:nvSpPr>
        <p:spPr>
          <a:xfrm>
            <a:off x="169826" y="3859984"/>
            <a:ext cx="8722654" cy="707886"/>
          </a:xfrm>
          <a:prstGeom prst="rect">
            <a:avLst/>
          </a:prstGeom>
          <a:noFill/>
        </p:spPr>
        <p:txBody>
          <a:bodyPr wrap="square" rtlCol="0">
            <a:spAutoFit/>
          </a:bodyPr>
          <a:lstStyle/>
          <a:p>
            <a:r>
              <a:rPr lang="zh-CN" altLang="en-US" sz="2000" b="1" dirty="0">
                <a:solidFill>
                  <a:srgbClr val="0066FF"/>
                </a:solidFill>
              </a:rPr>
              <a:t>说明：</a:t>
            </a:r>
            <a:r>
              <a:rPr lang="zh-CN" altLang="en-US" sz="2000" b="1" dirty="0">
                <a:solidFill>
                  <a:schemeClr val="bg2"/>
                </a:solidFill>
              </a:rPr>
              <a:t>前六种是在实模式下的内存模式，偏移地址都为</a:t>
            </a:r>
            <a:r>
              <a:rPr lang="en-US" altLang="zh-CN" sz="2000" b="1" dirty="0">
                <a:solidFill>
                  <a:schemeClr val="bg2"/>
                </a:solidFill>
              </a:rPr>
              <a:t>16</a:t>
            </a:r>
            <a:r>
              <a:rPr lang="zh-CN" altLang="en-US" sz="2000" b="1" dirty="0">
                <a:solidFill>
                  <a:schemeClr val="bg2"/>
                </a:solidFill>
              </a:rPr>
              <a:t>位。保护模式下只有</a:t>
            </a:r>
            <a:r>
              <a:rPr lang="en-US" altLang="zh-CN" sz="2000" b="1" dirty="0">
                <a:solidFill>
                  <a:schemeClr val="bg2"/>
                </a:solidFill>
              </a:rPr>
              <a:t>flat</a:t>
            </a:r>
            <a:r>
              <a:rPr lang="zh-CN" altLang="en-US" sz="2000" b="1" dirty="0">
                <a:solidFill>
                  <a:schemeClr val="bg2"/>
                </a:solidFill>
              </a:rPr>
              <a:t>模式，偏移地址为</a:t>
            </a:r>
            <a:r>
              <a:rPr lang="en-US" altLang="zh-CN" sz="2000" b="1" dirty="0">
                <a:solidFill>
                  <a:schemeClr val="bg2"/>
                </a:solidFill>
              </a:rPr>
              <a:t>32</a:t>
            </a:r>
            <a:r>
              <a:rPr lang="zh-CN" altLang="en-US" sz="2000" b="1" dirty="0">
                <a:solidFill>
                  <a:schemeClr val="bg2"/>
                </a:solidFill>
              </a:rPr>
              <a:t>位，只能使用</a:t>
            </a:r>
            <a:r>
              <a:rPr lang="en-US" altLang="zh-CN" sz="2000" b="1" dirty="0">
                <a:solidFill>
                  <a:schemeClr val="bg2"/>
                </a:solidFill>
              </a:rPr>
              <a:t>32</a:t>
            </a:r>
            <a:r>
              <a:rPr lang="zh-CN" altLang="en-US" sz="2000" b="1" dirty="0">
                <a:solidFill>
                  <a:schemeClr val="bg2"/>
                </a:solidFill>
              </a:rPr>
              <a:t>位寄存器来指示地址。</a:t>
            </a:r>
          </a:p>
        </p:txBody>
      </p:sp>
    </p:spTree>
    <p:extLst>
      <p:ext uri="{BB962C8B-B14F-4D97-AF65-F5344CB8AC3E}">
        <p14:creationId xmlns:p14="http://schemas.microsoft.com/office/powerpoint/2010/main" val="142107620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9">
                                            <p:txEl>
                                              <p:pRg st="0" end="0"/>
                                            </p:txEl>
                                          </p:spTgt>
                                        </p:tgtEl>
                                        <p:attrNameLst>
                                          <p:attrName>style.visibility</p:attrName>
                                        </p:attrNameLst>
                                      </p:cBhvr>
                                      <p:to>
                                        <p:strVal val="visible"/>
                                      </p:to>
                                    </p:set>
                                    <p:animEffect transition="in" filter="wipe(down)">
                                      <p:cBhvr>
                                        <p:cTn id="30" dur="500"/>
                                        <p:tgtEl>
                                          <p:spTgt spid="19">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9">
                                            <p:txEl>
                                              <p:pRg st="1" end="1"/>
                                            </p:txEl>
                                          </p:spTgt>
                                        </p:tgtEl>
                                        <p:attrNameLst>
                                          <p:attrName>style.visibility</p:attrName>
                                        </p:attrNameLst>
                                      </p:cBhvr>
                                      <p:to>
                                        <p:strVal val="visible"/>
                                      </p:to>
                                    </p:set>
                                    <p:animEffect transition="in" filter="wipe(down)">
                                      <p:cBhvr>
                                        <p:cTn id="35" dur="500"/>
                                        <p:tgtEl>
                                          <p:spTgt spid="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19" grpId="0" uiExpand="1" build="p"/>
      <p:bldP spid="20" grpId="0"/>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fld id="{0699987E-584F-45D1-B460-8989DE53CBDE}" type="slidenum">
              <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itchFamily="34" charset="0"/>
                <a:buNone/>
                <a:tabLst/>
                <a:defRPr/>
              </a:pPr>
              <a:t>60</a:t>
            </a:fld>
            <a:endParaRPr kumimoji="0" lang="en-US" altLang="zh-CN" sz="1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5" name="矩形 4"/>
          <p:cNvSpPr/>
          <p:nvPr/>
        </p:nvSpPr>
        <p:spPr>
          <a:xfrm>
            <a:off x="524082" y="2564904"/>
            <a:ext cx="8496944" cy="2785378"/>
          </a:xfrm>
          <a:prstGeom prst="rect">
            <a:avLst/>
          </a:prstGeom>
        </p:spPr>
        <p:txBody>
          <a:bodyPr wrap="square">
            <a:spAutoFit/>
          </a:bodyPr>
          <a:lstStyle/>
          <a:p>
            <a:pPr marL="342900" marR="0" lvl="0" indent="-342900" algn="l" defTabSz="914400" rtl="0" eaLnBrk="0" fontAlgn="auto" latinLnBrk="0" hangingPunct="0">
              <a:lnSpc>
                <a:spcPts val="3500"/>
              </a:lnSpc>
              <a:spcBef>
                <a:spcPts val="0"/>
              </a:spcBef>
              <a:spcAft>
                <a:spcPts val="0"/>
              </a:spcAft>
              <a:buClr>
                <a:srgbClr val="C00000"/>
              </a:buClr>
              <a:buSzTx/>
              <a:buFont typeface="Wingdings" panose="05000000000000000000" pitchFamily="2" charset="2"/>
              <a:buChar char="l"/>
              <a:tabLst/>
              <a:defRPr/>
            </a:pP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该语句</a:t>
            </a:r>
            <a:r>
              <a:rPr lang="zh-CN" altLang="en-US" sz="2400" b="1" kern="0" dirty="0">
                <a:solidFill>
                  <a:srgbClr val="000000"/>
                </a:solidFill>
              </a:rPr>
              <a:t>设定</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了程序中的</a:t>
            </a:r>
            <a:r>
              <a:rPr kumimoji="0" lang="zh-CN" altLang="en-US" sz="2400" b="1" i="0" u="none" strike="noStrike" kern="0" cap="none" spc="0" normalizeH="0" baseline="0" noProof="0" dirty="0">
                <a:ln>
                  <a:noFill/>
                </a:ln>
                <a:solidFill>
                  <a:srgbClr val="FF0000"/>
                </a:solidFill>
                <a:effectLst/>
                <a:uLnTx/>
                <a:uFillTx/>
                <a:latin typeface="Times New Roman" pitchFamily="18" charset="0"/>
                <a:ea typeface="宋体" pitchFamily="2" charset="-122"/>
                <a:cs typeface="+mn-cs"/>
              </a:rPr>
              <a:t>变量</a:t>
            </a:r>
            <a:r>
              <a:rPr lang="zh-CN" altLang="en-US" sz="2400" b="1" kern="0" dirty="0">
                <a:solidFill>
                  <a:srgbClr val="000000"/>
                </a:solidFill>
              </a:rPr>
              <a:t>、</a:t>
            </a:r>
            <a:r>
              <a:rPr lang="zh-CN" altLang="en-US" sz="2400" b="1" kern="0" dirty="0">
                <a:solidFill>
                  <a:srgbClr val="FF0000"/>
                </a:solidFill>
              </a:rPr>
              <a:t>符号常量</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和</a:t>
            </a:r>
            <a:r>
              <a:rPr lang="zh-CN" altLang="en-US" sz="2400" b="1" kern="0" dirty="0">
                <a:solidFill>
                  <a:srgbClr val="FF0000"/>
                </a:solidFill>
              </a:rPr>
              <a:t>过程</a:t>
            </a:r>
            <a:r>
              <a:rPr kumimoji="0" lang="zh-CN" altLang="en-US" sz="2400" b="1" i="0" u="none" strike="noStrike" kern="0" cap="none" spc="0" normalizeH="0" baseline="0" noProof="0" dirty="0">
                <a:ln>
                  <a:noFill/>
                </a:ln>
                <a:solidFill>
                  <a:srgbClr val="FF0000"/>
                </a:solidFill>
                <a:effectLst/>
                <a:uLnTx/>
                <a:uFillTx/>
                <a:latin typeface="Times New Roman" pitchFamily="18" charset="0"/>
                <a:ea typeface="宋体" pitchFamily="2" charset="-122"/>
                <a:cs typeface="+mn-cs"/>
              </a:rPr>
              <a:t>名</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对大小写敏感，即区分大小写。</a:t>
            </a:r>
            <a:endPar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auto" latinLnBrk="0" hangingPunct="0">
              <a:lnSpc>
                <a:spcPts val="3500"/>
              </a:lnSpc>
              <a:spcBef>
                <a:spcPts val="0"/>
              </a:spcBef>
              <a:spcAft>
                <a:spcPts val="0"/>
              </a:spcAft>
              <a:buClr>
                <a:srgbClr val="C00000"/>
              </a:buClr>
              <a:buSzTx/>
              <a:buFont typeface="Wingdings" panose="05000000000000000000" pitchFamily="2" charset="2"/>
              <a:buChar char="l"/>
              <a:tabLst/>
              <a:defRPr/>
            </a:pP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由于</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Win32 API</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中的</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API</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名称是区分大小写的，所以必须指定这个选项，否则在调用</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API</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的时候会有问题。</a:t>
            </a:r>
            <a:endPar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auto" latinLnBrk="0" hangingPunct="0">
              <a:lnSpc>
                <a:spcPts val="3500"/>
              </a:lnSpc>
              <a:spcBef>
                <a:spcPts val="0"/>
              </a:spcBef>
              <a:spcAft>
                <a:spcPts val="0"/>
              </a:spcAft>
              <a:buClr>
                <a:srgbClr val="C00000"/>
              </a:buClr>
              <a:buSzTx/>
              <a:buFont typeface="Wingdings" panose="05000000000000000000" pitchFamily="2" charset="2"/>
              <a:buChar char="l"/>
              <a:tabLst/>
              <a:defRPr/>
            </a:pPr>
            <a:r>
              <a:rPr lang="en-US" altLang="zh-CN" sz="2400" b="1" kern="0" dirty="0">
                <a:solidFill>
                  <a:srgbClr val="000000"/>
                </a:solidFill>
              </a:rPr>
              <a:t>Option</a:t>
            </a:r>
            <a:r>
              <a:rPr lang="zh-CN" altLang="en-US" sz="2400" b="1" kern="0" dirty="0">
                <a:solidFill>
                  <a:srgbClr val="000000"/>
                </a:solidFill>
              </a:rPr>
              <a:t>语句不设置对</a:t>
            </a:r>
            <a:r>
              <a:rPr lang="zh-CN" altLang="en-US" sz="2400" b="1" kern="0" dirty="0">
                <a:solidFill>
                  <a:srgbClr val="FF0000"/>
                </a:solidFill>
              </a:rPr>
              <a:t>关键字</a:t>
            </a:r>
            <a:r>
              <a:rPr lang="zh-CN" altLang="en-US" sz="2400" b="1" kern="0" dirty="0">
                <a:solidFill>
                  <a:srgbClr val="000000"/>
                </a:solidFill>
              </a:rPr>
              <a:t>（如指令助记符、伪指令符、寄存器名等）的大小写敏感，即关键字是不区分大小写的。</a:t>
            </a:r>
            <a:endPar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矩形 5"/>
          <p:cNvSpPr/>
          <p:nvPr/>
        </p:nvSpPr>
        <p:spPr>
          <a:xfrm>
            <a:off x="809882" y="2103279"/>
            <a:ext cx="2964273" cy="461665"/>
          </a:xfrm>
          <a:prstGeom prst="rect">
            <a:avLst/>
          </a:prstGeom>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option casemap:none</a:t>
            </a:r>
          </a:p>
        </p:txBody>
      </p:sp>
      <p:sp>
        <p:nvSpPr>
          <p:cNvPr id="12" name="矩形 11"/>
          <p:cNvSpPr/>
          <p:nvPr/>
        </p:nvSpPr>
        <p:spPr>
          <a:xfrm>
            <a:off x="596090" y="1295649"/>
            <a:ext cx="8152374" cy="83099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用</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option</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语句定义的选项有很多，在</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Win32</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itchFamily="2" charset="-122"/>
                <a:cs typeface="+mn-cs"/>
              </a:rPr>
              <a:t>汇编程序中，只需做如下定义即可。</a:t>
            </a:r>
            <a:endParaRPr kumimoji="0" lang="zh-CN" altLang="en-US" sz="2400" b="1" i="0" u="none" strike="noStrike" kern="1200" cap="none" spc="0" normalizeH="0" baseline="0" noProof="0" dirty="0">
              <a:ln>
                <a:noFill/>
              </a:ln>
              <a:solidFill>
                <a:srgbClr val="FFCC66"/>
              </a:solidFill>
              <a:effectLst/>
              <a:uLnTx/>
              <a:uFillTx/>
              <a:latin typeface="Times New Roman" pitchFamily="18" charset="0"/>
              <a:ea typeface="宋体" pitchFamily="2" charset="-122"/>
              <a:cs typeface="+mn-cs"/>
            </a:endParaRPr>
          </a:p>
        </p:txBody>
      </p:sp>
      <p:sp>
        <p:nvSpPr>
          <p:cNvPr id="13" name="矩形 12"/>
          <p:cNvSpPr/>
          <p:nvPr/>
        </p:nvSpPr>
        <p:spPr>
          <a:xfrm>
            <a:off x="546705" y="573973"/>
            <a:ext cx="2324675" cy="461665"/>
          </a:xfrm>
          <a:prstGeom prst="rect">
            <a:avLst/>
          </a:prstGeom>
        </p:spPr>
        <p:txBody>
          <a:bodyPr wrap="none">
            <a:spAutoFit/>
          </a:bodyPr>
          <a:lstStyle/>
          <a:p>
            <a:pPr marL="342900" marR="0" lvl="0" indent="-342900" algn="l" defTabSz="914400" rtl="0" eaLnBrk="1" fontAlgn="base" latinLnBrk="0" hangingPunct="1">
              <a:lnSpc>
                <a:spcPct val="100000"/>
              </a:lnSpc>
              <a:spcBef>
                <a:spcPct val="0"/>
              </a:spcBef>
              <a:spcAft>
                <a:spcPct val="0"/>
              </a:spcAft>
              <a:buClr>
                <a:srgbClr val="C00000"/>
              </a:buClr>
              <a:buSzTx/>
              <a:buFont typeface="Wingdings" panose="05000000000000000000" pitchFamily="2" charset="2"/>
              <a:buChar char="u"/>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itchFamily="2" charset="-122"/>
                <a:cs typeface="+mn-cs"/>
              </a:rPr>
              <a:t>OPTION</a:t>
            </a: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语句</a:t>
            </a:r>
            <a:endParaRPr kumimoji="0" lang="zh-CN" altLang="en-US"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1508547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down)">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wipe(down)">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wipe(down)">
                                      <p:cBhvr>
                                        <p:cTn id="3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12" grpId="0"/>
      <p:bldP spid="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1"/>
          <p:cNvSpPr txBox="1">
            <a:spLocks/>
          </p:cNvSpPr>
          <p:nvPr/>
        </p:nvSpPr>
        <p:spPr bwMode="auto">
          <a:xfrm>
            <a:off x="8388424" y="6400800"/>
            <a:ext cx="73380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0"/>
              </a:spcBef>
              <a:spcAft>
                <a:spcPct val="0"/>
              </a:spcAft>
              <a:buFont typeface="Arial" panose="020B0604020202020204" pitchFamily="34" charset="0"/>
              <a:buNone/>
              <a:defRPr sz="1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fld id="{C607574A-C435-4B79-9C67-4F183FDB79AC}" type="slidenum">
              <a:rPr kumimoji="0" lang="zh-CN"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t>61</a:t>
            </a:fld>
            <a:endParaRPr kumimoji="0" lang="zh-CN"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文本框 8"/>
          <p:cNvSpPr txBox="1"/>
          <p:nvPr/>
        </p:nvSpPr>
        <p:spPr>
          <a:xfrm>
            <a:off x="539552" y="585906"/>
            <a:ext cx="3716406" cy="461665"/>
          </a:xfrm>
          <a:prstGeom prst="rect">
            <a:avLst/>
          </a:prstGeom>
          <a:solidFill>
            <a:srgbClr val="FFFF00"/>
          </a:solidFill>
        </p:spPr>
        <p:txBody>
          <a:bodyPr wrap="square" rtlCol="0">
            <a:spAutoFit/>
          </a:bodyPr>
          <a:lstStyle/>
          <a:p>
            <a:pPr marL="0" marR="0" lvl="0" indent="0" algn="l" defTabSz="914400" rtl="0" eaLnBrk="0" fontAlgn="auto" latinLnBrk="0" hangingPunct="0">
              <a:lnSpc>
                <a:spcPct val="100000"/>
              </a:lnSpc>
              <a:spcBef>
                <a:spcPts val="0"/>
              </a:spcBef>
              <a:spcAft>
                <a:spcPts val="0"/>
              </a:spcAft>
              <a:buClr>
                <a:srgbClr val="C00000"/>
              </a:buClr>
              <a:buSzTx/>
              <a:buFontTx/>
              <a:buNone/>
              <a:tabLst/>
              <a:defRPr/>
            </a:pPr>
            <a:r>
              <a:rPr kumimoji="0" lang="zh-CN" altLang="en-US" sz="2400" b="1" i="0" u="none" strike="noStrike" kern="0" cap="none" spc="0" normalizeH="0" baseline="0" noProof="0" dirty="0">
                <a:ln>
                  <a:noFill/>
                </a:ln>
                <a:solidFill>
                  <a:srgbClr val="FF0000"/>
                </a:solidFill>
                <a:effectLst/>
                <a:uLnTx/>
                <a:uFillTx/>
                <a:latin typeface="Times New Roman" pitchFamily="18" charset="0"/>
                <a:ea typeface="宋体" pitchFamily="2" charset="-122"/>
                <a:cs typeface="+mn-cs"/>
              </a:rPr>
              <a:t>二、包含头文件和库文件</a:t>
            </a:r>
          </a:p>
        </p:txBody>
      </p:sp>
      <p:sp>
        <p:nvSpPr>
          <p:cNvPr id="10" name="文本框 9"/>
          <p:cNvSpPr txBox="1"/>
          <p:nvPr/>
        </p:nvSpPr>
        <p:spPr>
          <a:xfrm>
            <a:off x="431032" y="1136149"/>
            <a:ext cx="8424936" cy="1446550"/>
          </a:xfrm>
          <a:prstGeom prst="rect">
            <a:avLst/>
          </a:prstGeom>
          <a:noFill/>
        </p:spPr>
        <p:txBody>
          <a:bodyPr wrap="square" rtlCol="0">
            <a:spAutoFit/>
          </a:bodyPr>
          <a:lstStyle/>
          <a:p>
            <a:pPr marL="342900" marR="0" lvl="0" indent="-342900" algn="l" defTabSz="914400" rtl="0" eaLnBrk="0" fontAlgn="auto" latinLnBrk="0" hangingPunct="0">
              <a:lnSpc>
                <a:spcPct val="100000"/>
              </a:lnSpc>
              <a:spcBef>
                <a:spcPts val="0"/>
              </a:spcBef>
              <a:spcAft>
                <a:spcPts val="0"/>
              </a:spcAft>
              <a:buClr>
                <a:srgbClr val="C00000"/>
              </a:buClr>
              <a:buSzTx/>
              <a:buFont typeface="Wingdings" panose="05000000000000000000" pitchFamily="2" charset="2"/>
              <a:buChar char="n"/>
              <a:tabLst/>
              <a:defRPr/>
            </a:pPr>
            <a:r>
              <a:rPr kumimoji="0" lang="zh-CN" altLang="en-US" sz="2200" b="1" i="0" u="none" strike="noStrike" kern="0" cap="none" spc="0" normalizeH="0" baseline="0" noProof="0" dirty="0" smtClean="0">
                <a:ln>
                  <a:noFill/>
                </a:ln>
                <a:solidFill>
                  <a:srgbClr val="000000"/>
                </a:solidFill>
                <a:effectLst/>
                <a:uLnTx/>
                <a:uFillTx/>
                <a:latin typeface="Times New Roman" pitchFamily="18" charset="0"/>
                <a:ea typeface="宋体" pitchFamily="2" charset="-122"/>
                <a:cs typeface="+mn-cs"/>
              </a:rPr>
              <a:t>用包含伪指令把要使用</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到的系统定义的头文件和库</a:t>
            </a:r>
            <a:r>
              <a:rPr kumimoji="0" lang="zh-CN" altLang="en-US" sz="2200" b="1" i="0" u="none" strike="noStrike" kern="0" cap="none" spc="0" normalizeH="0" baseline="0" noProof="0" dirty="0" smtClean="0">
                <a:ln>
                  <a:noFill/>
                </a:ln>
                <a:solidFill>
                  <a:srgbClr val="000000"/>
                </a:solidFill>
                <a:effectLst/>
                <a:uLnTx/>
                <a:uFillTx/>
                <a:latin typeface="Times New Roman" pitchFamily="18" charset="0"/>
                <a:ea typeface="宋体" pitchFamily="2" charset="-122"/>
                <a:cs typeface="+mn-cs"/>
              </a:rPr>
              <a:t>文件包含到自己的程序中；</a:t>
            </a:r>
            <a:endPar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auto" latinLnBrk="0" hangingPunct="0">
              <a:lnSpc>
                <a:spcPct val="100000"/>
              </a:lnSpc>
              <a:spcBef>
                <a:spcPts val="0"/>
              </a:spcBef>
              <a:spcAft>
                <a:spcPts val="0"/>
              </a:spcAft>
              <a:buClr>
                <a:srgbClr val="C00000"/>
              </a:buClr>
              <a:buSzTx/>
              <a:buFont typeface="Wingdings" panose="05000000000000000000" pitchFamily="2" charset="2"/>
              <a:buChar char="n"/>
              <a:tabLst/>
              <a:defRPr/>
            </a:pP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Win32</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的系统功能模块放在</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Windows</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的库文件中，这些功能模块就以</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API</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的形式提供给用户调用。</a:t>
            </a:r>
            <a:endPar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1" name="Rectangle 1"/>
          <p:cNvSpPr>
            <a:spLocks noChangeArrowheads="1"/>
          </p:cNvSpPr>
          <p:nvPr/>
        </p:nvSpPr>
        <p:spPr bwMode="auto">
          <a:xfrm>
            <a:off x="713320" y="2640375"/>
            <a:ext cx="817867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6700" algn="l" defTabSz="914400" rtl="0" eaLnBrk="0" fontAlgn="auto" latinLnBrk="0" hangingPunct="0">
              <a:lnSpc>
                <a:spcPct val="100000"/>
              </a:lnSpc>
              <a:spcBef>
                <a:spcPts val="0"/>
              </a:spcBef>
              <a:spcAft>
                <a:spcPts val="0"/>
              </a:spcAft>
              <a:buClrTx/>
              <a:buSzTx/>
              <a:buFontTx/>
              <a:buNone/>
              <a:tabLst/>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mn-cs"/>
              </a:rPr>
              <a:t>Win32 API</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的核心由</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3</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个库文件提供：</a:t>
            </a:r>
            <a:endPar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auto" latinLnBrk="0" hangingPunct="0">
              <a:lnSpc>
                <a:spcPct val="100000"/>
              </a:lnSpc>
              <a:spcBef>
                <a:spcPts val="0"/>
              </a:spcBef>
              <a:spcAft>
                <a:spcPts val="0"/>
              </a:spcAft>
              <a:buClr>
                <a:srgbClr val="C00000"/>
              </a:buClr>
              <a:buSzTx/>
              <a:buFont typeface="Wingdings" panose="05000000000000000000" pitchFamily="2" charset="2"/>
              <a:buChar char="l"/>
              <a:tabLst/>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mn-cs"/>
              </a:rPr>
              <a:t>KERNEL32.LIB——</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系统服务功能。包括内存管理、任务管理和动态链接等。</a:t>
            </a:r>
            <a:endPar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ct val="100000"/>
              </a:lnSpc>
              <a:spcBef>
                <a:spcPts val="0"/>
              </a:spcBef>
              <a:spcAft>
                <a:spcPts val="0"/>
              </a:spcAft>
              <a:buClr>
                <a:srgbClr val="C00000"/>
              </a:buClr>
              <a:buSzTx/>
              <a:buFont typeface="Wingdings" panose="05000000000000000000" pitchFamily="2" charset="2"/>
              <a:buChar char="l"/>
              <a:tabLst/>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mn-cs"/>
              </a:rPr>
              <a:t>GDI32.LIB——</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图形设备接口。利用</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VGA</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与</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DRV</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之类的显示设备驱动程序完成显示文本和矩形等功能。</a:t>
            </a:r>
            <a:endPar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ct val="100000"/>
              </a:lnSpc>
              <a:spcBef>
                <a:spcPts val="0"/>
              </a:spcBef>
              <a:spcAft>
                <a:spcPts val="0"/>
              </a:spcAft>
              <a:buClr>
                <a:srgbClr val="C00000"/>
              </a:buClr>
              <a:buSzTx/>
              <a:buFont typeface="Wingdings" panose="05000000000000000000" pitchFamily="2" charset="2"/>
              <a:buChar char="l"/>
              <a:tabLst/>
              <a:defRPr/>
            </a:pPr>
            <a:r>
              <a:rPr kumimoji="0" lang="en-US" altLang="zh-CN" sz="2200" b="1"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mn-cs"/>
              </a:rPr>
              <a:t>USER32.LIB——</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用户接口服务。建立窗口和传送消息等。</a:t>
            </a:r>
            <a:endParaRPr kumimoji="0" lang="zh-CN" altLang="en-US" sz="2200" b="1"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mn-cs"/>
            </a:endParaRPr>
          </a:p>
        </p:txBody>
      </p:sp>
      <p:sp>
        <p:nvSpPr>
          <p:cNvPr id="2" name="文本框 1"/>
          <p:cNvSpPr txBox="1"/>
          <p:nvPr/>
        </p:nvSpPr>
        <p:spPr>
          <a:xfrm>
            <a:off x="530611" y="4908049"/>
            <a:ext cx="6125985" cy="430887"/>
          </a:xfrm>
          <a:prstGeom prst="rect">
            <a:avLst/>
          </a:prstGeom>
          <a:noFill/>
        </p:spPr>
        <p:txBody>
          <a:bodyPr wrap="square" rtlCol="0">
            <a:spAutoFit/>
          </a:bodyPr>
          <a:lstStyle/>
          <a:p>
            <a:pPr marL="342900" marR="0" lvl="0" indent="-342900" algn="l" defTabSz="914400" rtl="0" eaLnBrk="1" fontAlgn="base" latinLnBrk="0" hangingPunct="1">
              <a:lnSpc>
                <a:spcPct val="100000"/>
              </a:lnSpc>
              <a:spcBef>
                <a:spcPct val="0"/>
              </a:spcBef>
              <a:spcAft>
                <a:spcPct val="0"/>
              </a:spcAft>
              <a:buClr>
                <a:srgbClr val="C00000"/>
              </a:buClr>
              <a:buSzTx/>
              <a:buFont typeface="Wingdings" panose="05000000000000000000" pitchFamily="2" charset="2"/>
              <a:buChar char="n"/>
              <a:tabLst/>
              <a:defRPr/>
            </a:pP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包含库文件使用伪指令</a:t>
            </a:r>
            <a:r>
              <a:rPr kumimoji="0" lang="en-US" altLang="zh-CN" sz="2200" b="1" i="0" u="none" strike="noStrike" kern="1200" cap="none" spc="0" normalizeH="0" baseline="0" noProof="0" dirty="0">
                <a:ln>
                  <a:noFill/>
                </a:ln>
                <a:solidFill>
                  <a:srgbClr val="C00000"/>
                </a:solidFill>
                <a:effectLst/>
                <a:uLnTx/>
                <a:uFillTx/>
                <a:latin typeface="Times New Roman" pitchFamily="18" charset="0"/>
                <a:ea typeface="宋体" pitchFamily="2" charset="-122"/>
                <a:cs typeface="+mn-cs"/>
              </a:rPr>
              <a:t>INCLUDELIB</a:t>
            </a:r>
            <a:endParaRPr kumimoji="0" lang="zh-CN" altLang="en-US" sz="2200" b="1" i="0" u="none" strike="noStrike" kern="1200" cap="none" spc="0" normalizeH="0" baseline="0" noProof="0" dirty="0">
              <a:ln>
                <a:noFill/>
              </a:ln>
              <a:solidFill>
                <a:srgbClr val="C00000"/>
              </a:solidFill>
              <a:effectLst/>
              <a:uLnTx/>
              <a:uFillTx/>
              <a:latin typeface="Times New Roman" pitchFamily="18" charset="0"/>
              <a:ea typeface="宋体" pitchFamily="2" charset="-122"/>
              <a:cs typeface="+mn-cs"/>
            </a:endParaRPr>
          </a:p>
        </p:txBody>
      </p:sp>
      <p:sp>
        <p:nvSpPr>
          <p:cNvPr id="3" name="文本框 2"/>
          <p:cNvSpPr txBox="1"/>
          <p:nvPr/>
        </p:nvSpPr>
        <p:spPr>
          <a:xfrm>
            <a:off x="713320" y="5484113"/>
            <a:ext cx="1229441" cy="43088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4" name="文本框 3"/>
          <p:cNvSpPr txBox="1"/>
          <p:nvPr/>
        </p:nvSpPr>
        <p:spPr>
          <a:xfrm>
            <a:off x="1654729" y="5484113"/>
            <a:ext cx="4492506" cy="43088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INCLUDELIB  kernel32.lib  </a:t>
            </a:r>
            <a:endPar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53948171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down)">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wipe(down)">
                                      <p:cBhvr>
                                        <p:cTn id="17" dur="5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xEl>
                                              <p:pRg st="1" end="1"/>
                                            </p:txEl>
                                          </p:spTgt>
                                        </p:tgtEl>
                                        <p:attrNameLst>
                                          <p:attrName>style.visibility</p:attrName>
                                        </p:attrNameLst>
                                      </p:cBhvr>
                                      <p:to>
                                        <p:strVal val="visible"/>
                                      </p:to>
                                    </p:set>
                                    <p:animEffect transition="in" filter="wipe(down)">
                                      <p:cBhvr>
                                        <p:cTn id="22" dur="500"/>
                                        <p:tgtEl>
                                          <p:spTgt spid="1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animEffect transition="in" filter="wipe(down)">
                                      <p:cBhvr>
                                        <p:cTn id="27" dur="500"/>
                                        <p:tgtEl>
                                          <p:spTgt spid="11">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xEl>
                                              <p:pRg st="3" end="3"/>
                                            </p:txEl>
                                          </p:spTgt>
                                        </p:tgtEl>
                                        <p:attrNameLst>
                                          <p:attrName>style.visibility</p:attrName>
                                        </p:attrNameLst>
                                      </p:cBhvr>
                                      <p:to>
                                        <p:strVal val="visible"/>
                                      </p:to>
                                    </p:set>
                                    <p:animEffect transition="in" filter="wipe(down)">
                                      <p:cBhvr>
                                        <p:cTn id="32" dur="500"/>
                                        <p:tgtEl>
                                          <p:spTgt spid="1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down)">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500"/>
                                        <p:tgtEl>
                                          <p:spTgt spid="3"/>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down)">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build="p"/>
      <p:bldP spid="2" grpId="0"/>
      <p:bldP spid="3" grpId="0"/>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7584" y="5949280"/>
            <a:ext cx="5544616" cy="461665"/>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tab pos="1308100" algn="l"/>
              </a:tabLst>
              <a:defRPr/>
            </a:pPr>
            <a:r>
              <a:rPr kumimoji="0" lang="zh-CN" altLang="en-US" sz="2400" b="1" i="0" u="none" strike="noStrike" kern="0" cap="none" spc="0" normalizeH="0" baseline="0" noProof="0" dirty="0">
                <a:ln>
                  <a:noFill/>
                </a:ln>
                <a:solidFill>
                  <a:srgbClr val="000000"/>
                </a:solidFill>
                <a:effectLst/>
                <a:uLnTx/>
                <a:uFillTx/>
                <a:latin typeface="Courier"/>
                <a:ea typeface="宋体" pitchFamily="2" charset="-122"/>
                <a:cs typeface="+mn-cs"/>
              </a:rPr>
              <a:t>例如  </a:t>
            </a:r>
            <a:r>
              <a:rPr kumimoji="0" lang="en-US" altLang="zh-CN" sz="2400" b="1" i="0" u="none" strike="noStrike" kern="0" cap="none" spc="0" normalizeH="0" baseline="0" noProof="0" dirty="0">
                <a:ln>
                  <a:noFill/>
                </a:ln>
                <a:solidFill>
                  <a:srgbClr val="000000"/>
                </a:solidFill>
                <a:effectLst/>
                <a:uLnTx/>
                <a:uFillTx/>
                <a:latin typeface="Courier"/>
                <a:ea typeface="宋体" pitchFamily="2" charset="-122"/>
                <a:cs typeface="+mn-cs"/>
              </a:rPr>
              <a:t>INCLUDE kernel32.inc</a:t>
            </a:r>
            <a:endPar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3" name="文本框 2"/>
          <p:cNvSpPr txBox="1"/>
          <p:nvPr/>
        </p:nvSpPr>
        <p:spPr>
          <a:xfrm>
            <a:off x="339917" y="116632"/>
            <a:ext cx="8784976" cy="5734903"/>
          </a:xfrm>
          <a:prstGeom prst="rect">
            <a:avLst/>
          </a:prstGeom>
          <a:noFill/>
        </p:spPr>
        <p:txBody>
          <a:bodyPr wrap="square" rtlCol="0">
            <a:spAutoFit/>
          </a:bodyPr>
          <a:lstStyle/>
          <a:p>
            <a:pPr marL="342900" marR="0" lvl="0" indent="-342900" algn="l" defTabSz="914400" rtl="0" eaLnBrk="0" fontAlgn="auto" latinLnBrk="0" hangingPunct="0">
              <a:lnSpc>
                <a:spcPts val="4000"/>
              </a:lnSpc>
              <a:spcBef>
                <a:spcPts val="0"/>
              </a:spcBef>
              <a:spcAft>
                <a:spcPts val="0"/>
              </a:spcAft>
              <a:buClr>
                <a:srgbClr val="C00000"/>
              </a:buClr>
              <a:buSzTx/>
              <a:buFont typeface="Wingdings" panose="05000000000000000000" pitchFamily="2" charset="2"/>
              <a:buChar char="n"/>
              <a:tabLst/>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itchFamily="2" charset="-122"/>
                <a:cs typeface="+mn-cs"/>
              </a:rPr>
              <a:t>用户</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程序中要调用</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API</a:t>
            </a: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itchFamily="2" charset="-122"/>
                <a:cs typeface="+mn-cs"/>
              </a:rPr>
              <a:t>函数之前，</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需先用伪指令</a:t>
            </a:r>
            <a:r>
              <a:rPr kumimoji="0" lang="en-US"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itchFamily="2" charset="-122"/>
                <a:cs typeface="+mn-cs"/>
              </a:rPr>
              <a:t>PROTO</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声明函数原型，否则编译器不能识别该函数。</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ts val="4000"/>
              </a:lnSpc>
              <a:spcBef>
                <a:spcPts val="0"/>
              </a:spcBef>
              <a:spcAft>
                <a:spcPts val="0"/>
              </a:spcAft>
              <a:buClr>
                <a:srgbClr val="C00000"/>
              </a:buClr>
              <a:buSzTx/>
              <a:buFont typeface="Wingdings" panose="05000000000000000000" pitchFamily="2" charset="2"/>
              <a:buChar char="n"/>
              <a:tabLst/>
              <a:defRPr/>
            </a:pPr>
            <a:r>
              <a:rPr lang="zh-CN" altLang="en-US" sz="2400" b="1" kern="0" dirty="0">
                <a:solidFill>
                  <a:srgbClr val="000000"/>
                </a:solidFill>
                <a:latin typeface="宋体" panose="02010600030101010101" pitchFamily="2" charset="-122"/>
              </a:rPr>
              <a:t>格式：</a:t>
            </a:r>
            <a:r>
              <a:rPr lang="zh-CN" altLang="en-US" sz="2400" b="1" kern="0" dirty="0">
                <a:solidFill>
                  <a:srgbClr val="C00000"/>
                </a:solidFill>
                <a:latin typeface="宋体" panose="02010600030101010101" pitchFamily="2" charset="-122"/>
              </a:rPr>
              <a:t>过程名 </a:t>
            </a:r>
            <a:r>
              <a:rPr lang="en-US" altLang="zh-CN" sz="2400" b="1" kern="0" dirty="0">
                <a:solidFill>
                  <a:srgbClr val="C00000"/>
                </a:solidFill>
                <a:latin typeface="宋体" panose="02010600030101010101" pitchFamily="2" charset="-122"/>
              </a:rPr>
              <a:t>PROTO, </a:t>
            </a:r>
            <a:r>
              <a:rPr lang="zh-CN" altLang="en-US" sz="2400" b="1" kern="0" dirty="0">
                <a:solidFill>
                  <a:srgbClr val="C00000"/>
                </a:solidFill>
                <a:latin typeface="宋体" panose="02010600030101010101" pitchFamily="2" charset="-122"/>
              </a:rPr>
              <a:t>参数列表</a:t>
            </a:r>
            <a:endParaRPr lang="en-US" altLang="zh-CN" sz="2400" b="1" kern="0" dirty="0">
              <a:solidFill>
                <a:srgbClr val="C00000"/>
              </a:solidFill>
              <a:latin typeface="宋体" panose="02010600030101010101" pitchFamily="2" charset="-122"/>
            </a:endParaRPr>
          </a:p>
          <a:p>
            <a:pPr marR="0" lvl="0" algn="l" defTabSz="914400" rtl="0" eaLnBrk="0" fontAlgn="auto" latinLnBrk="0" hangingPunct="0">
              <a:lnSpc>
                <a:spcPts val="4000"/>
              </a:lnSpc>
              <a:spcBef>
                <a:spcPts val="0"/>
              </a:spcBef>
              <a:spcAft>
                <a:spcPts val="0"/>
              </a:spcAft>
              <a:buClr>
                <a:srgbClr val="C00000"/>
              </a:buClr>
              <a:buSzTx/>
              <a:tabLst/>
              <a:defRPr/>
            </a:pPr>
            <a:r>
              <a:rPr kumimoji="0" lang="en-US" altLang="zh-CN" sz="2400" b="1" i="0" u="none" strike="noStrike" kern="0" cap="none" spc="0" normalizeH="0" baseline="0" noProof="0" dirty="0">
                <a:ln>
                  <a:noFill/>
                </a:ln>
                <a:solidFill>
                  <a:srgbClr val="C00000"/>
                </a:solidFill>
                <a:effectLst/>
                <a:uLnTx/>
                <a:uFillTx/>
                <a:latin typeface="宋体" panose="02010600030101010101" pitchFamily="2" charset="-122"/>
              </a:rPr>
              <a:t>   </a:t>
            </a:r>
            <a:r>
              <a:rPr kumimoji="0" lang="zh-CN" altLang="en-US" sz="2400" b="1" i="0" u="none" strike="noStrike" kern="0" cap="none" spc="0" normalizeH="0" baseline="0" noProof="0" dirty="0">
                <a:ln>
                  <a:noFill/>
                </a:ln>
                <a:solidFill>
                  <a:schemeClr val="bg2"/>
                </a:solidFill>
                <a:effectLst/>
                <a:uLnTx/>
                <a:uFillTx/>
                <a:latin typeface="宋体" panose="02010600030101010101" pitchFamily="2" charset="-122"/>
              </a:rPr>
              <a:t>参数列表为：</a:t>
            </a:r>
            <a:r>
              <a:rPr kumimoji="0" lang="zh-CN" altLang="en-US" sz="2400" b="1" i="0" u="none" strike="noStrike" kern="0" cap="none" spc="0" normalizeH="0" baseline="0" noProof="0" dirty="0">
                <a:ln>
                  <a:noFill/>
                </a:ln>
                <a:solidFill>
                  <a:srgbClr val="C00000"/>
                </a:solidFill>
                <a:effectLst/>
                <a:uLnTx/>
                <a:uFillTx/>
                <a:latin typeface="宋体" panose="02010600030101010101" pitchFamily="2" charset="-122"/>
              </a:rPr>
              <a:t>参数</a:t>
            </a:r>
            <a:r>
              <a:rPr kumimoji="0" lang="en-US" altLang="zh-CN" sz="2400" b="1" i="0" u="none" strike="noStrike" kern="0" cap="none" spc="0" normalizeH="0" baseline="0" noProof="0" dirty="0">
                <a:ln>
                  <a:noFill/>
                </a:ln>
                <a:solidFill>
                  <a:srgbClr val="C00000"/>
                </a:solidFill>
                <a:effectLst/>
                <a:uLnTx/>
                <a:uFillTx/>
                <a:latin typeface="宋体" panose="02010600030101010101" pitchFamily="2" charset="-122"/>
              </a:rPr>
              <a:t>1</a:t>
            </a:r>
            <a:r>
              <a:rPr lang="en-US" altLang="zh-CN" sz="2400" b="1" kern="0" noProof="0" dirty="0">
                <a:solidFill>
                  <a:srgbClr val="C00000"/>
                </a:solidFill>
                <a:latin typeface="宋体" panose="02010600030101010101" pitchFamily="2" charset="-122"/>
              </a:rPr>
              <a:t>:</a:t>
            </a:r>
            <a:r>
              <a:rPr kumimoji="0" lang="zh-CN" altLang="en-US" sz="2400" b="1" i="0" u="none" strike="noStrike" kern="0" cap="none" spc="0" normalizeH="0" baseline="0" noProof="0" dirty="0">
                <a:ln>
                  <a:noFill/>
                </a:ln>
                <a:solidFill>
                  <a:srgbClr val="C00000"/>
                </a:solidFill>
                <a:effectLst/>
                <a:uLnTx/>
                <a:uFillTx/>
                <a:latin typeface="宋体" panose="02010600030101010101" pitchFamily="2" charset="-122"/>
              </a:rPr>
              <a:t>类型</a:t>
            </a:r>
            <a:r>
              <a:rPr kumimoji="0" lang="en-US" altLang="zh-CN" sz="2400" b="1" i="0" u="none" strike="noStrike" kern="0" cap="none" spc="0" normalizeH="0" baseline="0" noProof="0" dirty="0">
                <a:ln>
                  <a:noFill/>
                </a:ln>
                <a:solidFill>
                  <a:srgbClr val="C00000"/>
                </a:solidFill>
                <a:effectLst/>
                <a:uLnTx/>
                <a:uFillTx/>
                <a:latin typeface="宋体" panose="02010600030101010101" pitchFamily="2" charset="-122"/>
              </a:rPr>
              <a:t>,</a:t>
            </a:r>
            <a:r>
              <a:rPr kumimoji="0" lang="zh-CN" altLang="en-US" sz="2400" b="1" i="0" u="none" strike="noStrike" kern="0" cap="none" spc="0" normalizeH="0" baseline="0" noProof="0" dirty="0">
                <a:ln>
                  <a:noFill/>
                </a:ln>
                <a:solidFill>
                  <a:srgbClr val="C00000"/>
                </a:solidFill>
                <a:effectLst/>
                <a:uLnTx/>
                <a:uFillTx/>
                <a:latin typeface="宋体" panose="02010600030101010101" pitchFamily="2" charset="-122"/>
              </a:rPr>
              <a:t>参数</a:t>
            </a:r>
            <a:r>
              <a:rPr kumimoji="0" lang="en-US" altLang="zh-CN" sz="2400" b="1" i="0" u="none" strike="noStrike" kern="0" cap="none" spc="0" normalizeH="0" baseline="0" noProof="0" dirty="0">
                <a:ln>
                  <a:noFill/>
                </a:ln>
                <a:solidFill>
                  <a:srgbClr val="C00000"/>
                </a:solidFill>
                <a:effectLst/>
                <a:uLnTx/>
                <a:uFillTx/>
                <a:latin typeface="宋体" panose="02010600030101010101" pitchFamily="2" charset="-122"/>
              </a:rPr>
              <a:t>2</a:t>
            </a:r>
            <a:r>
              <a:rPr lang="en-US" altLang="zh-CN" sz="2400" b="1" kern="0" dirty="0">
                <a:solidFill>
                  <a:srgbClr val="C00000"/>
                </a:solidFill>
                <a:latin typeface="宋体" panose="02010600030101010101" pitchFamily="2" charset="-122"/>
              </a:rPr>
              <a:t>:</a:t>
            </a:r>
            <a:r>
              <a:rPr lang="zh-CN" altLang="en-US" sz="2400" b="1" kern="0" dirty="0">
                <a:solidFill>
                  <a:srgbClr val="C00000"/>
                </a:solidFill>
                <a:latin typeface="宋体" panose="02010600030101010101" pitchFamily="2" charset="-122"/>
              </a:rPr>
              <a:t>类型</a:t>
            </a:r>
            <a:r>
              <a:rPr lang="en-US" altLang="zh-CN" sz="2400" b="1" kern="0" dirty="0">
                <a:solidFill>
                  <a:srgbClr val="C00000"/>
                </a:solidFill>
                <a:latin typeface="宋体" panose="02010600030101010101" pitchFamily="2" charset="-122"/>
              </a:rPr>
              <a:t>……</a:t>
            </a:r>
            <a:endParaRPr kumimoji="0" lang="en-US" altLang="zh-CN" sz="2400" b="1" i="0" u="none" strike="noStrike" kern="0" cap="none" spc="0" normalizeH="0" baseline="0" noProof="0" dirty="0">
              <a:ln>
                <a:noFill/>
              </a:ln>
              <a:solidFill>
                <a:srgbClr val="C00000"/>
              </a:solidFill>
              <a:effectLst/>
              <a:uLnTx/>
              <a:uFillTx/>
              <a:latin typeface="宋体" panose="02010600030101010101" pitchFamily="2" charset="-122"/>
            </a:endParaRPr>
          </a:p>
          <a:p>
            <a:pPr marL="0" marR="0" lvl="0" indent="0" algn="l" defTabSz="914400" rtl="0" eaLnBrk="0" fontAlgn="auto" latinLnBrk="0" hangingPunct="0">
              <a:lnSpc>
                <a:spcPts val="4000"/>
              </a:lnSpc>
              <a:spcBef>
                <a:spcPts val="0"/>
              </a:spcBef>
              <a:spcAft>
                <a:spcPts val="0"/>
              </a:spcAft>
              <a:buClr>
                <a:srgbClr val="C00000"/>
              </a:buClr>
              <a:buSzTx/>
              <a:buFont typeface="Arial" pitchFamily="34" charset="0"/>
              <a:buNone/>
              <a:tabLst/>
              <a:defRPr/>
            </a:pP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   </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例如</a:t>
            </a: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前面的三个数相加程序中语句：</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0" marR="0" lvl="0" indent="0" algn="l" defTabSz="914400" rtl="0" eaLnBrk="0" fontAlgn="auto" latinLnBrk="0" hangingPunct="0">
              <a:lnSpc>
                <a:spcPts val="4000"/>
              </a:lnSpc>
              <a:spcBef>
                <a:spcPts val="0"/>
              </a:spcBef>
              <a:spcAft>
                <a:spcPts val="0"/>
              </a:spcAft>
              <a:buClr>
                <a:srgbClr val="C00000"/>
              </a:buClr>
              <a:buSzTx/>
              <a:buFont typeface="Arial" pitchFamily="34" charset="0"/>
              <a:buNone/>
              <a:tabLst/>
              <a:defRPr/>
            </a:pPr>
            <a:r>
              <a:rPr kumimoji="0" lang="en-US" altLang="zh-CN" sz="2400" b="1" i="0" u="none" strike="noStrike" kern="0" cap="none" spc="0" normalizeH="0" baseline="0" noProof="0" dirty="0">
                <a:ln>
                  <a:noFill/>
                </a:ln>
                <a:solidFill>
                  <a:srgbClr val="0070C0"/>
                </a:solidFill>
                <a:effectLst/>
                <a:uLnTx/>
                <a:uFillTx/>
                <a:latin typeface="宋体" panose="02010600030101010101" pitchFamily="2" charset="-122"/>
                <a:ea typeface="宋体" pitchFamily="2" charset="-122"/>
                <a:cs typeface="+mn-cs"/>
              </a:rPr>
              <a:t>    </a:t>
            </a:r>
            <a:r>
              <a:rPr kumimoji="0" lang="en-US" altLang="zh-CN" sz="2000" b="1" i="0" u="none" strike="noStrike" kern="1200" cap="none" spc="0" normalizeH="0" baseline="0" noProof="0" dirty="0" err="1">
                <a:ln>
                  <a:noFill/>
                </a:ln>
                <a:solidFill>
                  <a:srgbClr val="0070C0"/>
                </a:solidFill>
                <a:effectLst/>
                <a:uLnTx/>
                <a:uFillTx/>
                <a:latin typeface="Times New Roman" pitchFamily="18" charset="0"/>
                <a:ea typeface="宋体" pitchFamily="2" charset="-122"/>
                <a:cs typeface="+mn-cs"/>
              </a:rPr>
              <a:t>ExitProcess</a:t>
            </a:r>
            <a:r>
              <a:rPr kumimoji="0" lang="en-US" altLang="zh-CN" sz="2000" b="1" i="0" u="none" strike="noStrike" kern="1200" cap="none" spc="0" normalizeH="0" baseline="0" noProof="0" dirty="0">
                <a:ln>
                  <a:noFill/>
                </a:ln>
                <a:solidFill>
                  <a:srgbClr val="0070C0"/>
                </a:solidFill>
                <a:effectLst/>
                <a:uLnTx/>
                <a:uFillTx/>
                <a:latin typeface="Times New Roman" pitchFamily="18" charset="0"/>
                <a:ea typeface="宋体" pitchFamily="2" charset="-122"/>
                <a:cs typeface="+mn-cs"/>
              </a:rPr>
              <a:t> PROTO, </a:t>
            </a:r>
            <a:r>
              <a:rPr kumimoji="0" lang="en-US" altLang="zh-CN" sz="2000" b="1" i="0" u="none" strike="noStrike" kern="1200" cap="none" spc="0" normalizeH="0" baseline="0" noProof="0" dirty="0" err="1">
                <a:ln>
                  <a:noFill/>
                </a:ln>
                <a:solidFill>
                  <a:srgbClr val="0070C0"/>
                </a:solidFill>
                <a:effectLst/>
                <a:uLnTx/>
                <a:uFillTx/>
                <a:latin typeface="Times New Roman" pitchFamily="18" charset="0"/>
                <a:ea typeface="宋体" pitchFamily="2" charset="-122"/>
                <a:cs typeface="+mn-cs"/>
              </a:rPr>
              <a:t>dwExitCode:DWORD</a:t>
            </a:r>
            <a:endParaRPr kumimoji="0" lang="en-US" altLang="zh-CN" sz="2000" b="1" i="0" u="none" strike="noStrike" kern="1200" cap="none" spc="0" normalizeH="0" baseline="0" noProof="0" dirty="0">
              <a:ln>
                <a:noFill/>
              </a:ln>
              <a:solidFill>
                <a:srgbClr val="0070C0"/>
              </a:solidFill>
              <a:effectLst/>
              <a:uLnTx/>
              <a:uFillTx/>
              <a:latin typeface="Times New Roman" pitchFamily="18" charset="0"/>
              <a:ea typeface="宋体" pitchFamily="2" charset="-122"/>
              <a:cs typeface="+mn-cs"/>
            </a:endParaRPr>
          </a:p>
          <a:p>
            <a:pPr marL="0" marR="0" lvl="0" indent="0" algn="l" defTabSz="914400" rtl="0" eaLnBrk="0" fontAlgn="auto" latinLnBrk="0" hangingPunct="0">
              <a:lnSpc>
                <a:spcPts val="4000"/>
              </a:lnSpc>
              <a:spcBef>
                <a:spcPts val="0"/>
              </a:spcBef>
              <a:spcAft>
                <a:spcPts val="0"/>
              </a:spcAft>
              <a:buClr>
                <a:srgbClr val="C00000"/>
              </a:buClr>
              <a:buSzTx/>
              <a:buFont typeface="Arial" pitchFamily="34" charset="0"/>
              <a:buNone/>
              <a:tabLst/>
              <a:defRPr/>
            </a:pPr>
            <a:r>
              <a:rPr kumimoji="0" lang="en-US" altLang="zh-CN" sz="20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    </a:t>
            </a:r>
            <a:r>
              <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API</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函数</a:t>
            </a:r>
            <a:r>
              <a:rPr kumimoji="0" lang="en-US" altLang="zh-CN" sz="2200" b="1" i="0" u="none" strike="noStrike" kern="0" cap="none" spc="0" normalizeH="0" baseline="0" noProof="0" dirty="0" err="1">
                <a:ln>
                  <a:noFill/>
                </a:ln>
                <a:solidFill>
                  <a:srgbClr val="000000"/>
                </a:solidFill>
                <a:effectLst/>
                <a:uLnTx/>
                <a:uFillTx/>
                <a:latin typeface="宋体" panose="02010600030101010101" pitchFamily="2" charset="-122"/>
                <a:ea typeface="宋体" pitchFamily="2" charset="-122"/>
                <a:cs typeface="+mn-cs"/>
              </a:rPr>
              <a:t>ExitProcess</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的功能是从用户程序退出，返回操作系统。申明它有一个参数</a:t>
            </a:r>
            <a:r>
              <a:rPr kumimoji="0" lang="en-US" altLang="zh-CN" sz="2200" b="1" i="0" u="none" strike="noStrike" kern="0" cap="none" spc="0" normalizeH="0" baseline="0" noProof="0" dirty="0" err="1">
                <a:ln>
                  <a:noFill/>
                </a:ln>
                <a:solidFill>
                  <a:srgbClr val="000000"/>
                </a:solidFill>
                <a:effectLst/>
                <a:uLnTx/>
                <a:uFillTx/>
                <a:latin typeface="宋体" panose="02010600030101010101" pitchFamily="2" charset="-122"/>
                <a:ea typeface="宋体" pitchFamily="2" charset="-122"/>
                <a:cs typeface="+mn-cs"/>
              </a:rPr>
              <a:t>dwExitCode</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，类型为</a:t>
            </a:r>
            <a:r>
              <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DWORD.</a:t>
            </a:r>
          </a:p>
          <a:p>
            <a:pPr marL="342900" marR="0" lvl="0" indent="-342900" algn="l" defTabSz="914400" rtl="0" eaLnBrk="0" fontAlgn="auto" latinLnBrk="0" hangingPunct="0">
              <a:lnSpc>
                <a:spcPts val="4000"/>
              </a:lnSpc>
              <a:spcBef>
                <a:spcPts val="0"/>
              </a:spcBef>
              <a:spcAft>
                <a:spcPts val="0"/>
              </a:spcAft>
              <a:buClr>
                <a:srgbClr val="C00000"/>
              </a:buClr>
              <a:buSzTx/>
              <a:buFont typeface="Wingdings" panose="05000000000000000000" pitchFamily="2" charset="2"/>
              <a:buChar char="n"/>
              <a:tabLst/>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为简化编程就把这些声明集中放在系统对应的头文件中。</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ts val="4000"/>
              </a:lnSpc>
              <a:spcBef>
                <a:spcPts val="0"/>
              </a:spcBef>
              <a:spcAft>
                <a:spcPts val="0"/>
              </a:spcAft>
              <a:buClr>
                <a:srgbClr val="C00000"/>
              </a:buClr>
              <a:buSzTx/>
              <a:buFont typeface="Wingdings" panose="05000000000000000000" pitchFamily="2" charset="2"/>
              <a:buChar char="n"/>
              <a:tabLst/>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每个库文件都有相应的头文件。</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ts val="4000"/>
              </a:lnSpc>
              <a:spcBef>
                <a:spcPts val="0"/>
              </a:spcBef>
              <a:spcAft>
                <a:spcPts val="0"/>
              </a:spcAft>
              <a:buClr>
                <a:srgbClr val="C00000"/>
              </a:buClr>
              <a:buSzTx/>
              <a:buFont typeface="Wingdings" panose="05000000000000000000" pitchFamily="2" charset="2"/>
              <a:buChar char="n"/>
              <a:tabLst/>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包含头文件使用伪指令</a:t>
            </a:r>
            <a:r>
              <a:rPr kumimoji="0" lang="en-US" altLang="zh-CN" sz="2400" b="1" i="0" u="none" strike="noStrike" kern="0" cap="none" spc="0" normalizeH="0" baseline="0" noProof="0" dirty="0">
                <a:ln>
                  <a:noFill/>
                </a:ln>
                <a:solidFill>
                  <a:srgbClr val="C00000"/>
                </a:solidFill>
                <a:effectLst/>
                <a:uLnTx/>
                <a:uFillTx/>
                <a:latin typeface="宋体" panose="02010600030101010101" pitchFamily="2" charset="-122"/>
                <a:ea typeface="宋体" pitchFamily="2" charset="-122"/>
                <a:cs typeface="+mn-cs"/>
              </a:rPr>
              <a:t>INCLUDE</a:t>
            </a:r>
            <a:endParaRPr kumimoji="0" lang="zh-CN" altLang="en-US"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261713629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down)">
                                      <p:cBhvr>
                                        <p:cTn id="5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1"/>
          <p:cNvSpPr txBox="1">
            <a:spLocks/>
          </p:cNvSpPr>
          <p:nvPr/>
        </p:nvSpPr>
        <p:spPr bwMode="auto">
          <a:xfrm>
            <a:off x="7236053" y="631524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0"/>
              </a:spcBef>
              <a:spcAft>
                <a:spcPct val="0"/>
              </a:spcAft>
              <a:buFont typeface="Arial" panose="020B0604020202020204" pitchFamily="34" charset="0"/>
              <a:buNone/>
              <a:defRPr sz="1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fld id="{C607574A-C435-4B79-9C67-4F183FDB79AC}" type="slidenum">
              <a:rPr kumimoji="0" lang="zh-CN"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t>63</a:t>
            </a:fld>
            <a:endParaRPr kumimoji="0" lang="zh-CN"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矩形 7"/>
          <p:cNvSpPr/>
          <p:nvPr/>
        </p:nvSpPr>
        <p:spPr>
          <a:xfrm>
            <a:off x="179512" y="706626"/>
            <a:ext cx="8964488" cy="5170646"/>
          </a:xfrm>
          <a:prstGeom prst="rect">
            <a:avLst/>
          </a:prstGeom>
        </p:spPr>
        <p:txBody>
          <a:bodyPr wrap="square">
            <a:spAutoFit/>
          </a:bodyPr>
          <a:lstStyle/>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en-US" altLang="zh-CN" sz="22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.stack</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a:t>
            </a:r>
            <a:r>
              <a:rPr kumimoji="0" lang="en-US" altLang="zh-CN" sz="22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.data</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a:t>
            </a:r>
            <a:r>
              <a:rPr kumimoji="0" lang="en-US" altLang="zh-CN" sz="22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.data?</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a:t>
            </a:r>
            <a:r>
              <a:rPr kumimoji="0" lang="en-US" altLang="zh-CN" sz="22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a:t>
            </a:r>
            <a:r>
              <a:rPr kumimoji="0" lang="en-US" altLang="zh-CN" sz="2200" b="1" i="0" u="none" strike="noStrike" kern="0" cap="none" spc="0" normalizeH="0" baseline="0" noProof="0" dirty="0" err="1">
                <a:ln>
                  <a:noFill/>
                </a:ln>
                <a:solidFill>
                  <a:srgbClr val="C00000"/>
                </a:solidFill>
                <a:effectLst/>
                <a:uLnTx/>
                <a:uFillTx/>
                <a:latin typeface="Times New Roman" pitchFamily="18" charset="0"/>
                <a:ea typeface="宋体" pitchFamily="2" charset="-122"/>
                <a:cs typeface="+mn-cs"/>
              </a:rPr>
              <a:t>const</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和</a:t>
            </a:r>
            <a:r>
              <a:rPr kumimoji="0" lang="zh-CN" altLang="en-US" sz="22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 </a:t>
            </a:r>
            <a:r>
              <a:rPr kumimoji="0" lang="en-US" altLang="zh-CN" sz="22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.code</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是分段伪指令</a:t>
            </a:r>
            <a:endPar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Win32</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中只有代码和数据之分，</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.data</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.data?</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和</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0" lang="en-US" altLang="zh-CN" sz="2200" b="1" i="0" u="none" strike="noStrike" kern="0" cap="none" spc="0" normalizeH="0" baseline="0" noProof="0" dirty="0" err="1">
                <a:ln>
                  <a:noFill/>
                </a:ln>
                <a:solidFill>
                  <a:srgbClr val="000000"/>
                </a:solidFill>
                <a:effectLst/>
                <a:uLnTx/>
                <a:uFillTx/>
                <a:latin typeface="Times New Roman" pitchFamily="18" charset="0"/>
                <a:ea typeface="宋体" pitchFamily="2" charset="-122"/>
                <a:cs typeface="+mn-cs"/>
              </a:rPr>
              <a:t>const</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都</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是数据段，</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.code</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是代码段。</a:t>
            </a:r>
            <a:endPar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.data</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中一般放</a:t>
            </a:r>
            <a:r>
              <a:rPr lang="zh-CN" altLang="en-US" sz="2200" b="1" kern="0" noProof="0" dirty="0">
                <a:solidFill>
                  <a:srgbClr val="000000"/>
                </a:solidFill>
              </a:rPr>
              <a:t>有</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初始化值的变量定义，所分配的存储单元被赋与初值，程序执行时可能会改变。</a:t>
            </a:r>
            <a:endPar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.data?</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中放的是不需要初始化的变量定义，如定义缓冲区。这些变量也可以定义在</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.data</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中，但生成最终执行文件的大小有</a:t>
            </a:r>
            <a:r>
              <a:rPr kumimoji="0" lang="zh-CN" altLang="en-US" sz="2200" b="1" i="0" u="none" strike="noStrike" kern="0" cap="none" spc="0" normalizeH="0" baseline="0" noProof="0" dirty="0">
                <a:ln>
                  <a:noFill/>
                </a:ln>
                <a:solidFill>
                  <a:srgbClr val="FF0000"/>
                </a:solidFill>
                <a:effectLst/>
                <a:uLnTx/>
                <a:uFillTx/>
                <a:latin typeface="Times New Roman" pitchFamily="18" charset="0"/>
                <a:ea typeface="宋体" pitchFamily="2" charset="-122"/>
                <a:cs typeface="+mn-cs"/>
              </a:rPr>
              <a:t>较大的差别</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t>
            </a:r>
            <a:endPar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两种数据段分配的存储区（以</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4KB</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页为单位）属性都是可读可写。</a:t>
            </a:r>
            <a:endPar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0" lang="en-US" altLang="zh-CN" sz="2200" b="1" i="0" u="none" strike="noStrike" kern="0" cap="none" spc="0" normalizeH="0" baseline="0" noProof="0" dirty="0" err="1">
                <a:ln>
                  <a:noFill/>
                </a:ln>
                <a:solidFill>
                  <a:srgbClr val="000000"/>
                </a:solidFill>
                <a:effectLst/>
                <a:uLnTx/>
                <a:uFillTx/>
                <a:latin typeface="Times New Roman" pitchFamily="18" charset="0"/>
                <a:ea typeface="宋体" pitchFamily="2" charset="-122"/>
                <a:cs typeface="+mn-cs"/>
              </a:rPr>
              <a:t>const</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用于常量的定义，比如显示的字符串信息等。这种数据段分配的存储区属性为</a:t>
            </a:r>
            <a:r>
              <a:rPr kumimoji="0" lang="zh-CN" altLang="en-US" sz="2200" b="1" i="0" u="none" strike="noStrike" kern="0" cap="none" spc="0" normalizeH="0" baseline="0" noProof="0" dirty="0">
                <a:ln>
                  <a:noFill/>
                </a:ln>
                <a:solidFill>
                  <a:srgbClr val="FF0000"/>
                </a:solidFill>
                <a:effectLst/>
                <a:uLnTx/>
                <a:uFillTx/>
                <a:latin typeface="Times New Roman" pitchFamily="18" charset="0"/>
                <a:ea typeface="宋体" pitchFamily="2" charset="-122"/>
                <a:cs typeface="+mn-cs"/>
              </a:rPr>
              <a:t>可读不可写</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t>
            </a:r>
            <a:endPar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p:txBody>
      </p:sp>
      <p:sp>
        <p:nvSpPr>
          <p:cNvPr id="9" name="文本框 8"/>
          <p:cNvSpPr txBox="1"/>
          <p:nvPr/>
        </p:nvSpPr>
        <p:spPr>
          <a:xfrm>
            <a:off x="827584" y="279140"/>
            <a:ext cx="2592288" cy="461665"/>
          </a:xfrm>
          <a:prstGeom prst="rect">
            <a:avLst/>
          </a:prstGeom>
          <a:solidFill>
            <a:srgbClr val="FFFF00"/>
          </a:solidFill>
        </p:spPr>
        <p:txBody>
          <a:bodyPr wrap="square" rtlCol="0">
            <a:spAutoFit/>
          </a:bodyPr>
          <a:lstStyle/>
          <a:p>
            <a:pPr marL="0" marR="0" lvl="0" indent="0" algn="l" defTabSz="914400" rtl="0" eaLnBrk="0" fontAlgn="auto" latinLnBrk="0" hangingPunct="0">
              <a:lnSpc>
                <a:spcPct val="100000"/>
              </a:lnSpc>
              <a:spcBef>
                <a:spcPts val="0"/>
              </a:spcBef>
              <a:spcAft>
                <a:spcPts val="0"/>
              </a:spcAft>
              <a:buClr>
                <a:srgbClr val="C00000"/>
              </a:buClr>
              <a:buSzTx/>
              <a:buFont typeface="Arial" pitchFamily="34" charset="0"/>
              <a:buNone/>
              <a:tabLst/>
              <a:defRPr/>
            </a:pPr>
            <a:r>
              <a:rPr kumimoji="0" lang="zh-CN" altLang="en-US"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三、段的定义</a:t>
            </a:r>
          </a:p>
        </p:txBody>
      </p:sp>
      <p:sp>
        <p:nvSpPr>
          <p:cNvPr id="10" name="矩形 9"/>
          <p:cNvSpPr/>
          <p:nvPr/>
        </p:nvSpPr>
        <p:spPr>
          <a:xfrm>
            <a:off x="179512" y="3936633"/>
            <a:ext cx="8568952" cy="461665"/>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68868371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down)">
                                      <p:cBhvr>
                                        <p:cTn id="3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35846"/>
            <a:ext cx="8568952" cy="4662815"/>
          </a:xfrm>
          <a:prstGeom prst="rect">
            <a:avLst/>
          </a:prstGeom>
        </p:spPr>
        <p:txBody>
          <a:bodyPr wrap="square">
            <a:spAutoFit/>
          </a:bodyPr>
          <a:lstStyle/>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与</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DOS</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汇编语言不同，</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Win32</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汇编语言可以不考虑堆栈定义，操作系统会为程序分配一个向下扩展的、足够大的段作为堆栈段，所以</a:t>
            </a:r>
            <a:r>
              <a:rPr kumimoji="0" lang="zh-CN" altLang="en-US"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.stack</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段定义常常被忽略。</a:t>
            </a:r>
            <a:endPar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.code</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段是代码段，所有的指令都必须写在代码段中，对于工作在特权级</a:t>
            </a:r>
            <a:r>
              <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3</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的应用程序，该存储区属性为可读、不可写、可执行。</a:t>
            </a:r>
            <a:endPar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Win32</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环境下的“段”实际上并不是</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DOS</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汇编语言那种意义的</a:t>
            </a:r>
            <a:r>
              <a:rPr kumimoji="0" lang="zh-CN" altLang="en-US" sz="2200" b="1" i="0" u="none" strike="noStrike" kern="0" cap="none" spc="0" normalizeH="0" baseline="0" noProof="0" dirty="0" smtClean="0">
                <a:ln>
                  <a:noFill/>
                </a:ln>
                <a:solidFill>
                  <a:srgbClr val="000000"/>
                </a:solidFill>
                <a:effectLst/>
                <a:uLnTx/>
                <a:uFillTx/>
                <a:latin typeface="宋体" panose="02010600030101010101" pitchFamily="2" charset="-122"/>
                <a:ea typeface="宋体" pitchFamily="2" charset="-122"/>
                <a:cs typeface="+mn-cs"/>
              </a:rPr>
              <a:t>段</a:t>
            </a:r>
            <a:r>
              <a:rPr kumimoji="0" lang="en-US" altLang="zh-CN" sz="2200" b="1" i="0" u="none" strike="noStrike" kern="0" cap="none" spc="0" normalizeH="0" baseline="0" noProof="0" dirty="0" smtClean="0">
                <a:ln>
                  <a:noFill/>
                </a:ln>
                <a:solidFill>
                  <a:srgbClr val="000000"/>
                </a:solidFill>
                <a:effectLst/>
                <a:uLnTx/>
                <a:uFillTx/>
                <a:latin typeface="宋体" panose="02010600030101010101" pitchFamily="2" charset="-122"/>
                <a:ea typeface="宋体" pitchFamily="2" charset="-122"/>
                <a:cs typeface="+mn-cs"/>
              </a:rPr>
              <a:t>,</a:t>
            </a:r>
            <a:r>
              <a:rPr kumimoji="0" lang="zh-CN" altLang="en-US" sz="2200" b="1" i="0" u="none" strike="noStrike" kern="0" cap="none" spc="0" normalizeH="0" baseline="0" noProof="0" dirty="0" smtClean="0">
                <a:ln>
                  <a:noFill/>
                </a:ln>
                <a:solidFill>
                  <a:srgbClr val="000000"/>
                </a:solidFill>
                <a:effectLst/>
                <a:uLnTx/>
                <a:uFillTx/>
                <a:latin typeface="宋体" panose="02010600030101010101" pitchFamily="2" charset="-122"/>
                <a:ea typeface="宋体" pitchFamily="2" charset="-122"/>
                <a:cs typeface="+mn-cs"/>
              </a:rPr>
              <a:t>而是</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内存的“分段”。</a:t>
            </a:r>
            <a:endParaRPr kumimoji="0" lang="en-US" altLang="zh-CN"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endParaRPr>
          </a:p>
          <a:p>
            <a:pPr marL="342900" marR="0" lvl="0" indent="-342900" algn="l" defTabSz="914400" rtl="0" eaLnBrk="0" fontAlgn="auto" latinLnBrk="0" hangingPunct="0">
              <a:lnSpc>
                <a:spcPct val="150000"/>
              </a:lnSpc>
              <a:spcBef>
                <a:spcPts val="0"/>
              </a:spcBef>
              <a:spcAft>
                <a:spcPts val="0"/>
              </a:spcAft>
              <a:buClr>
                <a:srgbClr val="C00000"/>
              </a:buClr>
              <a:buSzTx/>
              <a:buFont typeface="Wingdings" panose="05000000000000000000" pitchFamily="2" charset="2"/>
              <a:buChar char="n"/>
              <a:tabLst/>
              <a:defRPr/>
            </a:pP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上一个段的结束就是下一个段的开始，所有的“分段”合起来，包括系统使用的地址空间，就组成了整个可以寻址的</a:t>
            </a:r>
            <a:r>
              <a:rPr kumimoji="0" lang="en-US" altLang="zh-CN" sz="22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4 GB</a:t>
            </a:r>
            <a:r>
              <a:rPr kumimoji="0" lang="zh-CN" altLang="en-US" sz="22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空间。</a:t>
            </a:r>
            <a:endParaRPr kumimoji="0" lang="zh-CN" altLang="en-US" sz="2800" b="0" i="0" u="none" strike="noStrike" kern="1200" cap="none" spc="0" normalizeH="0" baseline="0" noProof="0" dirty="0">
              <a:ln>
                <a:noFill/>
              </a:ln>
              <a:solidFill>
                <a:srgbClr val="FFCC66"/>
              </a:solidFill>
              <a:effectLst/>
              <a:uLnTx/>
              <a:uFillTx/>
              <a:latin typeface="Times New Roman" pitchFamily="18" charset="0"/>
              <a:ea typeface="宋体" pitchFamily="2" charset="-122"/>
              <a:cs typeface="+mn-cs"/>
            </a:endParaRPr>
          </a:p>
        </p:txBody>
      </p:sp>
      <p:sp>
        <p:nvSpPr>
          <p:cNvPr id="3" name="灯片编号占位符 1"/>
          <p:cNvSpPr txBox="1">
            <a:spLocks/>
          </p:cNvSpPr>
          <p:nvPr/>
        </p:nvSpPr>
        <p:spPr bwMode="auto">
          <a:xfrm>
            <a:off x="7236053" y="631524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0"/>
              </a:spcBef>
              <a:spcAft>
                <a:spcPct val="0"/>
              </a:spcAft>
              <a:buFont typeface="Arial" panose="020B0604020202020204" pitchFamily="34" charset="0"/>
              <a:buNone/>
              <a:defRPr sz="1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fld id="{C607574A-C435-4B79-9C67-4F183FDB79AC}" type="slidenum">
              <a:rPr kumimoji="0" lang="zh-CN"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t>64</a:t>
            </a:fld>
            <a:endParaRPr kumimoji="0" lang="zh-CN"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88669655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292272"/>
            <a:ext cx="6301680" cy="461665"/>
          </a:xfrm>
          <a:prstGeom prst="rect">
            <a:avLst/>
          </a:prstGeom>
          <a:solidFill>
            <a:srgbClr val="FFFF00"/>
          </a:solid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 typeface="Arial" pitchFamily="34" charset="0"/>
              <a:buNone/>
              <a:tabLst/>
              <a:defRPr/>
            </a:pPr>
            <a:r>
              <a:rPr kumimoji="0" lang="zh-CN" altLang="en-US"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四、调用</a:t>
            </a:r>
            <a:r>
              <a:rPr kumimoji="0" lang="en-US" altLang="zh-CN"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Windows</a:t>
            </a:r>
            <a:r>
              <a:rPr kumimoji="0" lang="zh-CN" altLang="en-US"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的</a:t>
            </a:r>
            <a:r>
              <a:rPr kumimoji="0" lang="en-US" altLang="zh-CN"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API</a:t>
            </a:r>
            <a:r>
              <a:rPr kumimoji="0" lang="zh-CN" altLang="en-US"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函数的伪指令</a:t>
            </a:r>
            <a:r>
              <a:rPr kumimoji="0" lang="en-US" altLang="zh-CN"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invoke</a:t>
            </a:r>
            <a:endParaRPr kumimoji="0" lang="zh-CN" altLang="en-US"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endParaRPr>
          </a:p>
        </p:txBody>
      </p:sp>
      <p:sp>
        <p:nvSpPr>
          <p:cNvPr id="3" name="矩形 2"/>
          <p:cNvSpPr/>
          <p:nvPr/>
        </p:nvSpPr>
        <p:spPr>
          <a:xfrm>
            <a:off x="255470" y="1525168"/>
            <a:ext cx="8888530" cy="3231654"/>
          </a:xfrm>
          <a:prstGeom prst="rect">
            <a:avLst/>
          </a:prstGeom>
        </p:spPr>
        <p:txBody>
          <a:bodyPr wrap="square">
            <a:spAutoFit/>
          </a:bodyPr>
          <a:lstStyle/>
          <a:p>
            <a:pPr marL="0" marR="0" lvl="0" indent="0" algn="l" defTabSz="914400" rtl="0" eaLnBrk="0" fontAlgn="auto" latinLnBrk="0" hangingPunct="0">
              <a:lnSpc>
                <a:spcPct val="15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格式：</a:t>
            </a:r>
            <a:endPar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auto" latinLnBrk="0" hangingPunct="0">
              <a:lnSpc>
                <a:spcPct val="15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invoke  </a:t>
            </a:r>
            <a:r>
              <a:rPr kumimoji="0" lang="zh-CN" altLang="en-US" sz="24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函数名</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a:t>
            </a:r>
            <a:r>
              <a:rPr kumimoji="0" lang="zh-CN" altLang="en-US" sz="24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，参数</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1][</a:t>
            </a:r>
            <a:r>
              <a:rPr kumimoji="0" lang="zh-CN" altLang="en-US" sz="24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，参数</a:t>
            </a:r>
            <a:r>
              <a:rPr kumimoji="0" lang="en-US" altLang="zh-CN" sz="24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2]……</a:t>
            </a:r>
          </a:p>
          <a:p>
            <a:pPr marL="0" marR="0" lvl="0" indent="0" algn="l" defTabSz="914400" rtl="0" eaLnBrk="0" fontAlgn="auto" latinLnBrk="0" hangingPunct="0">
              <a:lnSpc>
                <a:spcPct val="15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例如，</a:t>
            </a: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调用</a:t>
            </a:r>
            <a:r>
              <a:rPr kumimoji="0" lang="en-US" altLang="zh-CN" sz="24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API</a:t>
            </a: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函数</a:t>
            </a:r>
            <a:r>
              <a:rPr kumimoji="0" lang="en-US" altLang="zh-CN" sz="2400" b="0" i="0" u="none" strike="noStrike" kern="0" cap="none" spc="0" normalizeH="0" baseline="0" noProof="0" dirty="0" err="1">
                <a:ln>
                  <a:noFill/>
                </a:ln>
                <a:solidFill>
                  <a:srgbClr val="000000"/>
                </a:solidFill>
                <a:effectLst/>
                <a:uLnTx/>
                <a:uFillTx/>
                <a:latin typeface="Times New Roman" pitchFamily="18" charset="0"/>
                <a:ea typeface="宋体" pitchFamily="2" charset="-122"/>
                <a:cs typeface="+mn-cs"/>
              </a:rPr>
              <a:t>MessageBox</a:t>
            </a:r>
            <a:r>
              <a:rPr kumimoji="0" lang="en-US" altLang="zh-CN" sz="24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显示信息：</a:t>
            </a:r>
            <a:endPar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auto" latinLnBrk="0" hangingPunct="0">
              <a:lnSpc>
                <a:spcPct val="15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invoke  </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pitchFamily="2" charset="-122"/>
                <a:cs typeface="+mn-cs"/>
              </a:rPr>
              <a:t>MessageBox,NULL,offset</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 </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pitchFamily="2" charset="-122"/>
                <a:cs typeface="+mn-cs"/>
              </a:rPr>
              <a:t>szText,offset</a:t>
            </a:r>
            <a:r>
              <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rPr>
              <a:t> </a:t>
            </a:r>
            <a:r>
              <a:rPr kumimoji="0" lang="en-US" altLang="zh-CN" sz="2000" b="1" i="0" u="none" strike="noStrike" kern="0" cap="none" spc="0" normalizeH="0" baseline="0" noProof="0" dirty="0" err="1">
                <a:ln>
                  <a:noFill/>
                </a:ln>
                <a:solidFill>
                  <a:srgbClr val="0000FF"/>
                </a:solidFill>
                <a:effectLst/>
                <a:uLnTx/>
                <a:uFillTx/>
                <a:latin typeface="Times New Roman" pitchFamily="18" charset="0"/>
                <a:ea typeface="宋体" pitchFamily="2" charset="-122"/>
                <a:cs typeface="+mn-cs"/>
              </a:rPr>
              <a:t>szCaption,MB_OK</a:t>
            </a:r>
            <a:endParaRPr kumimoji="0" lang="en-US" altLang="zh-CN" sz="20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mn-cs"/>
            </a:endParaRPr>
          </a:p>
          <a:p>
            <a:pPr marL="0" marR="0" lvl="0" indent="0" algn="l" defTabSz="914400" rtl="0" eaLnBrk="0" fontAlgn="auto" latinLnBrk="0" hangingPunct="0">
              <a:lnSpc>
                <a:spcPct val="15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调用</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Windows</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的</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API</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函数</a:t>
            </a:r>
            <a:r>
              <a:rPr kumimoji="0" lang="en-US" altLang="zh-CN" sz="2400" b="1" i="0" u="none" strike="noStrike" kern="0" cap="none" spc="0" normalizeH="0" baseline="0" noProof="0" dirty="0" err="1">
                <a:ln>
                  <a:noFill/>
                </a:ln>
                <a:solidFill>
                  <a:srgbClr val="000000"/>
                </a:solidFill>
                <a:effectLst/>
                <a:uLnTx/>
                <a:uFillTx/>
                <a:latin typeface="Times New Roman" pitchFamily="18" charset="0"/>
                <a:ea typeface="宋体" pitchFamily="2" charset="-122"/>
                <a:cs typeface="+mn-cs"/>
              </a:rPr>
              <a:t>ExitProcess</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0" lang="zh-CN" altLang="en-US" sz="2400" b="1" i="0" u="none" strike="noStrike" kern="0" cap="none" spc="0" normalizeH="0" baseline="0" noProof="0" dirty="0">
                <a:ln>
                  <a:noFill/>
                </a:ln>
                <a:solidFill>
                  <a:srgbClr val="000000"/>
                </a:solidFill>
                <a:effectLst/>
                <a:uLnTx/>
                <a:uFillTx/>
                <a:latin typeface="Courier"/>
                <a:ea typeface="宋体" pitchFamily="2" charset="-122"/>
                <a:cs typeface="+mn-cs"/>
              </a:rPr>
              <a:t>将控制权返回操作系统。</a:t>
            </a:r>
            <a:endParaRPr kumimoji="0" lang="en-US" altLang="zh-CN" sz="2400" b="1" i="0" u="none" strike="noStrike" kern="0" cap="none" spc="0" normalizeH="0" baseline="0" noProof="0" dirty="0">
              <a:ln>
                <a:noFill/>
              </a:ln>
              <a:solidFill>
                <a:srgbClr val="000000"/>
              </a:solidFill>
              <a:effectLst/>
              <a:uLnTx/>
              <a:uFillTx/>
              <a:latin typeface="Courier"/>
              <a:ea typeface="宋体" pitchFamily="2" charset="-122"/>
              <a:cs typeface="+mn-cs"/>
            </a:endParaRPr>
          </a:p>
          <a:p>
            <a:pPr marL="0" marR="0" lvl="0" indent="0" algn="l" defTabSz="914400" rtl="0" eaLnBrk="0" fontAlgn="auto" latinLnBrk="0" hangingPunct="0">
              <a:lnSpc>
                <a:spcPct val="15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FF"/>
                </a:solidFill>
                <a:effectLst/>
                <a:uLnTx/>
                <a:uFillTx/>
                <a:latin typeface="Courier"/>
                <a:ea typeface="宋体" pitchFamily="2" charset="-122"/>
                <a:cs typeface="+mn-cs"/>
              </a:rPr>
              <a:t>invoke </a:t>
            </a:r>
            <a:r>
              <a:rPr kumimoji="0" lang="en-US" altLang="zh-CN" sz="2000" b="1" i="0" u="none" strike="noStrike" kern="0" cap="none" spc="0" normalizeH="0" baseline="0" noProof="0" dirty="0" err="1">
                <a:ln>
                  <a:noFill/>
                </a:ln>
                <a:solidFill>
                  <a:srgbClr val="0000FF"/>
                </a:solidFill>
                <a:effectLst/>
                <a:uLnTx/>
                <a:uFillTx/>
                <a:latin typeface="Courier"/>
                <a:ea typeface="宋体" pitchFamily="2" charset="-122"/>
                <a:cs typeface="+mn-cs"/>
              </a:rPr>
              <a:t>ExitProcess,NULL</a:t>
            </a:r>
            <a:endParaRPr kumimoji="0" lang="en-US" altLang="zh-CN" sz="2400" b="1" i="0" u="none" strike="noStrike" kern="0" cap="none" spc="0" normalizeH="0" baseline="0" noProof="0" dirty="0">
              <a:ln>
                <a:noFill/>
              </a:ln>
              <a:solidFill>
                <a:srgbClr val="000000"/>
              </a:solidFill>
              <a:effectLst/>
              <a:uLnTx/>
              <a:uFillTx/>
              <a:latin typeface="Courier"/>
              <a:ea typeface="宋体" pitchFamily="2" charset="-122"/>
              <a:cs typeface="+mn-cs"/>
            </a:endParaRPr>
          </a:p>
        </p:txBody>
      </p:sp>
      <p:sp>
        <p:nvSpPr>
          <p:cNvPr id="4" name="文本框 3"/>
          <p:cNvSpPr txBox="1"/>
          <p:nvPr/>
        </p:nvSpPr>
        <p:spPr>
          <a:xfrm>
            <a:off x="265334" y="908720"/>
            <a:ext cx="8483130" cy="461665"/>
          </a:xfrm>
          <a:prstGeom prst="rect">
            <a:avLst/>
          </a:prstGeom>
          <a:noFill/>
        </p:spPr>
        <p:txBody>
          <a:bodyPr wrap="square" rtlCol="0">
            <a:spAutoFit/>
          </a:bodyPr>
          <a:lstStyle/>
          <a:p>
            <a:pPr marL="0" marR="0" lvl="0" indent="0" algn="l" defTabSz="914400" rtl="0" eaLnBrk="0" fontAlgn="auto" latinLnBrk="0" hangingPunct="0">
              <a:lnSpc>
                <a:spcPct val="100000"/>
              </a:lnSpc>
              <a:spcBef>
                <a:spcPts val="0"/>
              </a:spcBef>
              <a:spcAft>
                <a:spcPts val="0"/>
              </a:spcAft>
              <a:buClr>
                <a:srgbClr val="C00000"/>
              </a:buClr>
              <a:buSzTx/>
              <a:buFontTx/>
              <a:buNone/>
              <a:tabLst/>
              <a:defRPr/>
            </a:pP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把系统头文件和动态链接库包含到文件后就可以调用</a:t>
            </a:r>
            <a:r>
              <a:rPr kumimoji="0"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API</a:t>
            </a:r>
            <a:r>
              <a:rPr kumimoji="0"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函数</a:t>
            </a:r>
          </a:p>
        </p:txBody>
      </p:sp>
      <p:sp>
        <p:nvSpPr>
          <p:cNvPr id="5" name="灯片编号占位符 1"/>
          <p:cNvSpPr txBox="1">
            <a:spLocks/>
          </p:cNvSpPr>
          <p:nvPr/>
        </p:nvSpPr>
        <p:spPr bwMode="auto">
          <a:xfrm>
            <a:off x="7236053" y="631524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0"/>
              </a:spcBef>
              <a:spcAft>
                <a:spcPct val="0"/>
              </a:spcAft>
              <a:buFont typeface="Arial" panose="020B0604020202020204" pitchFamily="34" charset="0"/>
              <a:buNone/>
              <a:defRPr sz="1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fld id="{C607574A-C435-4B79-9C67-4F183FDB79AC}" type="slidenum">
              <a:rPr kumimoji="0" lang="zh-CN"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t>65</a:t>
            </a:fld>
            <a:endParaRPr kumimoji="0" lang="zh-CN"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79786143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down)">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down)">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52120" y="216222"/>
            <a:ext cx="4248472" cy="461665"/>
          </a:xfrm>
          <a:prstGeom prst="rect">
            <a:avLst/>
          </a:prstGeom>
          <a:solidFill>
            <a:srgbClr val="FFFF00"/>
          </a:solid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 typeface="Arial" pitchFamily="34" charset="0"/>
              <a:buNone/>
              <a:tabLst/>
              <a:defRPr/>
            </a:pPr>
            <a:r>
              <a:rPr kumimoji="0" lang="zh-CN" altLang="en-US" sz="2400" b="1" i="0" u="none" strike="noStrike" kern="0" cap="none" spc="0" normalizeH="0" baseline="0" noProof="0" dirty="0">
                <a:ln>
                  <a:noFill/>
                </a:ln>
                <a:solidFill>
                  <a:srgbClr val="C00000"/>
                </a:solidFill>
                <a:effectLst/>
                <a:uLnTx/>
                <a:uFillTx/>
                <a:latin typeface="Times New Roman" pitchFamily="18" charset="0"/>
                <a:ea typeface="宋体" pitchFamily="2" charset="-122"/>
                <a:cs typeface="+mn-cs"/>
              </a:rPr>
              <a:t>五、程序结束和程序入口</a:t>
            </a:r>
          </a:p>
        </p:txBody>
      </p:sp>
      <p:sp>
        <p:nvSpPr>
          <p:cNvPr id="3" name="文本框 2"/>
          <p:cNvSpPr txBox="1"/>
          <p:nvPr/>
        </p:nvSpPr>
        <p:spPr>
          <a:xfrm>
            <a:off x="539552" y="908720"/>
            <a:ext cx="7920880" cy="4154984"/>
          </a:xfrm>
          <a:prstGeom prst="rect">
            <a:avLst/>
          </a:prstGeom>
          <a:noFill/>
        </p:spPr>
        <p:txBody>
          <a:bodyPr wrap="square" rtlCol="0">
            <a:spAutoFit/>
          </a:bodyPr>
          <a:lstStyle/>
          <a:p>
            <a:pPr marL="342900" marR="0" lvl="0" indent="-342900" algn="l" defTabSz="914400" rtl="0" eaLnBrk="1" fontAlgn="base" latinLnBrk="0" hangingPunct="1">
              <a:lnSpc>
                <a:spcPct val="150000"/>
              </a:lnSpc>
              <a:spcBef>
                <a:spcPct val="0"/>
              </a:spcBef>
              <a:spcAft>
                <a:spcPct val="0"/>
              </a:spcAft>
              <a:buClr>
                <a:srgbClr val="C00000"/>
              </a:buClr>
              <a:buSzTx/>
              <a:buFont typeface="Wingdings" panose="05000000000000000000" pitchFamily="2" charset="2"/>
              <a:buChar char="n"/>
              <a:tabLst/>
              <a:defRPr/>
            </a:pP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不像</a:t>
            </a:r>
            <a:r>
              <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t>
            </a: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语言程序有一个</a:t>
            </a:r>
            <a:r>
              <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a:t>
            </a: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函数，</a:t>
            </a:r>
            <a:r>
              <a:rPr kumimoji="0" lang="zh-CN" altLang="en-US" sz="22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rPr>
              <a:t>在</a:t>
            </a:r>
            <a:r>
              <a:rPr kumimoji="0" lang="zh-CN" altLang="en-US" sz="2200" b="1"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t>汇编语言源程序</a:t>
            </a: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中，程序员可以指定从代码段的任何一个地方开始执行。</a:t>
            </a:r>
            <a:endPar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1" fontAlgn="base" latinLnBrk="0" hangingPunct="1">
              <a:lnSpc>
                <a:spcPct val="150000"/>
              </a:lnSpc>
              <a:spcBef>
                <a:spcPct val="0"/>
              </a:spcBef>
              <a:spcAft>
                <a:spcPct val="0"/>
              </a:spcAft>
              <a:buClr>
                <a:srgbClr val="C00000"/>
              </a:buClr>
              <a:buSzTx/>
              <a:buFont typeface="Wingdings" panose="05000000000000000000" pitchFamily="2" charset="2"/>
              <a:buChar char="n"/>
              <a:tabLst/>
              <a:defRPr/>
            </a:pP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程序的最后一句一定是伪指令</a:t>
            </a:r>
            <a:r>
              <a:rPr kumimoji="0" lang="en-US" altLang="zh-CN" sz="2200" b="1" i="0" u="none" strike="noStrike" kern="1200" cap="none" spc="0" normalizeH="0" baseline="0" noProof="0" dirty="0">
                <a:ln>
                  <a:noFill/>
                </a:ln>
                <a:solidFill>
                  <a:srgbClr val="C00000"/>
                </a:solidFill>
                <a:effectLst/>
                <a:uLnTx/>
                <a:uFillTx/>
                <a:latin typeface="Times New Roman" pitchFamily="18" charset="0"/>
                <a:ea typeface="宋体" pitchFamily="2" charset="-122"/>
                <a:cs typeface="+mn-cs"/>
              </a:rPr>
              <a:t>end</a:t>
            </a: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a:t>
            </a:r>
          </a:p>
          <a:p>
            <a:pPr marL="0" marR="0" lvl="0" indent="0" algn="l" defTabSz="914400" rtl="0" eaLnBrk="1" fontAlgn="base" latinLnBrk="0" hangingPunct="1">
              <a:lnSpc>
                <a:spcPct val="150000"/>
              </a:lnSpc>
              <a:spcBef>
                <a:spcPct val="0"/>
              </a:spcBef>
              <a:spcAft>
                <a:spcPct val="0"/>
              </a:spcAft>
              <a:buClrTx/>
              <a:buSzTx/>
              <a:buFont typeface="Arial" pitchFamily="34" charset="0"/>
              <a:buNone/>
              <a:tabLst/>
              <a:defRPr/>
            </a:pPr>
            <a:r>
              <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end     [</a:t>
            </a: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开始地址</a:t>
            </a:r>
            <a:r>
              <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p>
          <a:p>
            <a:pPr marL="342900" marR="0" lvl="0" indent="-342900" algn="l" defTabSz="914400" rtl="0" eaLnBrk="1" fontAlgn="base" latinLnBrk="0" hangingPunct="1">
              <a:lnSpc>
                <a:spcPct val="150000"/>
              </a:lnSpc>
              <a:spcBef>
                <a:spcPct val="0"/>
              </a:spcBef>
              <a:spcAft>
                <a:spcPct val="0"/>
              </a:spcAft>
              <a:buClr>
                <a:srgbClr val="C00000"/>
              </a:buClr>
              <a:buSzTx/>
              <a:buFont typeface="Wingdings" panose="05000000000000000000" pitchFamily="2" charset="2"/>
              <a:buChar char="n"/>
              <a:tabLst/>
              <a:defRPr/>
            </a:pP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该语句指定了开始执行的指令，同时还表示源程序结束，即所有的代码必须在</a:t>
            </a:r>
            <a:r>
              <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end</a:t>
            </a: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语句之前。</a:t>
            </a:r>
            <a:endPar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1" fontAlgn="base" latinLnBrk="0" hangingPunct="1">
              <a:lnSpc>
                <a:spcPct val="150000"/>
              </a:lnSpc>
              <a:spcBef>
                <a:spcPct val="0"/>
              </a:spcBef>
              <a:spcAft>
                <a:spcPct val="0"/>
              </a:spcAft>
              <a:buClr>
                <a:srgbClr val="C00000"/>
              </a:buClr>
              <a:buSzTx/>
              <a:buFont typeface="Wingdings" panose="05000000000000000000" pitchFamily="2" charset="2"/>
              <a:buChar char="n"/>
              <a:tabLst/>
              <a:defRPr/>
            </a:pP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在第一条执行语句的前面要加上一个标号，以便在</a:t>
            </a:r>
            <a:r>
              <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END</a:t>
            </a: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语句中使用。一般主程序习惯使用标号</a:t>
            </a:r>
            <a:r>
              <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a:t>
            </a:r>
            <a:r>
              <a:rPr kumimoji="0"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endParaRPr kumimoji="0"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 name="文本框 3"/>
          <p:cNvSpPr txBox="1"/>
          <p:nvPr/>
        </p:nvSpPr>
        <p:spPr>
          <a:xfrm>
            <a:off x="467544" y="5227810"/>
            <a:ext cx="7992888"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end  main</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是在最开始语句前加的标号。</a:t>
            </a:r>
          </a:p>
        </p:txBody>
      </p:sp>
      <p:sp>
        <p:nvSpPr>
          <p:cNvPr id="5" name="灯片编号占位符 1"/>
          <p:cNvSpPr txBox="1">
            <a:spLocks/>
          </p:cNvSpPr>
          <p:nvPr/>
        </p:nvSpPr>
        <p:spPr bwMode="auto">
          <a:xfrm>
            <a:off x="7236053" y="631524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0"/>
              </a:spcBef>
              <a:spcAft>
                <a:spcPct val="0"/>
              </a:spcAft>
              <a:buFont typeface="Arial" panose="020B0604020202020204" pitchFamily="34" charset="0"/>
              <a:buNone/>
              <a:defRPr sz="1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fld id="{C607574A-C435-4B79-9C67-4F183FDB79AC}" type="slidenum">
              <a:rPr kumimoji="0" lang="zh-CN"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tabLst/>
                <a:defRPr/>
              </a:pPr>
              <a:t>66</a:t>
            </a:fld>
            <a:endParaRPr kumimoji="0" lang="zh-CN"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92423589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CFD3BC35-4FD1-41A5-9BA7-2B07B192B056}" type="slidenum">
              <a:rPr lang="en-US" altLang="zh-CN" sz="1400">
                <a:solidFill>
                  <a:schemeClr val="bg2"/>
                </a:solidFill>
              </a:rPr>
              <a:pPr algn="r" eaLnBrk="1" hangingPunct="1"/>
              <a:t>67</a:t>
            </a:fld>
            <a:endParaRPr lang="en-US" altLang="zh-CN" sz="1400">
              <a:solidFill>
                <a:schemeClr val="bg2"/>
              </a:solidFill>
            </a:endParaRPr>
          </a:p>
        </p:txBody>
      </p:sp>
      <p:sp>
        <p:nvSpPr>
          <p:cNvPr id="83971" name="Rectangle 2"/>
          <p:cNvSpPr>
            <a:spLocks noChangeArrowheads="1"/>
          </p:cNvSpPr>
          <p:nvPr/>
        </p:nvSpPr>
        <p:spPr bwMode="auto">
          <a:xfrm>
            <a:off x="609600" y="609600"/>
            <a:ext cx="7839075" cy="5191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b="1" dirty="0">
                <a:solidFill>
                  <a:schemeClr val="hlink"/>
                </a:solidFill>
              </a:rPr>
              <a:t> 4.7  </a:t>
            </a:r>
            <a:r>
              <a:rPr lang="zh-CN" altLang="en-US" b="1" dirty="0">
                <a:solidFill>
                  <a:schemeClr val="hlink"/>
                </a:solidFill>
              </a:rPr>
              <a:t>当前位置计数器</a:t>
            </a:r>
            <a:r>
              <a:rPr lang="en-US" altLang="zh-CN" b="1" dirty="0">
                <a:solidFill>
                  <a:schemeClr val="hlink"/>
                </a:solidFill>
              </a:rPr>
              <a:t>$</a:t>
            </a:r>
            <a:r>
              <a:rPr lang="zh-CN" altLang="en-US" b="1" dirty="0">
                <a:solidFill>
                  <a:schemeClr val="hlink"/>
                </a:solidFill>
              </a:rPr>
              <a:t>与定位伪指令</a:t>
            </a:r>
            <a:r>
              <a:rPr lang="en-US" altLang="zh-CN" b="1" dirty="0">
                <a:solidFill>
                  <a:schemeClr val="hlink"/>
                </a:solidFill>
              </a:rPr>
              <a:t>ORG(Origin) </a:t>
            </a:r>
          </a:p>
        </p:txBody>
      </p:sp>
      <p:sp>
        <p:nvSpPr>
          <p:cNvPr id="83972" name="Rectangle 3"/>
          <p:cNvSpPr>
            <a:spLocks noChangeArrowheads="1"/>
          </p:cNvSpPr>
          <p:nvPr/>
        </p:nvSpPr>
        <p:spPr bwMode="auto">
          <a:xfrm>
            <a:off x="611188" y="1844675"/>
            <a:ext cx="8208962" cy="1216025"/>
          </a:xfrm>
          <a:prstGeom prst="rect">
            <a:avLst/>
          </a:prstGeom>
          <a:noFill/>
          <a:ln w="28575"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bg2"/>
                </a:solidFill>
              </a:rPr>
              <a:t>    </a:t>
            </a:r>
            <a:r>
              <a:rPr lang="zh-CN" altLang="en-US" sz="2400" b="1" dirty="0">
                <a:solidFill>
                  <a:srgbClr val="FF0000"/>
                </a:solidFill>
              </a:rPr>
              <a:t>汇编程序</a:t>
            </a:r>
            <a:r>
              <a:rPr lang="zh-CN" altLang="en-US" sz="2400" b="1" dirty="0">
                <a:solidFill>
                  <a:schemeClr val="bg2"/>
                </a:solidFill>
              </a:rPr>
              <a:t>在汇编源程序时，每遇到一个逻辑段，就要为其设置一个位置计数器，用来记录该逻辑段中定义的每一个数据或每一条指令在逻辑段中的相对位置。</a:t>
            </a:r>
          </a:p>
        </p:txBody>
      </p:sp>
      <p:sp>
        <p:nvSpPr>
          <p:cNvPr id="83973" name="Rectangle 4"/>
          <p:cNvSpPr>
            <a:spLocks noChangeArrowheads="1"/>
          </p:cNvSpPr>
          <p:nvPr/>
        </p:nvSpPr>
        <p:spPr bwMode="auto">
          <a:xfrm>
            <a:off x="684213" y="3581400"/>
            <a:ext cx="8280400" cy="1569660"/>
          </a:xfrm>
          <a:prstGeom prst="rect">
            <a:avLst/>
          </a:prstGeom>
          <a:solidFill>
            <a:schemeClr val="bg1"/>
          </a:solidFill>
          <a:ln w="9525">
            <a:solidFill>
              <a:schemeClr val="bg1"/>
            </a:solidFill>
            <a:miter lim="800000"/>
            <a:headEnd/>
            <a:tailEnd/>
          </a:ln>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marL="342900" indent="-342900" eaLnBrk="1" hangingPunct="1">
              <a:buClr>
                <a:srgbClr val="C00000"/>
              </a:buClr>
              <a:buFont typeface="Wingdings" panose="05000000000000000000" pitchFamily="2" charset="2"/>
              <a:buChar char="n"/>
            </a:pPr>
            <a:r>
              <a:rPr lang="zh-CN" altLang="en-US" sz="2400" b="1" dirty="0">
                <a:solidFill>
                  <a:schemeClr val="bg2"/>
                </a:solidFill>
              </a:rPr>
              <a:t>在源程序中使用符号</a:t>
            </a:r>
            <a:r>
              <a:rPr lang="en-US" altLang="zh-CN" sz="2400" b="1" dirty="0">
                <a:solidFill>
                  <a:schemeClr val="bg2"/>
                </a:solidFill>
              </a:rPr>
              <a:t>$</a:t>
            </a:r>
            <a:r>
              <a:rPr lang="zh-CN" altLang="en-US" sz="2400" b="1" dirty="0">
                <a:solidFill>
                  <a:schemeClr val="bg2"/>
                </a:solidFill>
              </a:rPr>
              <a:t>来表示“位置计数器”的当前值。</a:t>
            </a:r>
            <a:r>
              <a:rPr lang="en-US" altLang="zh-CN" sz="2400" b="1" dirty="0">
                <a:solidFill>
                  <a:schemeClr val="bg2"/>
                </a:solidFill>
              </a:rPr>
              <a:t>$</a:t>
            </a:r>
            <a:r>
              <a:rPr lang="zh-CN" altLang="en-US" sz="2400" b="1" dirty="0">
                <a:solidFill>
                  <a:schemeClr val="bg2"/>
                </a:solidFill>
              </a:rPr>
              <a:t>也被称为</a:t>
            </a:r>
            <a:r>
              <a:rPr lang="zh-CN" altLang="en-US" sz="2400" b="1" dirty="0">
                <a:solidFill>
                  <a:srgbClr val="FF0000"/>
                </a:solidFill>
              </a:rPr>
              <a:t>当前位置计数器</a:t>
            </a:r>
            <a:r>
              <a:rPr lang="zh-CN" altLang="en-US" sz="2400" b="1" dirty="0">
                <a:solidFill>
                  <a:schemeClr val="bg2"/>
                </a:solidFill>
              </a:rPr>
              <a:t>。</a:t>
            </a:r>
            <a:endParaRPr lang="en-US" altLang="zh-CN" sz="2400" b="1" dirty="0">
              <a:solidFill>
                <a:schemeClr val="bg2"/>
              </a:solidFill>
            </a:endParaRPr>
          </a:p>
          <a:p>
            <a:pPr marL="342900" indent="-342900" eaLnBrk="1" hangingPunct="1">
              <a:buClr>
                <a:srgbClr val="C00000"/>
              </a:buClr>
              <a:buFont typeface="Wingdings" panose="05000000000000000000" pitchFamily="2" charset="2"/>
              <a:buChar char="n"/>
            </a:pPr>
            <a:r>
              <a:rPr lang="en-US" altLang="zh-CN" sz="2400" b="1" dirty="0">
                <a:solidFill>
                  <a:schemeClr val="bg2"/>
                </a:solidFill>
              </a:rPr>
              <a:t>$</a:t>
            </a:r>
            <a:r>
              <a:rPr lang="zh-CN" altLang="en-US" sz="2400" b="1" dirty="0">
                <a:solidFill>
                  <a:schemeClr val="bg2"/>
                </a:solidFill>
              </a:rPr>
              <a:t>位于不同的位置具有不同的值。</a:t>
            </a:r>
            <a:endParaRPr lang="en-US" altLang="zh-CN" sz="2400" b="1" dirty="0">
              <a:solidFill>
                <a:schemeClr val="bg2"/>
              </a:solidFill>
            </a:endParaRPr>
          </a:p>
          <a:p>
            <a:pPr marL="342900" indent="-342900" eaLnBrk="1" hangingPunct="1">
              <a:buClr>
                <a:srgbClr val="C00000"/>
              </a:buClr>
              <a:buFont typeface="Wingdings" panose="05000000000000000000" pitchFamily="2" charset="2"/>
              <a:buChar char="n"/>
            </a:pPr>
            <a:r>
              <a:rPr lang="en-US" altLang="zh-CN" sz="2400" b="1" dirty="0">
                <a:solidFill>
                  <a:schemeClr val="bg2"/>
                </a:solidFill>
              </a:rPr>
              <a:t>$</a:t>
            </a:r>
            <a:r>
              <a:rPr lang="zh-CN" altLang="en-US" sz="2400" b="1" dirty="0">
                <a:solidFill>
                  <a:schemeClr val="bg2"/>
                </a:solidFill>
              </a:rPr>
              <a:t>在使用上完全类似变量的使用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83971"/>
                                        </p:tgtEl>
                                        <p:attrNameLst>
                                          <p:attrName>style.visibility</p:attrName>
                                        </p:attrNameLst>
                                      </p:cBhvr>
                                      <p:to>
                                        <p:strVal val="visible"/>
                                      </p:to>
                                    </p:set>
                                    <p:animEffect transition="in" filter="box(out)">
                                      <p:cBhvr>
                                        <p:cTn id="7" dur="500"/>
                                        <p:tgtEl>
                                          <p:spTgt spid="839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83972"/>
                                        </p:tgtEl>
                                        <p:attrNameLst>
                                          <p:attrName>style.visibility</p:attrName>
                                        </p:attrNameLst>
                                      </p:cBhvr>
                                      <p:to>
                                        <p:strVal val="visible"/>
                                      </p:to>
                                    </p:set>
                                    <p:animEffect transition="in" filter="blinds(vertical)">
                                      <p:cBhvr>
                                        <p:cTn id="12" dur="500"/>
                                        <p:tgtEl>
                                          <p:spTgt spid="8397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83973">
                                            <p:txEl>
                                              <p:pRg st="0" end="0"/>
                                            </p:txEl>
                                          </p:spTgt>
                                        </p:tgtEl>
                                        <p:attrNameLst>
                                          <p:attrName>style.visibility</p:attrName>
                                        </p:attrNameLst>
                                      </p:cBhvr>
                                      <p:to>
                                        <p:strVal val="visible"/>
                                      </p:to>
                                    </p:set>
                                    <p:animEffect transition="in" filter="blinds(vertical)">
                                      <p:cBhvr>
                                        <p:cTn id="17" dur="500"/>
                                        <p:tgtEl>
                                          <p:spTgt spid="8397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83973">
                                            <p:txEl>
                                              <p:pRg st="1" end="1"/>
                                            </p:txEl>
                                          </p:spTgt>
                                        </p:tgtEl>
                                        <p:attrNameLst>
                                          <p:attrName>style.visibility</p:attrName>
                                        </p:attrNameLst>
                                      </p:cBhvr>
                                      <p:to>
                                        <p:strVal val="visible"/>
                                      </p:to>
                                    </p:set>
                                    <p:animEffect transition="in" filter="blinds(vertical)">
                                      <p:cBhvr>
                                        <p:cTn id="22" dur="500"/>
                                        <p:tgtEl>
                                          <p:spTgt spid="8397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83973">
                                            <p:txEl>
                                              <p:pRg st="2" end="2"/>
                                            </p:txEl>
                                          </p:spTgt>
                                        </p:tgtEl>
                                        <p:attrNameLst>
                                          <p:attrName>style.visibility</p:attrName>
                                        </p:attrNameLst>
                                      </p:cBhvr>
                                      <p:to>
                                        <p:strVal val="visible"/>
                                      </p:to>
                                    </p:set>
                                    <p:animEffect transition="in" filter="blinds(vertical)">
                                      <p:cBhvr>
                                        <p:cTn id="27" dur="500"/>
                                        <p:tgtEl>
                                          <p:spTgt spid="8397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animBg="1" autoUpdateAnimBg="0"/>
      <p:bldP spid="83972" grpId="0" bldLvl="0" animBg="1" autoUpdateAnimBg="0"/>
      <p:bldP spid="83973" grpId="0" uiExpand="1"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8EF032A1-E04D-4D38-8A4F-073C48C85F8B}" type="slidenum">
              <a:rPr lang="en-US" altLang="zh-CN" sz="1400">
                <a:solidFill>
                  <a:schemeClr val="bg2"/>
                </a:solidFill>
              </a:rPr>
              <a:pPr algn="r" eaLnBrk="1" hangingPunct="1"/>
              <a:t>68</a:t>
            </a:fld>
            <a:endParaRPr lang="en-US" altLang="zh-CN" sz="1400" dirty="0">
              <a:solidFill>
                <a:schemeClr val="bg2"/>
              </a:solidFill>
            </a:endParaRPr>
          </a:p>
        </p:txBody>
      </p:sp>
      <p:sp>
        <p:nvSpPr>
          <p:cNvPr id="84995" name="Rectangle 2"/>
          <p:cNvSpPr>
            <a:spLocks noChangeArrowheads="1"/>
          </p:cNvSpPr>
          <p:nvPr/>
        </p:nvSpPr>
        <p:spPr bwMode="auto">
          <a:xfrm>
            <a:off x="684212" y="3054259"/>
            <a:ext cx="7924800" cy="850900"/>
          </a:xfrm>
          <a:prstGeom prst="rect">
            <a:avLst/>
          </a:prstGeom>
          <a:noFill/>
          <a:ln w="28575"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a:solidFill>
                  <a:srgbClr val="FF0000"/>
                </a:solidFill>
              </a:rPr>
              <a:t>作用</a:t>
            </a:r>
            <a:r>
              <a:rPr lang="zh-CN" altLang="en-US" sz="2400" b="1" dirty="0" smtClean="0">
                <a:solidFill>
                  <a:schemeClr val="bg2"/>
                </a:solidFill>
              </a:rPr>
              <a:t>：</a:t>
            </a:r>
            <a:r>
              <a:rPr lang="zh-CN" altLang="en-US" sz="2400" b="1" dirty="0">
                <a:solidFill>
                  <a:schemeClr val="bg2"/>
                </a:solidFill>
              </a:rPr>
              <a:t>用</a:t>
            </a:r>
            <a:r>
              <a:rPr lang="zh-CN" altLang="en-US" sz="2400" b="1" dirty="0" smtClean="0">
                <a:solidFill>
                  <a:schemeClr val="bg2"/>
                </a:solidFill>
              </a:rPr>
              <a:t>数值</a:t>
            </a:r>
            <a:r>
              <a:rPr lang="zh-CN" altLang="en-US" sz="2400" b="1" dirty="0">
                <a:solidFill>
                  <a:schemeClr val="bg2"/>
                </a:solidFill>
              </a:rPr>
              <a:t>表达式的</a:t>
            </a:r>
            <a:r>
              <a:rPr lang="zh-CN" altLang="en-US" sz="2400" b="1" dirty="0" smtClean="0">
                <a:solidFill>
                  <a:schemeClr val="bg2"/>
                </a:solidFill>
              </a:rPr>
              <a:t>值算出一个偏移量赋</a:t>
            </a:r>
            <a:r>
              <a:rPr lang="zh-CN" altLang="en-US" sz="2400" b="1" dirty="0">
                <a:solidFill>
                  <a:schemeClr val="bg2"/>
                </a:solidFill>
              </a:rPr>
              <a:t>给当前位置计数器</a:t>
            </a:r>
            <a:r>
              <a:rPr lang="en-US" altLang="zh-CN" sz="2400" b="1" dirty="0">
                <a:solidFill>
                  <a:schemeClr val="bg2"/>
                </a:solidFill>
              </a:rPr>
              <a:t>$</a:t>
            </a:r>
            <a:r>
              <a:rPr lang="en-US" altLang="zh-CN" sz="2400" dirty="0"/>
              <a:t> </a:t>
            </a:r>
            <a:r>
              <a:rPr lang="zh-CN" altLang="en-US" sz="2400" b="1" dirty="0">
                <a:solidFill>
                  <a:schemeClr val="bg2"/>
                </a:solidFill>
              </a:rPr>
              <a:t>。</a:t>
            </a:r>
            <a:r>
              <a:rPr lang="en-US" altLang="zh-CN" sz="2400" b="1" dirty="0">
                <a:solidFill>
                  <a:schemeClr val="bg2"/>
                </a:solidFill>
              </a:rPr>
              <a:t>ORG</a:t>
            </a:r>
            <a:r>
              <a:rPr lang="zh-CN" altLang="en-US" sz="2400" b="1" dirty="0">
                <a:solidFill>
                  <a:schemeClr val="bg2"/>
                </a:solidFill>
              </a:rPr>
              <a:t>语句为其后的变量或指令设置起始偏移量。</a:t>
            </a:r>
          </a:p>
        </p:txBody>
      </p:sp>
      <p:sp>
        <p:nvSpPr>
          <p:cNvPr id="84996" name="Rectangle 3"/>
          <p:cNvSpPr>
            <a:spLocks noChangeArrowheads="1"/>
          </p:cNvSpPr>
          <p:nvPr/>
        </p:nvSpPr>
        <p:spPr bwMode="auto">
          <a:xfrm>
            <a:off x="716691" y="2000249"/>
            <a:ext cx="7926387" cy="850900"/>
          </a:xfrm>
          <a:prstGeom prst="rect">
            <a:avLst/>
          </a:prstGeom>
          <a:noFill/>
          <a:ln w="28575" cmpd="sng">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dirty="0" smtClean="0">
                <a:solidFill>
                  <a:schemeClr val="bg2"/>
                </a:solidFill>
              </a:rPr>
              <a:t>其中，表达式</a:t>
            </a:r>
            <a:r>
              <a:rPr lang="zh-CN" altLang="en-US" sz="2400" b="1" dirty="0">
                <a:solidFill>
                  <a:schemeClr val="bg2"/>
                </a:solidFill>
              </a:rPr>
              <a:t>的值必须为正值。表达式中也可以包含有当前位置计数器的现行值</a:t>
            </a:r>
            <a:r>
              <a:rPr lang="en-US" altLang="zh-CN" sz="2400" b="1" dirty="0">
                <a:solidFill>
                  <a:schemeClr val="bg2"/>
                </a:solidFill>
              </a:rPr>
              <a:t>$</a:t>
            </a:r>
            <a:r>
              <a:rPr lang="zh-CN" altLang="en-US" sz="2400" b="1" dirty="0">
                <a:solidFill>
                  <a:schemeClr val="bg2"/>
                </a:solidFill>
              </a:rPr>
              <a:t>。</a:t>
            </a:r>
          </a:p>
        </p:txBody>
      </p:sp>
      <p:sp>
        <p:nvSpPr>
          <p:cNvPr id="84997" name="Rectangle 4"/>
          <p:cNvSpPr>
            <a:spLocks noChangeArrowheads="1"/>
          </p:cNvSpPr>
          <p:nvPr/>
        </p:nvSpPr>
        <p:spPr bwMode="auto">
          <a:xfrm>
            <a:off x="684213" y="620713"/>
            <a:ext cx="666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solidFill>
                  <a:schemeClr val="hlink"/>
                </a:solidFill>
              </a:rPr>
              <a:t>定位伪指令</a:t>
            </a:r>
            <a:r>
              <a:rPr lang="en-US" altLang="zh-CN" sz="2400" b="1">
                <a:solidFill>
                  <a:schemeClr val="hlink"/>
                </a:solidFill>
              </a:rPr>
              <a:t>ORG</a:t>
            </a:r>
            <a:r>
              <a:rPr lang="zh-CN" altLang="en-US" sz="2400" b="1">
                <a:solidFill>
                  <a:schemeClr val="bg2"/>
                </a:solidFill>
              </a:rPr>
              <a:t>－－用来改变位置计数器的值。</a:t>
            </a:r>
          </a:p>
        </p:txBody>
      </p:sp>
      <p:sp>
        <p:nvSpPr>
          <p:cNvPr id="84998" name="Rectangle 5"/>
          <p:cNvSpPr>
            <a:spLocks noChangeArrowheads="1"/>
          </p:cNvSpPr>
          <p:nvPr/>
        </p:nvSpPr>
        <p:spPr bwMode="auto">
          <a:xfrm>
            <a:off x="1835696" y="1324086"/>
            <a:ext cx="2706688" cy="4572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a:solidFill>
                  <a:schemeClr val="bg2"/>
                </a:solidFill>
              </a:rPr>
              <a:t> ORG   </a:t>
            </a:r>
            <a:r>
              <a:rPr lang="zh-CN" altLang="en-US" sz="2400" b="1">
                <a:solidFill>
                  <a:schemeClr val="bg2"/>
                </a:solidFill>
              </a:rPr>
              <a:t>数值表达式</a:t>
            </a:r>
          </a:p>
        </p:txBody>
      </p:sp>
      <p:sp>
        <p:nvSpPr>
          <p:cNvPr id="84999" name="Rectangle 6"/>
          <p:cNvSpPr>
            <a:spLocks noChangeArrowheads="1"/>
          </p:cNvSpPr>
          <p:nvPr/>
        </p:nvSpPr>
        <p:spPr bwMode="auto">
          <a:xfrm>
            <a:off x="838746" y="128757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zh-CN" altLang="en-US" sz="2400" b="1">
                <a:solidFill>
                  <a:schemeClr val="hlink"/>
                </a:solidFill>
              </a:rPr>
              <a:t>格式：</a:t>
            </a:r>
          </a:p>
        </p:txBody>
      </p:sp>
      <p:sp>
        <p:nvSpPr>
          <p:cNvPr id="2" name="文本框 1"/>
          <p:cNvSpPr txBox="1"/>
          <p:nvPr/>
        </p:nvSpPr>
        <p:spPr>
          <a:xfrm>
            <a:off x="684212" y="4146461"/>
            <a:ext cx="7926387" cy="830997"/>
          </a:xfrm>
          <a:prstGeom prst="rect">
            <a:avLst/>
          </a:prstGeom>
          <a:noFill/>
          <a:ln w="28575">
            <a:solidFill>
              <a:srgbClr val="0066FF"/>
            </a:solidFill>
          </a:ln>
        </p:spPr>
        <p:txBody>
          <a:bodyPr wrap="square" rtlCol="0">
            <a:spAutoFit/>
          </a:bodyPr>
          <a:lstStyle/>
          <a:p>
            <a:pPr marL="342900" indent="-342900">
              <a:buClr>
                <a:srgbClr val="C00000"/>
              </a:buClr>
              <a:buFont typeface="Wingdings" panose="05000000000000000000" pitchFamily="2" charset="2"/>
              <a:buChar char="l"/>
            </a:pPr>
            <a:r>
              <a:rPr lang="zh-CN" altLang="en-US" sz="2400" b="1" dirty="0">
                <a:solidFill>
                  <a:schemeClr val="bg2"/>
                </a:solidFill>
              </a:rPr>
              <a:t>若运行环境</a:t>
            </a:r>
            <a:r>
              <a:rPr lang="zh-CN" altLang="en-US" sz="2400" b="1" dirty="0" smtClean="0">
                <a:solidFill>
                  <a:schemeClr val="bg2"/>
                </a:solidFill>
              </a:rPr>
              <a:t>为实模式</a:t>
            </a:r>
            <a:r>
              <a:rPr lang="zh-CN" altLang="en-US" sz="2400" b="1" dirty="0">
                <a:solidFill>
                  <a:schemeClr val="bg2"/>
                </a:solidFill>
              </a:rPr>
              <a:t>，</a:t>
            </a:r>
            <a:r>
              <a:rPr lang="zh-CN" altLang="en-US" sz="2400" b="1" dirty="0" smtClean="0">
                <a:solidFill>
                  <a:schemeClr val="bg2"/>
                </a:solidFill>
              </a:rPr>
              <a:t>则数值</a:t>
            </a:r>
            <a:r>
              <a:rPr lang="zh-CN" altLang="en-US" sz="2400" b="1" dirty="0">
                <a:solidFill>
                  <a:schemeClr val="bg2"/>
                </a:solidFill>
              </a:rPr>
              <a:t>表达式的值为相对该起始偏移地址。</a:t>
            </a:r>
          </a:p>
        </p:txBody>
      </p:sp>
      <p:sp>
        <p:nvSpPr>
          <p:cNvPr id="9" name="文本框 8"/>
          <p:cNvSpPr txBox="1"/>
          <p:nvPr/>
        </p:nvSpPr>
        <p:spPr>
          <a:xfrm>
            <a:off x="716691" y="5278122"/>
            <a:ext cx="7926387" cy="830997"/>
          </a:xfrm>
          <a:prstGeom prst="rect">
            <a:avLst/>
          </a:prstGeom>
          <a:noFill/>
          <a:ln w="28575">
            <a:solidFill>
              <a:srgbClr val="0066FF"/>
            </a:solidFill>
          </a:ln>
        </p:spPr>
        <p:txBody>
          <a:bodyPr wrap="square" rtlCol="0">
            <a:spAutoFit/>
          </a:bodyPr>
          <a:lstStyle/>
          <a:p>
            <a:pPr marL="342900" indent="-342900">
              <a:buClr>
                <a:srgbClr val="C00000"/>
              </a:buClr>
              <a:buFont typeface="Wingdings" panose="05000000000000000000" pitchFamily="2" charset="2"/>
              <a:buChar char="l"/>
            </a:pPr>
            <a:r>
              <a:rPr lang="zh-CN" altLang="en-US" sz="2400" b="1" dirty="0">
                <a:solidFill>
                  <a:schemeClr val="bg2"/>
                </a:solidFill>
              </a:rPr>
              <a:t>若运行环境为</a:t>
            </a:r>
            <a:r>
              <a:rPr lang="en-US" altLang="zh-CN" sz="2400" b="1" dirty="0">
                <a:solidFill>
                  <a:schemeClr val="bg2"/>
                </a:solidFill>
              </a:rPr>
              <a:t>flat</a:t>
            </a:r>
            <a:r>
              <a:rPr lang="zh-CN" altLang="en-US" sz="2400" b="1" dirty="0">
                <a:solidFill>
                  <a:schemeClr val="bg2"/>
                </a:solidFill>
              </a:rPr>
              <a:t>模式</a:t>
            </a:r>
            <a:r>
              <a:rPr lang="zh-CN" altLang="en-US" sz="2400" b="1" dirty="0" smtClean="0">
                <a:solidFill>
                  <a:schemeClr val="bg2"/>
                </a:solidFill>
              </a:rPr>
              <a:t>，系统</a:t>
            </a:r>
            <a:r>
              <a:rPr lang="zh-CN" altLang="en-US" sz="2400" b="1" dirty="0">
                <a:solidFill>
                  <a:schemeClr val="bg2"/>
                </a:solidFill>
              </a:rPr>
              <a:t>会自动为每个段指定一个起始偏移地址，数值表达式的值为相对该起始偏移地址。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999"/>
                                        </p:tgtEl>
                                        <p:attrNameLst>
                                          <p:attrName>style.visibility</p:attrName>
                                        </p:attrNameLst>
                                      </p:cBhvr>
                                      <p:to>
                                        <p:strVal val="visible"/>
                                      </p:to>
                                    </p:set>
                                    <p:anim calcmode="lin" valueType="num">
                                      <p:cBhvr additive="base">
                                        <p:cTn id="7" dur="500" fill="hold"/>
                                        <p:tgtEl>
                                          <p:spTgt spid="84999"/>
                                        </p:tgtEl>
                                        <p:attrNameLst>
                                          <p:attrName>ppt_x</p:attrName>
                                        </p:attrNameLst>
                                      </p:cBhvr>
                                      <p:tavLst>
                                        <p:tav tm="0">
                                          <p:val>
                                            <p:strVal val="0-#ppt_w/2"/>
                                          </p:val>
                                        </p:tav>
                                        <p:tav tm="100000">
                                          <p:val>
                                            <p:strVal val="#ppt_x"/>
                                          </p:val>
                                        </p:tav>
                                      </p:tavLst>
                                    </p:anim>
                                    <p:anim calcmode="lin" valueType="num">
                                      <p:cBhvr additive="base">
                                        <p:cTn id="8" dur="500" fill="hold"/>
                                        <p:tgtEl>
                                          <p:spTgt spid="84999"/>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4998"/>
                                        </p:tgtEl>
                                        <p:attrNameLst>
                                          <p:attrName>style.visibility</p:attrName>
                                        </p:attrNameLst>
                                      </p:cBhvr>
                                      <p:to>
                                        <p:strVal val="visible"/>
                                      </p:to>
                                    </p:set>
                                    <p:anim calcmode="lin" valueType="num">
                                      <p:cBhvr additive="base">
                                        <p:cTn id="12" dur="500" fill="hold"/>
                                        <p:tgtEl>
                                          <p:spTgt spid="84998"/>
                                        </p:tgtEl>
                                        <p:attrNameLst>
                                          <p:attrName>ppt_x</p:attrName>
                                        </p:attrNameLst>
                                      </p:cBhvr>
                                      <p:tavLst>
                                        <p:tav tm="0">
                                          <p:val>
                                            <p:strVal val="0-#ppt_w/2"/>
                                          </p:val>
                                        </p:tav>
                                        <p:tav tm="100000">
                                          <p:val>
                                            <p:strVal val="#ppt_x"/>
                                          </p:val>
                                        </p:tav>
                                      </p:tavLst>
                                    </p:anim>
                                    <p:anim calcmode="lin" valueType="num">
                                      <p:cBhvr additive="base">
                                        <p:cTn id="13" dur="500" fill="hold"/>
                                        <p:tgtEl>
                                          <p:spTgt spid="8499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84996"/>
                                        </p:tgtEl>
                                        <p:attrNameLst>
                                          <p:attrName>style.visibility</p:attrName>
                                        </p:attrNameLst>
                                      </p:cBhvr>
                                      <p:to>
                                        <p:strVal val="visible"/>
                                      </p:to>
                                    </p:set>
                                    <p:animEffect transition="in" filter="barn(outVertical)">
                                      <p:cBhvr>
                                        <p:cTn id="18" dur="500"/>
                                        <p:tgtEl>
                                          <p:spTgt spid="8499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84995"/>
                                        </p:tgtEl>
                                        <p:attrNameLst>
                                          <p:attrName>style.visibility</p:attrName>
                                        </p:attrNameLst>
                                      </p:cBhvr>
                                      <p:to>
                                        <p:strVal val="visible"/>
                                      </p:to>
                                    </p:set>
                                    <p:animEffect transition="in" filter="barn(outHorizontal)">
                                      <p:cBhvr>
                                        <p:cTn id="23" dur="500"/>
                                        <p:tgtEl>
                                          <p:spTgt spid="8499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animBg="1" autoUpdateAnimBg="0"/>
      <p:bldP spid="84996" grpId="0" animBg="1" autoUpdateAnimBg="0"/>
      <p:bldP spid="84998" grpId="0" animBg="1" autoUpdateAnimBg="0"/>
      <p:bldP spid="84999" grpId="0" autoUpdateAnimBg="0"/>
      <p:bldP spid="2" grpId="0" animBg="1"/>
      <p:bldP spid="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p:cNvSpPr txBox="1">
            <a:spLocks noGrp="1" noChangeArrowheads="1"/>
          </p:cNvSpPr>
          <p:nvPr/>
        </p:nvSpPr>
        <p:spPr bwMode="auto">
          <a:xfrm>
            <a:off x="8459788"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7DF857BB-9180-4B09-A7B0-70891ED9EA30}" type="slidenum">
              <a:rPr lang="en-US" altLang="zh-CN" sz="1400">
                <a:solidFill>
                  <a:schemeClr val="bg2"/>
                </a:solidFill>
              </a:rPr>
              <a:pPr algn="r" eaLnBrk="1" hangingPunct="1"/>
              <a:t>69</a:t>
            </a:fld>
            <a:endParaRPr lang="en-US" altLang="zh-CN" sz="1400">
              <a:solidFill>
                <a:schemeClr val="bg2"/>
              </a:solidFill>
            </a:endParaRPr>
          </a:p>
        </p:txBody>
      </p:sp>
      <p:sp>
        <p:nvSpPr>
          <p:cNvPr id="86019" name="Rectangle 2"/>
          <p:cNvSpPr>
            <a:spLocks noChangeArrowheads="1"/>
          </p:cNvSpPr>
          <p:nvPr/>
        </p:nvSpPr>
        <p:spPr bwMode="auto">
          <a:xfrm>
            <a:off x="35496" y="536810"/>
            <a:ext cx="9108504" cy="5262979"/>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eaLnBrk="1" hangingPunct="1"/>
            <a:r>
              <a:rPr lang="en-US" altLang="zh-CN" sz="2400" b="1" dirty="0">
                <a:solidFill>
                  <a:schemeClr val="hlink"/>
                </a:solidFill>
              </a:rPr>
              <a:t>.DATA</a:t>
            </a:r>
          </a:p>
          <a:p>
            <a:pPr eaLnBrk="1" hangingPunct="1"/>
            <a:r>
              <a:rPr lang="en-US" altLang="zh-CN" sz="2400" b="1" dirty="0">
                <a:solidFill>
                  <a:schemeClr val="bg2"/>
                </a:solidFill>
              </a:rPr>
              <a:t>              ORG  30H</a:t>
            </a:r>
          </a:p>
          <a:p>
            <a:pPr eaLnBrk="1" hangingPunct="1"/>
            <a:r>
              <a:rPr lang="en-US" altLang="zh-CN" sz="2400" b="1" dirty="0">
                <a:solidFill>
                  <a:schemeClr val="bg2"/>
                </a:solidFill>
              </a:rPr>
              <a:t>     DB1   DB  12H,34H</a:t>
            </a:r>
          </a:p>
          <a:p>
            <a:pPr eaLnBrk="1" hangingPunct="1"/>
            <a:r>
              <a:rPr lang="en-US" altLang="zh-CN" sz="2400" b="1" dirty="0">
                <a:solidFill>
                  <a:schemeClr val="bg2"/>
                </a:solidFill>
              </a:rPr>
              <a:t>              ORG  $+20H</a:t>
            </a:r>
          </a:p>
          <a:p>
            <a:pPr eaLnBrk="1" hangingPunct="1"/>
            <a:r>
              <a:rPr lang="en-US" altLang="zh-CN" sz="2400" b="1" dirty="0">
                <a:solidFill>
                  <a:schemeClr val="bg2"/>
                </a:solidFill>
              </a:rPr>
              <a:t>   STRING  DB  ‘ABCDEFGHI’</a:t>
            </a:r>
          </a:p>
          <a:p>
            <a:pPr eaLnBrk="1" hangingPunct="1"/>
            <a:r>
              <a:rPr lang="en-US" altLang="zh-CN" sz="2400" b="1" dirty="0">
                <a:solidFill>
                  <a:schemeClr val="bg2"/>
                </a:solidFill>
              </a:rPr>
              <a:t>   COUNT   EQU   $-STRING</a:t>
            </a:r>
            <a:endParaRPr lang="zh-CN" altLang="en-US" sz="2400" b="1" dirty="0">
              <a:solidFill>
                <a:schemeClr val="bg2"/>
              </a:solidFill>
            </a:endParaRPr>
          </a:p>
          <a:p>
            <a:pPr eaLnBrk="1" hangingPunct="1"/>
            <a:r>
              <a:rPr lang="zh-CN" altLang="en-US" sz="2400" b="1" dirty="0">
                <a:solidFill>
                  <a:schemeClr val="bg2"/>
                </a:solidFill>
              </a:rPr>
              <a:t>   </a:t>
            </a:r>
            <a:r>
              <a:rPr lang="en-US" altLang="zh-CN" sz="2400" b="1" dirty="0">
                <a:solidFill>
                  <a:schemeClr val="bg2"/>
                </a:solidFill>
              </a:rPr>
              <a:t>DB2  DWORD  $  </a:t>
            </a:r>
            <a:endParaRPr lang="zh-CN" altLang="en-US" sz="2400" b="1" dirty="0">
              <a:solidFill>
                <a:schemeClr val="bg2"/>
              </a:solidFill>
            </a:endParaRPr>
          </a:p>
          <a:p>
            <a:pPr eaLnBrk="1" hangingPunct="1"/>
            <a:r>
              <a:rPr lang="zh-CN" altLang="en-US" sz="2400" b="1" dirty="0">
                <a:solidFill>
                  <a:schemeClr val="bg2"/>
                </a:solidFill>
              </a:rPr>
              <a:t>   </a:t>
            </a:r>
            <a:r>
              <a:rPr lang="en-US" altLang="zh-CN" sz="2400" b="1" dirty="0">
                <a:solidFill>
                  <a:schemeClr val="bg2"/>
                </a:solidFill>
              </a:rPr>
              <a:t>DB3  DB   </a:t>
            </a:r>
            <a:r>
              <a:rPr lang="zh-CN" altLang="en-US" sz="2400" b="1" dirty="0">
                <a:solidFill>
                  <a:schemeClr val="bg2"/>
                </a:solidFill>
              </a:rPr>
              <a:t>$</a:t>
            </a:r>
            <a:r>
              <a:rPr lang="en-US" altLang="zh-CN" sz="2400" b="1" dirty="0">
                <a:solidFill>
                  <a:schemeClr val="bg2"/>
                </a:solidFill>
              </a:rPr>
              <a:t>      </a:t>
            </a:r>
          </a:p>
          <a:p>
            <a:pPr eaLnBrk="1" hangingPunct="1"/>
            <a:r>
              <a:rPr lang="en-US" altLang="zh-CN" sz="2400" b="1" dirty="0">
                <a:solidFill>
                  <a:srgbClr val="FF0000"/>
                </a:solidFill>
              </a:rPr>
              <a:t>.CODE</a:t>
            </a:r>
          </a:p>
          <a:p>
            <a:pPr eaLnBrk="1" hangingPunct="1"/>
            <a:r>
              <a:rPr lang="en-US" altLang="zh-CN" sz="2400" b="1" dirty="0">
                <a:solidFill>
                  <a:schemeClr val="bg2"/>
                </a:solidFill>
              </a:rPr>
              <a:t>            ORG  12H</a:t>
            </a:r>
          </a:p>
          <a:p>
            <a:pPr eaLnBrk="1" hangingPunct="1"/>
            <a:r>
              <a:rPr lang="en-US" altLang="zh-CN" sz="2400" b="1" dirty="0">
                <a:solidFill>
                  <a:schemeClr val="bg2"/>
                </a:solidFill>
              </a:rPr>
              <a:t>   START  PROC</a:t>
            </a:r>
          </a:p>
          <a:p>
            <a:pPr eaLnBrk="1" hangingPunct="1"/>
            <a:r>
              <a:rPr lang="en-US" altLang="zh-CN" sz="2400" b="1" dirty="0">
                <a:solidFill>
                  <a:schemeClr val="bg2"/>
                </a:solidFill>
              </a:rPr>
              <a:t>             ......</a:t>
            </a:r>
          </a:p>
          <a:p>
            <a:pPr eaLnBrk="1" hangingPunct="1"/>
            <a:r>
              <a:rPr lang="en-US" altLang="zh-CN" sz="2400" b="1" dirty="0">
                <a:solidFill>
                  <a:schemeClr val="bg2"/>
                </a:solidFill>
              </a:rPr>
              <a:t>    START  ENDP</a:t>
            </a:r>
          </a:p>
          <a:p>
            <a:pPr eaLnBrk="1" hangingPunct="1"/>
            <a:r>
              <a:rPr lang="en-US" altLang="zh-CN" sz="2400" b="1" dirty="0">
                <a:solidFill>
                  <a:schemeClr val="bg2"/>
                </a:solidFill>
              </a:rPr>
              <a:t>                   END START</a:t>
            </a:r>
          </a:p>
        </p:txBody>
      </p:sp>
      <p:sp>
        <p:nvSpPr>
          <p:cNvPr id="2" name="文本框 1"/>
          <p:cNvSpPr txBox="1"/>
          <p:nvPr/>
        </p:nvSpPr>
        <p:spPr>
          <a:xfrm>
            <a:off x="107504" y="44624"/>
            <a:ext cx="1224136" cy="523220"/>
          </a:xfrm>
          <a:prstGeom prst="rect">
            <a:avLst/>
          </a:prstGeom>
          <a:noFill/>
        </p:spPr>
        <p:txBody>
          <a:bodyPr wrap="square" rtlCol="0">
            <a:spAutoFit/>
          </a:bodyPr>
          <a:lstStyle/>
          <a:p>
            <a:r>
              <a:rPr lang="zh-CN" altLang="en-US" b="1" dirty="0">
                <a:solidFill>
                  <a:schemeClr val="bg2"/>
                </a:solidFill>
              </a:rPr>
              <a:t>例：</a:t>
            </a:r>
          </a:p>
        </p:txBody>
      </p:sp>
      <p:sp>
        <p:nvSpPr>
          <p:cNvPr id="5" name="矩形标注 4"/>
          <p:cNvSpPr/>
          <p:nvPr/>
        </p:nvSpPr>
        <p:spPr bwMode="auto">
          <a:xfrm>
            <a:off x="3514119" y="694457"/>
            <a:ext cx="4751884" cy="432048"/>
          </a:xfrm>
          <a:prstGeom prst="wedgeRectCallout">
            <a:avLst>
              <a:gd name="adj1" fmla="val -66753"/>
              <a:gd name="adj2" fmla="val 32982"/>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r>
              <a:rPr lang="zh-CN" altLang="en-US" sz="2400" b="1" dirty="0">
                <a:solidFill>
                  <a:schemeClr val="bg2"/>
                </a:solidFill>
              </a:rPr>
              <a:t>从数据段开始偏移</a:t>
            </a:r>
            <a:r>
              <a:rPr lang="en-US" altLang="zh-CN" sz="2400" b="1" dirty="0">
                <a:solidFill>
                  <a:schemeClr val="bg2"/>
                </a:solidFill>
              </a:rPr>
              <a:t>30H</a:t>
            </a:r>
            <a:r>
              <a:rPr lang="zh-CN" altLang="en-US" sz="2400" b="1" dirty="0">
                <a:solidFill>
                  <a:schemeClr val="bg2"/>
                </a:solidFill>
              </a:rPr>
              <a:t>字节存</a:t>
            </a:r>
            <a:r>
              <a:rPr lang="en-US" altLang="zh-CN" sz="2400" b="1" dirty="0">
                <a:solidFill>
                  <a:schemeClr val="bg2"/>
                </a:solidFill>
              </a:rPr>
              <a:t>DB1</a:t>
            </a:r>
          </a:p>
        </p:txBody>
      </p:sp>
      <p:sp>
        <p:nvSpPr>
          <p:cNvPr id="8" name="矩形标注 7"/>
          <p:cNvSpPr/>
          <p:nvPr/>
        </p:nvSpPr>
        <p:spPr bwMode="auto">
          <a:xfrm>
            <a:off x="3239022" y="1480337"/>
            <a:ext cx="5904978" cy="432048"/>
          </a:xfrm>
          <a:prstGeom prst="wedgeRectCallout">
            <a:avLst>
              <a:gd name="adj1" fmla="val -55832"/>
              <a:gd name="adj2" fmla="val 26298"/>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r>
              <a:rPr lang="zh-CN" altLang="en-US" sz="2400" b="1" dirty="0">
                <a:solidFill>
                  <a:schemeClr val="bg2"/>
                </a:solidFill>
              </a:rPr>
              <a:t>保留</a:t>
            </a:r>
            <a:r>
              <a:rPr lang="en-US" altLang="zh-CN" sz="2400" b="1" dirty="0">
                <a:solidFill>
                  <a:schemeClr val="bg2"/>
                </a:solidFill>
              </a:rPr>
              <a:t>20H</a:t>
            </a:r>
            <a:r>
              <a:rPr lang="zh-CN" altLang="en-US" sz="2400" b="1" dirty="0">
                <a:solidFill>
                  <a:schemeClr val="bg2"/>
                </a:solidFill>
              </a:rPr>
              <a:t>个字节单元，其后再存放</a:t>
            </a:r>
            <a:r>
              <a:rPr lang="en-US" altLang="zh-CN" sz="2400" b="1" dirty="0">
                <a:solidFill>
                  <a:schemeClr val="bg2"/>
                </a:solidFill>
              </a:rPr>
              <a:t>'ABCD....</a:t>
            </a:r>
          </a:p>
        </p:txBody>
      </p:sp>
      <p:sp>
        <p:nvSpPr>
          <p:cNvPr id="9" name="矩形标注 8"/>
          <p:cNvSpPr/>
          <p:nvPr/>
        </p:nvSpPr>
        <p:spPr bwMode="auto">
          <a:xfrm>
            <a:off x="4644008" y="2089896"/>
            <a:ext cx="3024336" cy="432048"/>
          </a:xfrm>
          <a:prstGeom prst="wedgeRectCallout">
            <a:avLst>
              <a:gd name="adj1" fmla="val -69905"/>
              <a:gd name="adj2" fmla="val 59715"/>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r>
              <a:rPr lang="zh-CN" altLang="en-US" sz="2400" b="1" dirty="0">
                <a:solidFill>
                  <a:schemeClr val="bg2"/>
                </a:solidFill>
              </a:rPr>
              <a:t>计算</a:t>
            </a:r>
            <a:r>
              <a:rPr lang="en-US" altLang="zh-CN" sz="2400" b="1" dirty="0">
                <a:solidFill>
                  <a:schemeClr val="bg2"/>
                </a:solidFill>
              </a:rPr>
              <a:t>STRING</a:t>
            </a:r>
            <a:r>
              <a:rPr lang="zh-CN" altLang="en-US" sz="2400" b="1" dirty="0">
                <a:solidFill>
                  <a:schemeClr val="bg2"/>
                </a:solidFill>
              </a:rPr>
              <a:t>的长度</a:t>
            </a:r>
            <a:endParaRPr lang="en-US" altLang="zh-CN" sz="2400" b="1" dirty="0">
              <a:solidFill>
                <a:schemeClr val="bg2"/>
              </a:solidFill>
            </a:endParaRPr>
          </a:p>
        </p:txBody>
      </p:sp>
      <p:sp>
        <p:nvSpPr>
          <p:cNvPr id="10" name="矩形标注 9"/>
          <p:cNvSpPr/>
          <p:nvPr/>
        </p:nvSpPr>
        <p:spPr bwMode="auto">
          <a:xfrm>
            <a:off x="3391765" y="2726895"/>
            <a:ext cx="4211688" cy="432048"/>
          </a:xfrm>
          <a:prstGeom prst="wedgeRectCallout">
            <a:avLst>
              <a:gd name="adj1" fmla="val -67625"/>
              <a:gd name="adj2" fmla="val 15159"/>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r>
              <a:rPr lang="zh-CN" altLang="en-US" sz="2400" b="1" dirty="0">
                <a:solidFill>
                  <a:schemeClr val="bg2"/>
                </a:solidFill>
              </a:rPr>
              <a:t>取</a:t>
            </a:r>
            <a:r>
              <a:rPr lang="en-US" altLang="zh-CN" sz="2400" b="1" dirty="0">
                <a:solidFill>
                  <a:schemeClr val="bg2"/>
                </a:solidFill>
              </a:rPr>
              <a:t>$</a:t>
            </a:r>
            <a:r>
              <a:rPr lang="zh-CN" altLang="en-US" sz="2400" b="1" dirty="0">
                <a:solidFill>
                  <a:schemeClr val="bg2"/>
                </a:solidFill>
              </a:rPr>
              <a:t>的偏移量</a:t>
            </a:r>
            <a:r>
              <a:rPr lang="en-US" altLang="zh-CN" sz="2400" b="1" dirty="0">
                <a:solidFill>
                  <a:schemeClr val="bg2"/>
                </a:solidFill>
              </a:rPr>
              <a:t>,</a:t>
            </a:r>
            <a:r>
              <a:rPr lang="zh-CN" altLang="en-US" sz="2400" b="1" dirty="0">
                <a:solidFill>
                  <a:schemeClr val="bg2"/>
                </a:solidFill>
              </a:rPr>
              <a:t>类似变量的用法</a:t>
            </a:r>
          </a:p>
        </p:txBody>
      </p:sp>
      <p:sp>
        <p:nvSpPr>
          <p:cNvPr id="11" name="矩形标注 10"/>
          <p:cNvSpPr/>
          <p:nvPr/>
        </p:nvSpPr>
        <p:spPr bwMode="auto">
          <a:xfrm>
            <a:off x="2411760" y="3212976"/>
            <a:ext cx="1944216" cy="432048"/>
          </a:xfrm>
          <a:prstGeom prst="wedgeRectCallout">
            <a:avLst>
              <a:gd name="adj1" fmla="val -74674"/>
              <a:gd name="adj2" fmla="val -2939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r>
              <a:rPr lang="zh-CN" altLang="en-US" sz="2400" b="1" dirty="0">
                <a:solidFill>
                  <a:schemeClr val="hlink"/>
                </a:solidFill>
              </a:rPr>
              <a:t>此语句错误</a:t>
            </a:r>
            <a:r>
              <a:rPr lang="en-US" altLang="zh-CN" sz="2400" b="1" dirty="0">
                <a:solidFill>
                  <a:schemeClr val="hlink"/>
                </a:solidFill>
              </a:rPr>
              <a:t>!</a:t>
            </a:r>
            <a:r>
              <a:rPr lang="en-US" altLang="zh-CN" sz="2400" b="1" dirty="0">
                <a:solidFill>
                  <a:schemeClr val="bg2"/>
                </a:solidFill>
              </a:rPr>
              <a:t> </a:t>
            </a:r>
          </a:p>
        </p:txBody>
      </p:sp>
      <p:sp>
        <p:nvSpPr>
          <p:cNvPr id="12" name="灯片编号占位符 3"/>
          <p:cNvSpPr txBox="1">
            <a:spLocks noGrp="1" noChangeArrowheads="1"/>
          </p:cNvSpPr>
          <p:nvPr/>
        </p:nvSpPr>
        <p:spPr bwMode="auto">
          <a:xfrm>
            <a:off x="8468349" y="640080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lgn="r" eaLnBrk="1" hangingPunct="1"/>
            <a:fld id="{8EF032A1-E04D-4D38-8A4F-073C48C85F8B}" type="slidenum">
              <a:rPr lang="en-US" altLang="zh-CN" sz="1400">
                <a:solidFill>
                  <a:schemeClr val="bg2"/>
                </a:solidFill>
              </a:rPr>
              <a:pPr algn="r" eaLnBrk="1" hangingPunct="1"/>
              <a:t>69</a:t>
            </a:fld>
            <a:endParaRPr lang="en-US" altLang="zh-CN" sz="1400" dirty="0">
              <a:solidFill>
                <a:schemeClr val="bg2"/>
              </a:solidFill>
            </a:endParaRPr>
          </a:p>
        </p:txBody>
      </p:sp>
      <p:sp>
        <p:nvSpPr>
          <p:cNvPr id="13" name="矩形标注 12"/>
          <p:cNvSpPr/>
          <p:nvPr/>
        </p:nvSpPr>
        <p:spPr bwMode="auto">
          <a:xfrm>
            <a:off x="3495660" y="3946013"/>
            <a:ext cx="3812643" cy="432048"/>
          </a:xfrm>
          <a:prstGeom prst="wedgeRectCallout">
            <a:avLst>
              <a:gd name="adj1" fmla="val -74674"/>
              <a:gd name="adj2" fmla="val -29397"/>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r>
              <a:rPr lang="zh-CN" altLang="en-US" sz="2400" b="1" dirty="0">
                <a:solidFill>
                  <a:schemeClr val="bg2"/>
                </a:solidFill>
              </a:rPr>
              <a:t>代码段开始留</a:t>
            </a:r>
            <a:r>
              <a:rPr lang="en-US" altLang="zh-CN" sz="2400" b="1" dirty="0">
                <a:solidFill>
                  <a:schemeClr val="bg2"/>
                </a:solidFill>
              </a:rPr>
              <a:t>12H</a:t>
            </a:r>
            <a:r>
              <a:rPr lang="zh-CN" altLang="en-US" sz="2400" b="1" dirty="0">
                <a:solidFill>
                  <a:schemeClr val="bg2"/>
                </a:solidFill>
              </a:rPr>
              <a:t>字节单元</a:t>
            </a:r>
            <a:endParaRPr lang="en-US" altLang="zh-CN" sz="2400" b="1" dirty="0">
              <a:solidFill>
                <a:schemeClr val="bg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86019"/>
                                        </p:tgtEl>
                                        <p:attrNameLst>
                                          <p:attrName>style.visibility</p:attrName>
                                        </p:attrNameLst>
                                      </p:cBhvr>
                                      <p:to>
                                        <p:strVal val="visible"/>
                                      </p:to>
                                    </p:set>
                                    <p:animEffect transition="in" filter="box(out)">
                                      <p:cBhvr>
                                        <p:cTn id="7" dur="500"/>
                                        <p:tgtEl>
                                          <p:spTgt spid="860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ldLvl="0" animBg="1" autoUpdateAnimBg="0"/>
      <p:bldP spid="5" grpId="0" animBg="1"/>
      <p:bldP spid="8" grpId="0" animBg="1"/>
      <p:bldP spid="9" grpId="0" animBg="1"/>
      <p:bldP spid="10" grpId="0" animBg="1"/>
      <p:bldP spid="11" grpId="0" animBg="1"/>
      <p:bldP spid="1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7595BC34-95CF-4BA1-AB1E-683D44B640EF}"/>
              </a:ext>
            </a:extLst>
          </p:cNvPr>
          <p:cNvSpPr>
            <a:spLocks noGrp="1"/>
          </p:cNvSpPr>
          <p:nvPr>
            <p:ph type="sldNum" sz="quarter" idx="12"/>
          </p:nvPr>
        </p:nvSpPr>
        <p:spPr>
          <a:xfrm>
            <a:off x="8388424" y="6381328"/>
            <a:ext cx="720080" cy="457200"/>
          </a:xfrm>
        </p:spPr>
        <p:txBody>
          <a:bodyPr/>
          <a:lstStyle/>
          <a:p>
            <a:fld id="{9E7C9E6D-D564-4986-8346-F962F9D1A2BF}" type="slidenum">
              <a:rPr lang="en-US" altLang="zh-CN"/>
              <a:pPr/>
              <a:t>70</a:t>
            </a:fld>
            <a:endParaRPr lang="en-US" altLang="zh-CN"/>
          </a:p>
        </p:txBody>
      </p:sp>
      <p:sp>
        <p:nvSpPr>
          <p:cNvPr id="3" name="Text Box 2">
            <a:extLst>
              <a:ext uri="{FF2B5EF4-FFF2-40B4-BE49-F238E27FC236}">
                <a16:creationId xmlns:a16="http://schemas.microsoft.com/office/drawing/2014/main" id="{5A2B640F-BE1D-4E2C-9FD1-93108F37226F}"/>
              </a:ext>
            </a:extLst>
          </p:cNvPr>
          <p:cNvSpPr txBox="1">
            <a:spLocks noChangeArrowheads="1"/>
          </p:cNvSpPr>
          <p:nvPr/>
        </p:nvSpPr>
        <p:spPr bwMode="auto">
          <a:xfrm>
            <a:off x="1475656" y="146328"/>
            <a:ext cx="6466432" cy="523220"/>
          </a:xfrm>
          <a:prstGeom prst="rect">
            <a:avLst/>
          </a:prstGeom>
          <a:solidFill>
            <a:srgbClr val="FFFF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zh-CN" sz="2800" b="1" dirty="0">
                <a:solidFill>
                  <a:schemeClr val="hlink"/>
                </a:solidFill>
              </a:rPr>
              <a:t> 4.8   </a:t>
            </a:r>
            <a:r>
              <a:rPr lang="zh-CN" altLang="en-US" sz="2800" b="1" dirty="0">
                <a:solidFill>
                  <a:schemeClr val="hlink"/>
                </a:solidFill>
              </a:rPr>
              <a:t>基于</a:t>
            </a:r>
            <a:r>
              <a:rPr lang="en-US" altLang="zh-CN" sz="2800" b="1" dirty="0">
                <a:solidFill>
                  <a:schemeClr val="hlink"/>
                </a:solidFill>
              </a:rPr>
              <a:t>MS-Windows</a:t>
            </a:r>
            <a:r>
              <a:rPr lang="zh-CN" altLang="en-US" sz="2800" b="1" dirty="0">
                <a:solidFill>
                  <a:schemeClr val="hlink"/>
                </a:solidFill>
              </a:rPr>
              <a:t>的输入输出编程</a:t>
            </a:r>
          </a:p>
        </p:txBody>
      </p:sp>
      <p:sp>
        <p:nvSpPr>
          <p:cNvPr id="4" name="Text Box 3">
            <a:extLst>
              <a:ext uri="{FF2B5EF4-FFF2-40B4-BE49-F238E27FC236}">
                <a16:creationId xmlns:a16="http://schemas.microsoft.com/office/drawing/2014/main" id="{9387CEA9-2F25-4780-86ED-D6EDCCF8B3C0}"/>
              </a:ext>
            </a:extLst>
          </p:cNvPr>
          <p:cNvSpPr txBox="1">
            <a:spLocks noChangeArrowheads="1"/>
          </p:cNvSpPr>
          <p:nvPr/>
        </p:nvSpPr>
        <p:spPr bwMode="auto">
          <a:xfrm>
            <a:off x="251520" y="908720"/>
            <a:ext cx="8748464" cy="3816429"/>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1" hangingPunct="1">
              <a:spcBef>
                <a:spcPct val="50000"/>
              </a:spcBef>
              <a:buClr>
                <a:srgbClr val="C00000"/>
              </a:buClr>
              <a:buFont typeface="Wingdings" panose="05000000000000000000" pitchFamily="2" charset="2"/>
              <a:buChar char="n"/>
            </a:pPr>
            <a:r>
              <a:rPr lang="zh-CN" altLang="en-US" sz="2200" b="1" dirty="0">
                <a:solidFill>
                  <a:schemeClr val="bg2"/>
                </a:solidFill>
              </a:rPr>
              <a:t>若要实现用键盘、鼠标、显示器、磁盘等进行输入输出信息，在早期的</a:t>
            </a:r>
            <a:r>
              <a:rPr lang="en-US" altLang="zh-CN" sz="2200" b="1" dirty="0">
                <a:solidFill>
                  <a:schemeClr val="bg2"/>
                </a:solidFill>
              </a:rPr>
              <a:t>DOS</a:t>
            </a:r>
            <a:r>
              <a:rPr lang="zh-CN" altLang="en-US" sz="2200" b="1" dirty="0">
                <a:solidFill>
                  <a:schemeClr val="bg2"/>
                </a:solidFill>
              </a:rPr>
              <a:t>系统下一般是调用</a:t>
            </a:r>
            <a:r>
              <a:rPr lang="en-US" altLang="zh-CN" sz="2200" b="1" dirty="0">
                <a:solidFill>
                  <a:schemeClr val="bg2"/>
                </a:solidFill>
              </a:rPr>
              <a:t>DOS</a:t>
            </a:r>
            <a:r>
              <a:rPr lang="zh-CN" altLang="en-US" sz="2200" b="1" dirty="0">
                <a:solidFill>
                  <a:schemeClr val="bg2"/>
                </a:solidFill>
              </a:rPr>
              <a:t>提供的系统功能来实现。</a:t>
            </a:r>
            <a:endParaRPr lang="en-US" altLang="zh-CN" sz="2200" b="1" dirty="0">
              <a:solidFill>
                <a:schemeClr val="bg2"/>
              </a:solidFill>
            </a:endParaRPr>
          </a:p>
          <a:p>
            <a:pPr marL="342900" indent="-342900" eaLnBrk="1" hangingPunct="1">
              <a:spcBef>
                <a:spcPct val="50000"/>
              </a:spcBef>
              <a:buClr>
                <a:srgbClr val="C00000"/>
              </a:buClr>
              <a:buFont typeface="Wingdings" panose="05000000000000000000" pitchFamily="2" charset="2"/>
              <a:buChar char="n"/>
            </a:pPr>
            <a:r>
              <a:rPr lang="zh-CN" altLang="en-US" sz="2200" b="1" dirty="0">
                <a:solidFill>
                  <a:schemeClr val="bg2"/>
                </a:solidFill>
              </a:rPr>
              <a:t>在</a:t>
            </a:r>
            <a:r>
              <a:rPr lang="en-US" altLang="zh-CN" sz="2200" b="1" dirty="0">
                <a:solidFill>
                  <a:schemeClr val="bg2"/>
                </a:solidFill>
              </a:rPr>
              <a:t>Win32</a:t>
            </a:r>
            <a:r>
              <a:rPr lang="zh-CN" altLang="en-US" sz="2200" b="1" dirty="0">
                <a:solidFill>
                  <a:schemeClr val="bg2"/>
                </a:solidFill>
              </a:rPr>
              <a:t>系统下可以通过调用操作系统提供的</a:t>
            </a:r>
            <a:r>
              <a:rPr lang="en-US" altLang="zh-CN" sz="2200" b="1" dirty="0">
                <a:solidFill>
                  <a:schemeClr val="bg2"/>
                </a:solidFill>
              </a:rPr>
              <a:t>API</a:t>
            </a:r>
            <a:r>
              <a:rPr lang="zh-CN" altLang="en-US" sz="2200" b="1" dirty="0">
                <a:solidFill>
                  <a:schemeClr val="bg2"/>
                </a:solidFill>
              </a:rPr>
              <a:t>来实现。</a:t>
            </a:r>
            <a:endParaRPr lang="en-US" altLang="zh-CN" sz="2200" b="1" dirty="0">
              <a:solidFill>
                <a:schemeClr val="bg2"/>
              </a:solidFill>
            </a:endParaRPr>
          </a:p>
          <a:p>
            <a:pPr marL="342900" indent="-342900" eaLnBrk="1" hangingPunct="1">
              <a:spcBef>
                <a:spcPct val="50000"/>
              </a:spcBef>
              <a:buClr>
                <a:srgbClr val="C00000"/>
              </a:buClr>
              <a:buFont typeface="Wingdings" panose="05000000000000000000" pitchFamily="2" charset="2"/>
              <a:buChar char="n"/>
            </a:pPr>
            <a:r>
              <a:rPr lang="en-US" altLang="zh-CN" sz="2200" b="1" dirty="0">
                <a:solidFill>
                  <a:schemeClr val="bg2"/>
                </a:solidFill>
              </a:rPr>
              <a:t>Win32</a:t>
            </a:r>
            <a:r>
              <a:rPr lang="zh-CN" altLang="en-US" sz="2200" b="1" dirty="0">
                <a:solidFill>
                  <a:schemeClr val="bg2"/>
                </a:solidFill>
              </a:rPr>
              <a:t>提供的</a:t>
            </a:r>
            <a:r>
              <a:rPr lang="en-US" altLang="zh-CN" sz="2200" b="1" dirty="0">
                <a:solidFill>
                  <a:schemeClr val="bg2"/>
                </a:solidFill>
              </a:rPr>
              <a:t>API</a:t>
            </a:r>
            <a:r>
              <a:rPr lang="zh-CN" altLang="en-US" sz="2200" b="1" dirty="0">
                <a:solidFill>
                  <a:schemeClr val="bg2"/>
                </a:solidFill>
              </a:rPr>
              <a:t>非常丰富，它是</a:t>
            </a:r>
            <a:r>
              <a:rPr lang="en-US" altLang="zh-CN" sz="2200" b="1" dirty="0">
                <a:solidFill>
                  <a:schemeClr val="bg2"/>
                </a:solidFill>
              </a:rPr>
              <a:t>Win32 Platform SDK</a:t>
            </a:r>
            <a:r>
              <a:rPr lang="zh-CN" altLang="en-US" sz="2200" b="1" dirty="0">
                <a:solidFill>
                  <a:schemeClr val="bg2"/>
                </a:solidFill>
              </a:rPr>
              <a:t>中的一部分，覆盖了所有的输入输出功能，但使用上稍显繁琐。</a:t>
            </a:r>
            <a:endParaRPr lang="en-US" altLang="zh-CN" sz="2200" b="1" dirty="0">
              <a:solidFill>
                <a:schemeClr val="bg2"/>
              </a:solidFill>
            </a:endParaRPr>
          </a:p>
          <a:p>
            <a:pPr marL="342900" indent="-342900" eaLnBrk="1" hangingPunct="1">
              <a:spcBef>
                <a:spcPct val="50000"/>
              </a:spcBef>
              <a:buClr>
                <a:srgbClr val="C00000"/>
              </a:buClr>
              <a:buFont typeface="Wingdings" panose="05000000000000000000" pitchFamily="2" charset="2"/>
              <a:buChar char="n"/>
            </a:pPr>
            <a:r>
              <a:rPr lang="zh-CN" altLang="en-US" sz="2200" b="1" dirty="0">
                <a:solidFill>
                  <a:schemeClr val="bg2"/>
                </a:solidFill>
              </a:rPr>
              <a:t>美国的</a:t>
            </a:r>
            <a:r>
              <a:rPr lang="en-US" altLang="zh-CN" sz="2200" b="1" dirty="0">
                <a:solidFill>
                  <a:schemeClr val="bg2"/>
                </a:solidFill>
              </a:rPr>
              <a:t>Irvine</a:t>
            </a:r>
            <a:r>
              <a:rPr lang="zh-CN" altLang="en-US" sz="2200" b="1" dirty="0">
                <a:solidFill>
                  <a:schemeClr val="bg2"/>
                </a:solidFill>
              </a:rPr>
              <a:t>教授在</a:t>
            </a:r>
            <a:r>
              <a:rPr lang="en-US" altLang="zh-CN" sz="2200" b="1" dirty="0">
                <a:solidFill>
                  <a:schemeClr val="bg2"/>
                </a:solidFill>
              </a:rPr>
              <a:t>Win32 SDK</a:t>
            </a:r>
            <a:r>
              <a:rPr lang="zh-CN" altLang="en-US" sz="2200" b="1" dirty="0">
                <a:solidFill>
                  <a:schemeClr val="bg2"/>
                </a:solidFill>
              </a:rPr>
              <a:t>的基础上，整理和编写了一个</a:t>
            </a:r>
            <a:r>
              <a:rPr lang="en-US" altLang="zh-CN" sz="2200" b="1" dirty="0">
                <a:solidFill>
                  <a:schemeClr val="bg2"/>
                </a:solidFill>
              </a:rPr>
              <a:t>API</a:t>
            </a:r>
            <a:r>
              <a:rPr lang="zh-CN" altLang="en-US" sz="2200" b="1" dirty="0">
                <a:solidFill>
                  <a:schemeClr val="bg2"/>
                </a:solidFill>
              </a:rPr>
              <a:t>库</a:t>
            </a:r>
            <a:r>
              <a:rPr lang="en-US" altLang="zh-CN" sz="2200" b="1" dirty="0">
                <a:solidFill>
                  <a:schemeClr val="bg2"/>
                </a:solidFill>
              </a:rPr>
              <a:t>—Irvine32.LIB</a:t>
            </a:r>
            <a:r>
              <a:rPr lang="zh-CN" altLang="en-US" sz="2200" b="1" dirty="0">
                <a:solidFill>
                  <a:schemeClr val="bg2"/>
                </a:solidFill>
              </a:rPr>
              <a:t>。</a:t>
            </a:r>
            <a:endParaRPr lang="en-US" altLang="zh-CN" sz="2200" b="1" dirty="0">
              <a:solidFill>
                <a:schemeClr val="bg2"/>
              </a:solidFill>
            </a:endParaRPr>
          </a:p>
          <a:p>
            <a:pPr marL="342900" indent="-342900" eaLnBrk="1" hangingPunct="1">
              <a:spcBef>
                <a:spcPct val="50000"/>
              </a:spcBef>
              <a:buClr>
                <a:srgbClr val="C00000"/>
              </a:buClr>
              <a:buFont typeface="Wingdings" panose="05000000000000000000" pitchFamily="2" charset="2"/>
              <a:buChar char="n"/>
            </a:pPr>
            <a:r>
              <a:rPr lang="zh-CN" altLang="en-US" sz="2200" b="1" dirty="0">
                <a:solidFill>
                  <a:schemeClr val="bg2"/>
                </a:solidFill>
              </a:rPr>
              <a:t>下面介绍几个常用的简单的控制台</a:t>
            </a:r>
            <a:r>
              <a:rPr lang="en-US" altLang="zh-CN" sz="2200" b="1" dirty="0">
                <a:solidFill>
                  <a:schemeClr val="bg2"/>
                </a:solidFill>
              </a:rPr>
              <a:t>I/O</a:t>
            </a:r>
            <a:r>
              <a:rPr lang="zh-CN" altLang="en-US" sz="2200" b="1" dirty="0">
                <a:solidFill>
                  <a:schemeClr val="bg2"/>
                </a:solidFill>
              </a:rPr>
              <a:t>过程，完整的详细介绍可参考教材</a:t>
            </a:r>
            <a:r>
              <a:rPr lang="en-US" altLang="zh-CN" sz="2200" b="1" dirty="0">
                <a:solidFill>
                  <a:schemeClr val="bg2"/>
                </a:solidFill>
              </a:rPr>
              <a:t>《</a:t>
            </a:r>
            <a:r>
              <a:rPr lang="zh-CN" altLang="en-US" sz="2200" b="1" dirty="0">
                <a:solidFill>
                  <a:schemeClr val="bg2"/>
                </a:solidFill>
              </a:rPr>
              <a:t>汇编语言基于</a:t>
            </a:r>
            <a:r>
              <a:rPr lang="en-US" altLang="zh-CN" sz="2200" b="1" dirty="0">
                <a:solidFill>
                  <a:schemeClr val="bg2"/>
                </a:solidFill>
              </a:rPr>
              <a:t>x86</a:t>
            </a:r>
            <a:r>
              <a:rPr lang="zh-CN" altLang="en-US" sz="2200" b="1" dirty="0">
                <a:solidFill>
                  <a:schemeClr val="bg2"/>
                </a:solidFill>
              </a:rPr>
              <a:t>处理器</a:t>
            </a:r>
            <a:r>
              <a:rPr lang="en-US" altLang="zh-CN" sz="2200" b="1" dirty="0">
                <a:solidFill>
                  <a:schemeClr val="bg2"/>
                </a:solidFill>
              </a:rPr>
              <a:t>》</a:t>
            </a:r>
            <a:r>
              <a:rPr lang="zh-CN" altLang="en-US" sz="2200" b="1" dirty="0">
                <a:solidFill>
                  <a:schemeClr val="bg2"/>
                </a:solidFill>
              </a:rPr>
              <a:t>的第</a:t>
            </a:r>
            <a:r>
              <a:rPr lang="en-US" altLang="zh-CN" sz="2200" b="1" dirty="0">
                <a:solidFill>
                  <a:schemeClr val="bg2"/>
                </a:solidFill>
              </a:rPr>
              <a:t>5</a:t>
            </a:r>
            <a:r>
              <a:rPr lang="zh-CN" altLang="en-US" sz="2200" b="1" dirty="0">
                <a:solidFill>
                  <a:schemeClr val="bg2"/>
                </a:solidFill>
              </a:rPr>
              <a:t>章</a:t>
            </a:r>
            <a:r>
              <a:rPr lang="en-US" altLang="zh-CN" sz="2200" b="1" dirty="0">
                <a:solidFill>
                  <a:schemeClr val="bg2"/>
                </a:solidFill>
              </a:rPr>
              <a:t>5.4</a:t>
            </a:r>
            <a:r>
              <a:rPr lang="zh-CN" altLang="en-US" sz="2200" b="1" dirty="0">
                <a:solidFill>
                  <a:schemeClr val="bg2"/>
                </a:solidFill>
              </a:rPr>
              <a:t>节。</a:t>
            </a:r>
          </a:p>
        </p:txBody>
      </p:sp>
    </p:spTree>
    <p:extLst>
      <p:ext uri="{BB962C8B-B14F-4D97-AF65-F5344CB8AC3E}">
        <p14:creationId xmlns:p14="http://schemas.microsoft.com/office/powerpoint/2010/main" val="382383037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71</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文本框 2"/>
          <p:cNvSpPr txBox="1"/>
          <p:nvPr/>
        </p:nvSpPr>
        <p:spPr>
          <a:xfrm>
            <a:off x="323528" y="268919"/>
            <a:ext cx="8496944" cy="2308324"/>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前面我们已经学习过在自己的程序中如何调用某个函数库的过程</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有三个步骤：</a:t>
            </a:r>
            <a:endPar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914400" marR="0" lvl="1" indent="-457200" algn="l" defTabSz="914400" rtl="0" eaLnBrk="0" fontAlgn="base" latinLnBrk="0" hangingPunct="0">
              <a:lnSpc>
                <a:spcPct val="100000"/>
              </a:lnSpc>
              <a:spcBef>
                <a:spcPct val="0"/>
              </a:spcBef>
              <a:spcAft>
                <a:spcPct val="0"/>
              </a:spcAft>
              <a:buClr>
                <a:srgbClr val="C00000"/>
              </a:buClr>
              <a:buSzTx/>
              <a:buFont typeface="+mj-ea"/>
              <a:buAutoNum type="circleNumDbPlain"/>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在程序的开始用</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PROTO</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申明该过程的原型，也可以用</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INCLUDE</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将该函数库对应的头文件</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(.INC)</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包含进来；</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914400" marR="0" lvl="1" indent="-457200" algn="l" defTabSz="914400" rtl="0" eaLnBrk="0" fontAlgn="base" latinLnBrk="0" hangingPunct="0">
              <a:lnSpc>
                <a:spcPct val="100000"/>
              </a:lnSpc>
              <a:spcBef>
                <a:spcPct val="0"/>
              </a:spcBef>
              <a:spcAft>
                <a:spcPct val="0"/>
              </a:spcAft>
              <a:buClr>
                <a:srgbClr val="C00000"/>
              </a:buClr>
              <a:buSzTx/>
              <a:buFont typeface="+mj-ea"/>
              <a:buAutoNum type="circleNumDbPlain"/>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用</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INCLUDELIB</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将库文件（或库导入文件）</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(.LIB)</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包含进来</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p>
          <a:p>
            <a:pPr marL="914400" marR="0" lvl="1" indent="-457200" algn="l" defTabSz="914400" rtl="0" eaLnBrk="0" fontAlgn="base" latinLnBrk="0" hangingPunct="0">
              <a:lnSpc>
                <a:spcPct val="100000"/>
              </a:lnSpc>
              <a:spcBef>
                <a:spcPct val="0"/>
              </a:spcBef>
              <a:spcAft>
                <a:spcPct val="0"/>
              </a:spcAft>
              <a:buClr>
                <a:srgbClr val="C00000"/>
              </a:buClr>
              <a:buSzTx/>
              <a:buFont typeface="+mj-ea"/>
              <a:buAutoNum type="circleNumDbPlain"/>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在代码段中使用</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指令或</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INVOKE</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伪指令调用过程。</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Irvine32</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中定义的过程不带参数，使用寄存器传参数，用</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调用。</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 name="文本框 3"/>
          <p:cNvSpPr txBox="1"/>
          <p:nvPr/>
        </p:nvSpPr>
        <p:spPr>
          <a:xfrm>
            <a:off x="143508" y="2780928"/>
            <a:ext cx="3564396" cy="101566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：编程实现从键盘输入</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4</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16</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进制数，然后以二进制形式显示输出。</a:t>
            </a:r>
          </a:p>
        </p:txBody>
      </p:sp>
      <p:sp>
        <p:nvSpPr>
          <p:cNvPr id="5" name="矩形 4"/>
          <p:cNvSpPr/>
          <p:nvPr/>
        </p:nvSpPr>
        <p:spPr>
          <a:xfrm>
            <a:off x="3707904" y="2612172"/>
            <a:ext cx="5112568" cy="4093428"/>
          </a:xfrm>
          <a:prstGeom prst="rect">
            <a:avLst/>
          </a:prstGeom>
          <a:ln w="28575">
            <a:solidFill>
              <a:schemeClr val="accent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.386</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.model </a:t>
            </a: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flat,stdcall</a:t>
            </a:r>
            <a:endPar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.stack 4096</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ExitProcess</a:t>
            </a: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PROTO,dwExitCode:DWORD</a:t>
            </a:r>
            <a:endPar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INCLUDE Irvine32.inc</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INCLUDELIB Irvine32.lib</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.code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 PROC</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call </a:t>
            </a:r>
            <a:r>
              <a:rPr kumimoji="1" lang="en-US" altLang="zh-CN" sz="20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ReadHex</a:t>
            </a: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输入</a:t>
            </a: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16</a:t>
            </a:r>
            <a:r>
              <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进制数</a:t>
            </a:r>
            <a:endPar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call </a:t>
            </a:r>
            <a:r>
              <a:rPr kumimoji="1" lang="en-US" altLang="zh-CN" sz="20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WriteBin</a:t>
            </a: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输出二进制数</a:t>
            </a:r>
            <a:endPar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INVOKE </a:t>
            </a: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ExitProcess</a:t>
            </a: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0</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 ENDP</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END  main</a:t>
            </a:r>
            <a:endPar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文本框 5"/>
          <p:cNvSpPr txBox="1"/>
          <p:nvPr/>
        </p:nvSpPr>
        <p:spPr>
          <a:xfrm>
            <a:off x="143508" y="4005064"/>
            <a:ext cx="3492388" cy="206210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注意</a:t>
            </a:r>
            <a:r>
              <a:rPr kumimoji="1" lang="zh-CN" altLang="en-US"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Irvine32</a:t>
            </a:r>
            <a:r>
              <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头文件中已经包含了</a:t>
            </a: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user32.inc</a:t>
            </a:r>
            <a:r>
              <a:rPr kumimoji="0" lang="zh-CN" altLang="en-US" sz="2000" b="1" i="0" u="none" strike="noStrike" kern="1200" cap="none" spc="0" normalizeH="0" baseline="0" noProof="0" dirty="0">
                <a:ln>
                  <a:noFill/>
                </a:ln>
                <a:solidFill>
                  <a:srgbClr val="000000"/>
                </a:solidFill>
                <a:effectLst/>
                <a:uLnTx/>
                <a:uFillTx/>
                <a:latin typeface="Courier"/>
                <a:ea typeface="宋体" pitchFamily="2" charset="-122"/>
                <a:cs typeface="+mn-cs"/>
              </a:rPr>
              <a:t>和</a:t>
            </a:r>
            <a:endPar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Courier"/>
                <a:ea typeface="宋体" pitchFamily="2" charset="-122"/>
                <a:cs typeface="+mn-cs"/>
              </a:rPr>
              <a:t>kernel32.inc</a:t>
            </a:r>
            <a:r>
              <a:rPr kumimoji="0" lang="zh-CN" altLang="en-US" sz="2000" b="1" i="0" u="none" strike="noStrike" kern="1200" cap="none" spc="0" normalizeH="0" baseline="0" noProof="0" dirty="0">
                <a:ln>
                  <a:noFill/>
                </a:ln>
                <a:solidFill>
                  <a:srgbClr val="000000"/>
                </a:solidFill>
                <a:effectLst/>
                <a:uLnTx/>
                <a:uFillTx/>
                <a:latin typeface="Courier"/>
                <a:ea typeface="宋体" pitchFamily="2" charset="-122"/>
                <a:cs typeface="+mn-cs"/>
              </a:rPr>
              <a:t>等系统头文件，不能重复包含，否则将发生符号定义冲突错误。</a:t>
            </a:r>
            <a:endPar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3153244548"/>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animBg="1"/>
      <p:bldP spid="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7160245" y="6425008"/>
            <a:ext cx="1905000" cy="457200"/>
          </a:xfrm>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72</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683568" y="836712"/>
            <a:ext cx="7344816" cy="769441"/>
          </a:xfrm>
          <a:prstGeom prst="rect">
            <a:avLst/>
          </a:prstGeom>
          <a:solidFill>
            <a:schemeClr val="bg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从键盘读取一个字符， </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AL </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寄存器为返回的字符</a:t>
            </a:r>
            <a:r>
              <a:rPr kumimoji="1" lang="en-US" altLang="zh-CN"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ASCII</a:t>
            </a: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码，字符不在控制台窗口中回显。</a:t>
            </a:r>
          </a:p>
        </p:txBody>
      </p:sp>
      <p:sp>
        <p:nvSpPr>
          <p:cNvPr id="4" name="矩形 3"/>
          <p:cNvSpPr/>
          <p:nvPr/>
        </p:nvSpPr>
        <p:spPr>
          <a:xfrm>
            <a:off x="683568" y="188640"/>
            <a:ext cx="1861407"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ReadChar</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678375" y="1606153"/>
            <a:ext cx="1035861" cy="43088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7" name="矩形 6"/>
          <p:cNvSpPr/>
          <p:nvPr/>
        </p:nvSpPr>
        <p:spPr>
          <a:xfrm>
            <a:off x="2333024" y="1742935"/>
            <a:ext cx="2160240" cy="1692771"/>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char BYTE ?</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.code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ReadChar</a:t>
            </a:r>
            <a:endPar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char,al</a:t>
            </a:r>
            <a:endPar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8" name="矩形 7"/>
          <p:cNvSpPr/>
          <p:nvPr/>
        </p:nvSpPr>
        <p:spPr>
          <a:xfrm>
            <a:off x="678375" y="3654504"/>
            <a:ext cx="7926073" cy="70788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如果用户按下的是扩展键，如功能键、方向键、</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Ins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键或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Del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键，则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AL=0</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，而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AH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中是键盘扫描码。</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的高字没有使用。</a:t>
            </a:r>
          </a:p>
        </p:txBody>
      </p:sp>
      <p:sp>
        <p:nvSpPr>
          <p:cNvPr id="9" name="矩形 8"/>
          <p:cNvSpPr/>
          <p:nvPr/>
        </p:nvSpPr>
        <p:spPr>
          <a:xfrm>
            <a:off x="678375" y="4362390"/>
            <a:ext cx="7681246" cy="40011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下面的伪代码描述了调用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ReadChar</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之后可能产生的结果：</a:t>
            </a:r>
          </a:p>
        </p:txBody>
      </p:sp>
      <p:sp>
        <p:nvSpPr>
          <p:cNvPr id="10" name="矩形 9"/>
          <p:cNvSpPr/>
          <p:nvPr/>
        </p:nvSpPr>
        <p:spPr>
          <a:xfrm>
            <a:off x="2571435" y="4899282"/>
            <a:ext cx="4572000" cy="1754326"/>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if an extended key was pressed</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AL = 0</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AH = keyboard scan code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else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AL = ASCII key value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endif</a:t>
            </a:r>
            <a:endParaRPr kumimoji="1" lang="zh-CN" altLang="en-US"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3788011933"/>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childTnLst>
                          </p:cTn>
                        </p:par>
                        <p:par>
                          <p:cTn id="32" fill="hold">
                            <p:stCondLst>
                              <p:cond delay="500"/>
                            </p:stCondLst>
                            <p:childTnLst>
                              <p:par>
                                <p:cTn id="33" presetID="22" presetClass="entr" presetSubtype="4"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7" grpId="0"/>
      <p:bldP spid="8" grpId="0"/>
      <p:bldP spid="9" grpId="0"/>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73</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467544" y="836712"/>
            <a:ext cx="8424936" cy="132343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从键盘读取一个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位无符号十进制整数，并用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返回该值，前导空格被忽略。</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返回值为遇到第一个非数字字符之前的所有有效数字。</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比如，用户输入</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123BAH</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，则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中的返回值为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123</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p>
        </p:txBody>
      </p:sp>
      <p:sp>
        <p:nvSpPr>
          <p:cNvPr id="4" name="矩形 3"/>
          <p:cNvSpPr/>
          <p:nvPr/>
        </p:nvSpPr>
        <p:spPr>
          <a:xfrm>
            <a:off x="899592" y="260648"/>
            <a:ext cx="1672253"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2.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ReadDec</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1735718" y="2314803"/>
            <a:ext cx="3078088" cy="1477328"/>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intVal</a:t>
            </a: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DWORD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.code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18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ReadDec</a:t>
            </a:r>
            <a:endPar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intVal</a:t>
            </a: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eax</a:t>
            </a:r>
            <a:endParaRPr kumimoji="1" lang="zh-CN" altLang="en-US"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矩形 5"/>
          <p:cNvSpPr/>
          <p:nvPr/>
        </p:nvSpPr>
        <p:spPr>
          <a:xfrm>
            <a:off x="899592" y="4221088"/>
            <a:ext cx="6480720" cy="163121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ReadDec</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会影响进位标志位：</a:t>
            </a:r>
          </a:p>
          <a:p>
            <a:pPr marL="342900" marR="0" lvl="0" indent="-342900" algn="l" defTabSz="914400" rtl="0" eaLnBrk="0" fontAlgn="base" latinLnBrk="0" hangingPunct="0">
              <a:lnSpc>
                <a:spcPct val="100000"/>
              </a:lnSpc>
              <a:spcBef>
                <a:spcPct val="0"/>
              </a:spcBef>
              <a:spcAft>
                <a:spcPct val="0"/>
              </a:spcAft>
              <a:buClr>
                <a:srgbClr val="C00000"/>
              </a:buClr>
              <a:buSzTx/>
              <a:buFont typeface="Arial" panose="020B0604020202020204" pitchFamily="34" charset="0"/>
              <a:buChar char="•"/>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如果输入整数为空</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(NULL)</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，则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EAX=0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且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CF=1</a:t>
            </a:r>
          </a:p>
          <a:p>
            <a:pPr marL="342900" marR="0" lvl="0" indent="-342900" algn="l" defTabSz="914400" rtl="0" eaLnBrk="0" fontAlgn="base" latinLnBrk="0" hangingPunct="0">
              <a:lnSpc>
                <a:spcPct val="100000"/>
              </a:lnSpc>
              <a:spcBef>
                <a:spcPct val="0"/>
              </a:spcBef>
              <a:spcAft>
                <a:spcPct val="0"/>
              </a:spcAft>
              <a:buClr>
                <a:srgbClr val="C00000"/>
              </a:buClr>
              <a:buSzTx/>
              <a:buFont typeface="Arial" panose="020B0604020202020204" pitchFamily="34" charset="0"/>
              <a:buChar char="•"/>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如果输入只有空格，则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EAX=0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且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CF=1</a:t>
            </a:r>
          </a:p>
          <a:p>
            <a:pPr marL="342900" marR="0" lvl="0" indent="-342900" algn="l" defTabSz="914400" rtl="0" eaLnBrk="0" fontAlgn="base" latinLnBrk="0" hangingPunct="0">
              <a:lnSpc>
                <a:spcPct val="100000"/>
              </a:lnSpc>
              <a:spcBef>
                <a:spcPct val="0"/>
              </a:spcBef>
              <a:spcAft>
                <a:spcPct val="0"/>
              </a:spcAft>
              <a:buClr>
                <a:srgbClr val="C00000"/>
              </a:buClr>
              <a:buSzTx/>
              <a:buFont typeface="Arial" panose="020B0604020202020204" pitchFamily="34" charset="0"/>
              <a:buChar char="•"/>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如果输入整数大于（</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2³²-1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），则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EAX=0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且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CF=1</a:t>
            </a:r>
          </a:p>
          <a:p>
            <a:pPr marL="342900" marR="0" lvl="0" indent="-342900" algn="l" defTabSz="914400" rtl="0" eaLnBrk="0" fontAlgn="base" latinLnBrk="0" hangingPunct="0">
              <a:lnSpc>
                <a:spcPct val="100000"/>
              </a:lnSpc>
              <a:spcBef>
                <a:spcPct val="0"/>
              </a:spcBef>
              <a:spcAft>
                <a:spcPct val="0"/>
              </a:spcAft>
              <a:buClr>
                <a:srgbClr val="C00000"/>
              </a:buClr>
              <a:buSzTx/>
              <a:buFont typeface="Arial" panose="020B0604020202020204" pitchFamily="34" charset="0"/>
              <a:buChar char="•"/>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其他情况，</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为转换后的数，且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CF=0</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7" name="矩形 6"/>
          <p:cNvSpPr/>
          <p:nvPr/>
        </p:nvSpPr>
        <p:spPr>
          <a:xfrm>
            <a:off x="899592" y="2312156"/>
            <a:ext cx="957313"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endPar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456277473"/>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par>
                          <p:cTn id="23" fill="hold">
                            <p:stCondLst>
                              <p:cond delay="500"/>
                            </p:stCondLst>
                            <p:childTnLst>
                              <p:par>
                                <p:cTn id="24" presetID="22" presetClass="entr" presetSubtype="4"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down)">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wipe(down)">
                                      <p:cBhvr>
                                        <p:cTn id="31" dur="500"/>
                                        <p:tgtEl>
                                          <p:spTgt spid="6">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wipe(down)">
                                      <p:cBhvr>
                                        <p:cTn id="36" dur="500"/>
                                        <p:tgtEl>
                                          <p:spTgt spid="6">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6">
                                            <p:txEl>
                                              <p:pRg st="2" end="2"/>
                                            </p:txEl>
                                          </p:spTgt>
                                        </p:tgtEl>
                                        <p:attrNameLst>
                                          <p:attrName>style.visibility</p:attrName>
                                        </p:attrNameLst>
                                      </p:cBhvr>
                                      <p:to>
                                        <p:strVal val="visible"/>
                                      </p:to>
                                    </p:set>
                                    <p:animEffect transition="in" filter="wipe(down)">
                                      <p:cBhvr>
                                        <p:cTn id="41" dur="500"/>
                                        <p:tgtEl>
                                          <p:spTgt spid="6">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6">
                                            <p:txEl>
                                              <p:pRg st="3" end="3"/>
                                            </p:txEl>
                                          </p:spTgt>
                                        </p:tgtEl>
                                        <p:attrNameLst>
                                          <p:attrName>style.visibility</p:attrName>
                                        </p:attrNameLst>
                                      </p:cBhvr>
                                      <p:to>
                                        <p:strVal val="visible"/>
                                      </p:to>
                                    </p:set>
                                    <p:animEffect transition="in" filter="wipe(down)">
                                      <p:cBhvr>
                                        <p:cTn id="46" dur="500"/>
                                        <p:tgtEl>
                                          <p:spTgt spid="6">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animEffect transition="in" filter="wipe(down)">
                                      <p:cBhvr>
                                        <p:cTn id="51"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build="p"/>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74</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611560" y="764704"/>
            <a:ext cx="8352928" cy="101566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读取存储缓冲区中的一个输入磁盘文件。</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调用时用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传递打开文件的句柄，用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EDX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传递缓冲区的偏移量，用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ECX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传递读取的最大字节数。</a:t>
            </a:r>
          </a:p>
        </p:txBody>
      </p:sp>
      <p:sp>
        <p:nvSpPr>
          <p:cNvPr id="4" name="矩形 3"/>
          <p:cNvSpPr/>
          <p:nvPr/>
        </p:nvSpPr>
        <p:spPr>
          <a:xfrm>
            <a:off x="827584" y="188640"/>
            <a:ext cx="2399247"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3.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ReadFromFile</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611560" y="1772605"/>
            <a:ext cx="8136904" cy="1323439"/>
          </a:xfrm>
          <a:prstGeom prst="rect">
            <a:avLst/>
          </a:prstGeom>
        </p:spPr>
        <p:txBody>
          <a:bodyPr wrap="square">
            <a:spAutoFit/>
          </a:bodyPr>
          <a:lstStyle/>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返回时查看进位标志位的值即可知道输入是否正确：</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800100" marR="0" lvl="1"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l"/>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CF=0</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，则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包含了从文件中读取的字节数；</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800100" marR="0" lvl="1"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l"/>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CF=1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，则 出错，</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包含了错误代码。可调用</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WriteWindowsMsg</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过程显示该错误的文本信息。</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矩形 5"/>
          <p:cNvSpPr/>
          <p:nvPr/>
        </p:nvSpPr>
        <p:spPr>
          <a:xfrm>
            <a:off x="151825" y="4025416"/>
            <a:ext cx="3312368" cy="70788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
                <a:srgbClr val="C00000"/>
              </a:buClr>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例如，从文件读取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5000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个字节并复制到缓冲区变量中</a:t>
            </a:r>
          </a:p>
        </p:txBody>
      </p:sp>
      <p:sp>
        <p:nvSpPr>
          <p:cNvPr id="7" name="矩形 6"/>
          <p:cNvSpPr/>
          <p:nvPr/>
        </p:nvSpPr>
        <p:spPr>
          <a:xfrm>
            <a:off x="3491874" y="3096044"/>
            <a:ext cx="4779404" cy="3693319"/>
          </a:xfrm>
          <a:prstGeom prst="rect">
            <a:avLst/>
          </a:prstGeom>
          <a:ln w="38100">
            <a:solidFill>
              <a:srgbClr val="FF9900"/>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BUFFER_SIZE = 5000</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buffer BYTE BUFFER_SIZE DUP(?)</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bytesRead</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DWORD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.code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edx,OFFSET</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buffer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指向缓冲区</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ecx,BUFFER_SIZE</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读取的最大字节数</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ReadFromFile</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读文件 </a:t>
            </a:r>
            <a:endPar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jc</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next1</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bytesRead</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eax</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实际读取的字节数</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jmp</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next2</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next1:call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WriteWindowsMsg</a:t>
            </a:r>
            <a:endPar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next2: …</a:t>
            </a:r>
            <a:endPar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969965293"/>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down)">
                                      <p:cBhvr>
                                        <p:cTn id="12" dur="500"/>
                                        <p:tgtEl>
                                          <p:spTgt spid="5">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down)">
                                      <p:cBhvr>
                                        <p:cTn id="15" dur="500"/>
                                        <p:tgtEl>
                                          <p:spTgt spid="5">
                                            <p:txEl>
                                              <p:pRg st="1" end="1"/>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wipe(down)">
                                      <p:cBhvr>
                                        <p:cTn id="18" dur="500"/>
                                        <p:tgtEl>
                                          <p:spTgt spid="5">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bldP spid="6" grpId="0"/>
      <p:bldP spid="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75</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611560" y="751467"/>
            <a:ext cx="7992888" cy="132343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从键盘读取一个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 bit</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的十六进制整数，并用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返回相应的二进制数。</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对无效字符不做错误检查。字母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到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F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的大小写都可以使用。最多能够输入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8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个数字（超出的字符将被忽略），前导空格将被忽略。</a:t>
            </a:r>
          </a:p>
        </p:txBody>
      </p:sp>
      <p:sp>
        <p:nvSpPr>
          <p:cNvPr id="4" name="矩形 3"/>
          <p:cNvSpPr/>
          <p:nvPr/>
        </p:nvSpPr>
        <p:spPr>
          <a:xfrm>
            <a:off x="738686" y="260648"/>
            <a:ext cx="1705916"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4.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ReadHex</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738686" y="2171383"/>
            <a:ext cx="958917"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6" name="矩形 5"/>
          <p:cNvSpPr/>
          <p:nvPr/>
        </p:nvSpPr>
        <p:spPr>
          <a:xfrm>
            <a:off x="2051720" y="2104060"/>
            <a:ext cx="2358008" cy="163121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hexVal</a:t>
            </a: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DWORD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.code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ReadHex</a:t>
            </a:r>
            <a:endPar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hexVal,eax</a:t>
            </a:r>
            <a:endPar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7" name="矩形 6"/>
          <p:cNvSpPr/>
          <p:nvPr/>
        </p:nvSpPr>
        <p:spPr>
          <a:xfrm>
            <a:off x="611560" y="4298320"/>
            <a:ext cx="8251812" cy="193899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从键盘读取一个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 bit</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有符号整数，并用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返回该值。用户可以键入前置加号或减号，而其后跟的只能是数字。</a:t>
            </a: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Readlnt</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设置溢出标志位，若输入数值超过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位有符号数的范围：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r>
              <a:rPr kumimoji="1" lang="en-US" altLang="zh-CN" sz="2000" b="1" i="0" u="none" strike="noStrike" kern="1200" cap="none" spc="0" normalizeH="0" baseline="30000" noProof="0" dirty="0">
                <a:ln>
                  <a:noFill/>
                </a:ln>
                <a:solidFill>
                  <a:srgbClr val="000000"/>
                </a:solidFill>
                <a:effectLst/>
                <a:uLnTx/>
                <a:uFillTx/>
                <a:latin typeface="Times New Roman" pitchFamily="18" charset="0"/>
                <a:ea typeface="宋体" pitchFamily="2" charset="-122"/>
                <a:cs typeface="+mn-cs"/>
              </a:rPr>
              <a:t>31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r>
              <a:rPr kumimoji="1" lang="en-US" altLang="zh-CN" sz="2000" b="1" i="0" u="none" strike="noStrike" kern="1200" cap="none" spc="0" normalizeH="0" baseline="30000" noProof="0" dirty="0">
                <a:ln>
                  <a:noFill/>
                </a:ln>
                <a:solidFill>
                  <a:srgbClr val="000000"/>
                </a:solidFill>
                <a:effectLst/>
                <a:uLnTx/>
                <a:uFillTx/>
                <a:latin typeface="Times New Roman" pitchFamily="18" charset="0"/>
                <a:ea typeface="宋体" pitchFamily="2" charset="-122"/>
                <a:cs typeface="+mn-cs"/>
              </a:rPr>
              <a:t>31</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，则</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OF=1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返回值包括所有的有效数字，直到遇见第一个非数字字符。例如，如果用户输入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+123ABC</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，则返回值为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+123</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p>
        </p:txBody>
      </p:sp>
      <p:sp>
        <p:nvSpPr>
          <p:cNvPr id="8" name="矩形 7"/>
          <p:cNvSpPr/>
          <p:nvPr/>
        </p:nvSpPr>
        <p:spPr>
          <a:xfrm>
            <a:off x="823645" y="3794331"/>
            <a:ext cx="1535998"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5.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Readlnt</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501778030"/>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par>
                          <p:cTn id="23" fill="hold">
                            <p:stCondLst>
                              <p:cond delay="500"/>
                            </p:stCondLst>
                            <p:childTnLst>
                              <p:par>
                                <p:cTn id="24" presetID="2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7">
                                            <p:txEl>
                                              <p:pRg st="0" end="0"/>
                                            </p:txEl>
                                          </p:spTgt>
                                        </p:tgtEl>
                                        <p:attrNameLst>
                                          <p:attrName>style.visibility</p:attrName>
                                        </p:attrNameLst>
                                      </p:cBhvr>
                                      <p:to>
                                        <p:strVal val="visible"/>
                                      </p:to>
                                    </p:set>
                                    <p:animEffect transition="in" filter="wipe(down)">
                                      <p:cBhvr>
                                        <p:cTn id="36" dur="500"/>
                                        <p:tgtEl>
                                          <p:spTgt spid="7">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7">
                                            <p:txEl>
                                              <p:pRg st="1" end="1"/>
                                            </p:txEl>
                                          </p:spTgt>
                                        </p:tgtEl>
                                        <p:attrNameLst>
                                          <p:attrName>style.visibility</p:attrName>
                                        </p:attrNameLst>
                                      </p:cBhvr>
                                      <p:to>
                                        <p:strVal val="visible"/>
                                      </p:to>
                                    </p:set>
                                    <p:animEffect transition="in" filter="wipe(down)">
                                      <p:cBhvr>
                                        <p:cTn id="41" dur="500"/>
                                        <p:tgtEl>
                                          <p:spTgt spid="7">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7">
                                            <p:txEl>
                                              <p:pRg st="2" end="2"/>
                                            </p:txEl>
                                          </p:spTgt>
                                        </p:tgtEl>
                                        <p:attrNameLst>
                                          <p:attrName>style.visibility</p:attrName>
                                        </p:attrNameLst>
                                      </p:cBhvr>
                                      <p:to>
                                        <p:strVal val="visible"/>
                                      </p:to>
                                    </p:set>
                                    <p:animEffect transition="in" filter="wipe(down)">
                                      <p:cBhvr>
                                        <p:cTn id="46"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7" grpId="0" build="p"/>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76</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683568" y="908720"/>
            <a:ext cx="8064896" cy="2862322"/>
          </a:xfrm>
          <a:prstGeom prst="rect">
            <a:avLst/>
          </a:prstGeom>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执行无等待键盘检查，它检查键盘输入缓冲区以查看用户是否有按键操作。</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5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若没有发现键盘数据，则零标志位</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ZF=</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5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若有按键，则</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ZF=0</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，且向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AL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送入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或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ASCII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码。</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800100" marR="0" lvl="1" indent="-342900" algn="l" defTabSz="914400" rtl="0" eaLnBrk="0" fontAlgn="base" latinLnBrk="0" hangingPunct="0">
              <a:lnSpc>
                <a:spcPct val="150000"/>
              </a:lnSpc>
              <a:spcBef>
                <a:spcPct val="0"/>
              </a:spcBef>
              <a:spcAft>
                <a:spcPct val="0"/>
              </a:spcAft>
              <a:buClr>
                <a:srgbClr val="C00000"/>
              </a:buClr>
              <a:buSzTx/>
              <a:buFont typeface="Wingdings" panose="05000000000000000000" pitchFamily="2" charset="2"/>
              <a:buChar char="l"/>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若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AL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为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，表示用户可能按下了一个特殊键</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功能键、方向键等</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)AH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为虚拟扫描码，</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为虚拟键码，</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EBX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为键盘标志位。</a:t>
            </a:r>
          </a:p>
        </p:txBody>
      </p:sp>
      <p:sp>
        <p:nvSpPr>
          <p:cNvPr id="4" name="矩形 3"/>
          <p:cNvSpPr/>
          <p:nvPr/>
        </p:nvSpPr>
        <p:spPr>
          <a:xfrm>
            <a:off x="772542" y="351781"/>
            <a:ext cx="1705916"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6.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ReadKey</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987629783"/>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down)">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77</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827584" y="830102"/>
            <a:ext cx="8064896" cy="1528624"/>
          </a:xfrm>
          <a:prstGeom prst="rect">
            <a:avLst/>
          </a:prstGeom>
        </p:spPr>
        <p:txBody>
          <a:bodyPr wrap="square">
            <a:spAutoFit/>
          </a:bodyPr>
          <a:lstStyle/>
          <a:p>
            <a:pPr marL="0" marR="0" lvl="0" indent="0" algn="l" defTabSz="914400" rtl="0" eaLnBrk="0" fontAlgn="base" latinLnBrk="0" hangingPunct="0">
              <a:lnSpc>
                <a:spcPts val="28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从键盘读取一个字符串，直到用户键入回车键。</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ts val="28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EDX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传递缓冲区的偏移量，用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ECX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传递用户能键入的最大字符数加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（最后为空字符</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null</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返回用户键入的字符数。</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ts val="2800"/>
              </a:lnSpc>
              <a:spcBef>
                <a:spcPct val="0"/>
              </a:spcBef>
              <a:spcAft>
                <a:spcPct val="0"/>
              </a:spcAft>
              <a:buClr>
                <a:srgbClr val="C00000"/>
              </a:buClr>
              <a:buSzTx/>
              <a:buFont typeface="Wingdings" panose="05000000000000000000" pitchFamily="2" charset="2"/>
              <a:buChar char="u"/>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ReadString</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在缓冲区的字符串的末尾自动插入一个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null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终止符。</a:t>
            </a:r>
          </a:p>
        </p:txBody>
      </p:sp>
      <p:sp>
        <p:nvSpPr>
          <p:cNvPr id="4" name="矩形 3"/>
          <p:cNvSpPr/>
          <p:nvPr/>
        </p:nvSpPr>
        <p:spPr>
          <a:xfrm>
            <a:off x="1115616" y="332656"/>
            <a:ext cx="1997663"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7.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ReadString</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611560" y="2445261"/>
            <a:ext cx="1152128" cy="40011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endPar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矩形 5"/>
          <p:cNvSpPr/>
          <p:nvPr/>
        </p:nvSpPr>
        <p:spPr>
          <a:xfrm>
            <a:off x="1691680" y="2445261"/>
            <a:ext cx="5040560" cy="2308324"/>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buffer BYTE 21 DUP(0)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输入缓冲区</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byteCount</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DWORD ?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定义计数器</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.code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edx,OFFSET</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buffer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指向缓冲区</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ecx</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SIZEOF buffer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定义最大字符数</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ReadString</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输入字符串</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byteCount</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eax</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取字符数</a:t>
            </a:r>
          </a:p>
        </p:txBody>
      </p:sp>
      <p:sp>
        <p:nvSpPr>
          <p:cNvPr id="7" name="矩形 6"/>
          <p:cNvSpPr/>
          <p:nvPr/>
        </p:nvSpPr>
        <p:spPr>
          <a:xfrm>
            <a:off x="630924" y="4998047"/>
            <a:ext cx="8261555" cy="40011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若用户输入“</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ABCDEFG”</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buffer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中前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8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个字节的十六进制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ASCII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码：</a:t>
            </a:r>
          </a:p>
        </p:txBody>
      </p:sp>
      <p:sp>
        <p:nvSpPr>
          <p:cNvPr id="8" name="矩形 7"/>
          <p:cNvSpPr/>
          <p:nvPr/>
        </p:nvSpPr>
        <p:spPr>
          <a:xfrm>
            <a:off x="1835696" y="5517232"/>
            <a:ext cx="2736304" cy="400110"/>
          </a:xfrm>
          <a:prstGeom prst="rect">
            <a:avLst/>
          </a:prstGeom>
          <a:ln w="38100">
            <a:solidFill>
              <a:schemeClr val="accent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41 42 43 44 45 46 47 00</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1295854375"/>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500"/>
                                        <p:tgtEl>
                                          <p:spTgt spid="7"/>
                                        </p:tgtEl>
                                      </p:cBhvr>
                                    </p:animEffect>
                                  </p:childTnLst>
                                </p:cTn>
                              </p:par>
                            </p:childTnLst>
                          </p:cTn>
                        </p:par>
                        <p:par>
                          <p:cTn id="37" fill="hold">
                            <p:stCondLst>
                              <p:cond delay="500"/>
                            </p:stCondLst>
                            <p:childTnLst>
                              <p:par>
                                <p:cTn id="38" presetID="22" presetClass="entr" presetSubtype="4"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7" grpId="0"/>
      <p:bldP spid="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78</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899592" y="908720"/>
            <a:ext cx="7704856" cy="101566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
                <a:srgbClr val="C00000"/>
              </a:buClr>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显示“</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Press any key to continue…”</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消息，并等待用户按键。</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当用户想在数据滚动和消失之前暂停屏幕显示时，这个过程就很有用。过程没有输入参数。</a:t>
            </a:r>
          </a:p>
        </p:txBody>
      </p:sp>
      <p:sp>
        <p:nvSpPr>
          <p:cNvPr id="4" name="矩形 3"/>
          <p:cNvSpPr/>
          <p:nvPr/>
        </p:nvSpPr>
        <p:spPr>
          <a:xfrm>
            <a:off x="899592" y="332656"/>
            <a:ext cx="1683346"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8.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WaitMsg</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899592" y="2979593"/>
            <a:ext cx="7560840" cy="101566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以二进制格式向控制台窗口输出一个整数。</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过程用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传递该整数。为了便于阅读，二进制位以四位一组的形式进行显示。</a:t>
            </a:r>
          </a:p>
        </p:txBody>
      </p:sp>
      <p:sp>
        <p:nvSpPr>
          <p:cNvPr id="6" name="矩形 5"/>
          <p:cNvSpPr/>
          <p:nvPr/>
        </p:nvSpPr>
        <p:spPr>
          <a:xfrm>
            <a:off x="882702" y="2392949"/>
            <a:ext cx="1710789"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9.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WriteBin</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7" name="矩形 6"/>
          <p:cNvSpPr/>
          <p:nvPr/>
        </p:nvSpPr>
        <p:spPr>
          <a:xfrm>
            <a:off x="2123728" y="4096791"/>
            <a:ext cx="2520280" cy="646331"/>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eax,12346AF9h</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1800" b="0"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WriteBin</a:t>
            </a:r>
            <a:endParaRPr kumimoji="1" lang="zh-CN" altLang="en-US"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8" name="文本框 7"/>
          <p:cNvSpPr txBox="1"/>
          <p:nvPr/>
        </p:nvSpPr>
        <p:spPr>
          <a:xfrm>
            <a:off x="1115616" y="4107496"/>
            <a:ext cx="1008112"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9" name="矩形 8"/>
          <p:cNvSpPr/>
          <p:nvPr/>
        </p:nvSpPr>
        <p:spPr>
          <a:xfrm>
            <a:off x="1738096" y="5333146"/>
            <a:ext cx="4752528" cy="400110"/>
          </a:xfrm>
          <a:prstGeom prst="rect">
            <a:avLst/>
          </a:prstGeom>
          <a:ln w="38100">
            <a:solidFill>
              <a:schemeClr val="accent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0001 0010 0011 0100 0110 1010 1111 1001</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0" name="矩形 9"/>
          <p:cNvSpPr/>
          <p:nvPr/>
        </p:nvSpPr>
        <p:spPr>
          <a:xfrm>
            <a:off x="1259632" y="4933036"/>
            <a:ext cx="1475084"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显示如下：</a:t>
            </a:r>
          </a:p>
        </p:txBody>
      </p:sp>
    </p:spTree>
    <p:extLst>
      <p:ext uri="{BB962C8B-B14F-4D97-AF65-F5344CB8AC3E}">
        <p14:creationId xmlns:p14="http://schemas.microsoft.com/office/powerpoint/2010/main" val="3351261627"/>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wipe(down)">
                                      <p:cBhvr>
                                        <p:cTn id="27" dur="5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wipe(down)">
                                      <p:cBhvr>
                                        <p:cTn id="32" dur="500"/>
                                        <p:tgtEl>
                                          <p:spTgt spid="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500"/>
                                        <p:tgtEl>
                                          <p:spTgt spid="8"/>
                                        </p:tgtEl>
                                      </p:cBhvr>
                                    </p:animEffect>
                                  </p:childTnLst>
                                </p:cTn>
                              </p:par>
                            </p:childTnLst>
                          </p:cTn>
                        </p:par>
                        <p:par>
                          <p:cTn id="38" fill="hold">
                            <p:stCondLst>
                              <p:cond delay="500"/>
                            </p:stCondLst>
                            <p:childTnLst>
                              <p:par>
                                <p:cTn id="39" presetID="22" presetClass="entr" presetSubtype="4" fill="hold" grpId="0"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down)">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down)">
                                      <p:cBhvr>
                                        <p:cTn id="46" dur="500"/>
                                        <p:tgtEl>
                                          <p:spTgt spid="9"/>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down)">
                                      <p:cBhvr>
                                        <p:cTn id="4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build="p"/>
      <p:bldP spid="6" grpId="0" animBg="1"/>
      <p:bldP spid="7" grpId="0"/>
      <p:bldP spid="8" grpId="0"/>
      <p:bldP spid="9" grpId="0" animBg="1"/>
      <p:bldP spid="1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79</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1055250" y="1196752"/>
            <a:ext cx="7621206" cy="132343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以二进制格式向控制台窗口输出一个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位整数。</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过程用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传递该整数，用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EBX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表示以字节为单位的显示位数（</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，或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4</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为了便于阅读，二进制位以四位一组的形式进行显示。</a:t>
            </a:r>
          </a:p>
        </p:txBody>
      </p:sp>
      <p:sp>
        <p:nvSpPr>
          <p:cNvPr id="4" name="矩形 3"/>
          <p:cNvSpPr/>
          <p:nvPr/>
        </p:nvSpPr>
        <p:spPr>
          <a:xfrm>
            <a:off x="1055250" y="569268"/>
            <a:ext cx="2069862"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10.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WriteBinB</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2090181" y="2686010"/>
            <a:ext cx="6010211" cy="101566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eax,00001234h</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ebx</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1          ; 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个字节</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WriteBinB</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只显示最后一个字节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0011 0100</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文本框 5"/>
          <p:cNvSpPr txBox="1"/>
          <p:nvPr/>
        </p:nvSpPr>
        <p:spPr>
          <a:xfrm>
            <a:off x="1086677" y="2664316"/>
            <a:ext cx="1008112"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7" name="矩形 6"/>
          <p:cNvSpPr/>
          <p:nvPr/>
        </p:nvSpPr>
        <p:spPr>
          <a:xfrm>
            <a:off x="1187624" y="4365104"/>
            <a:ext cx="7128792" cy="70788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向控制台窗口写一个字符。过程用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AL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传递字符（或其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ASCII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码）。</a:t>
            </a:r>
          </a:p>
        </p:txBody>
      </p:sp>
      <p:sp>
        <p:nvSpPr>
          <p:cNvPr id="8" name="矩形 7"/>
          <p:cNvSpPr/>
          <p:nvPr/>
        </p:nvSpPr>
        <p:spPr>
          <a:xfrm>
            <a:off x="1055250" y="3711268"/>
            <a:ext cx="2070503"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11.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WriteChar</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9" name="矩形 8"/>
          <p:cNvSpPr/>
          <p:nvPr/>
        </p:nvSpPr>
        <p:spPr>
          <a:xfrm>
            <a:off x="2119917" y="5028535"/>
            <a:ext cx="4572000" cy="707886"/>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al, 'A'</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WriteChar</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显示字符</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0" name="文本框 9"/>
          <p:cNvSpPr txBox="1"/>
          <p:nvPr/>
        </p:nvSpPr>
        <p:spPr>
          <a:xfrm>
            <a:off x="1232747" y="5072990"/>
            <a:ext cx="962990"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Tree>
    <p:extLst>
      <p:ext uri="{BB962C8B-B14F-4D97-AF65-F5344CB8AC3E}">
        <p14:creationId xmlns:p14="http://schemas.microsoft.com/office/powerpoint/2010/main" val="401358895"/>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down)">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down)">
                                      <p:cBhvr>
                                        <p:cTn id="45" dur="500"/>
                                        <p:tgtEl>
                                          <p:spTgt spid="9"/>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down)">
                                      <p:cBhvr>
                                        <p:cTn id="4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7" grpId="0"/>
      <p:bldP spid="8" grpId="0" animBg="1"/>
      <p:bldP spid="9" grpId="0"/>
      <p:bldP spid="1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80</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1117049" y="764704"/>
            <a:ext cx="7344816" cy="70788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以十进制格式向控制台窗口输出一个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位无符号整数，无前置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显示。过程用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寄存器传递该整数。</a:t>
            </a:r>
          </a:p>
        </p:txBody>
      </p:sp>
      <p:sp>
        <p:nvSpPr>
          <p:cNvPr id="4" name="矩形 3"/>
          <p:cNvSpPr/>
          <p:nvPr/>
        </p:nvSpPr>
        <p:spPr>
          <a:xfrm>
            <a:off x="1115616" y="332656"/>
            <a:ext cx="1898340"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12.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WriteDec</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1763688" y="1484784"/>
            <a:ext cx="4572000" cy="707886"/>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eax,295</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WriteDec</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显示：</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"295"</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文本框 5"/>
          <p:cNvSpPr txBox="1"/>
          <p:nvPr/>
        </p:nvSpPr>
        <p:spPr>
          <a:xfrm>
            <a:off x="971600" y="1500200"/>
            <a:ext cx="1008112"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7" name="矩形 6"/>
          <p:cNvSpPr/>
          <p:nvPr/>
        </p:nvSpPr>
        <p:spPr>
          <a:xfrm>
            <a:off x="1089692" y="2666529"/>
            <a:ext cx="7298731" cy="70788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以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8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位十六进制格式向控制台窗口输出一个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位无符号整数，若不够</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8</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位自动插入前置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。过程用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传递整数。</a:t>
            </a:r>
          </a:p>
        </p:txBody>
      </p:sp>
      <p:sp>
        <p:nvSpPr>
          <p:cNvPr id="8" name="矩形 7"/>
          <p:cNvSpPr/>
          <p:nvPr/>
        </p:nvSpPr>
        <p:spPr>
          <a:xfrm>
            <a:off x="1137198" y="2204864"/>
            <a:ext cx="1932004"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13.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WriteHex</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9" name="矩形 8"/>
          <p:cNvSpPr/>
          <p:nvPr/>
        </p:nvSpPr>
        <p:spPr>
          <a:xfrm>
            <a:off x="1907704" y="3356992"/>
            <a:ext cx="6264696" cy="70788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eax,12345</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WriteHex</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显示：</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"00003039"</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0" name="文本框 9"/>
          <p:cNvSpPr txBox="1"/>
          <p:nvPr/>
        </p:nvSpPr>
        <p:spPr>
          <a:xfrm>
            <a:off x="1088719" y="3374085"/>
            <a:ext cx="1035009"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11" name="矩形 10"/>
          <p:cNvSpPr/>
          <p:nvPr/>
        </p:nvSpPr>
        <p:spPr>
          <a:xfrm>
            <a:off x="1056041" y="4453777"/>
            <a:ext cx="7719969" cy="101566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以十六进制格式向控制台窗口输岀一个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位无符号整数，不够位数插入前置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。过程用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传递整数，用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EBX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表示显示格式的字节数（</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，或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4</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p>
        </p:txBody>
      </p:sp>
      <p:sp>
        <p:nvSpPr>
          <p:cNvPr id="12" name="矩形 11"/>
          <p:cNvSpPr/>
          <p:nvPr/>
        </p:nvSpPr>
        <p:spPr>
          <a:xfrm>
            <a:off x="1151620" y="4026057"/>
            <a:ext cx="2137188"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14.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WriteHexB</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13" name="矩形 12"/>
          <p:cNvSpPr/>
          <p:nvPr/>
        </p:nvSpPr>
        <p:spPr>
          <a:xfrm>
            <a:off x="1907704" y="5538653"/>
            <a:ext cx="4959445" cy="101566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eax</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7FFFh</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ebx</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TYPE WORD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两个字节</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WriteHexB</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显示：</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"7FFF"</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4" name="文本框 13"/>
          <p:cNvSpPr txBox="1"/>
          <p:nvPr/>
        </p:nvSpPr>
        <p:spPr>
          <a:xfrm>
            <a:off x="1151620" y="5609852"/>
            <a:ext cx="1224136"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Tree>
    <p:extLst>
      <p:ext uri="{BB962C8B-B14F-4D97-AF65-F5344CB8AC3E}">
        <p14:creationId xmlns:p14="http://schemas.microsoft.com/office/powerpoint/2010/main" val="3774512229"/>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down)">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down)">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wipe(down)">
                                      <p:cBhvr>
                                        <p:cTn id="53" dur="500"/>
                                        <p:tgtEl>
                                          <p:spTgt spid="14"/>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wipe(down)">
                                      <p:cBhvr>
                                        <p:cTn id="5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p:bldP spid="8" grpId="0" animBg="1"/>
      <p:bldP spid="9" grpId="0"/>
      <p:bldP spid="10" grpId="0"/>
      <p:bldP spid="11" grpId="0"/>
      <p:bldP spid="12" grpId="0" animBg="1"/>
      <p:bldP spid="13" grpId="0"/>
      <p:bldP spid="1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81</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827584" y="1052736"/>
            <a:ext cx="7776864" cy="70788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以十进制向控制台窗口输岀一个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32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位有符号整数，有前置符号，但没有前置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。过程用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传递整数。</a:t>
            </a:r>
          </a:p>
        </p:txBody>
      </p:sp>
      <p:sp>
        <p:nvSpPr>
          <p:cNvPr id="4" name="矩形 3"/>
          <p:cNvSpPr/>
          <p:nvPr/>
        </p:nvSpPr>
        <p:spPr>
          <a:xfrm>
            <a:off x="816414" y="476672"/>
            <a:ext cx="1762085"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15.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Writelnt</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2123728" y="1785010"/>
            <a:ext cx="4572000" cy="707886"/>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eax</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216543</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Writelnt</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显示：</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"+216543"</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文本框 5"/>
          <p:cNvSpPr txBox="1"/>
          <p:nvPr/>
        </p:nvSpPr>
        <p:spPr>
          <a:xfrm>
            <a:off x="1275237" y="1813681"/>
            <a:ext cx="1008112"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7" name="矩形 6"/>
          <p:cNvSpPr/>
          <p:nvPr/>
        </p:nvSpPr>
        <p:spPr>
          <a:xfrm>
            <a:off x="899592" y="3404607"/>
            <a:ext cx="7632848" cy="70788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向操作台窗口输出一个空字节结束的字符串。过程用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EDX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传递字符串的偏移量。</a:t>
            </a:r>
          </a:p>
        </p:txBody>
      </p:sp>
      <p:sp>
        <p:nvSpPr>
          <p:cNvPr id="8" name="矩形 7"/>
          <p:cNvSpPr/>
          <p:nvPr/>
        </p:nvSpPr>
        <p:spPr>
          <a:xfrm>
            <a:off x="899592" y="2958271"/>
            <a:ext cx="2223750"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16.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WriteString</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9" name="矩形 8"/>
          <p:cNvSpPr/>
          <p:nvPr/>
        </p:nvSpPr>
        <p:spPr>
          <a:xfrm>
            <a:off x="2153491" y="4112493"/>
            <a:ext cx="4572000" cy="1692771"/>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prompt BYTE "Enter your name: ",0</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.code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edx,OFFSET</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prompt</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20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WriteString</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0" name="文本框 9"/>
          <p:cNvSpPr txBox="1"/>
          <p:nvPr/>
        </p:nvSpPr>
        <p:spPr>
          <a:xfrm>
            <a:off x="1259632" y="4112493"/>
            <a:ext cx="1008112"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Tree>
    <p:extLst>
      <p:ext uri="{BB962C8B-B14F-4D97-AF65-F5344CB8AC3E}">
        <p14:creationId xmlns:p14="http://schemas.microsoft.com/office/powerpoint/2010/main" val="2297896019"/>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down)">
                                      <p:cBhvr>
                                        <p:cTn id="35" dur="500"/>
                                        <p:tgtEl>
                                          <p:spTgt spid="9"/>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down)">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p:bldP spid="8" grpId="0" animBg="1"/>
      <p:bldP spid="9" grpId="0"/>
      <p:bldP spid="1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82</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683568" y="908720"/>
            <a:ext cx="7776864" cy="132343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向一个输出文件写入缓冲区内容。过程用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传递有效的文件句柄，用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EDX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传递缓冲区偏移量，用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ECX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传递写入的字节数。</a:t>
            </a:r>
            <a:endPar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342900" marR="0" lvl="0" indent="-34290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u"/>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当过程返回时，如果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EAX </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大于 </a:t>
            </a:r>
            <a:r>
              <a:rPr kumimoji="1"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0</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，则其包含的是写入的字节数；否则，发生错误。</a:t>
            </a:r>
          </a:p>
        </p:txBody>
      </p:sp>
      <p:sp>
        <p:nvSpPr>
          <p:cNvPr id="4" name="矩形 3"/>
          <p:cNvSpPr/>
          <p:nvPr/>
        </p:nvSpPr>
        <p:spPr>
          <a:xfrm>
            <a:off x="683568" y="332656"/>
            <a:ext cx="2227533"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17.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WriteToFile</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5" name="矩形 4"/>
          <p:cNvSpPr/>
          <p:nvPr/>
        </p:nvSpPr>
        <p:spPr>
          <a:xfrm>
            <a:off x="683568" y="2348880"/>
            <a:ext cx="3960440" cy="258532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BUFFER_SIZE = 5000</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fileHandle</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DWORD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buffer BYTE BUFFER_SIZE DUP(?)</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.code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eax</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fileHandle</a:t>
            </a:r>
            <a:endPar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edx</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OFFSET buffer</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mov</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ecx</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BUFFER_SIZE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call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WriteToFile</a:t>
            </a:r>
            <a:endPar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文本框 5"/>
          <p:cNvSpPr txBox="1"/>
          <p:nvPr/>
        </p:nvSpPr>
        <p:spPr>
          <a:xfrm>
            <a:off x="25477" y="2356989"/>
            <a:ext cx="1080120"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7" name="矩形 6"/>
          <p:cNvSpPr/>
          <p:nvPr/>
        </p:nvSpPr>
        <p:spPr>
          <a:xfrm>
            <a:off x="4508541" y="2748990"/>
            <a:ext cx="4534704" cy="2031325"/>
          </a:xfrm>
          <a:prstGeom prst="rect">
            <a:avLst/>
          </a:prstGeom>
          <a:ln w="28575">
            <a:solidFill>
              <a:schemeClr val="accent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if EAX = 0 then</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error occurred when writing to file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call </a:t>
            </a: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WriteWindowsMessage</a:t>
            </a: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to see the error</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else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EAX = number of bytes written to the file</a:t>
            </a: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mn-cs"/>
              </a:rPr>
              <a:t>endif</a:t>
            </a:r>
            <a:endParaRPr kumimoji="1"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8" name="文本框 7"/>
          <p:cNvSpPr txBox="1"/>
          <p:nvPr/>
        </p:nvSpPr>
        <p:spPr>
          <a:xfrm>
            <a:off x="4501792" y="2255895"/>
            <a:ext cx="3672408"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该过程的处理用伪代码表示：</a:t>
            </a:r>
          </a:p>
        </p:txBody>
      </p:sp>
      <p:sp>
        <p:nvSpPr>
          <p:cNvPr id="9" name="矩形 8"/>
          <p:cNvSpPr/>
          <p:nvPr/>
        </p:nvSpPr>
        <p:spPr>
          <a:xfrm>
            <a:off x="611560" y="5745450"/>
            <a:ext cx="7776864" cy="70788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功能：</a:t>
            </a: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向控制台窗口输出应用程序在调用系统函数时最近产生的错误信息。</a:t>
            </a:r>
          </a:p>
        </p:txBody>
      </p:sp>
      <p:sp>
        <p:nvSpPr>
          <p:cNvPr id="10" name="矩形 9"/>
          <p:cNvSpPr/>
          <p:nvPr/>
        </p:nvSpPr>
        <p:spPr>
          <a:xfrm>
            <a:off x="754413" y="5283785"/>
            <a:ext cx="3194401"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18. </a:t>
            </a:r>
            <a:r>
              <a:rPr kumimoji="1" lang="en-US" altLang="zh-CN" sz="2400" b="1" i="0" u="none" strike="noStrike" kern="1200" cap="none" spc="0" normalizeH="0" baseline="0" noProof="0" dirty="0" err="1">
                <a:ln>
                  <a:noFill/>
                </a:ln>
                <a:solidFill>
                  <a:srgbClr val="FF0000"/>
                </a:solidFill>
                <a:effectLst/>
                <a:uLnTx/>
                <a:uFillTx/>
                <a:latin typeface="Times New Roman" pitchFamily="18" charset="0"/>
                <a:ea typeface="宋体" pitchFamily="2" charset="-122"/>
                <a:cs typeface="+mn-cs"/>
              </a:rPr>
              <a:t>WriteWindowsMsg</a:t>
            </a:r>
            <a:endParaRPr kumimoji="1" lang="en-US" altLang="zh-CN"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3866486184"/>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down)">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down)">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down)">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7" grpId="0" animBg="1"/>
      <p:bldP spid="8" grpId="0"/>
      <p:bldP spid="9" grpId="0"/>
      <p:bldP spid="1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39E476-DD35-4BFD-89C4-7612931FFDA8}"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83</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p:cNvSpPr/>
          <p:nvPr/>
        </p:nvSpPr>
        <p:spPr>
          <a:xfrm>
            <a:off x="1115616" y="332656"/>
            <a:ext cx="2933816"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FF0000"/>
                </a:solidFill>
                <a:effectLst/>
                <a:uLnTx/>
                <a:uFillTx/>
                <a:latin typeface="微软雅黑" panose="020B0503020204020204" pitchFamily="34" charset="-122"/>
                <a:ea typeface="宋体" pitchFamily="2" charset="-122"/>
                <a:cs typeface="宋体" panose="02010600030101010101" pitchFamily="2" charset="-122"/>
              </a:rPr>
              <a:t>19. </a:t>
            </a:r>
            <a:r>
              <a:rPr kumimoji="1" lang="en-US" altLang="zh-CN" sz="2400" b="1" i="0" u="none" strike="noStrike" kern="0" cap="none" spc="0" normalizeH="0" baseline="0" noProof="0" dirty="0" err="1">
                <a:ln>
                  <a:noFill/>
                </a:ln>
                <a:solidFill>
                  <a:srgbClr val="FF0000"/>
                </a:solidFill>
                <a:effectLst/>
                <a:uLnTx/>
                <a:uFillTx/>
                <a:latin typeface="微软雅黑" panose="020B0503020204020204" pitchFamily="34" charset="-122"/>
                <a:ea typeface="宋体" pitchFamily="2" charset="-122"/>
                <a:cs typeface="宋体" panose="02010600030101010101" pitchFamily="2" charset="-122"/>
              </a:rPr>
              <a:t>OpenlnputFile</a:t>
            </a:r>
            <a:endPar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4" name="矩形 3"/>
          <p:cNvSpPr/>
          <p:nvPr/>
        </p:nvSpPr>
        <p:spPr>
          <a:xfrm>
            <a:off x="683568" y="908720"/>
            <a:ext cx="8064896" cy="132343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0" i="0" u="none" strike="noStrike" kern="0" cap="none" spc="0" normalizeH="0" baseline="0" noProof="0" dirty="0">
                <a:ln>
                  <a:noFill/>
                </a:ln>
                <a:solidFill>
                  <a:srgbClr val="FF0000"/>
                </a:solidFill>
                <a:effectLst/>
                <a:uLnTx/>
                <a:uFillTx/>
                <a:latin typeface="Times New Roman" pitchFamily="18" charset="0"/>
                <a:ea typeface="微软雅黑" panose="020B0503020204020204" pitchFamily="34" charset="-122"/>
                <a:cs typeface="宋体" panose="02010600030101010101" pitchFamily="2" charset="-122"/>
              </a:rPr>
              <a:t>功能：</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打开一个已存在的文件进行输入。过程用</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 EDX </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传递文件名的偏移量。当从过程返回时，如果文件成功打开，则</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 EAX </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就包含有效的文件句柄。 否则，</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EAX </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等于</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 INVALID_HANDLE_VALUE</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（一个预定义的常数）。</a:t>
            </a:r>
            <a:endPar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5" name="矩形 4"/>
          <p:cNvSpPr/>
          <p:nvPr/>
        </p:nvSpPr>
        <p:spPr>
          <a:xfrm>
            <a:off x="1403648" y="2492896"/>
            <a:ext cx="4176464" cy="1426031"/>
          </a:xfrm>
          <a:prstGeom prst="rect">
            <a:avLst/>
          </a:prstGeom>
        </p:spPr>
        <p:txBody>
          <a:bodyPr wrap="square">
            <a:spAutoFit/>
          </a:bodyPr>
          <a:lstStyle/>
          <a:p>
            <a:pPr marL="342900" marR="0" lvl="0" indent="-342900" algn="l" defTabSz="914400" rtl="0" eaLnBrk="0" fontAlgn="base" latinLnBrk="0" hangingPunct="0">
              <a:lnSpc>
                <a:spcPts val="2000"/>
              </a:lnSpc>
              <a:spcBef>
                <a:spcPct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.data</a:t>
            </a:r>
            <a:endParaRPr kumimoji="1" lang="zh-CN" altLang="zh-CN" sz="2000" b="1" i="0" u="none" strike="noStrike" kern="100" cap="none" spc="0" normalizeH="0" baseline="0" noProof="0" dirty="0">
              <a:ln>
                <a:noFill/>
              </a:ln>
              <a:solidFill>
                <a:srgbClr val="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342900" marR="0" lvl="0" indent="-342900" algn="l" defTabSz="914400" rtl="0" eaLnBrk="0" fontAlgn="base" latinLnBrk="0" hangingPunct="0">
              <a:lnSpc>
                <a:spcPts val="2000"/>
              </a:lnSpc>
              <a:spcBef>
                <a:spcPct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filename BYTE "myfile.txt",0</a:t>
            </a:r>
            <a:endParaRPr kumimoji="1" lang="zh-CN" altLang="zh-CN" sz="2000" b="1" i="0" u="none" strike="noStrike" kern="100" cap="none" spc="0" normalizeH="0" baseline="0" noProof="0" dirty="0">
              <a:ln>
                <a:noFill/>
              </a:ln>
              <a:solidFill>
                <a:srgbClr val="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342900" marR="0" lvl="0" indent="-342900" algn="l" defTabSz="914400" rtl="0" eaLnBrk="0" fontAlgn="base" latinLnBrk="0" hangingPunct="0">
              <a:lnSpc>
                <a:spcPts val="2000"/>
              </a:lnSpc>
              <a:spcBef>
                <a:spcPct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.code</a:t>
            </a:r>
            <a:endParaRPr kumimoji="1" lang="zh-CN" altLang="zh-CN" sz="2000" b="1" i="0" u="none" strike="noStrike" kern="100" cap="none" spc="0" normalizeH="0" baseline="0" noProof="0" dirty="0">
              <a:ln>
                <a:noFill/>
              </a:ln>
              <a:solidFill>
                <a:srgbClr val="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342900" marR="0" lvl="0" indent="-342900" algn="l" defTabSz="914400" rtl="0" eaLnBrk="0" fontAlgn="base" latinLnBrk="0" hangingPunct="0">
              <a:lnSpc>
                <a:spcPts val="2000"/>
              </a:lnSpc>
              <a:spcBef>
                <a:spcPct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1" lang="en-US" altLang="zh-CN" sz="2000" b="1" i="0" u="none" strike="noStrike" kern="0" cap="none" spc="0" normalizeH="0" baseline="0" noProof="0" dirty="0" err="1">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mov</a:t>
            </a:r>
            <a:r>
              <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 </a:t>
            </a:r>
            <a:r>
              <a:rPr kumimoji="1" lang="en-US" altLang="zh-CN" sz="2000" b="1" i="0" u="none" strike="noStrike" kern="0" cap="none" spc="0" normalizeH="0" baseline="0" noProof="0" dirty="0" err="1">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edx,OFFSET</a:t>
            </a:r>
            <a:r>
              <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 filename</a:t>
            </a:r>
            <a:endParaRPr kumimoji="1" lang="zh-CN" altLang="zh-CN" sz="2000" b="1" i="0" u="none" strike="noStrike" kern="100" cap="none" spc="0" normalizeH="0" baseline="0" noProof="0" dirty="0">
              <a:ln>
                <a:noFill/>
              </a:ln>
              <a:solidFill>
                <a:srgbClr val="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宋体" panose="02010600030101010101" pitchFamily="2" charset="-122"/>
              </a:rPr>
              <a:t>call </a:t>
            </a:r>
            <a:r>
              <a:rPr kumimoji="1" lang="en-US" altLang="zh-CN" sz="2000" b="1" i="0" u="none" strike="noStrike" kern="0" cap="none" spc="0" normalizeH="0" baseline="0" noProof="0" dirty="0" err="1">
                <a:ln>
                  <a:noFill/>
                </a:ln>
                <a:solidFill>
                  <a:srgbClr val="000000"/>
                </a:solidFill>
                <a:effectLst/>
                <a:uLnTx/>
                <a:uFillTx/>
                <a:latin typeface="宋体" panose="02010600030101010101" pitchFamily="2" charset="-122"/>
                <a:ea typeface="宋体" pitchFamily="2" charset="-122"/>
                <a:cs typeface="宋体" panose="02010600030101010101" pitchFamily="2" charset="-122"/>
              </a:rPr>
              <a:t>OpenlnputFile</a:t>
            </a:r>
            <a:endPar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 name="文本框 5"/>
          <p:cNvSpPr txBox="1"/>
          <p:nvPr/>
        </p:nvSpPr>
        <p:spPr>
          <a:xfrm>
            <a:off x="641593" y="2468795"/>
            <a:ext cx="1152128"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
        <p:nvSpPr>
          <p:cNvPr id="7" name="矩形 6"/>
          <p:cNvSpPr/>
          <p:nvPr/>
        </p:nvSpPr>
        <p:spPr>
          <a:xfrm>
            <a:off x="1201024" y="3960865"/>
            <a:ext cx="2108269" cy="461665"/>
          </a:xfrm>
          <a:prstGeom prst="rect">
            <a:avLst/>
          </a:prstGeom>
          <a:solidFill>
            <a:srgbClr val="FFFF00"/>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FF0000"/>
                </a:solidFill>
                <a:effectLst/>
                <a:uLnTx/>
                <a:uFillTx/>
                <a:latin typeface="微软雅黑" panose="020B0503020204020204" pitchFamily="34" charset="-122"/>
                <a:ea typeface="宋体" pitchFamily="2" charset="-122"/>
                <a:cs typeface="宋体" panose="02010600030101010101" pitchFamily="2" charset="-122"/>
              </a:rPr>
              <a:t>20. </a:t>
            </a:r>
            <a:r>
              <a:rPr kumimoji="1" lang="en-US" altLang="zh-CN" sz="2400" b="1" i="0" u="none" strike="noStrike" kern="0" cap="none" spc="0" normalizeH="0" baseline="0" noProof="0" dirty="0" err="1">
                <a:ln>
                  <a:noFill/>
                </a:ln>
                <a:solidFill>
                  <a:srgbClr val="FF0000"/>
                </a:solidFill>
                <a:effectLst/>
                <a:uLnTx/>
                <a:uFillTx/>
                <a:latin typeface="微软雅黑" panose="020B0503020204020204" pitchFamily="34" charset="-122"/>
                <a:ea typeface="宋体" pitchFamily="2" charset="-122"/>
                <a:cs typeface="宋体" panose="02010600030101010101" pitchFamily="2" charset="-122"/>
              </a:rPr>
              <a:t>CloseFile</a:t>
            </a:r>
            <a:endPar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8" name="矩形 7"/>
          <p:cNvSpPr/>
          <p:nvPr/>
        </p:nvSpPr>
        <p:spPr>
          <a:xfrm>
            <a:off x="683568" y="4503055"/>
            <a:ext cx="7650670" cy="1015663"/>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0" i="0" u="none" strike="noStrike" kern="0" cap="none" spc="0" normalizeH="0" baseline="0" noProof="0" dirty="0">
                <a:ln>
                  <a:noFill/>
                </a:ln>
                <a:solidFill>
                  <a:srgbClr val="FF0000"/>
                </a:solidFill>
                <a:effectLst/>
                <a:uLnTx/>
                <a:uFillTx/>
                <a:latin typeface="Times New Roman" pitchFamily="18" charset="0"/>
                <a:ea typeface="微软雅黑" panose="020B0503020204020204" pitchFamily="34" charset="-122"/>
                <a:cs typeface="宋体" panose="02010600030101010101" pitchFamily="2" charset="-122"/>
              </a:rPr>
              <a:t>功能：</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关闭之前已经创建或打开的文件（参见</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 </a:t>
            </a:r>
            <a:r>
              <a:rPr kumimoji="1" lang="en-US" altLang="zh-CN" sz="2000" b="0" i="0" u="none" strike="noStrike" kern="0" cap="none" spc="0" normalizeH="0" baseline="0" noProof="0" dirty="0" err="1">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CreateOutputFile</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 </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和</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  </a:t>
            </a:r>
            <a:r>
              <a:rPr kumimoji="1" lang="en-US" altLang="zh-CN" sz="2000" b="0" i="0" u="none" strike="noStrike" kern="0" cap="none" spc="0" normalizeH="0" baseline="0" noProof="0" dirty="0" err="1">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OpenlnputFile</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）。该文件用一个</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 32 </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位整数的句柄来标识，句柄由</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 EAX </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传递。如果文件成功关闭，</a:t>
            </a:r>
            <a:r>
              <a:rPr kumimoji="1" lang="en-US"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EAX </a:t>
            </a:r>
            <a:r>
              <a:rPr kumimoji="1" lang="zh-CN" altLang="zh-CN" sz="2000" b="0" i="0" u="none" strike="noStrike" kern="0" cap="none" spc="0" normalizeH="0" baseline="0" noProof="0" dirty="0">
                <a:ln>
                  <a:noFill/>
                </a:ln>
                <a:solidFill>
                  <a:srgbClr val="444444"/>
                </a:solidFill>
                <a:effectLst/>
                <a:uLnTx/>
                <a:uFillTx/>
                <a:latin typeface="Times New Roman" pitchFamily="18" charset="0"/>
                <a:ea typeface="微软雅黑" panose="020B0503020204020204" pitchFamily="34" charset="-122"/>
                <a:cs typeface="宋体" panose="02010600030101010101" pitchFamily="2" charset="-122"/>
              </a:rPr>
              <a:t>中的返回值就是非零的。</a:t>
            </a:r>
            <a:endPar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9" name="矩形 8"/>
          <p:cNvSpPr/>
          <p:nvPr/>
        </p:nvSpPr>
        <p:spPr>
          <a:xfrm>
            <a:off x="2123728" y="5774551"/>
            <a:ext cx="2736304" cy="656590"/>
          </a:xfrm>
          <a:prstGeom prst="rect">
            <a:avLst/>
          </a:prstGeom>
        </p:spPr>
        <p:txBody>
          <a:bodyPr wrap="square">
            <a:spAutoFit/>
          </a:bodyPr>
          <a:lstStyle/>
          <a:p>
            <a:pPr marL="342900" marR="0" lvl="0" indent="-342900" algn="l" defTabSz="914400" rtl="0" eaLnBrk="0" fontAlgn="base" latinLnBrk="0" hangingPunct="0">
              <a:lnSpc>
                <a:spcPts val="2000"/>
              </a:lnSpc>
              <a:spcBef>
                <a:spcPct val="0"/>
              </a:spcBef>
              <a:spcAft>
                <a:spcPts val="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1" lang="en-US" altLang="zh-CN" sz="2000" b="0" i="0" u="none" strike="noStrike" kern="0" cap="none" spc="0" normalizeH="0" baseline="0" noProof="0" dirty="0" err="1">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mov</a:t>
            </a:r>
            <a:r>
              <a:rPr kumimoji="1" lang="en-US" altLang="zh-CN" sz="2000" b="0" i="0" u="none" strike="noStrike" kern="0" cap="none" spc="0" normalizeH="0" baseline="0" noProof="0" dirty="0">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 </a:t>
            </a:r>
            <a:r>
              <a:rPr kumimoji="1" lang="en-US" altLang="zh-CN" sz="2000" b="0" i="0" u="none" strike="noStrike" kern="0" cap="none" spc="0" normalizeH="0" baseline="0" noProof="0" dirty="0" err="1">
                <a:ln>
                  <a:noFill/>
                </a:ln>
                <a:solidFill>
                  <a:srgbClr val="000000"/>
                </a:solidFill>
                <a:effectLst/>
                <a:uLnTx/>
                <a:uFillTx/>
                <a:latin typeface="宋体" panose="02010600030101010101" pitchFamily="2" charset="-122"/>
                <a:ea typeface="等线" panose="02010600030101010101" pitchFamily="2" charset="-122"/>
                <a:cs typeface="宋体" panose="02010600030101010101" pitchFamily="2" charset="-122"/>
              </a:rPr>
              <a:t>eax,fileHandle</a:t>
            </a:r>
            <a:endParaRPr kumimoji="1" lang="zh-CN" altLang="zh-CN" sz="2000" b="0" i="0" u="none" strike="noStrike" kern="100" cap="none" spc="0" normalizeH="0" baseline="0" noProof="0" dirty="0">
              <a:ln>
                <a:noFill/>
              </a:ln>
              <a:solidFill>
                <a:srgbClr val="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宋体" panose="02010600030101010101" pitchFamily="2" charset="-122"/>
              </a:rPr>
              <a:t>call </a:t>
            </a:r>
            <a:r>
              <a:rPr kumimoji="1" lang="en-US" altLang="zh-CN" sz="2000" b="0" i="0" u="none" strike="noStrike" kern="0" cap="none" spc="0" normalizeH="0" baseline="0" noProof="0" dirty="0" err="1">
                <a:ln>
                  <a:noFill/>
                </a:ln>
                <a:solidFill>
                  <a:srgbClr val="000000"/>
                </a:solidFill>
                <a:effectLst/>
                <a:uLnTx/>
                <a:uFillTx/>
                <a:latin typeface="宋体" panose="02010600030101010101" pitchFamily="2" charset="-122"/>
                <a:ea typeface="宋体" pitchFamily="2" charset="-122"/>
                <a:cs typeface="宋体" panose="02010600030101010101" pitchFamily="2" charset="-122"/>
              </a:rPr>
              <a:t>CloseFile</a:t>
            </a:r>
            <a:endParaRPr kumimoji="1" lang="zh-CN" altLang="en-US" sz="20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0" name="文本框 9"/>
          <p:cNvSpPr txBox="1"/>
          <p:nvPr/>
        </p:nvSpPr>
        <p:spPr>
          <a:xfrm>
            <a:off x="1115616" y="5728419"/>
            <a:ext cx="1152128"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例如：</a:t>
            </a:r>
          </a:p>
        </p:txBody>
      </p:sp>
    </p:spTree>
    <p:extLst>
      <p:ext uri="{BB962C8B-B14F-4D97-AF65-F5344CB8AC3E}">
        <p14:creationId xmlns:p14="http://schemas.microsoft.com/office/powerpoint/2010/main" val="4004352932"/>
      </p:ext>
    </p:extLst>
  </p:cSld>
  <p:clrMapOvr>
    <a:masterClrMapping/>
  </p:clrMapOvr>
  <p:transition spd="med">
    <p:zoom dir="in"/>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down)">
                                      <p:cBhvr>
                                        <p:cTn id="36" dur="500"/>
                                        <p:tgtEl>
                                          <p:spTgt spid="10"/>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animBg="1"/>
      <p:bldP spid="8" grpId="0"/>
      <p:bldP spid="9" grpId="0"/>
      <p:bldP spid="1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FE66DED-7282-4787-9043-2F01E43C02BA}"/>
              </a:ext>
            </a:extLst>
          </p:cNvPr>
          <p:cNvSpPr>
            <a:spLocks noGrp="1"/>
          </p:cNvSpPr>
          <p:nvPr>
            <p:ph type="sldNum" sz="quarter" idx="12"/>
          </p:nvPr>
        </p:nvSpPr>
        <p:spPr/>
        <p:txBody>
          <a:bodyPr/>
          <a:lstStyle/>
          <a:p>
            <a:fld id="{8D39E476-DD35-4BFD-89C4-7612931FFDA8}" type="slidenum">
              <a:rPr lang="en-US" altLang="zh-CN" smtClean="0"/>
              <a:pPr/>
              <a:t>84</a:t>
            </a:fld>
            <a:endParaRPr lang="en-US" altLang="zh-CN"/>
          </a:p>
        </p:txBody>
      </p:sp>
      <p:sp>
        <p:nvSpPr>
          <p:cNvPr id="3" name="文本框 2">
            <a:extLst>
              <a:ext uri="{FF2B5EF4-FFF2-40B4-BE49-F238E27FC236}">
                <a16:creationId xmlns:a16="http://schemas.microsoft.com/office/drawing/2014/main" id="{D4B5585A-4A18-4BA6-BF63-9CD9C4BE0463}"/>
              </a:ext>
            </a:extLst>
          </p:cNvPr>
          <p:cNvSpPr txBox="1"/>
          <p:nvPr/>
        </p:nvSpPr>
        <p:spPr>
          <a:xfrm>
            <a:off x="1043608" y="620688"/>
            <a:ext cx="7488832" cy="523220"/>
          </a:xfrm>
          <a:prstGeom prst="rect">
            <a:avLst/>
          </a:prstGeom>
          <a:noFill/>
        </p:spPr>
        <p:txBody>
          <a:bodyPr wrap="square" rtlCol="0">
            <a:spAutoFit/>
          </a:bodyPr>
          <a:lstStyle/>
          <a:p>
            <a:r>
              <a:rPr lang="zh-CN" altLang="en-US" dirty="0" smtClean="0">
                <a:solidFill>
                  <a:srgbClr val="FF0000"/>
                </a:solidFill>
              </a:rPr>
              <a:t>第</a:t>
            </a:r>
            <a:r>
              <a:rPr lang="en-US" altLang="zh-CN" dirty="0" smtClean="0">
                <a:solidFill>
                  <a:srgbClr val="FF0000"/>
                </a:solidFill>
              </a:rPr>
              <a:t>4</a:t>
            </a:r>
            <a:r>
              <a:rPr lang="zh-CN" altLang="en-US" dirty="0" smtClean="0">
                <a:solidFill>
                  <a:srgbClr val="FF0000"/>
                </a:solidFill>
              </a:rPr>
              <a:t>章  作业</a:t>
            </a:r>
            <a:endParaRPr lang="zh-CN" altLang="en-US" dirty="0">
              <a:solidFill>
                <a:srgbClr val="FF0000"/>
              </a:solidFill>
            </a:endParaRPr>
          </a:p>
        </p:txBody>
      </p:sp>
    </p:spTree>
    <p:extLst>
      <p:ext uri="{BB962C8B-B14F-4D97-AF65-F5344CB8AC3E}">
        <p14:creationId xmlns:p14="http://schemas.microsoft.com/office/powerpoint/2010/main" val="2841913169"/>
      </p:ext>
    </p:extLst>
  </p:cSld>
  <p:clrMapOvr>
    <a:masterClrMapping/>
  </p:clrMapOvr>
  <p:transition spd="med">
    <p:zoom dir="in"/>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默认设计模板">
  <a:themeElements>
    <a:clrScheme name="">
      <a:dk1>
        <a:srgbClr val="FFCC66"/>
      </a:dk1>
      <a:lt1>
        <a:srgbClr val="FFFFFF"/>
      </a:lt1>
      <a:dk2>
        <a:srgbClr val="FFFF00"/>
      </a:dk2>
      <a:lt2>
        <a:srgbClr val="000000"/>
      </a:lt2>
      <a:accent1>
        <a:srgbClr val="FFFF00"/>
      </a:accent1>
      <a:accent2>
        <a:srgbClr val="00FFFF"/>
      </a:accent2>
      <a:accent3>
        <a:srgbClr val="FFFFFF"/>
      </a:accent3>
      <a:accent4>
        <a:srgbClr val="DAAE56"/>
      </a:accent4>
      <a:accent5>
        <a:srgbClr val="FFFFAA"/>
      </a:accent5>
      <a:accent6>
        <a:srgbClr val="00E7E7"/>
      </a:accent6>
      <a:hlink>
        <a:srgbClr val="FF0000"/>
      </a:hlink>
      <a:folHlink>
        <a:srgbClr val="96969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txDef>
      <a:spPr>
        <a:noFill/>
      </a:spPr>
      <a:bodyPr wrap="square" rtlCol="0">
        <a:spAutoFit/>
      </a:bodyPr>
      <a:lstStyle>
        <a:defPPr>
          <a:defRPr sz="2400" b="1" dirty="0" smtClean="0">
            <a:solidFill>
              <a:schemeClr val="bg2"/>
            </a:solidFill>
          </a:defRPr>
        </a:defPPr>
      </a:lstStyle>
    </a:tx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天兰色模板">
  <a:themeElements>
    <a:clrScheme name="">
      <a:dk1>
        <a:srgbClr val="000000"/>
      </a:dk1>
      <a:lt1>
        <a:srgbClr val="FFFFFF"/>
      </a:lt1>
      <a:dk2>
        <a:srgbClr val="000000"/>
      </a:dk2>
      <a:lt2>
        <a:srgbClr val="000000"/>
      </a:lt2>
      <a:accent1>
        <a:srgbClr val="FFCC00"/>
      </a:accent1>
      <a:accent2>
        <a:srgbClr val="00FFFF"/>
      </a:accent2>
      <a:accent3>
        <a:srgbClr val="FFFFFF"/>
      </a:accent3>
      <a:accent4>
        <a:srgbClr val="000000"/>
      </a:accent4>
      <a:accent5>
        <a:srgbClr val="FFE2AA"/>
      </a:accent5>
      <a:accent6>
        <a:srgbClr val="00E7E7"/>
      </a:accent6>
      <a:hlink>
        <a:srgbClr val="FF0000"/>
      </a:hlink>
      <a:folHlink>
        <a:srgbClr val="969696"/>
      </a:folHlink>
    </a:clrScheme>
    <a:fontScheme name="天兰色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天兰色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天兰色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天兰色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天兰色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天兰色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天兰色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天兰色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天兰色模板 8">
        <a:dk1>
          <a:srgbClr val="000000"/>
        </a:dk1>
        <a:lt1>
          <a:srgbClr val="FFFFFF"/>
        </a:lt1>
        <a:dk2>
          <a:srgbClr val="0000FF"/>
        </a:dk2>
        <a:lt2>
          <a:srgbClr val="FFFF00"/>
        </a:lt2>
        <a:accent1>
          <a:srgbClr val="663300"/>
        </a:accent1>
        <a:accent2>
          <a:srgbClr val="00FFFF"/>
        </a:accent2>
        <a:accent3>
          <a:srgbClr val="AAAAFF"/>
        </a:accent3>
        <a:accent4>
          <a:srgbClr val="DADADA"/>
        </a:accent4>
        <a:accent5>
          <a:srgbClr val="B8AD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FFFF00"/>
    </a:dk2>
    <a:lt2>
      <a:srgbClr val="000000"/>
    </a:lt2>
    <a:accent1>
      <a:srgbClr val="FFFF00"/>
    </a:accent1>
    <a:accent2>
      <a:srgbClr val="00FFFF"/>
    </a:accent2>
    <a:accent3>
      <a:srgbClr val="FFFFFF"/>
    </a:accent3>
    <a:accent4>
      <a:srgbClr val="000000"/>
    </a:accent4>
    <a:accent5>
      <a:srgbClr val="FFFFAA"/>
    </a:accent5>
    <a:accent6>
      <a:srgbClr val="00E7E7"/>
    </a:accent6>
    <a:hlink>
      <a:srgbClr val="FF0000"/>
    </a:hlink>
    <a:folHlink>
      <a:srgbClr val="969696"/>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
    <a:dk1>
      <a:srgbClr val="000000"/>
    </a:dk1>
    <a:lt1>
      <a:srgbClr val="FFFFFF"/>
    </a:lt1>
    <a:dk2>
      <a:srgbClr val="FFFF00"/>
    </a:dk2>
    <a:lt2>
      <a:srgbClr val="000000"/>
    </a:lt2>
    <a:accent1>
      <a:srgbClr val="FFFF00"/>
    </a:accent1>
    <a:accent2>
      <a:srgbClr val="00FFFF"/>
    </a:accent2>
    <a:accent3>
      <a:srgbClr val="FFFFFF"/>
    </a:accent3>
    <a:accent4>
      <a:srgbClr val="000000"/>
    </a:accent4>
    <a:accent5>
      <a:srgbClr val="FFFFAA"/>
    </a:accent5>
    <a:accent6>
      <a:srgbClr val="00E7E7"/>
    </a:accent6>
    <a:hlink>
      <a:srgbClr val="FF0000"/>
    </a:hlink>
    <a:folHlink>
      <a:srgbClr val="969696"/>
    </a:folHlink>
  </a:clrScheme>
</a:themeOverride>
</file>

<file path=ppt/theme/themeOverride4.xml><?xml version="1.0" encoding="utf-8"?>
<a:themeOverride xmlns:a="http://schemas.openxmlformats.org/drawingml/2006/main">
  <a:clrScheme name="">
    <a:dk1>
      <a:srgbClr val="000000"/>
    </a:dk1>
    <a:lt1>
      <a:srgbClr val="FFFFFF"/>
    </a:lt1>
    <a:dk2>
      <a:srgbClr val="FFFF00"/>
    </a:dk2>
    <a:lt2>
      <a:srgbClr val="000000"/>
    </a:lt2>
    <a:accent1>
      <a:srgbClr val="FFFF00"/>
    </a:accent1>
    <a:accent2>
      <a:srgbClr val="00FFFF"/>
    </a:accent2>
    <a:accent3>
      <a:srgbClr val="FFFFFF"/>
    </a:accent3>
    <a:accent4>
      <a:srgbClr val="000000"/>
    </a:accent4>
    <a:accent5>
      <a:srgbClr val="FFFFAA"/>
    </a:accent5>
    <a:accent6>
      <a:srgbClr val="00E7E7"/>
    </a:accent6>
    <a:hlink>
      <a:srgbClr val="FF0000"/>
    </a:hlink>
    <a:folHlink>
      <a:srgbClr val="969696"/>
    </a:folHlink>
  </a:clrScheme>
</a:themeOverride>
</file>

<file path=ppt/theme/themeOverride5.xml><?xml version="1.0" encoding="utf-8"?>
<a:themeOverride xmlns:a="http://schemas.openxmlformats.org/drawingml/2006/main">
  <a:clrScheme name="">
    <a:dk1>
      <a:srgbClr val="000000"/>
    </a:dk1>
    <a:lt1>
      <a:srgbClr val="FFFFFF"/>
    </a:lt1>
    <a:dk2>
      <a:srgbClr val="FFFF00"/>
    </a:dk2>
    <a:lt2>
      <a:srgbClr val="000000"/>
    </a:lt2>
    <a:accent1>
      <a:srgbClr val="FFFF00"/>
    </a:accent1>
    <a:accent2>
      <a:srgbClr val="00FFFF"/>
    </a:accent2>
    <a:accent3>
      <a:srgbClr val="FFFFFF"/>
    </a:accent3>
    <a:accent4>
      <a:srgbClr val="000000"/>
    </a:accent4>
    <a:accent5>
      <a:srgbClr val="FFFFAA"/>
    </a:accent5>
    <a:accent6>
      <a:srgbClr val="00E7E7"/>
    </a:accent6>
    <a:hlink>
      <a:srgbClr val="FF0000"/>
    </a:hlink>
    <a:folHlink>
      <a:srgbClr val="969696"/>
    </a:folHlink>
  </a:clrScheme>
</a:themeOverride>
</file>

<file path=ppt/theme/themeOverride6.xml><?xml version="1.0" encoding="utf-8"?>
<a:themeOverride xmlns:a="http://schemas.openxmlformats.org/drawingml/2006/main">
  <a:clrScheme name="">
    <a:dk1>
      <a:srgbClr val="000000"/>
    </a:dk1>
    <a:lt1>
      <a:srgbClr val="FFFFFF"/>
    </a:lt1>
    <a:dk2>
      <a:srgbClr val="FFFF00"/>
    </a:dk2>
    <a:lt2>
      <a:srgbClr val="000000"/>
    </a:lt2>
    <a:accent1>
      <a:srgbClr val="FFFF00"/>
    </a:accent1>
    <a:accent2>
      <a:srgbClr val="00FFFF"/>
    </a:accent2>
    <a:accent3>
      <a:srgbClr val="FFFFFF"/>
    </a:accent3>
    <a:accent4>
      <a:srgbClr val="000000"/>
    </a:accent4>
    <a:accent5>
      <a:srgbClr val="FFFFAA"/>
    </a:accent5>
    <a:accent6>
      <a:srgbClr val="00E7E7"/>
    </a:accent6>
    <a:hlink>
      <a:srgbClr val="FF0000"/>
    </a:hlink>
    <a:folHlink>
      <a:srgbClr val="969696"/>
    </a:folHlink>
  </a:clrScheme>
</a:themeOverride>
</file>

<file path=ppt/theme/themeOverride7.xml><?xml version="1.0" encoding="utf-8"?>
<a:themeOverride xmlns:a="http://schemas.openxmlformats.org/drawingml/2006/main">
  <a:clrScheme name="">
    <a:dk1>
      <a:srgbClr val="000000"/>
    </a:dk1>
    <a:lt1>
      <a:srgbClr val="FFFFFF"/>
    </a:lt1>
    <a:dk2>
      <a:srgbClr val="FFFF00"/>
    </a:dk2>
    <a:lt2>
      <a:srgbClr val="000000"/>
    </a:lt2>
    <a:accent1>
      <a:srgbClr val="FFFF00"/>
    </a:accent1>
    <a:accent2>
      <a:srgbClr val="00FFFF"/>
    </a:accent2>
    <a:accent3>
      <a:srgbClr val="FFFFFF"/>
    </a:accent3>
    <a:accent4>
      <a:srgbClr val="000000"/>
    </a:accent4>
    <a:accent5>
      <a:srgbClr val="FFFFAA"/>
    </a:accent5>
    <a:accent6>
      <a:srgbClr val="00E7E7"/>
    </a:accent6>
    <a:hlink>
      <a:srgbClr val="FF0000"/>
    </a:hlink>
    <a:folHlink>
      <a:srgbClr val="969696"/>
    </a:folHlink>
  </a:clrScheme>
</a:themeOverride>
</file>

<file path=ppt/theme/themeOverride8.xml><?xml version="1.0" encoding="utf-8"?>
<a:themeOverride xmlns:a="http://schemas.openxmlformats.org/drawingml/2006/main">
  <a:clrScheme name="">
    <a:dk1>
      <a:srgbClr val="000000"/>
    </a:dk1>
    <a:lt1>
      <a:srgbClr val="FFFFFF"/>
    </a:lt1>
    <a:dk2>
      <a:srgbClr val="FFFF00"/>
    </a:dk2>
    <a:lt2>
      <a:srgbClr val="000000"/>
    </a:lt2>
    <a:accent1>
      <a:srgbClr val="FFFF00"/>
    </a:accent1>
    <a:accent2>
      <a:srgbClr val="00FFFF"/>
    </a:accent2>
    <a:accent3>
      <a:srgbClr val="FFFFFF"/>
    </a:accent3>
    <a:accent4>
      <a:srgbClr val="000000"/>
    </a:accent4>
    <a:accent5>
      <a:srgbClr val="FFFFAA"/>
    </a:accent5>
    <a:accent6>
      <a:srgbClr val="00E7E7"/>
    </a:accent6>
    <a:hlink>
      <a:srgbClr val="FF0000"/>
    </a:hlink>
    <a:folHlink>
      <a:srgbClr val="969696"/>
    </a:folHlink>
  </a:clrScheme>
</a:themeOverride>
</file>

<file path=ppt/theme/themeOverride9.xml><?xml version="1.0" encoding="utf-8"?>
<a:themeOverride xmlns:a="http://schemas.openxmlformats.org/drawingml/2006/main">
  <a:clrScheme name="">
    <a:dk1>
      <a:srgbClr val="000000"/>
    </a:dk1>
    <a:lt1>
      <a:srgbClr val="FFFFFF"/>
    </a:lt1>
    <a:dk2>
      <a:srgbClr val="FFFF00"/>
    </a:dk2>
    <a:lt2>
      <a:srgbClr val="000000"/>
    </a:lt2>
    <a:accent1>
      <a:srgbClr val="FFFF00"/>
    </a:accent1>
    <a:accent2>
      <a:srgbClr val="00FFFF"/>
    </a:accent2>
    <a:accent3>
      <a:srgbClr val="FFFFFF"/>
    </a:accent3>
    <a:accent4>
      <a:srgbClr val="000000"/>
    </a:accent4>
    <a:accent5>
      <a:srgbClr val="FFFF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
  <TotalTime>5139</TotalTime>
  <Pages>0</Pages>
  <Words>9206</Words>
  <Characters>0</Characters>
  <Application>Microsoft Office PowerPoint</Application>
  <DocSecurity>0</DocSecurity>
  <PresentationFormat>全屏显示(4:3)</PresentationFormat>
  <Lines>0</Lines>
  <Paragraphs>1112</Paragraphs>
  <Slides>84</Slides>
  <Notes>13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84</vt:i4>
      </vt:variant>
    </vt:vector>
  </HeadingPairs>
  <TitlesOfParts>
    <vt:vector size="95" baseType="lpstr">
      <vt:lpstr>Courier</vt:lpstr>
      <vt:lpstr>Helvetica Neue</vt:lpstr>
      <vt:lpstr>等线</vt:lpstr>
      <vt:lpstr>黑体</vt:lpstr>
      <vt:lpstr>宋体</vt:lpstr>
      <vt:lpstr>微软雅黑</vt:lpstr>
      <vt:lpstr>Arial</vt:lpstr>
      <vt:lpstr>Times New Roman</vt:lpstr>
      <vt:lpstr>Wingdings</vt:lpstr>
      <vt:lpstr>默认设计模板</vt:lpstr>
      <vt:lpstr>天兰色模板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ue</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汇编语言程序格式</dc:title>
  <dc:creator>LiaoJM</dc:creator>
  <cp:lastModifiedBy>liaoj</cp:lastModifiedBy>
  <cp:revision>1162</cp:revision>
  <dcterms:created xsi:type="dcterms:W3CDTF">2001-09-26T13:19:13Z</dcterms:created>
  <dcterms:modified xsi:type="dcterms:W3CDTF">2025-09-20T13:28:02Z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2052-9.1.0.4249</vt:lpwstr>
  </property>
</Properties>
</file>